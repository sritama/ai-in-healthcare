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84964"/>
  </p:normalViewPr>
  <p:slideViewPr>
    <p:cSldViewPr snapToGrid="0" snapToObjects="1">
      <p:cViewPr varScale="1">
        <p:scale>
          <a:sx n="135" d="100"/>
          <a:sy n="135" d="100"/>
        </p:scale>
        <p:origin x="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674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my project on RAG-powered biomedical Q&amp;A with semantic hallucination detection. We compare two embedding models — general-purpose OpenAI embeddings and biomedical-specific PubMedBERT — to evaluate how well RAG reduces hallucination in clinical question answering on the PubMedQA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We'll cover the clinical problem, our dataset and methods, then dive into results including our most novel finding: that the choice of embedding model for hallucination scoring reveals dramatically different rates of clinical hallucination in free-reasoning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 hallucination is one of the most urgent safety issues in healthcare AI. Models like GPT-4 will confidently state a drug dosage, a diagnostic threshold, or a treatment guideline that is simply wrong. Standard benchmarks only check whether the final yes/no answer is correct — they don't measure whether the reasoning is grounded in actual evidence. Our approach addresses this gap with an automated hallucination detection metric using embedding similarity.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PubMedQA is ideal for our evaluation because questions were authored specifically about their paired abstracts — allowing us to measure whether RAG retrieves the correct evidence. We filter to yes/no questions for a clean binary ground truth. Crucially, we index all 890 passages as the knowledge base rather than just the evaluation set — earlier runs using the eval set as the corpus produced a trivially perfect Recall of 100% for the wrong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compare two fundamentally different embedding models. OpenAI's text-embedding-3-small is a general-purpose model — excellent across many tasks but not specialised for clinical language. PubMedBERT is fine-tuned specifically for semantic similarity on PubMed abstracts — the same source as our knowledge base. Both models serve dual roles: building the FAISS retrieval index and scoring hallucination by measuring cosine similarity between generated answers and source passages.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knowledge base preparation is identical for both models — only the embedding model changes. FAISS IndexFlatIP performs exact inner-product search, which is equivalent to cosine similarity when vectors are L2-normalised. We save embeddings to disk so the expensive embedding step only runs once. At query time, each question is embedded and the top 3 most similar passages are retrieved to augment the GPT-4 prompt. Recall@3 is 100% for both models — reflecting PubMedQA's tight question-abstract coupling rather than trivially small corpus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test six conditions by crossing three design dimensions: whether retrieval is used at all, which embedding model does the retrieval (OpenAI or PubMedBERT), and whether Chain-of-Thought prompting is used. Zero-shot asks for a direct yes/no answer with brief justification. CoT asks GPT-4 to reason through three explicit steps — relevant mechanism, what evidence suggests, supported conclusion — before giving a verdict. This design lets us isolate the contribution of each factor.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core methodological contribution. The threshold of 0.75 was calibrated empirically — a threshold of 0.50 produced zero hallucinations universally, which wasn't useful. Running the scoring twice with different models is the key innovation: it reveals that the choice of scoring model significantly affects what you detect as hallucinated. The entire scoring pipeline requires no human annotation and scales to any dataset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our four headline numbers. RAG reduces hallucination by 3.2 times in the best case. The best accuracy of 68% comes from OpenAI RAG CoT. PubMedBERT RAG Zero-shot achieves the best ROUGE-L and grounding scores. The key finding — highlighted at the bottom — is the dramatic disagreement between the two scoring models on No-RAG CoT outputs, which we'll explore in detail shortly.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 chart shows accuracy — OpenAI RAG CoT achieves 68%, the best across all conditions. The right chart shows hallucination rate — lower is better. OpenAI RAG Zero-shot hits just 10%, down from 32% for No-RAG Zero-shot. That's a 3.2× reduction. The key tension: OpenAI RAG CoT achieves the best accuracy but a much higher hallucination rate (34%) than OpenAI RAG Zero-shot (10%). Chain-of-Thought reasoning helps reach correct conclusions but introduces more semantic drift from the source evidence — an accuracy-faithfulness trade-off with real clinical implications.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most novel finding. The two scoring models rate the exact same generated answers very differently. For No-RAG CoT: OpenAI flags 38% as hallucinated, PubMedBERT flags 86% — a 48 percentage point gap. Why? Chain-of-Thought reasoning without retrieved evidence produces fluent, well-structured medical prose that sounds authoritative. OpenAI's general-purpose embeddings encode this as semantically similar to source text. PubMedBERT, trained exclusively on PubMed, has a more precise representation of clinical vocabulary and detects when GPT-4's free reasoning drifts from precise medical terminology. This implies that general-purpose embedders systematically underestimate clinical hallucination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ROUGE-L shows RAG conditions scoring 60% higher than No-RAG — around 0.27 vs 0.17. PubMedBERT RAG Zero-shot achieves the best ROUGE-L at 0.277. The LLM-as-Judge table reveals that RAG Zero-shot conditions dominate: grounding scores of 4.00 and 4.02, safety scores of 4.52 and 4.50. The most interesting pattern is that CoT consistently reduces reasoning quality in RAG conditions — OpenAI RAG CoT scores only 2.56 on reasoning vs 3.82 for OpenAI RAG Zero-shot. The judge appears to penalise CoT reasoning steps that don't flow cleanly from retrieved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main visualisation charts are produced by the notebook. The violin plot is the most direct visual representation of our hallucination scoring — the dramatic drop of the No-RAG CoT violin under PubMedBERT scoring is immediately visible and compelling. The heatmap gives a bird's-eye view across all conditions and metrics simultaneously. The t-SNE plot is the most technically sophisticated — it projects high-dimensional answer embeddings to 2D to reveal whether hallucinated answers cluster spatially.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organise future directions into three categories. Fix Now covers things we'd address given more time: larger sample size, the maybe class for harder classification, and multiple random seeds. Extend the Pipeline covers methodological additions: a much larger corpus to test real-world retrieval difficulty, BM25 as a lexical retrieval baseline, and TOP_K sensitivity analysis. Research Directions covers longer-term contributions: clinician validation of our automated metrics, RAGAS-style claim-level faithfulness, and domain-specific fine-tuning.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To summarise: RAG reduces hallucination by 3.2 times, our best accuracy is 68% with OpenAI RAG CoT, and the most important finding is the 48 percentage point gap between scorers on No-RAG CoT — revealing that general-purpose embedding models systematically underestimate clinical hallucination in free reasoning chains. Happy to take questions about any aspect of the methodology or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474720" cy="3474720"/>
          </a:xfrm>
          <a:prstGeom prst="ellipse">
            <a:avLst/>
          </a:prstGeom>
          <a:solidFill>
            <a:srgbClr val="1B5272"/>
          </a:solidFill>
          <a:ln w="12700">
            <a:solidFill>
              <a:srgbClr val="1B5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06640" y="2011680"/>
            <a:ext cx="2926080" cy="2926080"/>
          </a:xfrm>
          <a:prstGeom prst="ellipse">
            <a:avLst/>
          </a:prstGeom>
          <a:solidFill>
            <a:srgbClr val="B0C8D8"/>
          </a:solidFill>
          <a:ln w="1270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RAG-Powered Biomedical</a:t>
            </a:r>
            <a:endParaRPr lang="en-US" sz="4200" dirty="0"/>
          </a:p>
          <a:p>
            <a:pPr marL="0" indent="0" algn="l">
              <a:buNone/>
            </a:pPr>
            <a:r>
              <a:rPr lang="en-US" sz="4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 with Semantic</a:t>
            </a:r>
            <a:endParaRPr lang="en-US" sz="4200" dirty="0"/>
          </a:p>
          <a:p>
            <a:pPr marL="0" indent="0" algn="l">
              <a:buNone/>
            </a:pPr>
            <a:r>
              <a:rPr lang="en-US" sz="4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Hallucination Detection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65760" y="3337560"/>
            <a:ext cx="53035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3520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 Sritama Paul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840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Healthcare  |  University of Texas in Austin |  Spring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D2748"/>
          </a:solidFill>
          <a:ln w="12700">
            <a:solidFill>
              <a:srgbClr val="0D2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2788920" cy="282892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" y="2828925"/>
            <a:ext cx="2788920" cy="23145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 learn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017520" y="0"/>
            <a:ext cx="61264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37560" y="365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069080" y="36576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problem — LLM hallucination in clinical AI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37560" y="978408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11247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069080" y="112471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— PubMedQA, 890 passages, FAISS knowledge base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37560" y="1737360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88366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069080" y="1883664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Methods — 6 conditions, dual embeddings, async pipeline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337560" y="2496312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264261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069080" y="264261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— accuracy, hallucination, ROUGE-L, LLM-as-Judge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337560" y="3255264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34015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069080" y="3401568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 — scorer disagreement reveals hidden hallucination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337560" y="4014216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37560" y="4160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069080" y="416052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directions — what we'd improve and extend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D2748"/>
          </a:solidFill>
          <a:ln w="12700">
            <a:solidFill>
              <a:srgbClr val="0D274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"/>
            <a:ext cx="3017520" cy="31821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Issue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017520" y="-2"/>
            <a:ext cx="61264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37560" y="20116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Hallucination in Clinical AI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37560" y="896112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7560" y="96012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language models are increasingly deployed in clinical decision support, yet they routinely generate plausible-sounding but factually incorrect medical information. This hallucination problem represents a direct patient safety risk.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37560" y="1865376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this critical?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37560" y="2176272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benchmarks only measure accuracy — not faithfulness to evidence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can reach the right answer through confabulation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scalable, annotation-free method exists to detect clinical hallucination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337560" y="3218688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327355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approach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37560" y="3584447"/>
            <a:ext cx="5669280" cy="9144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RAG to ground GPT-4 in retrieved PubMed evidence, and use embedding cosine similarity as an automated, scalable hallucination proxy — scored by both a general-purpose and a biomedical-specific model.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36874" cy="5143500"/>
          </a:xfrm>
          <a:prstGeom prst="rect">
            <a:avLst/>
          </a:prstGeom>
          <a:solidFill>
            <a:srgbClr val="0D2748"/>
          </a:solidFill>
          <a:ln w="12700">
            <a:solidFill>
              <a:srgbClr val="0D2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960120"/>
            <a:ext cx="2636874" cy="186880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Used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2636874" y="0"/>
            <a:ext cx="6507126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64465" y="201168"/>
            <a:ext cx="624237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PubMedQA — Biomedical Q&amp;A Benchmark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337560" y="960120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PubMedQA (Jin et al., 2019) — 1,000 expert-labelled biomedical Q&amp;A pairs drawn from PubMed abstracts. Each record: research question + source abstract + expert answer + yes/no/maybe label.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79222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configuration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37560" y="21214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890 records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212140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Yes/No only — filtered from 1,000 for clean binary evaluation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2688336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2743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questions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74320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 evaluation set — 50 yes / 50 no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37560" y="3310128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33649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890 passages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336499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corpus used as FAISS knowledge base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3931920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37560" y="398678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HuggingFace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98678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load_dataset('qiaojin/PubMedQA') — no credentials needed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D2748"/>
          </a:solidFill>
          <a:ln w="12700">
            <a:solidFill>
              <a:srgbClr val="0D274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133856"/>
            <a:ext cx="3017520" cy="218032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Embedding Models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017520" y="0"/>
            <a:ext cx="61264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47237" y="201168"/>
            <a:ext cx="5859603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General-Purpose vs Biomedical-Specific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37560" y="896112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7560" y="96012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text-embedding-3-small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37560" y="128930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General-purpose · API-based · 1,536 dimensions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37560" y="155448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Trained on large-scale web text. No domain-specific fine-tuning for biomedicine. Accessed via OpenAI API — costs ~$0.02 per 1M tokens.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37560" y="2350008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2679191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NeuML/pubmedbert-base-embeddings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3008375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Biomedical domain-specific · Local · 768 dimensions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37560" y="3273551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Microsoft BiomedBERT, fine-tuned for semantic similarity on PubMed abstracts using sentence-transformers. Runs locally — zero API cost.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337560" y="4325111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4389119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models used for: (1) FAISS knowledge base indexing  ·  (2) hallucination scoring via cosine similarity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0"/>
            <a:ext cx="3017520" cy="5143500"/>
          </a:xfrm>
          <a:prstGeom prst="rect">
            <a:avLst/>
          </a:prstGeom>
          <a:solidFill>
            <a:srgbClr val="0D2748"/>
          </a:solidFill>
          <a:ln w="12700">
            <a:solidFill>
              <a:srgbClr val="0D2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017520" cy="34981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Base Preparation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017520" y="0"/>
            <a:ext cx="61264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37560" y="20116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the FAISS Retrieval Index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37560" y="896112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7560" y="987552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87952" y="987552"/>
            <a:ext cx="4773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 all 890 PubMedQA abstracts using each model (separately)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37560" y="1673352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746504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87952" y="1746504"/>
            <a:ext cx="4773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L2-normalise vectors — makes inner product = cosine similarity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337560" y="2432304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2505456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87952" y="2505456"/>
            <a:ext cx="4773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to FAISS IndexFlatIP — exact nearest-neighbour search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337560" y="3191256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3264408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87952" y="3264408"/>
            <a:ext cx="4773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embeddings to disk — avoid re-embedding on subsequent runs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337560" y="3950208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37560" y="4023360"/>
            <a:ext cx="777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87952" y="4023360"/>
            <a:ext cx="4773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query time: embed question → search index → return top-K=3 passages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D2748"/>
          </a:solidFill>
          <a:ln w="12700">
            <a:solidFill>
              <a:srgbClr val="0D2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017520" cy="282892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Conditions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017520" y="0"/>
            <a:ext cx="61264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37560" y="20116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× Prompting × Retriever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37560" y="896112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7560" y="96012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57800" y="96012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63640" y="96012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60920" y="96012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261872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13258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No-RAG Zero-shot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3258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A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3258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Zero-shot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60920" y="13258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GPT-4 answers from parametric memory only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1883664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193852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No-RAG CoT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1938528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A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1938528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60920" y="1938528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3-step reasoning, no retrieved evidence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2496312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37560" y="2551176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RAG Zero-shot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2551176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2551176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Zero-shot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60920" y="2551176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OpenAI-retrieved evidence, direct answer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3108960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37560" y="3163824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RAG CoT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3163824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63640" y="3163824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60920" y="3163824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evidence + step-by-step reasoning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37560" y="3721608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37560" y="377647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PubMedBERT RAG Zero-shot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3776472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PubMedBERT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3776472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Zero-shot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60920" y="377647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PubMedBERT-retrieved evidence, direct answer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37560" y="4334256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37560" y="43891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PubMedBERT RAG CoT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57800" y="438912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PubMedBERT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63640" y="438912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60920" y="43891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PubMedBERT evidence + reasoning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D2748"/>
          </a:solidFill>
          <a:ln w="12700">
            <a:solidFill>
              <a:srgbClr val="0D2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3017520" cy="315467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Hallucination Scoring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017520" y="0"/>
            <a:ext cx="61264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37560" y="96012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Embedding-Based Automated Hallucination Metric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37560" y="896112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7560" y="96012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hypothesis: if GPT-4's answer is semantically close to the source abstract in embedding space, it is grounded (faithful). If it drifts far away, it has likely hallucinated content not present in the evidence.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37560" y="1709928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76479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procedure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37560" y="2084832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 the generated answer using model X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 the true source abstract using model X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cosine similarity between the two vectors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answers with similarity &lt; 0.75 as hallucinated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337560" y="3154680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3209544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Scored twice — key innovation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37560" y="3547872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entire procedure runs once with OpenAI embeddings and once with PubMedBERT embeddings — on the same generated answers. This directly measures how sensitive each model is to clinical language drift.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474720" cy="3474720"/>
          </a:xfrm>
          <a:prstGeom prst="ellipse">
            <a:avLst/>
          </a:prstGeom>
          <a:solidFill>
            <a:srgbClr val="1B5272"/>
          </a:solidFill>
          <a:ln w="12700">
            <a:solidFill>
              <a:srgbClr val="1B5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06640" y="2011680"/>
            <a:ext cx="2926080" cy="2926080"/>
          </a:xfrm>
          <a:prstGeom prst="ellipse">
            <a:avLst/>
          </a:prstGeom>
          <a:solidFill>
            <a:srgbClr val="B0C8D8"/>
          </a:solidFill>
          <a:ln w="1270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Results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046720" cy="0"/>
          </a:xfrm>
          <a:prstGeom prst="line">
            <a:avLst/>
          </a:prstGeom>
          <a:noFill/>
          <a:ln w="1270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3.2×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Hallucination reduction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22128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vs No-RAG Zero-shot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92808" y="11430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892808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accuracy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92808" y="22128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RAG CoT condition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65576" y="11430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0.277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465576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ROUGE-L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65576" y="22128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PubMedBERT RAG Zero-shot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38344" y="11430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4.02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038344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grounding (J)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38344" y="22128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PubMedBERT RAG Zero-shot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046720" cy="0"/>
          </a:xfrm>
          <a:prstGeom prst="line">
            <a:avLst/>
          </a:prstGeom>
          <a:noFill/>
          <a:ln w="1270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2186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55648" y="3218688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PubMedBERT scorer rates No-RAG CoT at 86% hallucinated vs OpenAI's 38% — revealing that general-purpose embedders systematically underestimate clinical hallucination in free reasoning chains.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4856" cy="5143500"/>
          </a:xfrm>
          <a:prstGeom prst="rect">
            <a:avLst/>
          </a:prstGeom>
          <a:solidFill>
            <a:srgbClr val="0D2748"/>
          </a:solidFill>
          <a:ln w="12700">
            <a:solidFill>
              <a:srgbClr val="0D2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434856" cy="2275367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/>
            <a:r>
              <a:rPr lang="en-US" sz="3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</a:t>
            </a:r>
          </a:p>
          <a:p>
            <a:pPr algn="ctr"/>
            <a:r>
              <a:rPr lang="en-US" sz="3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 Hallucination</a:t>
            </a:r>
            <a:endParaRPr lang="en-US" sz="3000" dirty="0"/>
          </a:p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573079" y="201168"/>
            <a:ext cx="6273209" cy="429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Reduces Hallucination 3.2% - At a Cost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15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F664AEE-AFD4-7B59-C210-5DCF50164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167586"/>
            <a:ext cx="7772400" cy="27747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B39956-DFDF-F0C5-4BBB-DFD8D885B28E}"/>
              </a:ext>
            </a:extLst>
          </p:cNvPr>
          <p:cNvSpPr txBox="1"/>
          <p:nvPr/>
        </p:nvSpPr>
        <p:spPr>
          <a:xfrm>
            <a:off x="2573079" y="631157"/>
            <a:ext cx="62732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" panose="020B0004020202020204" pitchFamily="34" charset="0"/>
              </a:rPr>
              <a:t>OpenAI RAG </a:t>
            </a:r>
            <a:r>
              <a:rPr lang="en-US" sz="1200" dirty="0" err="1">
                <a:latin typeface="Aptos" panose="020B0004020202020204" pitchFamily="34" charset="0"/>
              </a:rPr>
              <a:t>CoT</a:t>
            </a:r>
            <a:r>
              <a:rPr lang="en-US" sz="1200" dirty="0">
                <a:latin typeface="Aptos" panose="020B0004020202020204" pitchFamily="34" charset="0"/>
              </a:rPr>
              <a:t> achieves 68% accuracy, the best across all conditions. The right chart shows hallucination rate — lower is better. OpenAI RAG Zero-shot hits just 10%, down from 32% for No-RAG Zero-shot. However, OpenAI RAG </a:t>
            </a:r>
            <a:r>
              <a:rPr lang="en-US" sz="1200" dirty="0" err="1">
                <a:latin typeface="Aptos" panose="020B0004020202020204" pitchFamily="34" charset="0"/>
              </a:rPr>
              <a:t>CoT</a:t>
            </a:r>
            <a:r>
              <a:rPr lang="en-US" sz="1200" dirty="0">
                <a:latin typeface="Aptos" panose="020B0004020202020204" pitchFamily="34" charset="0"/>
              </a:rPr>
              <a:t> achieves the best accuracy but a much higher hallucination rate (34%) than OpenAI RAG Zero-shot (10%). Chain-of-Thought reasoning helps reach correct conclusions but introduces more semantic drift from the source evidence — an accuracy-faithfulness trade-off with real clinical implications.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47771" cy="5143500"/>
          </a:xfrm>
          <a:prstGeom prst="rect">
            <a:avLst/>
          </a:prstGeom>
          <a:solidFill>
            <a:srgbClr val="0D2748"/>
          </a:solidFill>
          <a:ln w="12700">
            <a:solidFill>
              <a:srgbClr val="0D274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"/>
            <a:ext cx="3017520" cy="1711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Scorer Disagreement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6182" y="1975104"/>
            <a:ext cx="2688283" cy="31072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37560" y="20116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Important Finding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51617" y="2884613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No-RAG CoT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1617" y="3204653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scorer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51617" y="3424109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980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551617" y="3936173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PubMedBERT scorer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1617" y="4155629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D3C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86%</a:t>
            </a:r>
            <a:endParaRPr lang="en-US" sz="3600" dirty="0"/>
          </a:p>
        </p:txBody>
      </p:sp>
      <p:sp>
        <p:nvSpPr>
          <p:cNvPr id="14" name="Shape 11"/>
          <p:cNvSpPr/>
          <p:nvPr/>
        </p:nvSpPr>
        <p:spPr>
          <a:xfrm>
            <a:off x="3337560" y="3950208"/>
            <a:ext cx="557784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91840" y="4323494"/>
            <a:ext cx="5669280" cy="522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 without evidence produces fluent but clinically imprecise language. General embedders accept it; biomedical embedders detect the vocabulary drift.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15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A161A9-EA7F-7015-EAB4-E607E6E46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015" y="996697"/>
            <a:ext cx="5733085" cy="23575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2748"/>
          </a:solidFill>
          <a:ln w="12700">
            <a:solidFill>
              <a:srgbClr val="0D2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364749"/>
            <a:ext cx="2926080" cy="1949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3400" dirty="0">
              <a:solidFill>
                <a:srgbClr val="FFFFFF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algn="ctr"/>
            <a:r>
              <a:rPr lang="en-US" sz="3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LLM-as-Judge &amp; </a:t>
            </a:r>
          </a:p>
          <a:p>
            <a:pPr algn="ctr"/>
            <a:r>
              <a:rPr lang="en-US" sz="3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ROUGE-L </a:t>
            </a:r>
          </a:p>
          <a:p>
            <a:pPr algn="ctr"/>
            <a:endParaRPr lang="en-US" sz="3400" dirty="0"/>
          </a:p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" y="2828925"/>
            <a:ext cx="2788920" cy="23145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0" y="2057347"/>
            <a:ext cx="2926080" cy="227877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19006" y="2954257"/>
            <a:ext cx="5706387" cy="2988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Rouge - L Scores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300453" y="617696"/>
            <a:ext cx="961077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399752" y="617696"/>
            <a:ext cx="961077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16810" y="627691"/>
            <a:ext cx="1067881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84691" y="627691"/>
            <a:ext cx="860280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98875" y="617696"/>
            <a:ext cx="705045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19006" y="1000203"/>
            <a:ext cx="1298448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No-RAG ZS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72318" y="1000203"/>
            <a:ext cx="502920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536160" y="1010198"/>
            <a:ext cx="860280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03244" y="1010198"/>
            <a:ext cx="860280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817428" y="1000203"/>
            <a:ext cx="705045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19006" y="1308016"/>
            <a:ext cx="1298448" cy="19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No-RAG CoT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672318" y="1308016"/>
            <a:ext cx="502920" cy="19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536160" y="1318011"/>
            <a:ext cx="860280" cy="19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2.68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03244" y="1318011"/>
            <a:ext cx="860280" cy="19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817428" y="1308016"/>
            <a:ext cx="705045" cy="19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3.16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319006" y="1643366"/>
            <a:ext cx="1298448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RAG ZS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672318" y="1643366"/>
            <a:ext cx="502920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4.00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536160" y="1653361"/>
            <a:ext cx="860280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3.82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503244" y="1653361"/>
            <a:ext cx="860280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4.52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817428" y="1643366"/>
            <a:ext cx="705045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4.11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319006" y="1954901"/>
            <a:ext cx="1298448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RAG </a:t>
            </a:r>
            <a:r>
              <a:rPr lang="en-US" sz="1050" dirty="0" err="1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672318" y="1954901"/>
            <a:ext cx="502920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3.42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536160" y="1964896"/>
            <a:ext cx="860280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2.56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503244" y="1964896"/>
            <a:ext cx="860280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3.68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817428" y="1954901"/>
            <a:ext cx="705045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3.22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3319006" y="2253994"/>
            <a:ext cx="1298448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PubMed RAG ZS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672318" y="2253994"/>
            <a:ext cx="502920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4.02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536160" y="2263989"/>
            <a:ext cx="860280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3.70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503244" y="2263989"/>
            <a:ext cx="860280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4.50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7817428" y="2253994"/>
            <a:ext cx="705045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4.07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3300453" y="2571750"/>
            <a:ext cx="1298448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PubMed RAG </a:t>
            </a:r>
            <a:r>
              <a:rPr lang="en-US" sz="1050" dirty="0" err="1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4653765" y="2571750"/>
            <a:ext cx="502920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3.54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5517607" y="2581745"/>
            <a:ext cx="860280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2.64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484691" y="2581745"/>
            <a:ext cx="860280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3.72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7798875" y="2571750"/>
            <a:ext cx="705045" cy="1849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3.30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63398" y="2114423"/>
            <a:ext cx="2752609" cy="1949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Zero-shot achieves highest grounding (4.00–4.02) and safety (4.50–4.52) scores. CoT consistently reduces reasoning quality in RAG conditions.</a:t>
            </a:r>
          </a:p>
          <a:p>
            <a:pPr marL="0" indent="0" algn="l">
              <a:buNone/>
            </a:pPr>
            <a:endParaRPr lang="en-US" sz="1200" dirty="0">
              <a:solidFill>
                <a:srgbClr val="555555"/>
              </a:solidFill>
              <a:latin typeface="Aptos" pitchFamily="34" charset="0"/>
            </a:endParaRPr>
          </a:p>
          <a:p>
            <a:r>
              <a:rPr lang="en-US" sz="1200" dirty="0">
                <a:latin typeface="Aptos" panose="020B0004020202020204" pitchFamily="34" charset="0"/>
              </a:rPr>
              <a:t>ROUGE-L shows RAG conditions scoring 60% higher than No-RAG — around 0.27 vs 0.17. </a:t>
            </a:r>
            <a:r>
              <a:rPr lang="en-US" sz="1200" dirty="0" err="1">
                <a:latin typeface="Aptos" panose="020B0004020202020204" pitchFamily="34" charset="0"/>
              </a:rPr>
              <a:t>PubMedBERT</a:t>
            </a:r>
            <a:r>
              <a:rPr lang="en-US" sz="1200" dirty="0">
                <a:latin typeface="Aptos" panose="020B0004020202020204" pitchFamily="34" charset="0"/>
              </a:rPr>
              <a:t> RAG Zero-shot achieves the best ROUGE-L at 0.277.</a:t>
            </a:r>
          </a:p>
        </p:txBody>
      </p:sp>
      <p:sp>
        <p:nvSpPr>
          <p:cNvPr id="51" name="Text 48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15</a:t>
            </a:r>
            <a:endParaRPr lang="en-US" sz="9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BD7245-E60B-A09F-7303-B358C20C10CA}"/>
              </a:ext>
            </a:extLst>
          </p:cNvPr>
          <p:cNvSpPr txBox="1"/>
          <p:nvPr/>
        </p:nvSpPr>
        <p:spPr>
          <a:xfrm>
            <a:off x="3319006" y="3530008"/>
            <a:ext cx="5303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dirty="0">
                <a:solidFill>
                  <a:srgbClr val="3B3B3B"/>
                </a:solidFill>
                <a:effectLst/>
                <a:latin typeface="Aptos" panose="020B0004020202020204" pitchFamily="34" charset="0"/>
              </a:rPr>
              <a:t>No-RAG Zero-shot :            		mean ROUGE-L = 0.1735 </a:t>
            </a:r>
          </a:p>
          <a:p>
            <a:r>
              <a:rPr lang="en-US" sz="1200" b="0" i="0" dirty="0">
                <a:solidFill>
                  <a:srgbClr val="3B3B3B"/>
                </a:solidFill>
                <a:effectLst/>
                <a:latin typeface="Aptos" panose="020B0004020202020204" pitchFamily="34" charset="0"/>
              </a:rPr>
              <a:t>No-RAG </a:t>
            </a:r>
            <a:r>
              <a:rPr lang="en-US" sz="1200" b="0" i="0" dirty="0" err="1">
                <a:solidFill>
                  <a:srgbClr val="3B3B3B"/>
                </a:solidFill>
                <a:effectLst/>
                <a:latin typeface="Aptos" panose="020B0004020202020204" pitchFamily="34" charset="0"/>
              </a:rPr>
              <a:t>CoT</a:t>
            </a:r>
            <a:r>
              <a:rPr lang="en-US" sz="1200" b="0" i="0" dirty="0">
                <a:solidFill>
                  <a:srgbClr val="3B3B3B"/>
                </a:solidFill>
                <a:effectLst/>
                <a:latin typeface="Aptos" panose="020B0004020202020204" pitchFamily="34" charset="0"/>
              </a:rPr>
              <a:t> :                         		mean ROUGE-L = 0.1573 </a:t>
            </a:r>
          </a:p>
          <a:p>
            <a:r>
              <a:rPr lang="en-US" sz="1200" b="0" i="0" dirty="0">
                <a:solidFill>
                  <a:srgbClr val="3B3B3B"/>
                </a:solidFill>
                <a:effectLst/>
                <a:latin typeface="Aptos" panose="020B0004020202020204" pitchFamily="34" charset="0"/>
              </a:rPr>
              <a:t>OpenAI RAG Zero-shot :    		mean ROUGE-L = 0.2751 </a:t>
            </a:r>
          </a:p>
          <a:p>
            <a:r>
              <a:rPr lang="en-US" sz="1200" b="0" i="0" dirty="0">
                <a:solidFill>
                  <a:srgbClr val="3B3B3B"/>
                </a:solidFill>
                <a:effectLst/>
                <a:latin typeface="Aptos" panose="020B0004020202020204" pitchFamily="34" charset="0"/>
              </a:rPr>
              <a:t>OpenAI RAG </a:t>
            </a:r>
            <a:r>
              <a:rPr lang="en-US" sz="1200" b="0" i="0" dirty="0" err="1">
                <a:solidFill>
                  <a:srgbClr val="3B3B3B"/>
                </a:solidFill>
                <a:effectLst/>
                <a:latin typeface="Aptos" panose="020B0004020202020204" pitchFamily="34" charset="0"/>
              </a:rPr>
              <a:t>CoT</a:t>
            </a:r>
            <a:r>
              <a:rPr lang="en-US" sz="1200" b="0" i="0" dirty="0">
                <a:solidFill>
                  <a:srgbClr val="3B3B3B"/>
                </a:solidFill>
                <a:effectLst/>
                <a:latin typeface="Aptos" panose="020B0004020202020204" pitchFamily="34" charset="0"/>
              </a:rPr>
              <a:t> :                		mean ROUGE-L = 0.2406 </a:t>
            </a:r>
          </a:p>
          <a:p>
            <a:r>
              <a:rPr lang="en-US" sz="1200" b="0" i="0" dirty="0" err="1">
                <a:solidFill>
                  <a:srgbClr val="3B3B3B"/>
                </a:solidFill>
                <a:effectLst/>
                <a:latin typeface="Aptos" panose="020B0004020202020204" pitchFamily="34" charset="0"/>
              </a:rPr>
              <a:t>PubMedBERT</a:t>
            </a:r>
            <a:r>
              <a:rPr lang="en-US" sz="1200" b="0" i="0" dirty="0">
                <a:solidFill>
                  <a:srgbClr val="3B3B3B"/>
                </a:solidFill>
                <a:effectLst/>
                <a:latin typeface="Aptos" panose="020B0004020202020204" pitchFamily="34" charset="0"/>
              </a:rPr>
              <a:t> RAG Zero-shot : 	mean ROUGE-L = 0.2769 </a:t>
            </a:r>
          </a:p>
          <a:p>
            <a:r>
              <a:rPr lang="en-US" sz="1200" b="0" i="0" dirty="0" err="1">
                <a:solidFill>
                  <a:srgbClr val="3B3B3B"/>
                </a:solidFill>
                <a:effectLst/>
                <a:latin typeface="Aptos" panose="020B0004020202020204" pitchFamily="34" charset="0"/>
              </a:rPr>
              <a:t>PubMedBERT</a:t>
            </a:r>
            <a:r>
              <a:rPr lang="en-US" sz="1200" b="0" i="0" dirty="0">
                <a:solidFill>
                  <a:srgbClr val="3B3B3B"/>
                </a:solidFill>
                <a:effectLst/>
                <a:latin typeface="Aptos" panose="020B0004020202020204" pitchFamily="34" charset="0"/>
              </a:rPr>
              <a:t> RAG </a:t>
            </a:r>
            <a:r>
              <a:rPr lang="en-US" sz="1200" b="0" i="0" dirty="0" err="1">
                <a:solidFill>
                  <a:srgbClr val="3B3B3B"/>
                </a:solidFill>
                <a:effectLst/>
                <a:latin typeface="Aptos" panose="020B0004020202020204" pitchFamily="34" charset="0"/>
              </a:rPr>
              <a:t>CoT</a:t>
            </a:r>
            <a:r>
              <a:rPr lang="en-US" sz="1200" b="0" i="0" dirty="0">
                <a:solidFill>
                  <a:srgbClr val="3B3B3B"/>
                </a:solidFill>
                <a:effectLst/>
                <a:latin typeface="Aptos" panose="020B0004020202020204" pitchFamily="34" charset="0"/>
              </a:rPr>
              <a:t> : 		mean ROUGE-L = 0.2432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3" name="Text 4">
            <a:extLst>
              <a:ext uri="{FF2B5EF4-FFF2-40B4-BE49-F238E27FC236}">
                <a16:creationId xmlns:a16="http://schemas.microsoft.com/office/drawing/2014/main" id="{70D02C62-B365-9D8C-9B26-F5B77FD6A956}"/>
              </a:ext>
            </a:extLst>
          </p:cNvPr>
          <p:cNvSpPr/>
          <p:nvPr/>
        </p:nvSpPr>
        <p:spPr>
          <a:xfrm>
            <a:off x="3303767" y="176896"/>
            <a:ext cx="5840233" cy="2988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as Judge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D2748"/>
          </a:solidFill>
          <a:ln w="12700">
            <a:solidFill>
              <a:srgbClr val="0D27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"/>
            <a:ext cx="3017520" cy="69111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Visualization Guide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797442"/>
            <a:ext cx="3043111" cy="434605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428" y="880848"/>
            <a:ext cx="2968683" cy="137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Similarity Distribution (Violin Plot)</a:t>
            </a:r>
            <a:endParaRPr lang="en-US" sz="12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Width = spread of cosine similarity scores. Dashed line = 0.75 threshold. Below the line = hallucinated. Key: No-RAG </a:t>
            </a:r>
            <a:r>
              <a:rPr lang="en-US" sz="1250" dirty="0" err="1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</a:t>
            </a:r>
            <a:r>
              <a:rPr lang="en-US" sz="12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violin drops sharply under </a:t>
            </a:r>
            <a:r>
              <a:rPr lang="en-US" sz="1250" dirty="0" err="1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PubMedBERT</a:t>
            </a:r>
            <a:r>
              <a:rPr lang="en-US" sz="12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scoring — confirming the scorer disagreement finding visually.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428" y="2297246"/>
            <a:ext cx="3140734" cy="11837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Heatmap</a:t>
            </a:r>
            <a:endParaRPr lang="en-US" sz="12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= metrics, Columns = conditions. Darker green = better. Faithfulness = 1 − Hallucination Rate. No single condition dominates all metrics — reveals the accuracy-faithfulness trade-off at a glance.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8253" y="3587346"/>
            <a:ext cx="3248473" cy="14083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t-SNE Embedding Visualization</a:t>
            </a:r>
            <a:endParaRPr lang="en-US" sz="120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dot = one answer embedding (1,536d → 2d via PCA + t-SNE). Three colour schemes: faithful/hallucinated, correct/incorrect, yes/no label. Hallucinated answers tend to cluster together — hallucination is systematic, not random.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15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E2CA469-B789-1393-EB49-F12D902E8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546" y="3550010"/>
            <a:ext cx="5682202" cy="14456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A763004-4511-2C5F-722D-3662AA65E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546" y="1745369"/>
            <a:ext cx="5740454" cy="165276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A860896-7C81-3BFA-610A-B1B790E65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8037" y="107212"/>
            <a:ext cx="4677768" cy="15251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D2748"/>
          </a:solidFill>
          <a:ln w="12700">
            <a:solidFill>
              <a:srgbClr val="0D2748"/>
            </a:solidFill>
            <a:prstDash val="solid"/>
          </a:ln>
        </p:spPr>
        <p:txBody>
          <a:bodyPr/>
          <a:lstStyle/>
          <a:p>
            <a:r>
              <a:rPr lang="en-US" dirty="0"/>
              <a:t>Work</a:t>
            </a:r>
          </a:p>
        </p:txBody>
      </p:sp>
      <p:sp>
        <p:nvSpPr>
          <p:cNvPr id="3" name="Text 1"/>
          <p:cNvSpPr/>
          <p:nvPr/>
        </p:nvSpPr>
        <p:spPr>
          <a:xfrm>
            <a:off x="0" y="1"/>
            <a:ext cx="3017520" cy="28282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017520" y="-96012"/>
            <a:ext cx="61264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0" y="9144"/>
            <a:ext cx="56692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Would Do Differently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91840" y="585216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now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91840" y="85953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Increase to full 1,000-question PubMedQA set — n=50 gives wide confidence intervals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91840" y="1243584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Add 'maybe' class for realistic 3-way classification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91840" y="1517904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Report mean ± std across 3 random seeds to quantify LLM non-determinism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46120" y="18745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 the pipeline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46120" y="21488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Expand corpus to all of PubMed Central via API (~35M papers)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46120" y="2532888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Add BM25 lexical retrieval as a third baseline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46120" y="291693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Vary TOP_K (1, 3, 5, 10) to measure retrieval sensitivity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91840" y="331012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directions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291840" y="3584448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Clinician panel to validate LLM-as-Judge scores vs human evaluation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91840" y="396849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RAGAS claim-level faithfulness alongside our embedding-based metric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91840" y="4352544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Fine-tune PubMedBERT on PubMedQA question-abstract pairs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474720" cy="3474720"/>
          </a:xfrm>
          <a:prstGeom prst="ellipse">
            <a:avLst/>
          </a:prstGeom>
          <a:solidFill>
            <a:srgbClr val="1B5272"/>
          </a:solidFill>
          <a:ln w="12700">
            <a:solidFill>
              <a:srgbClr val="1B52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06640" y="2011680"/>
            <a:ext cx="2926080" cy="2926080"/>
          </a:xfrm>
          <a:prstGeom prst="ellipse">
            <a:avLst/>
          </a:prstGeom>
          <a:solidFill>
            <a:srgbClr val="B0C8D8"/>
          </a:solidFill>
          <a:ln w="1270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3.2×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Hallucination reduction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7249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(RAG vs No-RAG)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16916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514600" y="2377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27249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(OpenAI RAG CoT)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6916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A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+48pt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Scorer gap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7249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(No-RAG CoT)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046720" cy="0"/>
          </a:xfrm>
          <a:prstGeom prst="line">
            <a:avLst/>
          </a:prstGeom>
          <a:noFill/>
          <a:ln w="12700">
            <a:solidFill>
              <a:srgbClr val="B0C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712464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C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Lewis et al. (2020) — RAG, NeurIPS  ·  Singhal et al. (2023) — LLMs encode clinical knowledge, Nature  ·  Es et al. (2023) — RAGAS, arXiv  ·  Jin et al. (2019) — PubMedQA, EMNLP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03920" y="484632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15</a:t>
            </a:r>
            <a:endParaRPr lang="en-US" sz="9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37ABA5A-7623-D44E-597F-1DBDC85001AF}"/>
              </a:ext>
            </a:extLst>
          </p:cNvPr>
          <p:cNvSpPr/>
          <p:nvPr/>
        </p:nvSpPr>
        <p:spPr>
          <a:xfrm>
            <a:off x="457200" y="4352544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code, report and video available at - https://</a:t>
            </a:r>
            <a:r>
              <a:rPr lang="en-US" sz="1400" b="1" dirty="0" err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</a:t>
            </a:r>
            <a:r>
              <a:rPr lang="en-US" sz="14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</a:t>
            </a:r>
            <a:r>
              <a:rPr lang="en-US" sz="1400" b="1" dirty="0" err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sritama</a:t>
            </a:r>
            <a:r>
              <a:rPr lang="en-US" sz="14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/ai-in-healthcare/tree/main/</a:t>
            </a:r>
            <a:r>
              <a:rPr lang="en-US" sz="1400" b="1" dirty="0" err="1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final_project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2594</Words>
  <Application>Microsoft Macintosh PowerPoint</Application>
  <PresentationFormat>On-screen Show (16:9)</PresentationFormat>
  <Paragraphs>256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RAG-Powered Biomedical Q&amp;A with Semantic Hallucination Detection</dc:title>
  <dc:subject>PptxGenJS Presentation</dc:subject>
  <dc:creator>PptxGenJS</dc:creator>
  <cp:lastModifiedBy>Sritama Paul</cp:lastModifiedBy>
  <cp:revision>25</cp:revision>
  <dcterms:created xsi:type="dcterms:W3CDTF">2026-04-22T05:47:30Z</dcterms:created>
  <dcterms:modified xsi:type="dcterms:W3CDTF">2026-04-23T00:08:35Z</dcterms:modified>
</cp:coreProperties>
</file>