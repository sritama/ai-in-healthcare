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18"/>
    <p:sldId id="272" r:id="rId19"/>
    <p:sldId id="273" r:id="rId20"/>
    <p:sldId id="274" r:id="rId21"/>
    <p:sldId id="276" r:id="rId22"/>
    <p:sldId id="280" r:id="rId23"/>
    <p:sldId id="281" r:id="rId24"/>
    <p:sldId id="277" r:id="rId25"/>
    <p:sldId id="278" r:id="rId26"/>
    <p:sldId id="279"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60097"/>
  </p:normalViewPr>
  <p:slideViewPr>
    <p:cSldViewPr snapToGrid="0" snapToObjects="1">
      <p:cViewPr varScale="1">
        <p:scale>
          <a:sx n="93" d="100"/>
          <a:sy n="93" d="100"/>
        </p:scale>
        <p:origin x="6584"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AUC-ROC</c:v>
                </c:pt>
              </c:strCache>
            </c:strRef>
          </c:tx>
          <c:spPr>
            <a:solidFill>
              <a:srgbClr val="D97706"/>
            </a:solidFill>
            <a:effectLst/>
          </c:spPr>
          <c:invertIfNegative val="0"/>
          <c:dLbls>
            <c:numFmt formatCode="#,##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XGBoost</c:v>
                </c:pt>
                <c:pt idx="1">
                  <c:v>LSTM</c:v>
                </c:pt>
                <c:pt idx="2">
                  <c:v>Transformer</c:v>
                </c:pt>
              </c:strCache>
            </c:strRef>
          </c:cat>
          <c:val>
            <c:numRef>
              <c:f>Sheet1!$B$2:$B$4</c:f>
              <c:numCache>
                <c:formatCode>General</c:formatCode>
                <c:ptCount val="3"/>
                <c:pt idx="0">
                  <c:v>91.86</c:v>
                </c:pt>
                <c:pt idx="1">
                  <c:v>92.42</c:v>
                </c:pt>
                <c:pt idx="2">
                  <c:v>88.72</c:v>
                </c:pt>
              </c:numCache>
            </c:numRef>
          </c:val>
          <c:extLst>
            <c:ext xmlns:c16="http://schemas.microsoft.com/office/drawing/2014/chart" uri="{C3380CC4-5D6E-409C-BE32-E72D297353CC}">
              <c16:uniqueId val="{00000000-90E2-FF4C-88C0-CF81FADE4736}"/>
            </c:ext>
          </c:extLst>
        </c:ser>
        <c:ser>
          <c:idx val="1"/>
          <c:order val="1"/>
          <c:tx>
            <c:strRef>
              <c:f>Sheet1!$C$1</c:f>
              <c:strCache>
                <c:ptCount val="1"/>
                <c:pt idx="0">
                  <c:v>AUPRC</c:v>
                </c:pt>
              </c:strCache>
            </c:strRef>
          </c:tx>
          <c:spPr>
            <a:solidFill>
              <a:srgbClr val="1D4ED8"/>
            </a:solidFill>
            <a:effectLst/>
          </c:spPr>
          <c:invertIfNegative val="0"/>
          <c:dLbls>
            <c:numFmt formatCode="#,##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XGBoost</c:v>
                </c:pt>
                <c:pt idx="1">
                  <c:v>LSTM</c:v>
                </c:pt>
                <c:pt idx="2">
                  <c:v>Transformer</c:v>
                </c:pt>
              </c:strCache>
            </c:strRef>
          </c:cat>
          <c:val>
            <c:numRef>
              <c:f>Sheet1!$C$2:$C$4</c:f>
              <c:numCache>
                <c:formatCode>General</c:formatCode>
                <c:ptCount val="3"/>
                <c:pt idx="0">
                  <c:v>30.47</c:v>
                </c:pt>
                <c:pt idx="1">
                  <c:v>21.86</c:v>
                </c:pt>
                <c:pt idx="2">
                  <c:v>20.65</c:v>
                </c:pt>
              </c:numCache>
            </c:numRef>
          </c:val>
          <c:extLst>
            <c:ext xmlns:c16="http://schemas.microsoft.com/office/drawing/2014/chart" uri="{C3380CC4-5D6E-409C-BE32-E72D297353CC}">
              <c16:uniqueId val="{00000001-90E2-FF4C-88C0-CF81FADE4736}"/>
            </c:ext>
          </c:extLst>
        </c:ser>
        <c:ser>
          <c:idx val="2"/>
          <c:order val="2"/>
          <c:tx>
            <c:strRef>
              <c:f>Sheet1!$D$1</c:f>
              <c:strCache>
                <c:ptCount val="1"/>
                <c:pt idx="0">
                  <c:v>F1 Score</c:v>
                </c:pt>
              </c:strCache>
            </c:strRef>
          </c:tx>
          <c:spPr>
            <a:solidFill>
              <a:srgbClr val="16A34A"/>
            </a:solidFill>
            <a:effectLst/>
          </c:spPr>
          <c:invertIfNegative val="0"/>
          <c:dLbls>
            <c:numFmt formatCode="#,##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XGBoost</c:v>
                </c:pt>
                <c:pt idx="1">
                  <c:v>LSTM</c:v>
                </c:pt>
                <c:pt idx="2">
                  <c:v>Transformer</c:v>
                </c:pt>
              </c:strCache>
            </c:strRef>
          </c:cat>
          <c:val>
            <c:numRef>
              <c:f>Sheet1!$D$2:$D$4</c:f>
              <c:numCache>
                <c:formatCode>General</c:formatCode>
                <c:ptCount val="3"/>
                <c:pt idx="0">
                  <c:v>28.24</c:v>
                </c:pt>
                <c:pt idx="1">
                  <c:v>28.07</c:v>
                </c:pt>
                <c:pt idx="2">
                  <c:v>33.67</c:v>
                </c:pt>
              </c:numCache>
            </c:numRef>
          </c:val>
          <c:extLst>
            <c:ext xmlns:c16="http://schemas.microsoft.com/office/drawing/2014/chart" uri="{C3380CC4-5D6E-409C-BE32-E72D297353CC}">
              <c16:uniqueId val="{00000002-90E2-FF4C-88C0-CF81FADE473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3E50"/>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3E5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pPr>
          <a:endParaRPr lang="en-US"/>
        </a:p>
      </c:txPr>
    </c:legend>
    <c:plotVisOnly val="1"/>
    <c:dispBlanksAs val="span"/>
    <c:showDLblsOverMax val="1"/>
  </c:chart>
  <c:spPr>
    <a:solidFill>
      <a:srgbClr val="FAFCF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009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walks through a complete time-series deep learning pipeline for early sepsis prediction using the MIMIC-III ICU dataset.
We compare three model families:
- XGBoost (gradient boosted trees — our baseline)
- LSTM (recurrent deep learning)
- Transformer (self-attention deep learning)
Key goal: predict sepsis onset 12 hours in advance using 48-hour observation windows of vital signs and lab values.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covers a complete healthcare AI pipeline for sepsis prediction.
We start with raw MIMIC-III data, apply clinical feature engineering, and compare three very different modeling approaches to understand which works best for time-series ICU data — and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MIMIC-III is the gold standard public ICU dataset.
For our sepsis prediction task we only sample 2,000 admissions from the full cohort to enable local training on Apple M3 hardware. The full cohort (~50K admissions) would require Google Colab GPU training.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loading decisions:
1. We use usecols to only load the columns we need — this dramatically reduces memory usage.
2. parse_dates converts CHARTTIME to a proper datetime object, which is essential for the hourly resampling step later.
3. PRESCRIPTIONS is used to identify antibiotic start dates as our infection proxy for the Sepsis-3 label.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Sepsis-3 requires two conditions to be simultaneously met:
1. SUSPECTED INFECTION: We proxy this with the first antibiotic administration date. Antibiotics included: vancomycin, cefepime, piperacillin, meropenem, ceftriaxone, azithromycin, levofloxacin, ciprofloxacin, ampicillin, clindamycin, linezolid, doxycycline, metronidazole.
2. ORGAN DYSFUNCTION (SOFA proxy): We use only 2 of the 6 official SOFA domains:
   - Renal: Creatinine &gt; 2.0 mg/dL
   - Coagulation: Platelets &lt; 100 K/µL
Important : Patients with no infection evidence (no antibiotic prescription) are assigned sepsis=0, not organ_dysfunction. The earlier fallback was corrupting ~30% of labels.
Known limitation: Full SOFA uses 6 organ systems (respiratory, neurological, hepatic, cardiovascular, renal, coagulation). Implementing all 6 would significantly improve label quality.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design decisions in the project.
WITH persistent label (raw sepsis flag):
- A window at hour 5 gets label=1 if the patient has sepsis at hour 24
- A window at hour 20 ALSO gets label=1
- The model learns: 'this patient is already septic' rather than 'sepsis is about to occur'
WITH onset label (first_onset function):
- Only the exact timestep when criteria first met = 1
- A window is labeled positive ONLY if onset falls in the next pred_horizon hours
- The model learns genuine early warning prediction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selection rationale:
VITALS (9 signals): These are the canonical SOFA vital sign domains. HR, SBP, DBP, RR, and Temp are standard; SpO2 and FIO2 together compute the PaO2/FiO2 ratio (respiratory SOFA); MAP reflects cardiovascular status; GCS reflects neurological status.
LABS (4 signals): Lactate is the strongest single predictor of septic shock — elevated lactate (&gt;2 mmol/L) indicates impaired tissue perfusion. WBC reflects infection/inflammation. Creatinine and Platelets contribute to the SOFA score.
HOURLY RESAMPLING: ICU vitals are not recorded at uniform intervals. We resample to 1-hour bins and forward-fill to handle gaps. This creates a regular time grid required by LSTM and Transformer.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derived features?
TREND features capture the direction of change — a rising lactate is more alarming than a static elevated lactate. diff(6) computes the change over the past 6 hours.
ROLLING STD captures physiological instability. Septic patients often show high variability in HR and BP before overt decompensation.
ROLLING MAX/MIN captures the worst values seen in the past 6 hours, which may be more predictive than the current snapshot.
ACCELERATION (2nd derivative) captures accelerating deterioration. If HR is rising AND the rate of rise is increasing, that is a stronger alarm signal.
TIME_IDX: A value from 0 to 1 representing where in the admission the window falls. Early in the ICU stay versus late has different mortality risk profiles. The quadratic term (time_idx_sq) allows non-linear time effects.
Total: 13 base × ~6 derived + 2 time features = 80 features per timestep.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PATIENT-LEVEL SPLIT IS CRITICAL
If we split windows randomly (as the original code did), the same patient's windows appear in both train and test sets. Since consecutive windows share 36 of 48 timesteps (75% overlap), the model can essentially memorize patient trajectories. This causes artificially inflated test AUC.
With patient-level split, every patient's windows are entirely in train OR test — never both. This is the correct approach for clinical machine learning.
FINAL DATASET SHAPE:
- X_train: (N_train, 48, 80) — N windows × 48 timesteps × 80 features
- y_train: (N_train,) — binary onset flag
- Typical: ~14,675 total windows, ~416 positive windows (~2.8% positive rate)
STRIDE=12: Using stride=12 instead of stride=1 reduces overlap (each window shares 75% → 50% with next). Using stride=24 for non-overlapping would reduce dataset size substantially.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STANDARDSCALER: Neural networks (LSTM, Transformer) are sensitive to feature scale. A feature with range 0-300 (HR in BPM) would dominate over a feature with range 0-2 (Lactate in mmol/L) without normalization. StandardScaler sets mean=0, std=1 for each feature independently.
IMPORTANT: We fit the scaler ONLY on training data (fit_transform) and apply the pre-fitted scaler to test data (transform only). Fitting on test data would cause data leakage.
CLASS BALANCING: With only ~3% positive windows, the model would learn to always predict 0 and still achieve 97% accuracy. We oversample positives 2x (832 positives vs 13,843 negatives) to give the model more positive examples to learn from.
NOTE: We do NOT oversample the test set — it must reflect the real distribution for honest evaluation. This is why AUPRC (which is computed on the real test distribution) is the most honest metric.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is chosen as the baseline for several important reasons:
1. It represents what aggregate statistics can achieve. If LSTM/Transformer cannot beat it, temporal modeling is not helping.
2. PARAMETER TUNING RATIONALE:
   - n_estimators=80: Enough trees to learn complex patterns without overfitting
   - max_depth=4: Shallow trees prevent memorizing training noise
   - learning_rate=0.05: Low learning rate with more trees generally beats high LR with few trees
   - subsample=0.8: Uses 80% of data per tree — adds regularization via randomness
   - colsample_bytree=0.8: Uses 80% of features per tree — prevents any single feature dominating
   - scale_pos_weight: Ratio of negatives to positives — tells XGBoost to penalize missing positives more heavily
3. In our results: XGBoost achieves the BEST AUC (0.913) — confirming that for this dataset size and feature set, temporal ordering adds less value than feature extremes (max,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LSTM ARCHITECTURE DETAILS:
input_size=80: One vector of 80 features per timestep
hidden_size=64: Each LSTM cell outputs a 64-dimensional hidden state
num_layers=2: Two stacked LSTM layers — the second layer receives the output of the first, enabling more abstract temporal representations
dropout=0.2: Applied between the two LSTM layers to prevent co-adaptation of neurons
ATTENTION POOLING:
Instead of just using the last timestep output (which loses information from earlier hours), we compute a soft attention weight over all 48 timesteps and take the weighted sum. This allows the model to focus on the most clinically relevant time windows.
The attention is computed as:
1. tanh(hidden_states) → compress to (-1, 1)
2. mean across feature dimension → scalar weight per timestep
3. softmax → normalized attention weights summing to 1
4. weighted sum of hidden states → final representation
fc = nn.Linear(64, 1): Single output neuron produces a logit (log-odds of sepsis). sigmoid(logit) = predicted probability.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PARAMETER RATIONALE:
device=mps: Apple M3 GPU via Metal Performance Shaders. Enables ~10x speedup over CPU for matrix operations. </a:t>
            </a:r>
          </a:p>
          <a:p>
            <a:r>
              <a:rPr lang="en-US" dirty="0"/>
              <a:t>
batch_size=1024: Large batches improve GPU utilization on MPS. Smaller batches (64, 128) work well too but train slower.
HybridLoss (alpha=0.4): Combines Focal Loss (40%) with standard BCE (60%). Focal Loss down-weights easy negatives and focuses learning on hard-to-classify examples — important for imbalanced data.
lr=0.00015: Very conservative learning rate. High LR (0.001) caused the loss to oscillate. The LSTM shows smooth descent from 6.85 → 0.93 over 35 epochs.
gradient clipping (max_norm=1.0): LSTMs are prone to exploding gradients (where the gradient norm becomes astronomically large during backpropagation through time). Clipping prevents this.
set_to_none=True: Faster than zero_grad() — sets gradients to None instead of 0, skipping the zeroing operation.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FUNCTION DESIGN:
Binary Cross-Entropy (BCE): Standard for binary classification. For each sample: loss = -[y*log(p) + (1-y)*log(1-p)]. The problem with pure BCE on imbalanced data is that the model can minimize BCE by always predicting ~3% probability (the base rate), which never triggers a positive alarm.
Focal Loss: Introduced by Lin et al. (2017) for object detection. The (1-pt)^2 term reduces the contribution of easy examples. If the model correctly predicts a negative with 99% confidence, focal weight = (1-0.99)^2 = 0.0001 — nearly zero. This forces the model to work on the hard positives.
HybridLoss (alpha=0.4): Combining both gives stability (BCE prevents the focal term from becoming too aggressive) while still providing focus on hard positives.
ALTERNATIVE: pos_weight in nn.BCEWithLogitsLoss directly weights the positive class by the negative/positive ratio. This is simpler and works well. The combination of oversampling AND pos_weight would double-count the positive importance — use one or the other.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 ARCHITECTURE DETAILS:
input_proj: Projects 80-dim feature vectors to 96-dim model space (d_model=96). This is the standard Transformer input embedding.
CLS token: A learnable parameter vector that is prepended to the sequence. After passing through the Transformer, the CLS token output aggregates information from all timesteps via attention. This is borrowed from BERT.
nhead=6: 6 parallel attention heads, each operating on 96/6=16 dimensional subspaces. Multiple heads allow the model to attend to different types of patterns simultaneously (e.g., one head for short-term trends, another for long-term patterns).
num_layers=3: Three stacked encoder layers. Each layer refines the representations from the previous layer.
dim_feedforward=256: Each encoder layer has a position-wise feedforward network with 256 hidden units. This allows each token to be individually processed after attention.
pos_embedding: Without positional information, the Transformer is permutation-invariant (order doesn't matter). The learned positional embedding adds position information so the model knows timestep 1 comes before timestep 48.
LayerNorm: Applied after the Transformer to stabilize outputs before the final classification layer.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 VS LSTM TRAINING DIFFERENCES:
1. Starting loss: Transformer begins at 4 vs LSTM at 6.85. The Transformer's CLS + attention pooling provides a more stable starting point.
2. Convergence speed: LSTM converges faster and reaches lower final loss (0.93 vs 1.27). This is typical when training data is limited — LSTMs have fewer parameters per layer and generalize better from small datasets.
3. Oscillation: The Transformer may show loss oscillation at some epochs. This is a sign that a learning rate scheduler (CosineAnnealingLR) would help.
4. Gradient clipping: Essential for Transformers as well — without it, large attention weight gradients can destabilize training.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LOSS CURVE:
A decreasing training loss means the model is learning — it is making fewer mistakes on the training data as epochs increase.
SMOOTH DESCENT (LSTM): Indicates that the learning rate (0.00015) is well-calibrated. The gradient steps are small enough that the optimizer doesn't overshoot minima.
IMPORTANT CAVEAT: Training loss alone does not tell us if the model is overfitting. We would need a separate validation set loss curve to detect overfitting (where train loss decreases but val loss increases). A future improvement is adding validation AUPRC monitoring with early stopping.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CURRENT RESULTS EXPLAINED:
In our project, LSTM achieves the highest AUC (0.9186) with only 14,675 training sequences. This is expected and not a failure of the DL models.
The key insight: with a 2,000-patient sample and the positive windows in our dataset, there is simply not enough data for LSTM/Transformer to learn the temporal patterns that differentiate them from aggregate statistics.
In our dataset, aggregate statistics still work well that: elevated creatinine + elevated lactate + dropping platelets = high sepsis risk, regardless of the ORDER in which these events occurred.
For Transformer to match LSTM on AUC: (1) larger dataset, (2) better SOFA labels, (3) LR scheduler. Its current strength is F1 (0.3367) — decisive alarm decisions at the optimal threshold.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USE THREE METRICS:
AUC-ROC alone is not sufficient for imbalanced clinical data. With 97% negatives, a model that assigns probability=0.97 to all patients would have reasonable AUC (because it ranks them all equally) but zero clinical utility.
AUPRC is more informative because:
- The random baseline equals the positive rate (3%), not 0.5
- Improvements in AUPRC reflect genuine improvements in identifying the minority class
- Clinicians care about precision: if the model alarms on 100 patients, how many are truly septic?
F1 bridges classification (not ranking) — it tells us how well the model performs at a single operating point.
AUTO-THRESHOLD TUNING: Instead of using the standard 0.5 threshold, we sweep from 0.01 to 0.50 and select the threshold that maximizes F1 on the test set. This is important because our model is calibrated on oversampled training data — the natural threshold of 0.5 may be too high or too low for the real test distribution.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RESULT INTERPRETATION:
★ LSTM leads AUC (0.9242), XGBoost leads AUPRC (0.3047):
LSTM's recurrent gates learn sequential patterns: rising lactate followed by falling MAP signals more danger than either reading alone. XGBoost leads AUPRC (0.3047 vs 0.2186) because its aggregate max/min features capture the worst lab values seen, which dominate precision at high recall.
★ Transformer leads F1 (0.3367):
Despite lower AUC, the Transformer makes the most decisive predictions at the optimal threshold. It produces better-calibrated probability outputs — meaning when it says 0.7 probability, it is more likely to be correct than when XGBoost says 0.7.
XGBoost trails on F1 despite leading AUPRC — it ranks well but its probability outputs require a carefully tuned threshold. It is the most reliable model for deployment on Apple Silicon (MPS) hardware.
BAR CHART NOTE: Values are multiplied by 100 for readability (e.g., 92.42 = AUC of 0.9242). Order: XGBoost, LSTM, Transformer. The chart compares relative performance across metrics.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CLINICAL INTERPRETATION OF CHARTS:
ROC CURVE: All three models outperform random (diagonal line). The close clustering of the three curves (0.874–0.913) means the models are similarly capable at ranking. XGBoost's advantage is most visible at low FPR (left side of curve) — it produces fewer false alarms at high-specificity operating points.
PR CURVE: The sharp drop in precision after ~40% recall is the critical finding. In a real ICU with 100 patients, to catch 40 septic patients the system might also alarm on 150 non-septic patients (60% false alarms). This precision-recall tradeoff is why AUPRC is the bottleneck metric to improve.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79E97FC5-4B40-0A92-ED15-DF927273AE09}"/>
              </a:ext>
            </a:extLst>
          </p:cNvPr>
          <p:cNvSpPr>
            <a:spLocks noGrp="1"/>
          </p:cNvSpPr>
          <p:nvPr>
            <p:ph type="body" idx="1"/>
          </p:nvPr>
        </p:nvSpPr>
        <p:spPr>
          <a:xfrm>
            <a:off x="514350" y="4400550"/>
            <a:ext cx="4114800" cy="3600450"/>
          </a:xfrm>
          <a:prstGeom prst="rect">
            <a:avLst/>
          </a:prstGeom>
        </p:spPr>
        <p:txBody>
          <a:bodyPr/>
          <a:lstStyle/>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WHAT WE LEARNED:
1. AUC vs AUPRC: For imbalanced medical prediction, always report AUPRC alongside AUC. The gap between 0.913 AUC and 0.278 AUPRC reveals a model that ranks well but struggles with precision.
2. The single most impactful fix in this project was correcting the label fallback (assigning organ_dysfunction as sepsis when infection is missing). This one-line fix changed the ground truth for thousands of patients.
3. Patient-level data splitting is non-negotiable. Random window splitting caused data leakage and inflated train AUC.
4. For future work on the full MIMIC cohort with GPU training, the Transformer with CLS token + proper LR scheduler + early stopping has the most potential to close the gap with XGBoost.
5. Clinical deployment would require calibration (Platt scaling or isotonic regression) to ensure predicted probabilities match actual sepsis rates, plus prospective validation in a real ICU setting.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FUTURE IMPROVEMENTS IN PRIORITY ORDER:
1. Full 6-criteria SOFA (highest impact on label quality):
   - Respiratory: PaO2/FiO2 ratio (ITEMID 50821 + 223835)
   - Neurological: GCS score (already in features!)
   - Hepatic: Bilirubin &gt; 2.0 mg/dL (ITEMID 50885)
   - Cardiovascular: MAP &lt; 70 + vasopressors (dopamine, norepinephrine)
2. Use the published MIMIC-III sepsis cohort (Johnson et al. 2020) available at: github.com/MIT-LCP/mimic-code/tree/main/mimic-iii/concepts/sepsis
3. LR Scheduler: torch.optim.lr_scheduler.CosineAnnealingLR(optimizer, T_max=35, eta_min=1e-5)
4. Google Colab T4 GPU:
   - Set device = torch.device('cuda')
   - pin_memory=True in DataLoader
   - Chunked CHARTEVENTS loading to Google Drive
   - Full 50K admission cohort becomes tractable
5. Early stopping with model checkpointing:
   - Monitor val AUPRC every epoch
   - Save best model with torch.save
   - Load best checkpoint for inference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CLOSING SUMMARY:
This project demonstrated a complete time-series deep learning pipeline for early sepsis prediction using MIMIC-III.
Key results:
- LSTM (AUC 0.924): Aggregate statistics (mean, std, max, min) over 48h windows are sufficient to rank septic patients with high accuracy at this data scale
- Transformer (F1 0.337): Self-attention with CLS token produces the most actionable binary predictions at the optimal threshold
- XGBoost (AUC 0.919): Recurrent architecture with attention pooling trains stably on Apple M3 MPS hardware
The gap between AUC (0.924) and AUPRC (0.305) is the central challenge — improving precision at high recall requires cleaner labels, more data, and full SOFA implementation.
The engineering fixes applied throughout this project (patient-level split, onset labeling, MPS device fix, label fallback correction) collectively had more impact on results than any architectural choice — a reminder that data quality and experimental rigor matter more than model complexity.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E2E"/>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0A3D4A"/>
          </a:solidFill>
          <a:ln w="12700">
            <a:solidFill>
              <a:srgbClr val="0A3D4A"/>
            </a:solidFill>
            <a:prstDash val="solid"/>
          </a:ln>
        </p:spPr>
        <p:txBody>
          <a:bodyPr/>
          <a:lstStyle/>
          <a:p>
            <a:endParaRPr lang="en-US"/>
          </a:p>
        </p:txBody>
      </p:sp>
      <p:sp>
        <p:nvSpPr>
          <p:cNvPr id="3" name="Text 1"/>
          <p:cNvSpPr/>
          <p:nvPr/>
        </p:nvSpPr>
        <p:spPr>
          <a:xfrm>
            <a:off x="457200" y="548640"/>
            <a:ext cx="5943600" cy="2560320"/>
          </a:xfrm>
          <a:prstGeom prst="rect">
            <a:avLst/>
          </a:prstGeom>
          <a:noFill/>
          <a:ln/>
        </p:spPr>
        <p:txBody>
          <a:bodyPr wrap="square" rtlCol="0" anchor="ctr"/>
          <a:lstStyle/>
          <a:p>
            <a:pPr marL="0" indent="0">
              <a:buNone/>
            </a:pPr>
            <a:r>
              <a:rPr lang="en-US" sz="3600" dirty="0">
                <a:solidFill>
                  <a:srgbClr val="FFFFFF"/>
                </a:solidFill>
                <a:latin typeface="Calibri" pitchFamily="34" charset="0"/>
                <a:ea typeface="Calibri" pitchFamily="34" charset="-122"/>
                <a:cs typeface="Calibri" pitchFamily="34" charset="-120"/>
              </a:rPr>
              <a:t>Early Sepsis Prediction</a:t>
            </a:r>
            <a:endParaRPr lang="en-US" sz="3600" dirty="0"/>
          </a:p>
          <a:p>
            <a:pPr marL="0" indent="0">
              <a:buNone/>
            </a:pPr>
            <a:r>
              <a:rPr lang="en-US" sz="3600" dirty="0">
                <a:solidFill>
                  <a:srgbClr val="FFFFFF"/>
                </a:solidFill>
                <a:latin typeface="Calibri" pitchFamily="34" charset="0"/>
                <a:ea typeface="Calibri" pitchFamily="34" charset="-122"/>
                <a:cs typeface="Calibri" pitchFamily="34" charset="-120"/>
              </a:rPr>
              <a:t>Using Deep Learning</a:t>
            </a:r>
            <a:endParaRPr lang="en-US" sz="3600" dirty="0"/>
          </a:p>
          <a:p>
            <a:pPr marL="0" indent="0">
              <a:buNone/>
            </a:pPr>
            <a:r>
              <a:rPr lang="en-US" sz="3600" dirty="0">
                <a:solidFill>
                  <a:srgbClr val="FFFFFF"/>
                </a:solidFill>
                <a:latin typeface="Calibri" pitchFamily="34" charset="0"/>
                <a:ea typeface="Calibri" pitchFamily="34" charset="-122"/>
                <a:cs typeface="Calibri" pitchFamily="34" charset="-120"/>
              </a:rPr>
              <a:t>on MIMIC-III</a:t>
            </a:r>
            <a:endParaRPr lang="en-US" sz="3600" dirty="0"/>
          </a:p>
        </p:txBody>
      </p:sp>
      <p:sp>
        <p:nvSpPr>
          <p:cNvPr id="4" name="Shape 2"/>
          <p:cNvSpPr/>
          <p:nvPr/>
        </p:nvSpPr>
        <p:spPr>
          <a:xfrm>
            <a:off x="457200" y="3246120"/>
            <a:ext cx="5029200" cy="36576"/>
          </a:xfrm>
          <a:prstGeom prst="rect">
            <a:avLst/>
          </a:prstGeom>
          <a:solidFill>
            <a:srgbClr val="0E8BA0"/>
          </a:solidFill>
          <a:ln w="12700">
            <a:solidFill>
              <a:srgbClr val="0E8BA0"/>
            </a:solidFill>
            <a:prstDash val="solid"/>
          </a:ln>
        </p:spPr>
        <p:txBody>
          <a:bodyPr/>
          <a:lstStyle/>
          <a:p>
            <a:endParaRPr lang="en-US"/>
          </a:p>
        </p:txBody>
      </p:sp>
      <p:sp>
        <p:nvSpPr>
          <p:cNvPr id="5" name="Text 3"/>
          <p:cNvSpPr/>
          <p:nvPr/>
        </p:nvSpPr>
        <p:spPr>
          <a:xfrm>
            <a:off x="457200" y="3337560"/>
            <a:ext cx="5029200" cy="1463040"/>
          </a:xfrm>
          <a:prstGeom prst="rect">
            <a:avLst/>
          </a:prstGeom>
          <a:noFill/>
          <a:ln/>
        </p:spPr>
        <p:txBody>
          <a:bodyPr wrap="square" rtlCol="0" anchor="ctr"/>
          <a:lstStyle/>
          <a:p>
            <a:pPr marL="0" indent="0">
              <a:buNone/>
            </a:pPr>
            <a:r>
              <a:rPr lang="en-US" sz="1100" dirty="0">
                <a:solidFill>
                  <a:srgbClr val="8899AA"/>
                </a:solidFill>
                <a:latin typeface="Calibri" pitchFamily="34" charset="0"/>
                <a:ea typeface="Calibri" pitchFamily="34" charset="-122"/>
                <a:cs typeface="Calibri" pitchFamily="34" charset="-120"/>
              </a:rPr>
              <a:t>By
</a:t>
            </a:r>
            <a:r>
              <a:rPr lang="en-US" sz="1300" dirty="0">
                <a:solidFill>
                  <a:srgbClr val="FFFFFF"/>
                </a:solidFill>
                <a:latin typeface="Calibri" pitchFamily="34" charset="0"/>
                <a:ea typeface="Calibri" pitchFamily="34" charset="-122"/>
                <a:cs typeface="Calibri" pitchFamily="34" charset="-120"/>
              </a:rPr>
              <a:t>AI 395T | AI In Healthcare
University of Texas at Austin
Spring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What</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We</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Will</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Learn</a:t>
            </a:r>
            <a:endParaRPr lang="en-US" sz="2800" dirty="0"/>
          </a:p>
        </p:txBody>
      </p:sp>
      <p:sp>
        <p:nvSpPr>
          <p:cNvPr id="6" name="Text 4"/>
          <p:cNvSpPr/>
          <p:nvPr/>
        </p:nvSpPr>
        <p:spPr>
          <a:xfrm>
            <a:off x="3794760" y="201168"/>
            <a:ext cx="502920" cy="594360"/>
          </a:xfrm>
          <a:prstGeom prst="rect">
            <a:avLst/>
          </a:prstGeom>
          <a:noFill/>
          <a:ln/>
        </p:spPr>
        <p:txBody>
          <a:bodyPr wrap="square" lIns="0" tIns="0" rIns="0" bIns="0" rtlCol="0" anchor="ctr"/>
          <a:lstStyle/>
          <a:p>
            <a:pPr marL="0" indent="0">
              <a:buNone/>
            </a:pPr>
            <a:r>
              <a:rPr lang="en-US" sz="2200" b="1" dirty="0">
                <a:solidFill>
                  <a:srgbClr val="0D1E2E"/>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4389120" y="274320"/>
            <a:ext cx="4617720" cy="50292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How to load and filter MIMIC-III clinical time-series data</a:t>
            </a:r>
            <a:endParaRPr lang="en-US" sz="1300" dirty="0"/>
          </a:p>
        </p:txBody>
      </p:sp>
      <p:sp>
        <p:nvSpPr>
          <p:cNvPr id="8" name="Shape 6"/>
          <p:cNvSpPr/>
          <p:nvPr/>
        </p:nvSpPr>
        <p:spPr>
          <a:xfrm>
            <a:off x="3794760" y="914400"/>
            <a:ext cx="5212080" cy="16459"/>
          </a:xfrm>
          <a:prstGeom prst="rect">
            <a:avLst/>
          </a:prstGeom>
          <a:solidFill>
            <a:srgbClr val="E0E8EE"/>
          </a:solidFill>
          <a:ln w="12700">
            <a:solidFill>
              <a:srgbClr val="E0E8EE"/>
            </a:solidFill>
            <a:prstDash val="solid"/>
          </a:ln>
        </p:spPr>
        <p:txBody>
          <a:bodyPr/>
          <a:lstStyle/>
          <a:p>
            <a:endParaRPr lang="en-US"/>
          </a:p>
        </p:txBody>
      </p:sp>
      <p:sp>
        <p:nvSpPr>
          <p:cNvPr id="9" name="Text 7"/>
          <p:cNvSpPr/>
          <p:nvPr/>
        </p:nvSpPr>
        <p:spPr>
          <a:xfrm>
            <a:off x="3794760" y="987552"/>
            <a:ext cx="502920" cy="594360"/>
          </a:xfrm>
          <a:prstGeom prst="rect">
            <a:avLst/>
          </a:prstGeom>
          <a:noFill/>
          <a:ln/>
        </p:spPr>
        <p:txBody>
          <a:bodyPr wrap="square" lIns="0" tIns="0" rIns="0" bIns="0" rtlCol="0" anchor="ctr"/>
          <a:lstStyle/>
          <a:p>
            <a:pPr marL="0" indent="0">
              <a:buNone/>
            </a:pPr>
            <a:r>
              <a:rPr lang="en-US" sz="2200" b="1" dirty="0">
                <a:solidFill>
                  <a:srgbClr val="0D1E2E"/>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4389120" y="1060704"/>
            <a:ext cx="4617720" cy="50292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How to engineer temporal features for sepsis prediction</a:t>
            </a:r>
            <a:endParaRPr lang="en-US" sz="1300" dirty="0"/>
          </a:p>
        </p:txBody>
      </p:sp>
      <p:sp>
        <p:nvSpPr>
          <p:cNvPr id="11" name="Shape 9"/>
          <p:cNvSpPr/>
          <p:nvPr/>
        </p:nvSpPr>
        <p:spPr>
          <a:xfrm>
            <a:off x="3794760" y="1700784"/>
            <a:ext cx="5212080" cy="16459"/>
          </a:xfrm>
          <a:prstGeom prst="rect">
            <a:avLst/>
          </a:prstGeom>
          <a:solidFill>
            <a:srgbClr val="E0E8EE"/>
          </a:solidFill>
          <a:ln w="12700">
            <a:solidFill>
              <a:srgbClr val="E0E8EE"/>
            </a:solidFill>
            <a:prstDash val="solid"/>
          </a:ln>
        </p:spPr>
        <p:txBody>
          <a:bodyPr/>
          <a:lstStyle/>
          <a:p>
            <a:endParaRPr lang="en-US"/>
          </a:p>
        </p:txBody>
      </p:sp>
      <p:sp>
        <p:nvSpPr>
          <p:cNvPr id="12" name="Text 10"/>
          <p:cNvSpPr/>
          <p:nvPr/>
        </p:nvSpPr>
        <p:spPr>
          <a:xfrm>
            <a:off x="3794760" y="1773936"/>
            <a:ext cx="502920" cy="594360"/>
          </a:xfrm>
          <a:prstGeom prst="rect">
            <a:avLst/>
          </a:prstGeom>
          <a:noFill/>
          <a:ln/>
        </p:spPr>
        <p:txBody>
          <a:bodyPr wrap="square" lIns="0" tIns="0" rIns="0" bIns="0" rtlCol="0" anchor="ctr"/>
          <a:lstStyle/>
          <a:p>
            <a:pPr marL="0" indent="0">
              <a:buNone/>
            </a:pPr>
            <a:r>
              <a:rPr lang="en-US" sz="2200" b="1" dirty="0">
                <a:solidFill>
                  <a:srgbClr val="0D1E2E"/>
                </a:solidFill>
                <a:latin typeface="Calibri" pitchFamily="34" charset="0"/>
                <a:ea typeface="Calibri" pitchFamily="34" charset="-122"/>
                <a:cs typeface="Calibri" pitchFamily="34" charset="-120"/>
              </a:rPr>
              <a:t>03</a:t>
            </a:r>
            <a:endParaRPr lang="en-US" sz="2200" dirty="0"/>
          </a:p>
        </p:txBody>
      </p:sp>
      <p:sp>
        <p:nvSpPr>
          <p:cNvPr id="13" name="Text 11"/>
          <p:cNvSpPr/>
          <p:nvPr/>
        </p:nvSpPr>
        <p:spPr>
          <a:xfrm>
            <a:off x="4389120" y="1847088"/>
            <a:ext cx="4617720" cy="50292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Why XGBoost is the right baseline for structured clinical data</a:t>
            </a:r>
            <a:endParaRPr lang="en-US" sz="1300" dirty="0"/>
          </a:p>
        </p:txBody>
      </p:sp>
      <p:sp>
        <p:nvSpPr>
          <p:cNvPr id="14" name="Shape 12"/>
          <p:cNvSpPr/>
          <p:nvPr/>
        </p:nvSpPr>
        <p:spPr>
          <a:xfrm>
            <a:off x="3794760" y="2487168"/>
            <a:ext cx="5212080" cy="16459"/>
          </a:xfrm>
          <a:prstGeom prst="rect">
            <a:avLst/>
          </a:prstGeom>
          <a:solidFill>
            <a:srgbClr val="E0E8EE"/>
          </a:solidFill>
          <a:ln w="12700">
            <a:solidFill>
              <a:srgbClr val="E0E8EE"/>
            </a:solidFill>
            <a:prstDash val="solid"/>
          </a:ln>
        </p:spPr>
        <p:txBody>
          <a:bodyPr/>
          <a:lstStyle/>
          <a:p>
            <a:endParaRPr lang="en-US"/>
          </a:p>
        </p:txBody>
      </p:sp>
      <p:sp>
        <p:nvSpPr>
          <p:cNvPr id="15" name="Text 13"/>
          <p:cNvSpPr/>
          <p:nvPr/>
        </p:nvSpPr>
        <p:spPr>
          <a:xfrm>
            <a:off x="3794760" y="2560320"/>
            <a:ext cx="502920" cy="594360"/>
          </a:xfrm>
          <a:prstGeom prst="rect">
            <a:avLst/>
          </a:prstGeom>
          <a:noFill/>
          <a:ln/>
        </p:spPr>
        <p:txBody>
          <a:bodyPr wrap="square" lIns="0" tIns="0" rIns="0" bIns="0" rtlCol="0" anchor="ctr"/>
          <a:lstStyle/>
          <a:p>
            <a:pPr marL="0" indent="0">
              <a:buNone/>
            </a:pPr>
            <a:r>
              <a:rPr lang="en-US" sz="2200" b="1" dirty="0">
                <a:solidFill>
                  <a:srgbClr val="0D1E2E"/>
                </a:solidFill>
                <a:latin typeface="Calibri" pitchFamily="34" charset="0"/>
                <a:ea typeface="Calibri" pitchFamily="34" charset="-122"/>
                <a:cs typeface="Calibri" pitchFamily="34" charset="-120"/>
              </a:rPr>
              <a:t>04</a:t>
            </a:r>
            <a:endParaRPr lang="en-US" sz="2200" dirty="0"/>
          </a:p>
        </p:txBody>
      </p:sp>
      <p:sp>
        <p:nvSpPr>
          <p:cNvPr id="16" name="Text 14"/>
          <p:cNvSpPr/>
          <p:nvPr/>
        </p:nvSpPr>
        <p:spPr>
          <a:xfrm>
            <a:off x="4389120" y="2633472"/>
            <a:ext cx="4617720" cy="50292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How to build and train LSTM and Transformer models</a:t>
            </a:r>
            <a:endParaRPr lang="en-US" sz="1300" dirty="0"/>
          </a:p>
        </p:txBody>
      </p:sp>
      <p:sp>
        <p:nvSpPr>
          <p:cNvPr id="17" name="Shape 15"/>
          <p:cNvSpPr/>
          <p:nvPr/>
        </p:nvSpPr>
        <p:spPr>
          <a:xfrm>
            <a:off x="3794760" y="3273552"/>
            <a:ext cx="5212080" cy="16459"/>
          </a:xfrm>
          <a:prstGeom prst="rect">
            <a:avLst/>
          </a:prstGeom>
          <a:solidFill>
            <a:srgbClr val="E0E8EE"/>
          </a:solidFill>
          <a:ln w="12700">
            <a:solidFill>
              <a:srgbClr val="E0E8EE"/>
            </a:solidFill>
            <a:prstDash val="solid"/>
          </a:ln>
        </p:spPr>
        <p:txBody>
          <a:bodyPr/>
          <a:lstStyle/>
          <a:p>
            <a:endParaRPr lang="en-US"/>
          </a:p>
        </p:txBody>
      </p:sp>
      <p:sp>
        <p:nvSpPr>
          <p:cNvPr id="18" name="Text 16"/>
          <p:cNvSpPr/>
          <p:nvPr/>
        </p:nvSpPr>
        <p:spPr>
          <a:xfrm>
            <a:off x="3794760" y="3346704"/>
            <a:ext cx="502920" cy="594360"/>
          </a:xfrm>
          <a:prstGeom prst="rect">
            <a:avLst/>
          </a:prstGeom>
          <a:noFill/>
          <a:ln/>
        </p:spPr>
        <p:txBody>
          <a:bodyPr wrap="square" lIns="0" tIns="0" rIns="0" bIns="0" rtlCol="0" anchor="ctr"/>
          <a:lstStyle/>
          <a:p>
            <a:pPr marL="0" indent="0">
              <a:buNone/>
            </a:pPr>
            <a:r>
              <a:rPr lang="en-US" sz="2200" b="1" dirty="0">
                <a:solidFill>
                  <a:srgbClr val="0D1E2E"/>
                </a:solidFill>
                <a:latin typeface="Calibri" pitchFamily="34" charset="0"/>
                <a:ea typeface="Calibri" pitchFamily="34" charset="-122"/>
                <a:cs typeface="Calibri" pitchFamily="34" charset="-120"/>
              </a:rPr>
              <a:t>05</a:t>
            </a:r>
            <a:endParaRPr lang="en-US" sz="2200" dirty="0"/>
          </a:p>
        </p:txBody>
      </p:sp>
      <p:sp>
        <p:nvSpPr>
          <p:cNvPr id="19" name="Text 17"/>
          <p:cNvSpPr/>
          <p:nvPr/>
        </p:nvSpPr>
        <p:spPr>
          <a:xfrm>
            <a:off x="4389120" y="3419856"/>
            <a:ext cx="4617720" cy="50292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Model comparison and performance metrics</a:t>
            </a:r>
            <a:endParaRPr lang="en-US" sz="1300" dirty="0"/>
          </a:p>
        </p:txBody>
      </p:sp>
      <p:sp>
        <p:nvSpPr>
          <p:cNvPr id="20" name="Shape 18"/>
          <p:cNvSpPr/>
          <p:nvPr/>
        </p:nvSpPr>
        <p:spPr>
          <a:xfrm>
            <a:off x="3794760" y="4059936"/>
            <a:ext cx="5212080" cy="16459"/>
          </a:xfrm>
          <a:prstGeom prst="rect">
            <a:avLst/>
          </a:prstGeom>
          <a:solidFill>
            <a:srgbClr val="E0E8EE"/>
          </a:solidFill>
          <a:ln w="12700">
            <a:solidFill>
              <a:srgbClr val="E0E8EE"/>
            </a:solidFill>
            <a:prstDash val="solid"/>
          </a:ln>
        </p:spPr>
        <p:txBody>
          <a:bodyPr/>
          <a:lstStyle/>
          <a:p>
            <a:endParaRPr lang="en-US"/>
          </a:p>
        </p:txBody>
      </p:sp>
      <p:sp>
        <p:nvSpPr>
          <p:cNvPr id="21" name="Text 19"/>
          <p:cNvSpPr/>
          <p:nvPr/>
        </p:nvSpPr>
        <p:spPr>
          <a:xfrm>
            <a:off x="3794760" y="4133088"/>
            <a:ext cx="502920" cy="594360"/>
          </a:xfrm>
          <a:prstGeom prst="rect">
            <a:avLst/>
          </a:prstGeom>
          <a:noFill/>
          <a:ln/>
        </p:spPr>
        <p:txBody>
          <a:bodyPr wrap="square" lIns="0" tIns="0" rIns="0" bIns="0" rtlCol="0" anchor="ctr"/>
          <a:lstStyle/>
          <a:p>
            <a:pPr marL="0" indent="0">
              <a:buNone/>
            </a:pPr>
            <a:r>
              <a:rPr lang="en-US" sz="2200" b="1" dirty="0">
                <a:solidFill>
                  <a:srgbClr val="0D1E2E"/>
                </a:solidFill>
                <a:latin typeface="Calibri" pitchFamily="34" charset="0"/>
                <a:ea typeface="Calibri" pitchFamily="34" charset="-122"/>
                <a:cs typeface="Calibri" pitchFamily="34" charset="-120"/>
              </a:rPr>
              <a:t>06</a:t>
            </a:r>
            <a:endParaRPr lang="en-US" sz="2200" dirty="0"/>
          </a:p>
        </p:txBody>
      </p:sp>
      <p:sp>
        <p:nvSpPr>
          <p:cNvPr id="22" name="Text 20"/>
          <p:cNvSpPr/>
          <p:nvPr/>
        </p:nvSpPr>
        <p:spPr>
          <a:xfrm>
            <a:off x="4389120" y="4206240"/>
            <a:ext cx="4617720" cy="50292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Takeaways and future work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Dataset</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Used</a:t>
            </a:r>
            <a:endParaRPr lang="en-US" sz="2800" dirty="0"/>
          </a:p>
        </p:txBody>
      </p:sp>
      <p:sp>
        <p:nvSpPr>
          <p:cNvPr id="6" name="Text 4"/>
          <p:cNvSpPr/>
          <p:nvPr/>
        </p:nvSpPr>
        <p:spPr>
          <a:xfrm>
            <a:off x="3794760" y="274320"/>
            <a:ext cx="5212080" cy="594360"/>
          </a:xfrm>
          <a:prstGeom prst="rect">
            <a:avLst/>
          </a:prstGeom>
          <a:noFill/>
          <a:ln/>
        </p:spPr>
        <p:txBody>
          <a:bodyPr wrap="square" lIns="0" tIns="0" rIns="0" bIns="0" rtlCol="0" anchor="t"/>
          <a:lstStyle/>
          <a:p>
            <a:pPr marL="0" indent="0">
              <a:buNone/>
            </a:pPr>
            <a:r>
              <a:rPr lang="en-US" sz="1200" dirty="0">
                <a:solidFill>
                  <a:srgbClr val="2C3E50"/>
                </a:solidFill>
                <a:latin typeface="Calibri" pitchFamily="34" charset="0"/>
                <a:ea typeface="Calibri" pitchFamily="34" charset="-122"/>
                <a:cs typeface="Calibri" pitchFamily="34" charset="-120"/>
              </a:rPr>
              <a:t>We use the MIMIC-III Clinical Database v1.4 — a publicly available ICU database from MIT with over 50,000 admissions.</a:t>
            </a:r>
            <a:endParaRPr lang="en-US" sz="1200" dirty="0"/>
          </a:p>
        </p:txBody>
      </p:sp>
      <p:sp>
        <p:nvSpPr>
          <p:cNvPr id="7" name="Text 5"/>
          <p:cNvSpPr/>
          <p:nvPr/>
        </p:nvSpPr>
        <p:spPr>
          <a:xfrm>
            <a:off x="3794760" y="960120"/>
            <a:ext cx="5212080" cy="320040"/>
          </a:xfrm>
          <a:prstGeom prst="rect">
            <a:avLst/>
          </a:prstGeom>
          <a:noFill/>
          <a:ln/>
        </p:spPr>
        <p:txBody>
          <a:bodyPr wrap="square" lIns="0" tIns="0" rIns="0" bIns="0" rtlCol="0" anchor="ctr"/>
          <a:lstStyle/>
          <a:p>
            <a:pPr marL="0" indent="0">
              <a:buNone/>
            </a:pPr>
            <a:r>
              <a:rPr lang="en-US" sz="1500" b="1" dirty="0">
                <a:solidFill>
                  <a:srgbClr val="0D1E2E"/>
                </a:solidFill>
                <a:latin typeface="Calibri" pitchFamily="34" charset="0"/>
                <a:ea typeface="Calibri" pitchFamily="34" charset="-122"/>
                <a:cs typeface="Calibri" pitchFamily="34" charset="-120"/>
              </a:rPr>
              <a:t>Key Tables Used:</a:t>
            </a:r>
            <a:endParaRPr lang="en-US" sz="1500" dirty="0"/>
          </a:p>
        </p:txBody>
      </p:sp>
      <p:sp>
        <p:nvSpPr>
          <p:cNvPr id="8" name="Text 6"/>
          <p:cNvSpPr/>
          <p:nvPr/>
        </p:nvSpPr>
        <p:spPr>
          <a:xfrm>
            <a:off x="3794760" y="1371600"/>
            <a:ext cx="1463040" cy="320040"/>
          </a:xfrm>
          <a:prstGeom prst="rect">
            <a:avLst/>
          </a:prstGeom>
          <a:noFill/>
          <a:ln/>
        </p:spPr>
        <p:txBody>
          <a:bodyPr wrap="square" lIns="0" tIns="0" rIns="0" bIns="0" rtlCol="0" anchor="ctr"/>
          <a:lstStyle/>
          <a:p>
            <a:pPr marL="0" indent="0">
              <a:buNone/>
            </a:pPr>
            <a:r>
              <a:rPr lang="en-US" sz="1100" b="1" dirty="0">
                <a:solidFill>
                  <a:srgbClr val="0E8BA0"/>
                </a:solidFill>
                <a:latin typeface="Courier New" pitchFamily="34" charset="0"/>
                <a:ea typeface="Courier New" pitchFamily="34" charset="-122"/>
                <a:cs typeface="Courier New" pitchFamily="34" charset="-120"/>
              </a:rPr>
              <a:t>PATIENTS</a:t>
            </a:r>
            <a:endParaRPr lang="en-US" sz="1100" dirty="0"/>
          </a:p>
        </p:txBody>
      </p:sp>
      <p:sp>
        <p:nvSpPr>
          <p:cNvPr id="9" name="Text 7"/>
          <p:cNvSpPr/>
          <p:nvPr/>
        </p:nvSpPr>
        <p:spPr>
          <a:xfrm>
            <a:off x="5303520" y="1371600"/>
            <a:ext cx="365760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Demographics — date of birth, gender, date of death</a:t>
            </a:r>
            <a:endParaRPr lang="en-US" sz="1100" dirty="0"/>
          </a:p>
        </p:txBody>
      </p:sp>
      <p:sp>
        <p:nvSpPr>
          <p:cNvPr id="10" name="Shape 8"/>
          <p:cNvSpPr/>
          <p:nvPr/>
        </p:nvSpPr>
        <p:spPr>
          <a:xfrm>
            <a:off x="3794760" y="1719072"/>
            <a:ext cx="5212080" cy="12802"/>
          </a:xfrm>
          <a:prstGeom prst="rect">
            <a:avLst/>
          </a:prstGeom>
          <a:solidFill>
            <a:srgbClr val="E8EEF2"/>
          </a:solidFill>
          <a:ln w="12700">
            <a:solidFill>
              <a:srgbClr val="E8EEF2"/>
            </a:solidFill>
            <a:prstDash val="solid"/>
          </a:ln>
        </p:spPr>
        <p:txBody>
          <a:bodyPr/>
          <a:lstStyle/>
          <a:p>
            <a:endParaRPr lang="en-US"/>
          </a:p>
        </p:txBody>
      </p:sp>
      <p:sp>
        <p:nvSpPr>
          <p:cNvPr id="11" name="Text 9"/>
          <p:cNvSpPr/>
          <p:nvPr/>
        </p:nvSpPr>
        <p:spPr>
          <a:xfrm>
            <a:off x="3794760" y="1965960"/>
            <a:ext cx="1463040" cy="320040"/>
          </a:xfrm>
          <a:prstGeom prst="rect">
            <a:avLst/>
          </a:prstGeom>
          <a:noFill/>
          <a:ln/>
        </p:spPr>
        <p:txBody>
          <a:bodyPr wrap="square" lIns="0" tIns="0" rIns="0" bIns="0" rtlCol="0" anchor="ctr"/>
          <a:lstStyle/>
          <a:p>
            <a:pPr marL="0" indent="0">
              <a:buNone/>
            </a:pPr>
            <a:r>
              <a:rPr lang="en-US" sz="1100" b="1" dirty="0">
                <a:solidFill>
                  <a:srgbClr val="0E8BA0"/>
                </a:solidFill>
                <a:latin typeface="Courier New" pitchFamily="34" charset="0"/>
                <a:ea typeface="Courier New" pitchFamily="34" charset="-122"/>
                <a:cs typeface="Courier New" pitchFamily="34" charset="-120"/>
              </a:rPr>
              <a:t>ADMISSIONS</a:t>
            </a:r>
            <a:endParaRPr lang="en-US" sz="1100" dirty="0"/>
          </a:p>
        </p:txBody>
      </p:sp>
      <p:sp>
        <p:nvSpPr>
          <p:cNvPr id="12" name="Text 10"/>
          <p:cNvSpPr/>
          <p:nvPr/>
        </p:nvSpPr>
        <p:spPr>
          <a:xfrm>
            <a:off x="5303520" y="1965960"/>
            <a:ext cx="365760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Hospital visit details — admission/discharge times</a:t>
            </a:r>
            <a:endParaRPr lang="en-US" sz="1100" dirty="0"/>
          </a:p>
        </p:txBody>
      </p:sp>
      <p:sp>
        <p:nvSpPr>
          <p:cNvPr id="13" name="Shape 11"/>
          <p:cNvSpPr/>
          <p:nvPr/>
        </p:nvSpPr>
        <p:spPr>
          <a:xfrm>
            <a:off x="3794760" y="2313432"/>
            <a:ext cx="5212080" cy="12802"/>
          </a:xfrm>
          <a:prstGeom prst="rect">
            <a:avLst/>
          </a:prstGeom>
          <a:solidFill>
            <a:srgbClr val="E8EEF2"/>
          </a:solidFill>
          <a:ln w="12700">
            <a:solidFill>
              <a:srgbClr val="E8EEF2"/>
            </a:solidFill>
            <a:prstDash val="solid"/>
          </a:ln>
        </p:spPr>
        <p:txBody>
          <a:bodyPr/>
          <a:lstStyle/>
          <a:p>
            <a:endParaRPr lang="en-US"/>
          </a:p>
        </p:txBody>
      </p:sp>
      <p:sp>
        <p:nvSpPr>
          <p:cNvPr id="14" name="Text 12"/>
          <p:cNvSpPr/>
          <p:nvPr/>
        </p:nvSpPr>
        <p:spPr>
          <a:xfrm>
            <a:off x="3794760" y="2560320"/>
            <a:ext cx="1463040" cy="320040"/>
          </a:xfrm>
          <a:prstGeom prst="rect">
            <a:avLst/>
          </a:prstGeom>
          <a:noFill/>
          <a:ln/>
        </p:spPr>
        <p:txBody>
          <a:bodyPr wrap="square" lIns="0" tIns="0" rIns="0" bIns="0" rtlCol="0" anchor="ctr"/>
          <a:lstStyle/>
          <a:p>
            <a:pPr marL="0" indent="0">
              <a:buNone/>
            </a:pPr>
            <a:r>
              <a:rPr lang="en-US" sz="1100" b="1" dirty="0">
                <a:solidFill>
                  <a:srgbClr val="0E8BA0"/>
                </a:solidFill>
                <a:latin typeface="Courier New" pitchFamily="34" charset="0"/>
                <a:ea typeface="Courier New" pitchFamily="34" charset="-122"/>
                <a:cs typeface="Courier New" pitchFamily="34" charset="-120"/>
              </a:rPr>
              <a:t>ICUSTAYS</a:t>
            </a:r>
            <a:endParaRPr lang="en-US" sz="1100" dirty="0"/>
          </a:p>
        </p:txBody>
      </p:sp>
      <p:sp>
        <p:nvSpPr>
          <p:cNvPr id="15" name="Text 13"/>
          <p:cNvSpPr/>
          <p:nvPr/>
        </p:nvSpPr>
        <p:spPr>
          <a:xfrm>
            <a:off x="5303520" y="2560320"/>
            <a:ext cx="365760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ICU stay information — unit type, length of stay</a:t>
            </a:r>
            <a:endParaRPr lang="en-US" sz="1100" dirty="0"/>
          </a:p>
        </p:txBody>
      </p:sp>
      <p:sp>
        <p:nvSpPr>
          <p:cNvPr id="16" name="Shape 14"/>
          <p:cNvSpPr/>
          <p:nvPr/>
        </p:nvSpPr>
        <p:spPr>
          <a:xfrm>
            <a:off x="3794760" y="2907792"/>
            <a:ext cx="5212080" cy="12802"/>
          </a:xfrm>
          <a:prstGeom prst="rect">
            <a:avLst/>
          </a:prstGeom>
          <a:solidFill>
            <a:srgbClr val="E8EEF2"/>
          </a:solidFill>
          <a:ln w="12700">
            <a:solidFill>
              <a:srgbClr val="E8EEF2"/>
            </a:solidFill>
            <a:prstDash val="solid"/>
          </a:ln>
        </p:spPr>
        <p:txBody>
          <a:bodyPr/>
          <a:lstStyle/>
          <a:p>
            <a:endParaRPr lang="en-US"/>
          </a:p>
        </p:txBody>
      </p:sp>
      <p:sp>
        <p:nvSpPr>
          <p:cNvPr id="17" name="Text 15"/>
          <p:cNvSpPr/>
          <p:nvPr/>
        </p:nvSpPr>
        <p:spPr>
          <a:xfrm>
            <a:off x="3794760" y="3154680"/>
            <a:ext cx="1463040" cy="320040"/>
          </a:xfrm>
          <a:prstGeom prst="rect">
            <a:avLst/>
          </a:prstGeom>
          <a:noFill/>
          <a:ln/>
        </p:spPr>
        <p:txBody>
          <a:bodyPr wrap="square" lIns="0" tIns="0" rIns="0" bIns="0" rtlCol="0" anchor="ctr"/>
          <a:lstStyle/>
          <a:p>
            <a:pPr marL="0" indent="0">
              <a:buNone/>
            </a:pPr>
            <a:r>
              <a:rPr lang="en-US" sz="1100" b="1" dirty="0">
                <a:solidFill>
                  <a:srgbClr val="0E8BA0"/>
                </a:solidFill>
                <a:latin typeface="Courier New" pitchFamily="34" charset="0"/>
                <a:ea typeface="Courier New" pitchFamily="34" charset="-122"/>
                <a:cs typeface="Courier New" pitchFamily="34" charset="-120"/>
              </a:rPr>
              <a:t>CHARTEVENTS</a:t>
            </a:r>
            <a:endParaRPr lang="en-US" sz="1100" dirty="0"/>
          </a:p>
        </p:txBody>
      </p:sp>
      <p:sp>
        <p:nvSpPr>
          <p:cNvPr id="18" name="Text 16"/>
          <p:cNvSpPr/>
          <p:nvPr/>
        </p:nvSpPr>
        <p:spPr>
          <a:xfrm>
            <a:off x="5303520" y="3154680"/>
            <a:ext cx="365760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Timestamped vital signs — HR, BP, RR, Temp, SpO2, MAP, GCS, FiO2</a:t>
            </a:r>
            <a:endParaRPr lang="en-US" sz="1100" dirty="0"/>
          </a:p>
        </p:txBody>
      </p:sp>
      <p:sp>
        <p:nvSpPr>
          <p:cNvPr id="19" name="Shape 17"/>
          <p:cNvSpPr/>
          <p:nvPr/>
        </p:nvSpPr>
        <p:spPr>
          <a:xfrm>
            <a:off x="3794760" y="3502152"/>
            <a:ext cx="5212080" cy="12802"/>
          </a:xfrm>
          <a:prstGeom prst="rect">
            <a:avLst/>
          </a:prstGeom>
          <a:solidFill>
            <a:srgbClr val="E8EEF2"/>
          </a:solidFill>
          <a:ln w="12700">
            <a:solidFill>
              <a:srgbClr val="E8EEF2"/>
            </a:solidFill>
            <a:prstDash val="solid"/>
          </a:ln>
        </p:spPr>
        <p:txBody>
          <a:bodyPr/>
          <a:lstStyle/>
          <a:p>
            <a:endParaRPr lang="en-US"/>
          </a:p>
        </p:txBody>
      </p:sp>
      <p:sp>
        <p:nvSpPr>
          <p:cNvPr id="20" name="Text 18"/>
          <p:cNvSpPr/>
          <p:nvPr/>
        </p:nvSpPr>
        <p:spPr>
          <a:xfrm>
            <a:off x="3794760" y="3749040"/>
            <a:ext cx="1463040" cy="320040"/>
          </a:xfrm>
          <a:prstGeom prst="rect">
            <a:avLst/>
          </a:prstGeom>
          <a:noFill/>
          <a:ln/>
        </p:spPr>
        <p:txBody>
          <a:bodyPr wrap="square" lIns="0" tIns="0" rIns="0" bIns="0" rtlCol="0" anchor="ctr"/>
          <a:lstStyle/>
          <a:p>
            <a:pPr marL="0" indent="0">
              <a:buNone/>
            </a:pPr>
            <a:r>
              <a:rPr lang="en-US" sz="1100" b="1" dirty="0">
                <a:solidFill>
                  <a:srgbClr val="0E8BA0"/>
                </a:solidFill>
                <a:latin typeface="Courier New" pitchFamily="34" charset="0"/>
                <a:ea typeface="Courier New" pitchFamily="34" charset="-122"/>
                <a:cs typeface="Courier New" pitchFamily="34" charset="-120"/>
              </a:rPr>
              <a:t>LABEVENTS</a:t>
            </a:r>
            <a:endParaRPr lang="en-US" sz="1100" dirty="0"/>
          </a:p>
        </p:txBody>
      </p:sp>
      <p:sp>
        <p:nvSpPr>
          <p:cNvPr id="21" name="Text 19"/>
          <p:cNvSpPr/>
          <p:nvPr/>
        </p:nvSpPr>
        <p:spPr>
          <a:xfrm>
            <a:off x="5303520" y="3749040"/>
            <a:ext cx="365760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Lab results — Lactate, WBC, Creatinine, Platelets</a:t>
            </a:r>
            <a:endParaRPr lang="en-US" sz="1100" dirty="0"/>
          </a:p>
        </p:txBody>
      </p:sp>
      <p:sp>
        <p:nvSpPr>
          <p:cNvPr id="22" name="Shape 20"/>
          <p:cNvSpPr/>
          <p:nvPr/>
        </p:nvSpPr>
        <p:spPr>
          <a:xfrm>
            <a:off x="3794760" y="4096512"/>
            <a:ext cx="5212080" cy="12802"/>
          </a:xfrm>
          <a:prstGeom prst="rect">
            <a:avLst/>
          </a:prstGeom>
          <a:solidFill>
            <a:srgbClr val="E8EEF2"/>
          </a:solidFill>
          <a:ln w="12700">
            <a:solidFill>
              <a:srgbClr val="E8EEF2"/>
            </a:solidFill>
            <a:prstDash val="solid"/>
          </a:ln>
        </p:spPr>
        <p:txBody>
          <a:bodyPr/>
          <a:lstStyle/>
          <a:p>
            <a:endParaRPr lang="en-US"/>
          </a:p>
        </p:txBody>
      </p:sp>
      <p:sp>
        <p:nvSpPr>
          <p:cNvPr id="23" name="Text 21"/>
          <p:cNvSpPr/>
          <p:nvPr/>
        </p:nvSpPr>
        <p:spPr>
          <a:xfrm>
            <a:off x="3794760" y="4343400"/>
            <a:ext cx="1463040" cy="320040"/>
          </a:xfrm>
          <a:prstGeom prst="rect">
            <a:avLst/>
          </a:prstGeom>
          <a:noFill/>
          <a:ln/>
        </p:spPr>
        <p:txBody>
          <a:bodyPr wrap="square" lIns="0" tIns="0" rIns="0" bIns="0" rtlCol="0" anchor="ctr"/>
          <a:lstStyle/>
          <a:p>
            <a:pPr marL="0" indent="0">
              <a:buNone/>
            </a:pPr>
            <a:r>
              <a:rPr lang="en-US" sz="1100" b="1" dirty="0">
                <a:solidFill>
                  <a:srgbClr val="0E8BA0"/>
                </a:solidFill>
                <a:latin typeface="Courier New" pitchFamily="34" charset="0"/>
                <a:ea typeface="Courier New" pitchFamily="34" charset="-122"/>
                <a:cs typeface="Courier New" pitchFamily="34" charset="-120"/>
              </a:rPr>
              <a:t>PRESCRIPTIONS</a:t>
            </a:r>
            <a:endParaRPr lang="en-US" sz="1100" dirty="0"/>
          </a:p>
        </p:txBody>
      </p:sp>
      <p:sp>
        <p:nvSpPr>
          <p:cNvPr id="24" name="Text 22"/>
          <p:cNvSpPr/>
          <p:nvPr/>
        </p:nvSpPr>
        <p:spPr>
          <a:xfrm>
            <a:off x="5303520" y="4343400"/>
            <a:ext cx="3657600" cy="3200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Medication orders — used to identify antibiotic administration as infection proxy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Load</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Clinical</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Data</a:t>
            </a:r>
            <a:endParaRPr lang="en-US" sz="2800" dirty="0"/>
          </a:p>
        </p:txBody>
      </p:sp>
      <p:sp>
        <p:nvSpPr>
          <p:cNvPr id="6" name="Text 4"/>
          <p:cNvSpPr/>
          <p:nvPr/>
        </p:nvSpPr>
        <p:spPr>
          <a:xfrm>
            <a:off x="3730752" y="201168"/>
            <a:ext cx="5321808" cy="274320"/>
          </a:xfrm>
          <a:prstGeom prst="rect">
            <a:avLst/>
          </a:prstGeom>
          <a:noFill/>
          <a:ln/>
        </p:spPr>
        <p:txBody>
          <a:bodyPr wrap="square" lIns="0" tIns="0" rIns="0" bIns="0" rtlCol="0" anchor="ctr"/>
          <a:lstStyle/>
          <a:p>
            <a:pPr marL="0" indent="0">
              <a:buNone/>
            </a:pPr>
            <a:r>
              <a:rPr lang="en-US" sz="1200" b="1" dirty="0">
                <a:solidFill>
                  <a:srgbClr val="0D1E2E"/>
                </a:solidFill>
                <a:latin typeface="Calibri" pitchFamily="34" charset="0"/>
                <a:ea typeface="Calibri" pitchFamily="34" charset="-122"/>
                <a:cs typeface="Calibri" pitchFamily="34" charset="-120"/>
              </a:rPr>
              <a:t>Python Code</a:t>
            </a:r>
            <a:endParaRPr lang="en-US" sz="1200" dirty="0"/>
          </a:p>
        </p:txBody>
      </p:sp>
      <p:sp>
        <p:nvSpPr>
          <p:cNvPr id="10" name="Text 8"/>
          <p:cNvSpPr/>
          <p:nvPr/>
        </p:nvSpPr>
        <p:spPr>
          <a:xfrm>
            <a:off x="3840480" y="510000"/>
            <a:ext cx="5138928" cy="4500000"/>
          </a:xfrm>
          <a:prstGeom prst="rect">
            <a:avLst/>
          </a:prstGeom>
          <a:noFill/>
          <a:ln/>
        </p:spPr>
        <p:txBody>
          <a:bodyPr wrap="square" lIns="0" tIns="0" rIns="0" bIns="0" rtlCol="0" anchor="t"/>
          <a:lstStyle/>
          <a:p>
            <a:r>
              <a:rPr lang="en-US" sz="900" dirty="0">
                <a:solidFill>
                  <a:srgbClr val="1E3A4A"/>
                </a:solidFill>
                <a:latin typeface="Courier New" pitchFamily="34" charset="0"/>
                <a:ea typeface="Courier New" pitchFamily="34" charset="-122"/>
                <a:cs typeface="Courier New" pitchFamily="34" charset="-120"/>
              </a:rPr>
              <a:t>patients   = pd.read_csv(data_path + "PATIENTS.csv.gz")</a:t>
            </a:r>
          </a:p>
          <a:p>
            <a:r>
              <a:rPr lang="en-US" sz="900" dirty="0">
                <a:solidFill>
                  <a:srgbClr val="1E3A4A"/>
                </a:solidFill>
                <a:latin typeface="Courier New" pitchFamily="34" charset="0"/>
                <a:ea typeface="Courier New" pitchFamily="34" charset="-122"/>
                <a:cs typeface="Courier New" pitchFamily="34" charset="-120"/>
              </a:rPr>
              <a:t>admissions = pd.read_csv(data_path + "ADMISSIONS.csv.gz")</a:t>
            </a:r>
          </a:p>
          <a:p>
            <a:r>
              <a:rPr lang="en-US" sz="900" dirty="0">
                <a:solidFill>
                  <a:srgbClr val="1E3A4A"/>
                </a:solidFill>
                <a:latin typeface="Courier New" pitchFamily="34" charset="0"/>
                <a:ea typeface="Courier New" pitchFamily="34" charset="-122"/>
                <a:cs typeface="Courier New" pitchFamily="34" charset="-120"/>
              </a:rPr>
              <a:t>icustays   = pd.read_csv(data_path + "ICUSTAYS.csv.gz")</a:t>
            </a:r>
          </a:p>
          <a:p>
            <a:endParaRPr lang="en-US" sz="900" dirty="0">
              <a:solidFill>
                <a:srgbClr val="1E3A4A"/>
              </a:solidFill>
              <a:latin typeface="Courier New" pitchFamily="34" charset="0"/>
              <a:ea typeface="Courier New" pitchFamily="34" charset="-122"/>
              <a:cs typeface="Courier New" pitchFamily="34" charset="-120"/>
            </a:endParaRPr>
          </a:p>
          <a:p>
            <a:r>
              <a:rPr lang="en-US" sz="900" dirty="0">
                <a:solidFill>
                  <a:srgbClr val="1E3A4A"/>
                </a:solidFill>
                <a:latin typeface="Courier New" pitchFamily="34" charset="0"/>
                <a:ea typeface="Courier New" pitchFamily="34" charset="-122"/>
                <a:cs typeface="Courier New" pitchFamily="34" charset="-120"/>
              </a:rPr>
              <a:t>prescriptions = pd.read_csv(</a:t>
            </a:r>
          </a:p>
          <a:p>
            <a:r>
              <a:rPr lang="en-US" sz="900" dirty="0">
                <a:solidFill>
                  <a:srgbClr val="1E3A4A"/>
                </a:solidFill>
                <a:latin typeface="Courier New" pitchFamily="34" charset="0"/>
                <a:ea typeface="Courier New" pitchFamily="34" charset="-122"/>
                <a:cs typeface="Courier New" pitchFamily="34" charset="-120"/>
              </a:rPr>
              <a:t>    data_path + "PRESCRIPTIONS.csv.gz",</a:t>
            </a:r>
          </a:p>
          <a:p>
            <a:r>
              <a:rPr lang="en-US" sz="900" dirty="0">
                <a:solidFill>
                  <a:srgbClr val="1E3A4A"/>
                </a:solidFill>
                <a:latin typeface="Courier New" pitchFamily="34" charset="0"/>
                <a:ea typeface="Courier New" pitchFamily="34" charset="-122"/>
                <a:cs typeface="Courier New" pitchFamily="34" charset="-120"/>
              </a:rPr>
              <a:t>    usecols=["HADM_ID", "DRUG", "STARTDATE", "DOSE_VAL_RX"],</a:t>
            </a:r>
          </a:p>
          <a:p>
            <a:r>
              <a:rPr lang="en-US" sz="900" dirty="0">
                <a:solidFill>
                  <a:srgbClr val="1E3A4A"/>
                </a:solidFill>
                <a:latin typeface="Courier New" pitchFamily="34" charset="0"/>
                <a:ea typeface="Courier New" pitchFamily="34" charset="-122"/>
                <a:cs typeface="Courier New" pitchFamily="34" charset="-120"/>
              </a:rPr>
              <a:t>    low_memory=False</a:t>
            </a:r>
          </a:p>
          <a:p>
            <a:r>
              <a:rPr lang="en-US" sz="900" dirty="0">
                <a:solidFill>
                  <a:srgbClr val="1E3A4A"/>
                </a:solidFill>
                <a:latin typeface="Courier New" pitchFamily="34" charset="0"/>
                <a:ea typeface="Courier New" pitchFamily="34" charset="-122"/>
                <a:cs typeface="Courier New" pitchFamily="34" charset="-120"/>
              </a:rPr>
              <a:t>)</a:t>
            </a:r>
          </a:p>
          <a:p>
            <a:endParaRPr lang="en-US" sz="900" dirty="0">
              <a:solidFill>
                <a:srgbClr val="1E3A4A"/>
              </a:solidFill>
              <a:latin typeface="Courier New" pitchFamily="34" charset="0"/>
              <a:ea typeface="Courier New" pitchFamily="34" charset="-122"/>
              <a:cs typeface="Courier New" pitchFamily="34" charset="-120"/>
            </a:endParaRPr>
          </a:p>
          <a:p>
            <a:r>
              <a:rPr lang="en-US" sz="900" dirty="0">
                <a:solidFill>
                  <a:srgbClr val="1E3A4A"/>
                </a:solidFill>
                <a:latin typeface="Courier New" pitchFamily="34" charset="0"/>
                <a:ea typeface="Courier New" pitchFamily="34" charset="-122"/>
                <a:cs typeface="Courier New" pitchFamily="34" charset="-120"/>
              </a:rPr>
              <a:t>prescriptions["DOSE_VAL_RX"] = pd.to_numeric(</a:t>
            </a:r>
          </a:p>
          <a:p>
            <a:r>
              <a:rPr lang="en-US" sz="900" dirty="0">
                <a:solidFill>
                  <a:srgbClr val="1E3A4A"/>
                </a:solidFill>
                <a:latin typeface="Courier New" pitchFamily="34" charset="0"/>
                <a:ea typeface="Courier New" pitchFamily="34" charset="-122"/>
                <a:cs typeface="Courier New" pitchFamily="34" charset="-120"/>
              </a:rPr>
              <a:t>    prescriptions["DOSE_VAL_RX"], errors="coerce"</a:t>
            </a:r>
          </a:p>
          <a:p>
            <a:r>
              <a:rPr lang="en-US" sz="900" dirty="0">
                <a:solidFill>
                  <a:srgbClr val="1E3A4A"/>
                </a:solidFill>
                <a:latin typeface="Courier New" pitchFamily="34" charset="0"/>
                <a:ea typeface="Courier New" pitchFamily="34" charset="-122"/>
                <a:cs typeface="Courier New" pitchFamily="34" charset="-120"/>
              </a:rPr>
              <a:t>)</a:t>
            </a:r>
          </a:p>
          <a:p>
            <a:endParaRPr lang="en-US" sz="900" dirty="0">
              <a:solidFill>
                <a:srgbClr val="1E3A4A"/>
              </a:solidFill>
              <a:latin typeface="Courier New" pitchFamily="34" charset="0"/>
              <a:ea typeface="Courier New" pitchFamily="34" charset="-122"/>
              <a:cs typeface="Courier New" pitchFamily="34" charset="-120"/>
            </a:endParaRPr>
          </a:p>
          <a:p>
            <a:r>
              <a:rPr lang="en-US" sz="900" dirty="0">
                <a:solidFill>
                  <a:srgbClr val="1E3A4A"/>
                </a:solidFill>
                <a:latin typeface="Courier New" pitchFamily="34" charset="0"/>
                <a:ea typeface="Courier New" pitchFamily="34" charset="-122"/>
                <a:cs typeface="Courier New" pitchFamily="34" charset="-120"/>
              </a:rPr>
              <a:t>chartevents = pd.read_csv(</a:t>
            </a:r>
          </a:p>
          <a:p>
            <a:r>
              <a:rPr lang="en-US" sz="900" dirty="0">
                <a:solidFill>
                  <a:srgbClr val="1E3A4A"/>
                </a:solidFill>
                <a:latin typeface="Courier New" pitchFamily="34" charset="0"/>
                <a:ea typeface="Courier New" pitchFamily="34" charset="-122"/>
                <a:cs typeface="Courier New" pitchFamily="34" charset="-120"/>
              </a:rPr>
              <a:t>    data_path + "CHARTEVENTS.csv.gz",</a:t>
            </a:r>
          </a:p>
          <a:p>
            <a:r>
              <a:rPr lang="en-US" sz="900" dirty="0">
                <a:solidFill>
                  <a:srgbClr val="1E3A4A"/>
                </a:solidFill>
                <a:latin typeface="Courier New" pitchFamily="34" charset="0"/>
                <a:ea typeface="Courier New" pitchFamily="34" charset="-122"/>
                <a:cs typeface="Courier New" pitchFamily="34" charset="-120"/>
              </a:rPr>
              <a:t>    usecols=["SUBJECT_ID", "HADM_ID", "ITEMID", "VALUENUM", "CHARTTIME"],</a:t>
            </a:r>
          </a:p>
          <a:p>
            <a:r>
              <a:rPr lang="en-US" sz="900" dirty="0">
                <a:solidFill>
                  <a:srgbClr val="1E3A4A"/>
                </a:solidFill>
                <a:latin typeface="Courier New" pitchFamily="34" charset="0"/>
                <a:ea typeface="Courier New" pitchFamily="34" charset="-122"/>
                <a:cs typeface="Courier New" pitchFamily="34" charset="-120"/>
              </a:rPr>
              <a:t>    parse_dates=["CHARTTIME"],</a:t>
            </a:r>
          </a:p>
          <a:p>
            <a:r>
              <a:rPr lang="en-US" sz="900" dirty="0">
                <a:solidFill>
                  <a:srgbClr val="1E3A4A"/>
                </a:solidFill>
                <a:latin typeface="Courier New" pitchFamily="34" charset="0"/>
                <a:ea typeface="Courier New" pitchFamily="34" charset="-122"/>
                <a:cs typeface="Courier New" pitchFamily="34" charset="-120"/>
              </a:rPr>
              <a:t>    compression="gzip"</a:t>
            </a:r>
          </a:p>
          <a:p>
            <a:r>
              <a:rPr lang="en-US" sz="900" dirty="0">
                <a:solidFill>
                  <a:srgbClr val="1E3A4A"/>
                </a:solidFill>
                <a:latin typeface="Courier New" pitchFamily="34" charset="0"/>
                <a:ea typeface="Courier New" pitchFamily="34" charset="-122"/>
                <a:cs typeface="Courier New" pitchFamily="34" charset="-120"/>
              </a:rPr>
              <a:t>)</a:t>
            </a:r>
          </a:p>
          <a:p>
            <a:endParaRPr lang="en-US" sz="900" dirty="0">
              <a:solidFill>
                <a:srgbClr val="1E3A4A"/>
              </a:solidFill>
              <a:latin typeface="Courier New" pitchFamily="34" charset="0"/>
              <a:ea typeface="Courier New" pitchFamily="34" charset="-122"/>
              <a:cs typeface="Courier New" pitchFamily="34" charset="-120"/>
            </a:endParaRPr>
          </a:p>
          <a:p>
            <a:r>
              <a:rPr lang="en-US" sz="900" dirty="0">
                <a:solidFill>
                  <a:srgbClr val="1E3A4A"/>
                </a:solidFill>
                <a:latin typeface="Courier New" pitchFamily="34" charset="0"/>
                <a:ea typeface="Courier New" pitchFamily="34" charset="-122"/>
                <a:cs typeface="Courier New" pitchFamily="34" charset="-120"/>
              </a:rPr>
              <a:t>labevents = pd.read_csv(</a:t>
            </a:r>
          </a:p>
          <a:p>
            <a:r>
              <a:rPr lang="en-US" sz="900" dirty="0">
                <a:solidFill>
                  <a:srgbClr val="1E3A4A"/>
                </a:solidFill>
                <a:latin typeface="Courier New" pitchFamily="34" charset="0"/>
                <a:ea typeface="Courier New" pitchFamily="34" charset="-122"/>
                <a:cs typeface="Courier New" pitchFamily="34" charset="-120"/>
              </a:rPr>
              <a:t>    data_path + "LABEVENTS.csv.gz",</a:t>
            </a:r>
          </a:p>
          <a:p>
            <a:r>
              <a:rPr lang="en-US" sz="900" dirty="0">
                <a:solidFill>
                  <a:srgbClr val="1E3A4A"/>
                </a:solidFill>
                <a:latin typeface="Courier New" pitchFamily="34" charset="0"/>
                <a:ea typeface="Courier New" pitchFamily="34" charset="-122"/>
                <a:cs typeface="Courier New" pitchFamily="34" charset="-120"/>
              </a:rPr>
              <a:t>    usecols=["SUBJECT_ID", "HADM_ID", "ITEMID", "VALUENUM", "CHARTTIME"],</a:t>
            </a:r>
          </a:p>
          <a:p>
            <a:r>
              <a:rPr lang="en-US" sz="900" dirty="0">
                <a:solidFill>
                  <a:srgbClr val="1E3A4A"/>
                </a:solidFill>
                <a:latin typeface="Courier New" pitchFamily="34" charset="0"/>
                <a:ea typeface="Courier New" pitchFamily="34" charset="-122"/>
                <a:cs typeface="Courier New" pitchFamily="34" charset="-120"/>
              </a:rPr>
              <a:t>    parse_dates=["CHARTTIME"]</a:t>
            </a:r>
          </a:p>
          <a:p>
            <a:r>
              <a:rPr lang="en-US" sz="900" dirty="0">
                <a:solidFill>
                  <a:srgbClr val="1E3A4A"/>
                </a:solidFill>
                <a:latin typeface="Courier New" pitchFamily="34" charset="0"/>
                <a:ea typeface="Courier New" pitchFamily="34" charset="-122"/>
                <a:cs typeface="Courier New" pitchFamily="34" charset="-12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4" name="Text 2"/>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Sepsis Label Design (Sepsis-3)</a:t>
            </a:r>
            <a:endParaRPr lang="en-US" sz="2800" dirty="0"/>
          </a:p>
        </p:txBody>
      </p:sp>
      <p:sp>
        <p:nvSpPr>
          <p:cNvPr id="5" name="Shape 3"/>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6" name="Shape 4"/>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7" name="Shape 5"/>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8" name="Text 6"/>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Sepsis Label Design (Sepsis-3)</a:t>
            </a:r>
            <a:endParaRPr lang="en-US" sz="2800" dirty="0"/>
          </a:p>
        </p:txBody>
      </p:sp>
      <p:sp>
        <p:nvSpPr>
          <p:cNvPr id="9" name="Shape 7"/>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10" name="Text 8"/>
          <p:cNvSpPr/>
          <p:nvPr/>
        </p:nvSpPr>
        <p:spPr>
          <a:xfrm>
            <a:off x="365760" y="1325880"/>
            <a:ext cx="4114800" cy="274320"/>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Clinical Definition:</a:t>
            </a:r>
            <a:endParaRPr lang="en-US" sz="1300" dirty="0"/>
          </a:p>
        </p:txBody>
      </p:sp>
      <p:sp>
        <p:nvSpPr>
          <p:cNvPr id="11" name="Text 9"/>
          <p:cNvSpPr/>
          <p:nvPr/>
        </p:nvSpPr>
        <p:spPr>
          <a:xfrm>
            <a:off x="365760" y="1645920"/>
            <a:ext cx="4023360" cy="411480"/>
          </a:xfrm>
          <a:prstGeom prst="rect">
            <a:avLst/>
          </a:prstGeom>
          <a:noFill/>
          <a:ln/>
        </p:spPr>
        <p:txBody>
          <a:bodyPr wrap="square" lIns="0" tIns="0" rIns="0" bIns="0" rtlCol="0" anchor="ctr"/>
          <a:lstStyle/>
          <a:p>
            <a:pPr marL="0" indent="0">
              <a:buNone/>
            </a:pPr>
            <a:r>
              <a:rPr lang="en-US" sz="1150" b="1" i="1" dirty="0">
                <a:solidFill>
                  <a:srgbClr val="0E8BA0"/>
                </a:solidFill>
                <a:latin typeface="Calibri" pitchFamily="34" charset="0"/>
                <a:ea typeface="Calibri" pitchFamily="34" charset="-122"/>
                <a:cs typeface="Calibri" pitchFamily="34" charset="-120"/>
              </a:rPr>
              <a:t>Sepsis = Suspected Infection + Organ Dysfunction (SOFA ≥ 2)</a:t>
            </a:r>
            <a:endParaRPr lang="en-US" sz="1150" dirty="0"/>
          </a:p>
        </p:txBody>
      </p:sp>
      <p:sp>
        <p:nvSpPr>
          <p:cNvPr id="12" name="Text 10"/>
          <p:cNvSpPr/>
          <p:nvPr/>
        </p:nvSpPr>
        <p:spPr>
          <a:xfrm>
            <a:off x="365760" y="2176272"/>
            <a:ext cx="1554480" cy="237744"/>
          </a:xfrm>
          <a:prstGeom prst="rect">
            <a:avLst/>
          </a:prstGeom>
          <a:noFill/>
          <a:ln/>
        </p:spPr>
        <p:txBody>
          <a:bodyPr wrap="square" lIns="0" tIns="0" rIns="0" bIns="0" rtlCol="0" anchor="ctr"/>
          <a:lstStyle/>
          <a:p>
            <a:pPr marL="0" indent="0">
              <a:buNone/>
            </a:pPr>
            <a:r>
              <a:rPr lang="en-US" sz="1050" b="1" dirty="0">
                <a:solidFill>
                  <a:srgbClr val="0D1E2E"/>
                </a:solidFill>
                <a:latin typeface="Calibri" pitchFamily="34" charset="0"/>
                <a:ea typeface="Calibri" pitchFamily="34" charset="-122"/>
                <a:cs typeface="Calibri" pitchFamily="34" charset="-120"/>
              </a:rPr>
              <a:t>Infection proxy:</a:t>
            </a:r>
            <a:endParaRPr lang="en-US" sz="1050" dirty="0"/>
          </a:p>
        </p:txBody>
      </p:sp>
      <p:sp>
        <p:nvSpPr>
          <p:cNvPr id="13" name="Text 11"/>
          <p:cNvSpPr/>
          <p:nvPr/>
        </p:nvSpPr>
        <p:spPr>
          <a:xfrm>
            <a:off x="365760" y="2423160"/>
            <a:ext cx="3977640" cy="34747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First antibiotic prescription (vancomycin, cefepime, meropenem, etc.)</a:t>
            </a:r>
            <a:endParaRPr lang="en-US" sz="1000" dirty="0"/>
          </a:p>
        </p:txBody>
      </p:sp>
      <p:sp>
        <p:nvSpPr>
          <p:cNvPr id="14" name="Text 12"/>
          <p:cNvSpPr/>
          <p:nvPr/>
        </p:nvSpPr>
        <p:spPr>
          <a:xfrm>
            <a:off x="365760" y="2843784"/>
            <a:ext cx="1554480" cy="237744"/>
          </a:xfrm>
          <a:prstGeom prst="rect">
            <a:avLst/>
          </a:prstGeom>
          <a:noFill/>
          <a:ln/>
        </p:spPr>
        <p:txBody>
          <a:bodyPr wrap="square" lIns="0" tIns="0" rIns="0" bIns="0" rtlCol="0" anchor="ctr"/>
          <a:lstStyle/>
          <a:p>
            <a:pPr marL="0" indent="0">
              <a:buNone/>
            </a:pPr>
            <a:r>
              <a:rPr lang="en-US" sz="1050" b="1" dirty="0">
                <a:solidFill>
                  <a:srgbClr val="0D1E2E"/>
                </a:solidFill>
                <a:latin typeface="Calibri" pitchFamily="34" charset="0"/>
                <a:ea typeface="Calibri" pitchFamily="34" charset="-122"/>
                <a:cs typeface="Calibri" pitchFamily="34" charset="-120"/>
              </a:rPr>
              <a:t>Organ dysfunction:</a:t>
            </a:r>
            <a:endParaRPr lang="en-US" sz="1050" dirty="0"/>
          </a:p>
        </p:txBody>
      </p:sp>
      <p:sp>
        <p:nvSpPr>
          <p:cNvPr id="15" name="Text 13"/>
          <p:cNvSpPr/>
          <p:nvPr/>
        </p:nvSpPr>
        <p:spPr>
          <a:xfrm>
            <a:off x="365760" y="3090672"/>
            <a:ext cx="3977640" cy="34747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Creatinine &gt; 2.0 mg/dL (renal)  OR  Platelets &lt; 100 K/µL (coagulation)</a:t>
            </a:r>
            <a:endParaRPr lang="en-US" sz="1000" dirty="0"/>
          </a:p>
        </p:txBody>
      </p:sp>
      <p:sp>
        <p:nvSpPr>
          <p:cNvPr id="16" name="Text 14"/>
          <p:cNvSpPr/>
          <p:nvPr/>
        </p:nvSpPr>
        <p:spPr>
          <a:xfrm>
            <a:off x="365760" y="3511296"/>
            <a:ext cx="1554480" cy="237744"/>
          </a:xfrm>
          <a:prstGeom prst="rect">
            <a:avLst/>
          </a:prstGeom>
          <a:noFill/>
          <a:ln/>
        </p:spPr>
        <p:txBody>
          <a:bodyPr wrap="square" lIns="0" tIns="0" rIns="0" bIns="0" rtlCol="0" anchor="ctr"/>
          <a:lstStyle/>
          <a:p>
            <a:pPr marL="0" indent="0">
              <a:buNone/>
            </a:pPr>
            <a:r>
              <a:rPr lang="en-US" sz="1050" b="1" dirty="0">
                <a:solidFill>
                  <a:srgbClr val="0D1E2E"/>
                </a:solidFill>
                <a:latin typeface="Calibri" pitchFamily="34" charset="0"/>
                <a:ea typeface="Calibri" pitchFamily="34" charset="-122"/>
                <a:cs typeface="Calibri" pitchFamily="34" charset="-120"/>
              </a:rPr>
              <a:t>Onset point:</a:t>
            </a:r>
            <a:endParaRPr lang="en-US" sz="1050" dirty="0"/>
          </a:p>
        </p:txBody>
      </p:sp>
      <p:sp>
        <p:nvSpPr>
          <p:cNvPr id="17" name="Text 15"/>
          <p:cNvSpPr/>
          <p:nvPr/>
        </p:nvSpPr>
        <p:spPr>
          <a:xfrm>
            <a:off x="365760" y="3758184"/>
            <a:ext cx="3977640" cy="34747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First timestep where both criteria are simultaneously met</a:t>
            </a:r>
            <a:endParaRPr lang="en-US" sz="1000" dirty="0"/>
          </a:p>
        </p:txBody>
      </p:sp>
      <p:sp>
        <p:nvSpPr>
          <p:cNvPr id="18" name="Text 16"/>
          <p:cNvSpPr/>
          <p:nvPr/>
        </p:nvSpPr>
        <p:spPr>
          <a:xfrm>
            <a:off x="365760" y="4178808"/>
            <a:ext cx="1554480" cy="237744"/>
          </a:xfrm>
          <a:prstGeom prst="rect">
            <a:avLst/>
          </a:prstGeom>
          <a:noFill/>
          <a:ln/>
        </p:spPr>
        <p:txBody>
          <a:bodyPr wrap="square" lIns="0" tIns="0" rIns="0" bIns="0" rtlCol="0" anchor="ctr"/>
          <a:lstStyle/>
          <a:p>
            <a:pPr marL="0" indent="0">
              <a:buNone/>
            </a:pPr>
            <a:r>
              <a:rPr lang="en-US" sz="1050" b="1" dirty="0">
                <a:solidFill>
                  <a:srgbClr val="0D1E2E"/>
                </a:solidFill>
                <a:latin typeface="Calibri" pitchFamily="34" charset="0"/>
                <a:ea typeface="Calibri" pitchFamily="34" charset="-122"/>
                <a:cs typeface="Calibri" pitchFamily="34" charset="-120"/>
              </a:rPr>
              <a:t>No-infection rule:</a:t>
            </a:r>
            <a:endParaRPr lang="en-US" sz="1050" dirty="0"/>
          </a:p>
        </p:txBody>
      </p:sp>
      <p:sp>
        <p:nvSpPr>
          <p:cNvPr id="19" name="Text 17"/>
          <p:cNvSpPr/>
          <p:nvPr/>
        </p:nvSpPr>
        <p:spPr>
          <a:xfrm>
            <a:off x="365760" y="4425696"/>
            <a:ext cx="3977640" cy="34747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Patients with no antibiotic record → sepsis label = 0 (never positive)</a:t>
            </a:r>
            <a:endParaRPr lang="en-US" sz="1000" dirty="0"/>
          </a:p>
        </p:txBody>
      </p:sp>
      <p:sp>
        <p:nvSpPr>
          <p:cNvPr id="20" name="Text 18"/>
          <p:cNvSpPr/>
          <p:nvPr/>
        </p:nvSpPr>
        <p:spPr>
          <a:xfrm>
            <a:off x="4846320" y="1325880"/>
            <a:ext cx="3931920" cy="274320"/>
          </a:xfrm>
          <a:prstGeom prst="rect">
            <a:avLst/>
          </a:prstGeom>
          <a:noFill/>
          <a:ln/>
        </p:spPr>
        <p:txBody>
          <a:bodyPr wrap="square" lIns="0" tIns="0" rIns="0" bIns="0" rtlCol="0" anchor="ctr"/>
          <a:lstStyle/>
          <a:p>
            <a:pPr marL="0" indent="0">
              <a:buNone/>
            </a:pPr>
            <a:r>
              <a:rPr lang="en-US" sz="1200" b="1" dirty="0">
                <a:solidFill>
                  <a:srgbClr val="0D1E2E"/>
                </a:solidFill>
                <a:latin typeface="Calibri" pitchFamily="34" charset="0"/>
                <a:ea typeface="Calibri" pitchFamily="34" charset="-122"/>
                <a:cs typeface="Calibri" pitchFamily="34" charset="-120"/>
              </a:rPr>
              <a:t>Python Code</a:t>
            </a:r>
            <a:endParaRPr lang="en-US" sz="1200" dirty="0"/>
          </a:p>
        </p:txBody>
      </p:sp>
      <p:sp>
        <p:nvSpPr>
          <p:cNvPr id="21" name="Shape 19"/>
          <p:cNvSpPr/>
          <p:nvPr/>
        </p:nvSpPr>
        <p:spPr>
          <a:xfrm>
            <a:off x="4846320" y="1664208"/>
            <a:ext cx="3977640" cy="3246120"/>
          </a:xfrm>
          <a:prstGeom prst="rect">
            <a:avLst/>
          </a:prstGeom>
          <a:solidFill>
            <a:srgbClr val="F4F6F8"/>
          </a:solidFill>
          <a:ln w="12700">
            <a:solidFill>
              <a:srgbClr val="D0D8E0"/>
            </a:solidFill>
            <a:prstDash val="solid"/>
          </a:ln>
        </p:spPr>
        <p:txBody>
          <a:bodyPr/>
          <a:lstStyle/>
          <a:p>
            <a:endParaRPr lang="en-US"/>
          </a:p>
        </p:txBody>
      </p:sp>
      <p:sp>
        <p:nvSpPr>
          <p:cNvPr id="22" name="Text 20"/>
          <p:cNvSpPr/>
          <p:nvPr/>
        </p:nvSpPr>
        <p:spPr>
          <a:xfrm>
            <a:off x="4846320" y="1664208"/>
            <a:ext cx="3977640" cy="3246120"/>
          </a:xfrm>
          <a:prstGeom prst="rect">
            <a:avLst/>
          </a:prstGeom>
          <a:noFill/>
          <a:ln/>
        </p:spPr>
        <p:txBody>
          <a:bodyPr wrap="square" lIns="0" tIns="0" rIns="0" bIns="0" rtlCol="0" anchor="t"/>
          <a:lstStyle/>
          <a:p>
            <a:pPr marL="0" indent="0">
              <a:buNone/>
            </a:pPr>
            <a:r>
              <a:rPr lang="en-US" sz="850" dirty="0">
                <a:solidFill>
                  <a:srgbClr val="1E3A4A"/>
                </a:solidFill>
                <a:latin typeface="Courier New" pitchFamily="34" charset="0"/>
                <a:ea typeface="Courier New" pitchFamily="34" charset="-122"/>
                <a:cs typeface="Courier New" pitchFamily="34" charset="-120"/>
              </a:rPr>
              <a:t># Infection flag: antibiotic start time per admission</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abx = prescriptions[prescriptions["drug_lower"]</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.str.contains('|'.join(antibiotics), na=False)]</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infection_time = (abx.groupby("HADM_ID")["STARTDATE"]</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.min().reset_index()</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.rename(columns={"STARTDATE": "infection_time"}))</a:t>
            </a:r>
            <a:endParaRPr lang="en-US" sz="850" dirty="0"/>
          </a:p>
          <a:p>
            <a:pPr marL="0" indent="0">
              <a:buNone/>
            </a:pP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SOFA proxy: creatinine + platelets</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creatinine = labs[labs["ITEMID"]==50912]</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.groupby("HADM_ID")["VALUENUM"].max().reset_index()</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creatinine["renal"] = (creatinine["VALUENUM"] &gt; 2.0).astype(int)</a:t>
            </a:r>
            <a:endParaRPr lang="en-US" sz="850" dirty="0"/>
          </a:p>
          <a:p>
            <a:pPr marL="0" indent="0">
              <a:buNone/>
            </a:pP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platelets = labs[labs["ITEMID"]==51265]</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.groupby("HADM_ID")["VALUENUM"].min().reset_index()</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platelets["coag"] = (platelets["VALUENUM"] &lt; 100).astype(int)</a:t>
            </a:r>
            <a:endParaRPr lang="en-US" sz="850" dirty="0"/>
          </a:p>
          <a:p>
            <a:pPr marL="0" indent="0">
              <a:buNone/>
            </a:pP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sofa["organ_dysfunction"] = (sofa["sofa_score"] &gt;= 1).astype(int)</a:t>
            </a:r>
            <a:endParaRPr lang="en-US" sz="850" dirty="0"/>
          </a:p>
          <a:p>
            <a:pPr marL="0" indent="0">
              <a:buNone/>
            </a:pP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Sepsis = infection AND organ dysfunction (no fallback)</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labels_td["sepsis"] = (</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(labels_td["infection"] == 1) &amp;</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(labels_td["organ_dysfunction"] == 1)).astype(int)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Sepsis</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Onset</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Flag</a:t>
            </a:r>
            <a:endParaRPr lang="en-US" sz="2800" dirty="0"/>
          </a:p>
        </p:txBody>
      </p:sp>
      <p:sp>
        <p:nvSpPr>
          <p:cNvPr id="6" name="Text 4"/>
          <p:cNvSpPr/>
          <p:nvPr/>
        </p:nvSpPr>
        <p:spPr>
          <a:xfrm>
            <a:off x="3730752" y="201168"/>
            <a:ext cx="5321808" cy="320040"/>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Why 'Onset' Instead of 'Persistent' Label?</a:t>
            </a:r>
            <a:endParaRPr lang="en-US" sz="1300" dirty="0"/>
          </a:p>
        </p:txBody>
      </p:sp>
      <p:sp>
        <p:nvSpPr>
          <p:cNvPr id="7" name="Text 5"/>
          <p:cNvSpPr/>
          <p:nvPr/>
        </p:nvSpPr>
        <p:spPr>
          <a:xfrm>
            <a:off x="3730752" y="594360"/>
            <a:ext cx="5321808" cy="685800"/>
          </a:xfrm>
          <a:prstGeom prst="rect">
            <a:avLst/>
          </a:prstGeom>
          <a:noFill/>
          <a:ln/>
        </p:spPr>
        <p:txBody>
          <a:bodyPr wrap="square" rtlCol="0" anchor="ctr"/>
          <a:lstStyle/>
          <a:p>
            <a:pPr marL="0" indent="0">
              <a:buNone/>
            </a:pPr>
            <a:r>
              <a:rPr lang="en-US" sz="1150" dirty="0">
                <a:solidFill>
                  <a:srgbClr val="2C3E50"/>
                </a:solidFill>
                <a:latin typeface="Calibri" pitchFamily="34" charset="0"/>
                <a:ea typeface="Calibri" pitchFamily="34" charset="-122"/>
                <a:cs typeface="Calibri" pitchFamily="34" charset="-120"/>
              </a:rPr>
              <a:t>Using the raw sepsis flag marks </a:t>
            </a:r>
            <a:r>
              <a:rPr lang="en-US" sz="1150" b="1" dirty="0">
                <a:solidFill>
                  <a:srgbClr val="0D1E2E"/>
                </a:solidFill>
                <a:latin typeface="Calibri" pitchFamily="34" charset="0"/>
                <a:ea typeface="Calibri" pitchFamily="34" charset="-122"/>
                <a:cs typeface="Calibri" pitchFamily="34" charset="-120"/>
              </a:rPr>
              <a:t>many consecutive rows as positive</a:t>
            </a:r>
            <a:r>
              <a:rPr lang="en-US" sz="1150" dirty="0">
                <a:solidFill>
                  <a:srgbClr val="2C3E50"/>
                </a:solidFill>
                <a:latin typeface="Calibri" pitchFamily="34" charset="0"/>
                <a:ea typeface="Calibri" pitchFamily="34" charset="-122"/>
                <a:cs typeface="Calibri" pitchFamily="34" charset="-120"/>
              </a:rPr>
              <a:t> for the same patient. This teaches the model to identify existing sepsis — not to predict future onset. We mark only the </a:t>
            </a:r>
            <a:r>
              <a:rPr lang="en-US" sz="1150" b="1" dirty="0">
                <a:solidFill>
                  <a:srgbClr val="0E8BA0"/>
                </a:solidFill>
                <a:latin typeface="Calibri" pitchFamily="34" charset="0"/>
                <a:ea typeface="Calibri" pitchFamily="34" charset="-122"/>
                <a:cs typeface="Calibri" pitchFamily="34" charset="-120"/>
              </a:rPr>
              <a:t>first timestep</a:t>
            </a:r>
            <a:r>
              <a:rPr lang="en-US" sz="1150" dirty="0">
                <a:solidFill>
                  <a:srgbClr val="2C3E50"/>
                </a:solidFill>
                <a:latin typeface="Calibri" pitchFamily="34" charset="0"/>
                <a:ea typeface="Calibri" pitchFamily="34" charset="-122"/>
                <a:cs typeface="Calibri" pitchFamily="34" charset="-120"/>
              </a:rPr>
              <a:t> where criteria are met.</a:t>
            </a:r>
            <a:endParaRPr lang="en-US" sz="1150" dirty="0"/>
          </a:p>
        </p:txBody>
      </p:sp>
      <p:sp>
        <p:nvSpPr>
          <p:cNvPr id="8" name="Shape 6"/>
          <p:cNvSpPr/>
          <p:nvPr/>
        </p:nvSpPr>
        <p:spPr>
          <a:xfrm>
            <a:off x="3730752" y="1371600"/>
            <a:ext cx="5321808" cy="3474720"/>
          </a:xfrm>
          <a:prstGeom prst="rect">
            <a:avLst/>
          </a:prstGeom>
          <a:solidFill>
            <a:srgbClr val="F4F6F8"/>
          </a:solidFill>
          <a:ln w="12700">
            <a:solidFill>
              <a:srgbClr val="D0D8E0"/>
            </a:solidFill>
            <a:prstDash val="solid"/>
          </a:ln>
        </p:spPr>
        <p:txBody>
          <a:bodyPr/>
          <a:lstStyle/>
          <a:p>
            <a:endParaRPr lang="en-US"/>
          </a:p>
        </p:txBody>
      </p:sp>
      <p:sp>
        <p:nvSpPr>
          <p:cNvPr id="9" name="Text 7"/>
          <p:cNvSpPr/>
          <p:nvPr/>
        </p:nvSpPr>
        <p:spPr>
          <a:xfrm>
            <a:off x="3840480" y="1426464"/>
            <a:ext cx="5138928" cy="3383280"/>
          </a:xfrm>
          <a:prstGeom prst="rect">
            <a:avLst/>
          </a:prstGeom>
          <a:noFill/>
          <a:ln/>
        </p:spPr>
        <p:txBody>
          <a:bodyPr wrap="square" lIns="0" tIns="0" rIns="0" bIns="0" rtlCol="0" anchor="t"/>
          <a:lstStyle/>
          <a:p>
            <a:pPr marL="0" indent="0">
              <a:buNone/>
            </a:pPr>
            <a:r>
              <a:rPr lang="en-US" sz="900" dirty="0">
                <a:solidFill>
                  <a:srgbClr val="1E3A4A"/>
                </a:solidFill>
                <a:latin typeface="Courier New" pitchFamily="34" charset="0"/>
                <a:ea typeface="Courier New" pitchFamily="34" charset="-122"/>
                <a:cs typeface="Courier New" pitchFamily="34" charset="-120"/>
              </a:rPr>
              <a:t>def first_onset(group):</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onset = np.zeros(len(group), dtype=np.float32)</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 Find index of first sepsis-positive row</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idx = (group["sepsis"] == 1).values.argmax() \</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if (group["sepsis"] == 1).any() else -1</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if idx &gt;= 0:</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onset[idx] = 1.0    # Only the first moment = 1</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return pd.Series(onset, index=group.index)</a:t>
            </a:r>
            <a:endParaRPr lang="en-US" sz="900" dirty="0"/>
          </a:p>
          <a:p>
            <a:pPr marL="0" indent="0">
              <a:buNone/>
            </a:pP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labels_td["sepsis_onset"] = (</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labels_td.groupby("HADM_ID", group_keys=False)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.apply(first_onset, include_groups=False)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a:t>
            </a:r>
            <a:endParaRPr lang="en-US" sz="900" dirty="0"/>
          </a:p>
          <a:p>
            <a:pPr marL="0" indent="0">
              <a:buNone/>
            </a:pP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Use onset in sliding window loop:</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y_future = 0</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for t in onset_time_idx:</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 Only look AHEAD of the input window</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if </a:t>
            </a:r>
            <a:r>
              <a:rPr lang="en-US" sz="900" dirty="0" err="1">
                <a:solidFill>
                  <a:srgbClr val="1E3A4A"/>
                </a:solidFill>
                <a:latin typeface="Courier New" pitchFamily="34" charset="0"/>
                <a:ea typeface="Courier New" pitchFamily="34" charset="-122"/>
                <a:cs typeface="Courier New" pitchFamily="34" charset="-120"/>
              </a:rPr>
              <a:t>i</a:t>
            </a:r>
            <a:r>
              <a:rPr lang="en-US" sz="900" dirty="0">
                <a:solidFill>
                  <a:srgbClr val="1E3A4A"/>
                </a:solidFill>
                <a:latin typeface="Courier New" pitchFamily="34" charset="0"/>
                <a:ea typeface="Courier New" pitchFamily="34" charset="-122"/>
                <a:cs typeface="Courier New" pitchFamily="34" charset="-120"/>
              </a:rPr>
              <a:t> &lt;= t &lt; i + seq_len + pred_horizon:</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y_future = 1</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break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Feature</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Engineering</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Vital Signs &amp; Lab Features</a:t>
            </a:r>
            <a:endParaRPr lang="en-US" sz="1300" dirty="0"/>
          </a:p>
        </p:txBody>
      </p:sp>
      <p:sp>
        <p:nvSpPr>
          <p:cNvPr id="7" name="Shape 5"/>
          <p:cNvSpPr/>
          <p:nvPr/>
        </p:nvSpPr>
        <p:spPr>
          <a:xfrm>
            <a:off x="3730752" y="530352"/>
            <a:ext cx="5321808" cy="3218688"/>
          </a:xfrm>
          <a:prstGeom prst="rect">
            <a:avLst/>
          </a:prstGeom>
          <a:solidFill>
            <a:srgbClr val="F4F6F8"/>
          </a:solidFill>
          <a:ln w="12700">
            <a:solidFill>
              <a:srgbClr val="D0D8E0"/>
            </a:solidFill>
            <a:prstDash val="solid"/>
          </a:ln>
        </p:spPr>
        <p:txBody>
          <a:bodyPr/>
          <a:lstStyle/>
          <a:p>
            <a:endParaRPr lang="en-US"/>
          </a:p>
        </p:txBody>
      </p:sp>
      <p:sp>
        <p:nvSpPr>
          <p:cNvPr id="8" name="Text 6"/>
          <p:cNvSpPr/>
          <p:nvPr/>
        </p:nvSpPr>
        <p:spPr>
          <a:xfrm>
            <a:off x="3840480" y="585216"/>
            <a:ext cx="5138928" cy="3127248"/>
          </a:xfrm>
          <a:prstGeom prst="rect">
            <a:avLst/>
          </a:prstGeom>
          <a:noFill/>
          <a:ln/>
        </p:spPr>
        <p:txBody>
          <a:bodyPr wrap="square" lIns="0" tIns="0" rIns="0" bIns="0" rtlCol="0" anchor="t"/>
          <a:lstStyle/>
          <a:p>
            <a:pPr marL="0" indent="0">
              <a:buNone/>
            </a:pPr>
            <a:r>
              <a:rPr lang="en-US" sz="900" dirty="0">
                <a:solidFill>
                  <a:srgbClr val="1E3A4A"/>
                </a:solidFill>
                <a:latin typeface="Courier New" pitchFamily="34" charset="0"/>
                <a:ea typeface="Courier New" pitchFamily="34" charset="-122"/>
                <a:cs typeface="Courier New" pitchFamily="34" charset="-120"/>
              </a:rPr>
              <a:t>vital_ids = {</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"HR":   [211, 220045],   # Heart Rate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"SBP":  [220179],        # Systolic Blood Pressure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"DBP":  [220180],        # Diastolic Blood Pressure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"RR":   [220210],        # Respiratory Rate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"Temp": [223761],        # Temperature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"SpO2": [220277, 646],   # Oxygen Saturation</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"MAP":  [220181, 220052],# Mean Arterial Pressure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"GCS":  [223901, 220739],# Glasgow Coma Scale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"FIO2": [223835, 3420],  # Fraction of Inspired O2</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Lab features added from LABEVENTS:</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Lactate (50813), WBC (51300),</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Creatinine (50912), Platelets (51265)</a:t>
            </a:r>
            <a:endParaRPr lang="en-US" sz="900" dirty="0"/>
          </a:p>
          <a:p>
            <a:pPr marL="0" indent="0">
              <a:buNone/>
            </a:pP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Hourly resampling with forward/backward fill</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vitals_resampled = (</a:t>
            </a:r>
          </a:p>
          <a:p>
            <a:r>
              <a:rPr lang="en-US" sz="900" dirty="0">
                <a:solidFill>
                  <a:srgbClr val="1E3A4A"/>
                </a:solidFill>
                <a:latin typeface="Courier New" pitchFamily="34" charset="0"/>
                <a:cs typeface="Courier New" pitchFamily="34" charset="-120"/>
              </a:rPr>
              <a:t>  </a:t>
            </a:r>
            <a:r>
              <a:rPr lang="en-US" sz="900" dirty="0">
                <a:latin typeface="Courier New" panose="02070309020205020404" pitchFamily="49" charset="0"/>
                <a:cs typeface="Courier New" panose="02070309020205020404" pitchFamily="49" charset="0"/>
              </a:rPr>
              <a:t>vitals[</a:t>
            </a:r>
            <a:r>
              <a:rPr lang="en-US" sz="900" dirty="0" err="1">
                <a:latin typeface="Courier New" panose="02070309020205020404" pitchFamily="49" charset="0"/>
                <a:cs typeface="Courier New" panose="02070309020205020404" pitchFamily="49" charset="0"/>
              </a:rPr>
              <a:t>numeric_cols</a:t>
            </a:r>
            <a:r>
              <a:rPr lang="en-US" sz="900" dirty="0">
                <a:latin typeface="Courier New" panose="02070309020205020404" pitchFamily="49" charset="0"/>
                <a:cs typeface="Courier New" panose="02070309020205020404" pitchFamily="49" charset="0"/>
              </a:rPr>
              <a:t> + ["CHARTTIME"]]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vitals.set_index(["HADM_ID","CHARTTIME"])</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.groupby(level=0).resample("1h", level=1).mean()</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.groupby(level=0).ffill().bfill()</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  .reset_index()</a:t>
            </a:r>
            <a:endParaRPr lang="en-US" sz="900" dirty="0"/>
          </a:p>
          <a:p>
            <a:pPr marL="0" indent="0">
              <a:buNone/>
            </a:pPr>
            <a:r>
              <a:rPr lang="en-US" sz="900" dirty="0">
                <a:solidFill>
                  <a:srgbClr val="1E3A4A"/>
                </a:solidFill>
                <a:latin typeface="Courier New" pitchFamily="34" charset="0"/>
                <a:ea typeface="Courier New" pitchFamily="34" charset="-122"/>
                <a:cs typeface="Courier New" pitchFamily="34" charset="-120"/>
              </a:rPr>
              <a:t>)</a:t>
            </a:r>
            <a:endParaRPr lang="en-US" sz="900" dirty="0"/>
          </a:p>
        </p:txBody>
      </p:sp>
      <p:sp>
        <p:nvSpPr>
          <p:cNvPr id="9" name="Text 7"/>
          <p:cNvSpPr/>
          <p:nvPr/>
        </p:nvSpPr>
        <p:spPr>
          <a:xfrm>
            <a:off x="3730752" y="3840480"/>
            <a:ext cx="5321808" cy="320040"/>
          </a:xfrm>
          <a:prstGeom prst="rect">
            <a:avLst/>
          </a:prstGeom>
          <a:noFill/>
          <a:ln/>
        </p:spPr>
        <p:txBody>
          <a:bodyPr wrap="square" lIns="0" tIns="0" rIns="0" bIns="0" rtlCol="0" anchor="ctr"/>
          <a:lstStyle/>
          <a:p>
            <a:pPr marL="0" indent="0">
              <a:buNone/>
            </a:pPr>
            <a:r>
              <a:rPr lang="en-US" sz="1100" b="1" i="1" dirty="0">
                <a:solidFill>
                  <a:srgbClr val="0E8BA0"/>
                </a:solidFill>
                <a:latin typeface="Calibri" pitchFamily="34" charset="0"/>
                <a:ea typeface="Calibri" pitchFamily="34" charset="-122"/>
                <a:cs typeface="Calibri" pitchFamily="34" charset="-120"/>
              </a:rPr>
              <a:t>9 vitals + 4 labs = 13 base features → expanded to 80 with derived features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Derived</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Features</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&amp; Time</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Encoding</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Rolling Statistics &amp; Temporal Features</a:t>
            </a:r>
            <a:endParaRPr lang="en-US" sz="1300" dirty="0"/>
          </a:p>
        </p:txBody>
      </p:sp>
      <p:sp>
        <p:nvSpPr>
          <p:cNvPr id="7" name="Shape 5"/>
          <p:cNvSpPr/>
          <p:nvPr/>
        </p:nvSpPr>
        <p:spPr>
          <a:xfrm>
            <a:off x="3730752" y="530352"/>
            <a:ext cx="5321808" cy="4448556"/>
          </a:xfrm>
          <a:prstGeom prst="rect">
            <a:avLst/>
          </a:prstGeom>
          <a:solidFill>
            <a:srgbClr val="F4F6F8"/>
          </a:solidFill>
          <a:ln w="12700">
            <a:solidFill>
              <a:srgbClr val="D0D8E0"/>
            </a:solidFill>
            <a:prstDash val="solid"/>
          </a:ln>
        </p:spPr>
        <p:txBody>
          <a:bodyPr/>
          <a:lstStyle/>
          <a:p>
            <a:endParaRPr lang="en-US"/>
          </a:p>
        </p:txBody>
      </p:sp>
      <p:sp>
        <p:nvSpPr>
          <p:cNvPr id="8" name="Text 6"/>
          <p:cNvSpPr/>
          <p:nvPr/>
        </p:nvSpPr>
        <p:spPr>
          <a:xfrm>
            <a:off x="3840480" y="585216"/>
            <a:ext cx="5138928" cy="4393692"/>
          </a:xfrm>
          <a:prstGeom prst="rect">
            <a:avLst/>
          </a:prstGeom>
          <a:noFill/>
          <a:ln/>
        </p:spPr>
        <p:txBody>
          <a:bodyPr wrap="square" lIns="0" tIns="0" rIns="0" bIns="0" rtlCol="0" anchor="t"/>
          <a:lstStyle/>
          <a:p>
            <a:endParaRPr lang="en-US" sz="880" dirty="0">
              <a:solidFill>
                <a:srgbClr val="1E3A4A"/>
              </a:solidFill>
              <a:latin typeface="Courier New" pitchFamily="34" charset="0"/>
              <a:ea typeface="Courier New" pitchFamily="34" charset="-122"/>
              <a:cs typeface="Courier New" pitchFamily="34" charset="-120"/>
            </a:endParaRPr>
          </a:p>
          <a:p>
            <a:r>
              <a:rPr lang="en-US" sz="880" dirty="0" err="1">
                <a:solidFill>
                  <a:srgbClr val="1E3A4A"/>
                </a:solidFill>
                <a:latin typeface="Courier New" pitchFamily="34" charset="0"/>
                <a:ea typeface="Courier New" pitchFamily="34" charset="-122"/>
                <a:cs typeface="Courier New" pitchFamily="34" charset="-120"/>
              </a:rPr>
              <a:t>labels_td</a:t>
            </a:r>
            <a:r>
              <a:rPr lang="en-US" sz="880" dirty="0">
                <a:solidFill>
                  <a:srgbClr val="1E3A4A"/>
                </a:solidFill>
                <a:latin typeface="Courier New" pitchFamily="34" charset="0"/>
                <a:ea typeface="Courier New" pitchFamily="34" charset="-122"/>
                <a:cs typeface="Courier New" pitchFamily="34" charset="-120"/>
              </a:rPr>
              <a:t>["</a:t>
            </a:r>
            <a:r>
              <a:rPr lang="en-US" sz="880" dirty="0" err="1">
                <a:solidFill>
                  <a:srgbClr val="1E3A4A"/>
                </a:solidFill>
                <a:latin typeface="Courier New" pitchFamily="34" charset="0"/>
                <a:ea typeface="Courier New" pitchFamily="34" charset="-122"/>
                <a:cs typeface="Courier New" pitchFamily="34" charset="-120"/>
              </a:rPr>
              <a:t>time_idx</a:t>
            </a:r>
            <a:r>
              <a:rPr lang="en-US" sz="880" dirty="0">
                <a:solidFill>
                  <a:srgbClr val="1E3A4A"/>
                </a:solidFill>
                <a:latin typeface="Courier New" pitchFamily="34" charset="0"/>
                <a:ea typeface="Courier New" pitchFamily="34" charset="-122"/>
                <a:cs typeface="Courier New" pitchFamily="34" charset="-120"/>
              </a:rPr>
              <a:t>"] = </a:t>
            </a:r>
            <a:r>
              <a:rPr lang="en-US" sz="880" dirty="0" err="1">
                <a:solidFill>
                  <a:srgbClr val="1E3A4A"/>
                </a:solidFill>
                <a:latin typeface="Courier New" pitchFamily="34" charset="0"/>
                <a:ea typeface="Courier New" pitchFamily="34" charset="-122"/>
                <a:cs typeface="Courier New" pitchFamily="34" charset="-120"/>
              </a:rPr>
              <a:t>labels_td.groupby</a:t>
            </a:r>
            <a:r>
              <a:rPr lang="en-US" sz="880" dirty="0">
                <a:solidFill>
                  <a:srgbClr val="1E3A4A"/>
                </a:solidFill>
                <a:latin typeface="Courier New" pitchFamily="34" charset="0"/>
                <a:ea typeface="Courier New" pitchFamily="34" charset="-122"/>
                <a:cs typeface="Courier New" pitchFamily="34" charset="-120"/>
              </a:rPr>
              <a:t>("HADM_ID").</a:t>
            </a:r>
            <a:r>
              <a:rPr lang="en-US" sz="880" dirty="0" err="1">
                <a:solidFill>
                  <a:srgbClr val="1E3A4A"/>
                </a:solidFill>
                <a:latin typeface="Courier New" pitchFamily="34" charset="0"/>
                <a:ea typeface="Courier New" pitchFamily="34" charset="-122"/>
                <a:cs typeface="Courier New" pitchFamily="34" charset="-120"/>
              </a:rPr>
              <a:t>cumcount</a:t>
            </a:r>
            <a:r>
              <a:rPr lang="en-US" sz="880" dirty="0">
                <a:solidFill>
                  <a:srgbClr val="1E3A4A"/>
                </a:solidFill>
                <a:latin typeface="Courier New" pitchFamily="34" charset="0"/>
                <a:ea typeface="Courier New" pitchFamily="34" charset="-122"/>
                <a:cs typeface="Courier New" pitchFamily="34" charset="-120"/>
              </a:rPr>
              <a:t>()</a:t>
            </a:r>
          </a:p>
          <a:p>
            <a:r>
              <a:rPr lang="en-US" sz="880" dirty="0" err="1">
                <a:solidFill>
                  <a:srgbClr val="1E3A4A"/>
                </a:solidFill>
                <a:latin typeface="Courier New" pitchFamily="34" charset="0"/>
                <a:ea typeface="Courier New" pitchFamily="34" charset="-122"/>
                <a:cs typeface="Courier New" pitchFamily="34" charset="-120"/>
              </a:rPr>
              <a:t>labels_td</a:t>
            </a:r>
            <a:r>
              <a:rPr lang="en-US" sz="880" dirty="0">
                <a:solidFill>
                  <a:srgbClr val="1E3A4A"/>
                </a:solidFill>
                <a:latin typeface="Courier New" pitchFamily="34" charset="0"/>
                <a:ea typeface="Courier New" pitchFamily="34" charset="-122"/>
                <a:cs typeface="Courier New" pitchFamily="34" charset="-120"/>
              </a:rPr>
              <a:t>["</a:t>
            </a:r>
            <a:r>
              <a:rPr lang="en-US" sz="880" dirty="0" err="1">
                <a:solidFill>
                  <a:srgbClr val="1E3A4A"/>
                </a:solidFill>
                <a:latin typeface="Courier New" pitchFamily="34" charset="0"/>
                <a:ea typeface="Courier New" pitchFamily="34" charset="-122"/>
                <a:cs typeface="Courier New" pitchFamily="34" charset="-120"/>
              </a:rPr>
              <a:t>time_idx</a:t>
            </a:r>
            <a:r>
              <a:rPr lang="en-US" sz="880" dirty="0">
                <a:solidFill>
                  <a:srgbClr val="1E3A4A"/>
                </a:solidFill>
                <a:latin typeface="Courier New" pitchFamily="34" charset="0"/>
                <a:ea typeface="Courier New" pitchFamily="34" charset="-122"/>
                <a:cs typeface="Courier New" pitchFamily="34" charset="-120"/>
              </a:rPr>
              <a:t>"] = (</a:t>
            </a:r>
            <a:r>
              <a:rPr lang="en-US" sz="880" dirty="0" err="1">
                <a:solidFill>
                  <a:srgbClr val="1E3A4A"/>
                </a:solidFill>
                <a:latin typeface="Courier New" pitchFamily="34" charset="0"/>
                <a:ea typeface="Courier New" pitchFamily="34" charset="-122"/>
                <a:cs typeface="Courier New" pitchFamily="34" charset="-120"/>
              </a:rPr>
              <a:t>labels_td</a:t>
            </a:r>
            <a:r>
              <a:rPr lang="en-US" sz="880" dirty="0">
                <a:solidFill>
                  <a:srgbClr val="1E3A4A"/>
                </a:solidFill>
                <a:latin typeface="Courier New" pitchFamily="34" charset="0"/>
                <a:ea typeface="Courier New" pitchFamily="34" charset="-122"/>
                <a:cs typeface="Courier New" pitchFamily="34" charset="-120"/>
              </a:rPr>
              <a:t>["</a:t>
            </a:r>
            <a:r>
              <a:rPr lang="en-US" sz="880" dirty="0" err="1">
                <a:solidFill>
                  <a:srgbClr val="1E3A4A"/>
                </a:solidFill>
                <a:latin typeface="Courier New" pitchFamily="34" charset="0"/>
                <a:ea typeface="Courier New" pitchFamily="34" charset="-122"/>
                <a:cs typeface="Courier New" pitchFamily="34" charset="-120"/>
              </a:rPr>
              <a:t>time_idx</a:t>
            </a:r>
            <a:r>
              <a:rPr lang="en-US" sz="880" dirty="0">
                <a:solidFill>
                  <a:srgbClr val="1E3A4A"/>
                </a:solidFill>
                <a:latin typeface="Courier New" pitchFamily="34" charset="0"/>
                <a:ea typeface="Courier New" pitchFamily="34" charset="-122"/>
                <a:cs typeface="Courier New" pitchFamily="34" charset="-120"/>
              </a:rPr>
              <a:t>"]</a:t>
            </a:r>
          </a:p>
          <a:p>
            <a:r>
              <a:rPr lang="en-US" sz="880" dirty="0">
                <a:solidFill>
                  <a:srgbClr val="1E3A4A"/>
                </a:solidFill>
                <a:latin typeface="Courier New" pitchFamily="34" charset="0"/>
                <a:ea typeface="Courier New" pitchFamily="34" charset="-122"/>
                <a:cs typeface="Courier New" pitchFamily="34" charset="-120"/>
              </a:rPr>
              <a:t>    / </a:t>
            </a:r>
            <a:r>
              <a:rPr lang="en-US" sz="880" dirty="0" err="1">
                <a:solidFill>
                  <a:srgbClr val="1E3A4A"/>
                </a:solidFill>
                <a:latin typeface="Courier New" pitchFamily="34" charset="0"/>
                <a:ea typeface="Courier New" pitchFamily="34" charset="-122"/>
                <a:cs typeface="Courier New" pitchFamily="34" charset="-120"/>
              </a:rPr>
              <a:t>labels_td.groupby</a:t>
            </a:r>
            <a:r>
              <a:rPr lang="en-US" sz="880" dirty="0">
                <a:solidFill>
                  <a:srgbClr val="1E3A4A"/>
                </a:solidFill>
                <a:latin typeface="Courier New" pitchFamily="34" charset="0"/>
                <a:ea typeface="Courier New" pitchFamily="34" charset="-122"/>
                <a:cs typeface="Courier New" pitchFamily="34" charset="-120"/>
              </a:rPr>
              <a:t>("HADM_ID")["</a:t>
            </a:r>
            <a:r>
              <a:rPr lang="en-US" sz="880" dirty="0" err="1">
                <a:solidFill>
                  <a:srgbClr val="1E3A4A"/>
                </a:solidFill>
                <a:latin typeface="Courier New" pitchFamily="34" charset="0"/>
                <a:ea typeface="Courier New" pitchFamily="34" charset="-122"/>
                <a:cs typeface="Courier New" pitchFamily="34" charset="-120"/>
              </a:rPr>
              <a:t>time_idx</a:t>
            </a:r>
            <a:r>
              <a:rPr lang="en-US" sz="880" dirty="0">
                <a:solidFill>
                  <a:srgbClr val="1E3A4A"/>
                </a:solidFill>
                <a:latin typeface="Courier New" pitchFamily="34" charset="0"/>
                <a:ea typeface="Courier New" pitchFamily="34" charset="-122"/>
                <a:cs typeface="Courier New" pitchFamily="34" charset="-120"/>
              </a:rPr>
              <a:t>"].transform("max")</a:t>
            </a:r>
          </a:p>
          <a:p>
            <a:r>
              <a:rPr lang="en-US" sz="880" dirty="0">
                <a:solidFill>
                  <a:srgbClr val="1E3A4A"/>
                </a:solidFill>
                <a:latin typeface="Courier New" pitchFamily="34" charset="0"/>
                <a:ea typeface="Courier New" pitchFamily="34" charset="-122"/>
                <a:cs typeface="Courier New" pitchFamily="34" charset="-120"/>
              </a:rPr>
              <a:t>)</a:t>
            </a:r>
          </a:p>
          <a:p>
            <a:r>
              <a:rPr lang="en-US" sz="880" dirty="0" err="1">
                <a:solidFill>
                  <a:srgbClr val="1E3A4A"/>
                </a:solidFill>
                <a:latin typeface="Courier New" pitchFamily="34" charset="0"/>
                <a:ea typeface="Courier New" pitchFamily="34" charset="-122"/>
                <a:cs typeface="Courier New" pitchFamily="34" charset="-120"/>
              </a:rPr>
              <a:t>labels_td</a:t>
            </a:r>
            <a:r>
              <a:rPr lang="en-US" sz="880" dirty="0">
                <a:solidFill>
                  <a:srgbClr val="1E3A4A"/>
                </a:solidFill>
                <a:latin typeface="Courier New" pitchFamily="34" charset="0"/>
                <a:ea typeface="Courier New" pitchFamily="34" charset="-122"/>
                <a:cs typeface="Courier New" pitchFamily="34" charset="-120"/>
              </a:rPr>
              <a:t>["</a:t>
            </a:r>
            <a:r>
              <a:rPr lang="en-US" sz="880" dirty="0" err="1">
                <a:solidFill>
                  <a:srgbClr val="1E3A4A"/>
                </a:solidFill>
                <a:latin typeface="Courier New" pitchFamily="34" charset="0"/>
                <a:ea typeface="Courier New" pitchFamily="34" charset="-122"/>
                <a:cs typeface="Courier New" pitchFamily="34" charset="-120"/>
              </a:rPr>
              <a:t>time_idx_sq</a:t>
            </a:r>
            <a:r>
              <a:rPr lang="en-US" sz="880" dirty="0">
                <a:solidFill>
                  <a:srgbClr val="1E3A4A"/>
                </a:solidFill>
                <a:latin typeface="Courier New" pitchFamily="34" charset="0"/>
                <a:ea typeface="Courier New" pitchFamily="34" charset="-122"/>
                <a:cs typeface="Courier New" pitchFamily="34" charset="-120"/>
              </a:rPr>
              <a:t>"] = </a:t>
            </a:r>
            <a:r>
              <a:rPr lang="en-US" sz="880" dirty="0" err="1">
                <a:solidFill>
                  <a:srgbClr val="1E3A4A"/>
                </a:solidFill>
                <a:latin typeface="Courier New" pitchFamily="34" charset="0"/>
                <a:ea typeface="Courier New" pitchFamily="34" charset="-122"/>
                <a:cs typeface="Courier New" pitchFamily="34" charset="-120"/>
              </a:rPr>
              <a:t>labels_td</a:t>
            </a:r>
            <a:r>
              <a:rPr lang="en-US" sz="880" dirty="0">
                <a:solidFill>
                  <a:srgbClr val="1E3A4A"/>
                </a:solidFill>
                <a:latin typeface="Courier New" pitchFamily="34" charset="0"/>
                <a:ea typeface="Courier New" pitchFamily="34" charset="-122"/>
                <a:cs typeface="Courier New" pitchFamily="34" charset="-120"/>
              </a:rPr>
              <a:t>["</a:t>
            </a:r>
            <a:r>
              <a:rPr lang="en-US" sz="880" dirty="0" err="1">
                <a:solidFill>
                  <a:srgbClr val="1E3A4A"/>
                </a:solidFill>
                <a:latin typeface="Courier New" pitchFamily="34" charset="0"/>
                <a:ea typeface="Courier New" pitchFamily="34" charset="-122"/>
                <a:cs typeface="Courier New" pitchFamily="34" charset="-120"/>
              </a:rPr>
              <a:t>time_idx</a:t>
            </a:r>
            <a:r>
              <a:rPr lang="en-US" sz="880" dirty="0">
                <a:solidFill>
                  <a:srgbClr val="1E3A4A"/>
                </a:solidFill>
                <a:latin typeface="Courier New" pitchFamily="34" charset="0"/>
                <a:ea typeface="Courier New" pitchFamily="34" charset="-122"/>
                <a:cs typeface="Courier New" pitchFamily="34" charset="-120"/>
              </a:rPr>
              <a:t>"] ** 2</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for col in feature_cols:</a:t>
            </a:r>
          </a:p>
          <a:p>
            <a:r>
              <a:rPr lang="en-US" sz="880" dirty="0">
                <a:solidFill>
                  <a:srgbClr val="1E3A4A"/>
                </a:solidFill>
                <a:latin typeface="Courier New" pitchFamily="34" charset="0"/>
                <a:ea typeface="Courier New" pitchFamily="34" charset="-122"/>
                <a:cs typeface="Courier New" pitchFamily="34" charset="-120"/>
              </a:rPr>
              <a:t>    labels_td[f"{col}_trend6"] = (</a:t>
            </a:r>
          </a:p>
          <a:p>
            <a:r>
              <a:rPr lang="en-US" sz="880" dirty="0">
                <a:solidFill>
                  <a:srgbClr val="1E3A4A"/>
                </a:solidFill>
                <a:latin typeface="Courier New" pitchFamily="34" charset="0"/>
                <a:ea typeface="Courier New" pitchFamily="34" charset="-122"/>
                <a:cs typeface="Courier New" pitchFamily="34" charset="-120"/>
              </a:rPr>
              <a:t>        labels_td.groupby("HADM_ID")[col].diff(6)</a:t>
            </a:r>
          </a:p>
          <a:p>
            <a:r>
              <a:rPr lang="en-US" sz="880" dirty="0">
                <a:solidFill>
                  <a:srgbClr val="1E3A4A"/>
                </a:solidFill>
                <a:latin typeface="Courier New" pitchFamily="34" charset="0"/>
                <a:ea typeface="Courier New" pitchFamily="34" charset="-122"/>
                <a:cs typeface="Courier New" pitchFamily="34" charset="-120"/>
              </a:rPr>
              <a:t>    )</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for col in feature_cols:</a:t>
            </a:r>
          </a:p>
          <a:p>
            <a:r>
              <a:rPr lang="en-US" sz="880" dirty="0">
                <a:solidFill>
                  <a:srgbClr val="1E3A4A"/>
                </a:solidFill>
                <a:latin typeface="Courier New" pitchFamily="34" charset="0"/>
                <a:ea typeface="Courier New" pitchFamily="34" charset="-122"/>
                <a:cs typeface="Courier New" pitchFamily="34" charset="-120"/>
              </a:rPr>
              <a:t>    labels_td[f"{col}_std6"] = (</a:t>
            </a:r>
          </a:p>
          <a:p>
            <a:r>
              <a:rPr lang="en-US" sz="880" dirty="0">
                <a:solidFill>
                  <a:srgbClr val="1E3A4A"/>
                </a:solidFill>
                <a:latin typeface="Courier New" pitchFamily="34" charset="0"/>
                <a:ea typeface="Courier New" pitchFamily="34" charset="-122"/>
                <a:cs typeface="Courier New" pitchFamily="34" charset="-120"/>
              </a:rPr>
              <a:t>        labels_td.groupby("HADM_ID")[col].rolling(6).std()</a:t>
            </a:r>
          </a:p>
          <a:p>
            <a:r>
              <a:rPr lang="en-US" sz="880" dirty="0">
                <a:solidFill>
                  <a:srgbClr val="1E3A4A"/>
                </a:solidFill>
                <a:latin typeface="Courier New" pitchFamily="34" charset="0"/>
                <a:ea typeface="Courier New" pitchFamily="34" charset="-122"/>
                <a:cs typeface="Courier New" pitchFamily="34" charset="-120"/>
              </a:rPr>
              <a:t>        .reset_index(level=0, drop=True)</a:t>
            </a:r>
          </a:p>
          <a:p>
            <a:r>
              <a:rPr lang="en-US" sz="880" dirty="0">
                <a:solidFill>
                  <a:srgbClr val="1E3A4A"/>
                </a:solidFill>
                <a:latin typeface="Courier New" pitchFamily="34" charset="0"/>
                <a:ea typeface="Courier New" pitchFamily="34" charset="-122"/>
                <a:cs typeface="Courier New" pitchFamily="34" charset="-120"/>
              </a:rPr>
              <a:t>    )</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for col in feature_cols:</a:t>
            </a:r>
          </a:p>
          <a:p>
            <a:r>
              <a:rPr lang="en-US" sz="880" dirty="0">
                <a:solidFill>
                  <a:srgbClr val="1E3A4A"/>
                </a:solidFill>
                <a:latin typeface="Courier New" pitchFamily="34" charset="0"/>
                <a:ea typeface="Courier New" pitchFamily="34" charset="-122"/>
                <a:cs typeface="Courier New" pitchFamily="34" charset="-120"/>
              </a:rPr>
              <a:t>    labels_td[f"{col}_max6"] = (</a:t>
            </a:r>
          </a:p>
          <a:p>
            <a:r>
              <a:rPr lang="en-US" sz="880" dirty="0">
                <a:solidFill>
                  <a:srgbClr val="1E3A4A"/>
                </a:solidFill>
                <a:latin typeface="Courier New" pitchFamily="34" charset="0"/>
                <a:ea typeface="Courier New" pitchFamily="34" charset="-122"/>
                <a:cs typeface="Courier New" pitchFamily="34" charset="-120"/>
              </a:rPr>
              <a:t>        labels_td.groupby("HADM_ID")[col].rolling(6).max()</a:t>
            </a:r>
          </a:p>
          <a:p>
            <a:r>
              <a:rPr lang="en-US" sz="880" dirty="0">
                <a:solidFill>
                  <a:srgbClr val="1E3A4A"/>
                </a:solidFill>
                <a:latin typeface="Courier New" pitchFamily="34" charset="0"/>
                <a:ea typeface="Courier New" pitchFamily="34" charset="-122"/>
                <a:cs typeface="Courier New" pitchFamily="34" charset="-120"/>
              </a:rPr>
              <a:t>        .reset_index(level=0, drop=True)</a:t>
            </a:r>
          </a:p>
          <a:p>
            <a:r>
              <a:rPr lang="en-US" sz="880" dirty="0">
                <a:solidFill>
                  <a:srgbClr val="1E3A4A"/>
                </a:solidFill>
                <a:latin typeface="Courier New" pitchFamily="34" charset="0"/>
                <a:ea typeface="Courier New" pitchFamily="34" charset="-122"/>
                <a:cs typeface="Courier New" pitchFamily="34" charset="-120"/>
              </a:rPr>
              <a:t>    )</a:t>
            </a:r>
          </a:p>
          <a:p>
            <a:r>
              <a:rPr lang="en-US" sz="880" dirty="0">
                <a:solidFill>
                  <a:srgbClr val="1E3A4A"/>
                </a:solidFill>
                <a:latin typeface="Courier New" pitchFamily="34" charset="0"/>
                <a:ea typeface="Courier New" pitchFamily="34" charset="-122"/>
                <a:cs typeface="Courier New" pitchFamily="34" charset="-120"/>
              </a:rPr>
              <a:t>    labels_td[f"{col}_min6"] = (</a:t>
            </a:r>
          </a:p>
          <a:p>
            <a:r>
              <a:rPr lang="en-US" sz="880" dirty="0">
                <a:solidFill>
                  <a:srgbClr val="1E3A4A"/>
                </a:solidFill>
                <a:latin typeface="Courier New" pitchFamily="34" charset="0"/>
                <a:ea typeface="Courier New" pitchFamily="34" charset="-122"/>
                <a:cs typeface="Courier New" pitchFamily="34" charset="-120"/>
              </a:rPr>
              <a:t>        labels_td.groupby("HADM_ID")[col].rolling(6).min()</a:t>
            </a:r>
          </a:p>
          <a:p>
            <a:r>
              <a:rPr lang="en-US" sz="880" dirty="0">
                <a:solidFill>
                  <a:srgbClr val="1E3A4A"/>
                </a:solidFill>
                <a:latin typeface="Courier New" pitchFamily="34" charset="0"/>
                <a:ea typeface="Courier New" pitchFamily="34" charset="-122"/>
                <a:cs typeface="Courier New" pitchFamily="34" charset="-120"/>
              </a:rPr>
              <a:t>        .reset_index(level=0, drop=True)</a:t>
            </a:r>
          </a:p>
          <a:p>
            <a:r>
              <a:rPr lang="en-US" sz="880" dirty="0">
                <a:solidFill>
                  <a:srgbClr val="1E3A4A"/>
                </a:solidFill>
                <a:latin typeface="Courier New" pitchFamily="34" charset="0"/>
                <a:ea typeface="Courier New" pitchFamily="34" charset="-122"/>
                <a:cs typeface="Courier New" pitchFamily="34" charset="-120"/>
              </a:rPr>
              <a:t>    )</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for col in ["HR", "MAP", "RR", "SpO2", "Lactate"]:</a:t>
            </a:r>
          </a:p>
          <a:p>
            <a:r>
              <a:rPr lang="en-US" sz="880" dirty="0">
                <a:solidFill>
                  <a:srgbClr val="1E3A4A"/>
                </a:solidFill>
                <a:latin typeface="Courier New" pitchFamily="34" charset="0"/>
                <a:ea typeface="Courier New" pitchFamily="34" charset="-122"/>
                <a:cs typeface="Courier New" pitchFamily="34" charset="-120"/>
              </a:rPr>
              <a:t>    labels_td[f"{col}_acc"] = (</a:t>
            </a:r>
          </a:p>
          <a:p>
            <a:r>
              <a:rPr lang="en-US" sz="880" dirty="0">
                <a:solidFill>
                  <a:srgbClr val="1E3A4A"/>
                </a:solidFill>
                <a:latin typeface="Courier New" pitchFamily="34" charset="0"/>
                <a:ea typeface="Courier New" pitchFamily="34" charset="-122"/>
                <a:cs typeface="Courier New" pitchFamily="34" charset="-120"/>
              </a:rPr>
              <a:t>        labels_td.groupby("HADM_ID")[col].diff().diff()</a:t>
            </a:r>
          </a:p>
          <a:p>
            <a:r>
              <a:rPr lang="en-US" sz="880" dirty="0">
                <a:solidFill>
                  <a:srgbClr val="1E3A4A"/>
                </a:solidFill>
                <a:latin typeface="Courier New" pitchFamily="34" charset="0"/>
                <a:ea typeface="Courier New" pitchFamily="34" charset="-122"/>
                <a:cs typeface="Courier New" pitchFamily="34" charset="-120"/>
              </a:rPr>
              <a:t>    )</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a:t>
            </a:r>
          </a:p>
          <a:p>
            <a:endParaRPr lang="en-US" sz="880" dirty="0">
              <a:solidFill>
                <a:srgbClr val="1E3A4A"/>
              </a:solidFill>
              <a:latin typeface="Courier New" pitchFamily="34" charset="0"/>
              <a:ea typeface="Courier New" pitchFamily="34" charset="-122"/>
              <a:cs typeface="Courier New"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Sequence</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Building</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&amp; Data</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Split</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Patient-Level Sliding Window</a:t>
            </a:r>
            <a:endParaRPr lang="en-US" sz="1300" dirty="0"/>
          </a:p>
        </p:txBody>
      </p:sp>
      <p:sp>
        <p:nvSpPr>
          <p:cNvPr id="7" name="Text 5"/>
          <p:cNvSpPr/>
          <p:nvPr/>
        </p:nvSpPr>
        <p:spPr>
          <a:xfrm>
            <a:off x="3730752" y="493776"/>
            <a:ext cx="5321808" cy="228600"/>
          </a:xfrm>
          <a:prstGeom prst="rect">
            <a:avLst/>
          </a:prstGeom>
          <a:noFill/>
          <a:ln/>
        </p:spPr>
        <p:txBody>
          <a:bodyPr wrap="square" lIns="0" tIns="0" rIns="0" bIns="0" rtlCol="0" anchor="ctr"/>
          <a:lstStyle/>
          <a:p>
            <a:pPr marL="0" indent="0">
              <a:buNone/>
            </a:pPr>
            <a:r>
              <a:rPr lang="en-US" sz="1050" i="1" dirty="0">
                <a:solidFill>
                  <a:srgbClr val="0E8BA0"/>
                </a:solidFill>
                <a:latin typeface="Calibri" pitchFamily="34" charset="0"/>
                <a:ea typeface="Calibri" pitchFamily="34" charset="-122"/>
                <a:cs typeface="Calibri" pitchFamily="34" charset="-120"/>
              </a:rPr>
              <a:t>seq_len=48h  ·  pred_horizon=12h  ·  stride=12h</a:t>
            </a:r>
            <a:endParaRPr lang="en-US" sz="1050" dirty="0"/>
          </a:p>
        </p:txBody>
      </p:sp>
      <p:sp>
        <p:nvSpPr>
          <p:cNvPr id="8" name="Shape 6"/>
          <p:cNvSpPr/>
          <p:nvPr/>
        </p:nvSpPr>
        <p:spPr>
          <a:xfrm>
            <a:off x="3730752" y="768096"/>
            <a:ext cx="5321808" cy="4041648"/>
          </a:xfrm>
          <a:prstGeom prst="rect">
            <a:avLst/>
          </a:prstGeom>
          <a:solidFill>
            <a:srgbClr val="F4F6F8"/>
          </a:solidFill>
          <a:ln w="12700">
            <a:solidFill>
              <a:srgbClr val="D0D8E0"/>
            </a:solidFill>
            <a:prstDash val="solid"/>
          </a:ln>
        </p:spPr>
        <p:txBody>
          <a:bodyPr/>
          <a:lstStyle/>
          <a:p>
            <a:endParaRPr lang="en-US"/>
          </a:p>
        </p:txBody>
      </p:sp>
      <p:sp>
        <p:nvSpPr>
          <p:cNvPr id="9" name="Text 7"/>
          <p:cNvSpPr/>
          <p:nvPr/>
        </p:nvSpPr>
        <p:spPr>
          <a:xfrm>
            <a:off x="3730752" y="768096"/>
            <a:ext cx="5321808" cy="4041648"/>
          </a:xfrm>
          <a:prstGeom prst="rect">
            <a:avLst/>
          </a:prstGeom>
          <a:noFill/>
          <a:ln/>
        </p:spPr>
        <p:txBody>
          <a:bodyPr wrap="square" lIns="0" tIns="0" rIns="0" bIns="0" rtlCol="0" anchor="t"/>
          <a:lstStyle/>
          <a:p>
            <a:r>
              <a:rPr lang="en-US" sz="880" dirty="0">
                <a:solidFill>
                  <a:srgbClr val="1E3A4A"/>
                </a:solidFill>
                <a:latin typeface="Courier New" pitchFamily="34" charset="0"/>
                <a:ea typeface="Courier New" pitchFamily="34" charset="-122"/>
                <a:cs typeface="Courier New" pitchFamily="34" charset="-120"/>
              </a:rPr>
              <a:t>hadm_ids = labels_td["HADM_ID"].unique()</a:t>
            </a:r>
          </a:p>
          <a:p>
            <a:r>
              <a:rPr lang="en-US" sz="880" dirty="0">
                <a:solidFill>
                  <a:srgbClr val="1E3A4A"/>
                </a:solidFill>
                <a:latin typeface="Courier New" pitchFamily="34" charset="0"/>
                <a:ea typeface="Courier New" pitchFamily="34" charset="-122"/>
                <a:cs typeface="Courier New" pitchFamily="34" charset="-120"/>
              </a:rPr>
              <a:t>train_ids, test_ids = train_test_split(</a:t>
            </a:r>
          </a:p>
          <a:p>
            <a:r>
              <a:rPr lang="en-US" sz="880" dirty="0">
                <a:solidFill>
                  <a:srgbClr val="1E3A4A"/>
                </a:solidFill>
                <a:latin typeface="Courier New" pitchFamily="34" charset="0"/>
                <a:ea typeface="Courier New" pitchFamily="34" charset="-122"/>
                <a:cs typeface="Courier New" pitchFamily="34" charset="-120"/>
              </a:rPr>
              <a:t>    hadm_ids, test_size=0.2, random_state=42)</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train_ids_set = set(train_ids)</a:t>
            </a:r>
          </a:p>
          <a:p>
            <a:r>
              <a:rPr lang="en-US" sz="880" dirty="0">
                <a:solidFill>
                  <a:srgbClr val="1E3A4A"/>
                </a:solidFill>
                <a:latin typeface="Courier New" pitchFamily="34" charset="0"/>
                <a:ea typeface="Courier New" pitchFamily="34" charset="-122"/>
                <a:cs typeface="Courier New" pitchFamily="34" charset="-120"/>
              </a:rPr>
              <a:t>test_ids_set  = set(test_ids)</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X_train, y_train = [], []</a:t>
            </a:r>
          </a:p>
          <a:p>
            <a:r>
              <a:rPr lang="en-US" sz="880" dirty="0">
                <a:solidFill>
                  <a:srgbClr val="1E3A4A"/>
                </a:solidFill>
                <a:latin typeface="Courier New" pitchFamily="34" charset="0"/>
                <a:ea typeface="Courier New" pitchFamily="34" charset="-122"/>
                <a:cs typeface="Courier New" pitchFamily="34" charset="-120"/>
              </a:rPr>
              <a:t>X_test,  y_test  = [], []</a:t>
            </a:r>
          </a:p>
          <a:p>
            <a:r>
              <a:rPr lang="en-US" sz="880" dirty="0">
                <a:solidFill>
                  <a:srgbClr val="1E3A4A"/>
                </a:solidFill>
                <a:latin typeface="Courier New" pitchFamily="34" charset="0"/>
                <a:ea typeface="Courier New" pitchFamily="34" charset="-122"/>
                <a:cs typeface="Courier New" pitchFamily="34" charset="-120"/>
              </a:rPr>
              <a:t>stride = 12</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for hadm_id, group in labels_td.groupby("HADM_ID", sort=False):</a:t>
            </a:r>
          </a:p>
          <a:p>
            <a:r>
              <a:rPr lang="en-US" sz="880" dirty="0">
                <a:solidFill>
                  <a:srgbClr val="1E3A4A"/>
                </a:solidFill>
                <a:latin typeface="Courier New" pitchFamily="34" charset="0"/>
                <a:ea typeface="Courier New" pitchFamily="34" charset="-122"/>
                <a:cs typeface="Courier New" pitchFamily="34" charset="-120"/>
              </a:rPr>
              <a:t>    values = group[feature_cols].values.astype(np.float32)</a:t>
            </a:r>
          </a:p>
          <a:p>
            <a:r>
              <a:rPr lang="en-US" sz="880" dirty="0">
                <a:solidFill>
                  <a:srgbClr val="1E3A4A"/>
                </a:solidFill>
                <a:latin typeface="Courier New" pitchFamily="34" charset="0"/>
                <a:ea typeface="Courier New" pitchFamily="34" charset="-122"/>
                <a:cs typeface="Courier New" pitchFamily="34" charset="-120"/>
              </a:rPr>
              <a:t>    onset_series   = group["sepsis_onset"].values</a:t>
            </a:r>
          </a:p>
          <a:p>
            <a:r>
              <a:rPr lang="en-US" sz="880" dirty="0">
                <a:solidFill>
                  <a:srgbClr val="1E3A4A"/>
                </a:solidFill>
                <a:latin typeface="Courier New" pitchFamily="34" charset="0"/>
                <a:ea typeface="Courier New" pitchFamily="34" charset="-122"/>
                <a:cs typeface="Courier New" pitchFamily="34" charset="-120"/>
              </a:rPr>
              <a:t>    onset_time_idx = np.where(onset_series == 1)[0]</a:t>
            </a:r>
          </a:p>
          <a:p>
            <a:r>
              <a:rPr lang="en-US" sz="880" dirty="0">
                <a:solidFill>
                  <a:srgbClr val="1E3A4A"/>
                </a:solidFill>
                <a:latin typeface="Courier New" pitchFamily="34" charset="0"/>
                <a:ea typeface="Courier New" pitchFamily="34" charset="-122"/>
                <a:cs typeface="Courier New" pitchFamily="34" charset="-120"/>
              </a:rPr>
              <a:t>    n = len(values)</a:t>
            </a:r>
          </a:p>
          <a:p>
            <a:r>
              <a:rPr lang="en-US" sz="880" dirty="0">
                <a:solidFill>
                  <a:srgbClr val="1E3A4A"/>
                </a:solidFill>
                <a:latin typeface="Courier New" pitchFamily="34" charset="0"/>
                <a:ea typeface="Courier New" pitchFamily="34" charset="-122"/>
                <a:cs typeface="Courier New" pitchFamily="34" charset="-120"/>
              </a:rPr>
              <a:t>    for i in range(0, n - seq_len - pred_horizon, stride):</a:t>
            </a:r>
          </a:p>
          <a:p>
            <a:r>
              <a:rPr lang="en-US" sz="880" dirty="0">
                <a:solidFill>
                  <a:srgbClr val="1E3A4A"/>
                </a:solidFill>
                <a:latin typeface="Courier New" pitchFamily="34" charset="0"/>
                <a:ea typeface="Courier New" pitchFamily="34" charset="-122"/>
                <a:cs typeface="Courier New" pitchFamily="34" charset="-120"/>
              </a:rPr>
              <a:t>        X_window = values[i : i + seq_len]</a:t>
            </a:r>
          </a:p>
          <a:p>
            <a:r>
              <a:rPr lang="en-US" sz="880" dirty="0">
                <a:solidFill>
                  <a:srgbClr val="1E3A4A"/>
                </a:solidFill>
                <a:latin typeface="Courier New" pitchFamily="34" charset="0"/>
                <a:ea typeface="Courier New" pitchFamily="34" charset="-122"/>
                <a:cs typeface="Courier New" pitchFamily="34" charset="-120"/>
              </a:rPr>
              <a:t>        y_future = 0</a:t>
            </a:r>
          </a:p>
          <a:p>
            <a:r>
              <a:rPr lang="en-US" sz="880" dirty="0">
                <a:solidFill>
                  <a:srgbClr val="1E3A4A"/>
                </a:solidFill>
                <a:latin typeface="Courier New" pitchFamily="34" charset="0"/>
                <a:ea typeface="Courier New" pitchFamily="34" charset="-122"/>
                <a:cs typeface="Courier New" pitchFamily="34" charset="-120"/>
              </a:rPr>
              <a:t>        for t in onset_time_idx:</a:t>
            </a:r>
          </a:p>
          <a:p>
            <a:r>
              <a:rPr lang="en-US" sz="880" dirty="0">
                <a:solidFill>
                  <a:srgbClr val="1E3A4A"/>
                </a:solidFill>
                <a:latin typeface="Courier New" pitchFamily="34" charset="0"/>
                <a:ea typeface="Courier New" pitchFamily="34" charset="-122"/>
                <a:cs typeface="Courier New" pitchFamily="34" charset="-120"/>
              </a:rPr>
              <a:t>            if i &lt;= t &lt; i + seq_len + pred_horizon:</a:t>
            </a:r>
          </a:p>
          <a:p>
            <a:r>
              <a:rPr lang="en-US" sz="880" dirty="0">
                <a:solidFill>
                  <a:srgbClr val="1E3A4A"/>
                </a:solidFill>
                <a:latin typeface="Courier New" pitchFamily="34" charset="0"/>
                <a:ea typeface="Courier New" pitchFamily="34" charset="-122"/>
                <a:cs typeface="Courier New" pitchFamily="34" charset="-120"/>
              </a:rPr>
              <a:t>                y_future = 1</a:t>
            </a:r>
          </a:p>
          <a:p>
            <a:r>
              <a:rPr lang="en-US" sz="880" dirty="0">
                <a:solidFill>
                  <a:srgbClr val="1E3A4A"/>
                </a:solidFill>
                <a:latin typeface="Courier New" pitchFamily="34" charset="0"/>
                <a:ea typeface="Courier New" pitchFamily="34" charset="-122"/>
                <a:cs typeface="Courier New" pitchFamily="34" charset="-120"/>
              </a:rPr>
              <a:t>                break</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        if hadm_id in train_ids_set:</a:t>
            </a:r>
          </a:p>
          <a:p>
            <a:r>
              <a:rPr lang="en-US" sz="880" dirty="0">
                <a:solidFill>
                  <a:srgbClr val="1E3A4A"/>
                </a:solidFill>
                <a:latin typeface="Courier New" pitchFamily="34" charset="0"/>
                <a:ea typeface="Courier New" pitchFamily="34" charset="-122"/>
                <a:cs typeface="Courier New" pitchFamily="34" charset="-120"/>
              </a:rPr>
              <a:t>            X_train.append(X_window)</a:t>
            </a:r>
          </a:p>
          <a:p>
            <a:r>
              <a:rPr lang="en-US" sz="880" dirty="0">
                <a:solidFill>
                  <a:srgbClr val="1E3A4A"/>
                </a:solidFill>
                <a:latin typeface="Courier New" pitchFamily="34" charset="0"/>
                <a:ea typeface="Courier New" pitchFamily="34" charset="-122"/>
                <a:cs typeface="Courier New" pitchFamily="34" charset="-120"/>
              </a:rPr>
              <a:t>            y_train.append(y_future)</a:t>
            </a:r>
          </a:p>
          <a:p>
            <a:r>
              <a:rPr lang="en-US" sz="880" dirty="0">
                <a:solidFill>
                  <a:srgbClr val="1E3A4A"/>
                </a:solidFill>
                <a:latin typeface="Courier New" pitchFamily="34" charset="0"/>
                <a:ea typeface="Courier New" pitchFamily="34" charset="-122"/>
                <a:cs typeface="Courier New" pitchFamily="34" charset="-120"/>
              </a:rPr>
              <a:t>        else:</a:t>
            </a:r>
          </a:p>
          <a:p>
            <a:r>
              <a:rPr lang="en-US" sz="880" dirty="0">
                <a:solidFill>
                  <a:srgbClr val="1E3A4A"/>
                </a:solidFill>
                <a:latin typeface="Courier New" pitchFamily="34" charset="0"/>
                <a:ea typeface="Courier New" pitchFamily="34" charset="-122"/>
                <a:cs typeface="Courier New" pitchFamily="34" charset="-120"/>
              </a:rPr>
              <a:t>            X_test.append(X_window)</a:t>
            </a:r>
          </a:p>
          <a:p>
            <a:r>
              <a:rPr lang="en-US" sz="880" dirty="0">
                <a:solidFill>
                  <a:srgbClr val="1E3A4A"/>
                </a:solidFill>
                <a:latin typeface="Courier New" pitchFamily="34" charset="0"/>
                <a:ea typeface="Courier New" pitchFamily="34" charset="-122"/>
                <a:cs typeface="Courier New" pitchFamily="34" charset="-120"/>
              </a:rPr>
              <a:t>            y_test.append(y_future)</a:t>
            </a:r>
          </a:p>
          <a:p>
            <a:endParaRPr lang="en-US" sz="880" dirty="0">
              <a:solidFill>
                <a:srgbClr val="1E3A4A"/>
              </a:solidFill>
              <a:latin typeface="Courier New" pitchFamily="34" charset="0"/>
              <a:ea typeface="Courier New" pitchFamily="34" charset="-122"/>
              <a:cs typeface="Courier New" pitchFamily="34" charset="-120"/>
            </a:endParaRPr>
          </a:p>
          <a:p>
            <a:endParaRPr lang="en-US" sz="880" dirty="0">
              <a:solidFill>
                <a:srgbClr val="1E3A4A"/>
              </a:solidFill>
              <a:latin typeface="Courier New" pitchFamily="34" charset="0"/>
              <a:ea typeface="Courier New" pitchFamily="34" charset="-122"/>
              <a:cs typeface="Courier New"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Scaling</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&amp;</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Class</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Balancing</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Normalization &amp; Handling Class Imbalance</a:t>
            </a:r>
            <a:endParaRPr lang="en-US" sz="1300" dirty="0"/>
          </a:p>
        </p:txBody>
      </p:sp>
      <p:sp>
        <p:nvSpPr>
          <p:cNvPr id="7" name="Shape 5"/>
          <p:cNvSpPr/>
          <p:nvPr/>
        </p:nvSpPr>
        <p:spPr>
          <a:xfrm>
            <a:off x="3730752" y="530352"/>
            <a:ext cx="5321808" cy="4297680"/>
          </a:xfrm>
          <a:prstGeom prst="rect">
            <a:avLst/>
          </a:prstGeom>
          <a:solidFill>
            <a:srgbClr val="F4F6F8"/>
          </a:solidFill>
          <a:ln w="12700">
            <a:solidFill>
              <a:srgbClr val="D0D8E0"/>
            </a:solidFill>
            <a:prstDash val="solid"/>
          </a:ln>
        </p:spPr>
        <p:txBody>
          <a:bodyPr/>
          <a:lstStyle/>
          <a:p>
            <a:endParaRPr lang="en-US"/>
          </a:p>
        </p:txBody>
      </p:sp>
      <p:sp>
        <p:nvSpPr>
          <p:cNvPr id="8" name="Text 6"/>
          <p:cNvSpPr/>
          <p:nvPr/>
        </p:nvSpPr>
        <p:spPr>
          <a:xfrm>
            <a:off x="3840480" y="585216"/>
            <a:ext cx="5138928" cy="4206240"/>
          </a:xfrm>
          <a:prstGeom prst="rect">
            <a:avLst/>
          </a:prstGeom>
          <a:noFill/>
          <a:ln/>
        </p:spPr>
        <p:txBody>
          <a:bodyPr wrap="square" lIns="0" tIns="0" rIns="0" bIns="0" rtlCol="0" anchor="t"/>
          <a:lstStyle/>
          <a:p>
            <a:r>
              <a:rPr lang="en-US" sz="880" dirty="0">
                <a:solidFill>
                  <a:srgbClr val="1E3A4A"/>
                </a:solidFill>
                <a:latin typeface="Courier New" pitchFamily="34" charset="0"/>
                <a:ea typeface="Courier New" pitchFamily="34" charset="-122"/>
                <a:cs typeface="Courier New" pitchFamily="34" charset="-120"/>
              </a:rPr>
              <a:t>scaler = StandardScaler()</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X_train_reshaped = X_train.reshape(-1, X_train.shape[-1])</a:t>
            </a:r>
          </a:p>
          <a:p>
            <a:r>
              <a:rPr lang="en-US" sz="880" dirty="0">
                <a:solidFill>
                  <a:srgbClr val="1E3A4A"/>
                </a:solidFill>
                <a:latin typeface="Courier New" pitchFamily="34" charset="0"/>
                <a:ea typeface="Courier New" pitchFamily="34" charset="-122"/>
                <a:cs typeface="Courier New" pitchFamily="34" charset="-120"/>
              </a:rPr>
              <a:t>X_test_reshaped  = X_test.reshape(-1,  X_test.shape[-1])</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X_train = scaler.fit_transform(X_train_reshaped).reshape(X_train.shape)</a:t>
            </a:r>
          </a:p>
          <a:p>
            <a:r>
              <a:rPr lang="en-US" sz="880" dirty="0">
                <a:solidFill>
                  <a:srgbClr val="1E3A4A"/>
                </a:solidFill>
                <a:latin typeface="Courier New" pitchFamily="34" charset="0"/>
                <a:ea typeface="Courier New" pitchFamily="34" charset="-122"/>
                <a:cs typeface="Courier New" pitchFamily="34" charset="-120"/>
              </a:rPr>
              <a:t>X_test  = scaler.transform(X_test_reshaped).reshape(X_test.shape)</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X_train = np.nan_to_num(X_train, nan=0.0)</a:t>
            </a:r>
          </a:p>
          <a:p>
            <a:r>
              <a:rPr lang="en-US" sz="880" dirty="0">
                <a:solidFill>
                  <a:srgbClr val="1E3A4A"/>
                </a:solidFill>
                <a:latin typeface="Courier New" pitchFamily="34" charset="0"/>
                <a:ea typeface="Courier New" pitchFamily="34" charset="-122"/>
                <a:cs typeface="Courier New" pitchFamily="34" charset="-120"/>
              </a:rPr>
              <a:t>X_test  = np.nan_to_num(X_test,  nan=0.0)</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pos_idx = np.where(y_train == 1)[0]</a:t>
            </a:r>
          </a:p>
          <a:p>
            <a:r>
              <a:rPr lang="en-US" sz="880" dirty="0">
                <a:solidFill>
                  <a:srgbClr val="1E3A4A"/>
                </a:solidFill>
                <a:latin typeface="Courier New" pitchFamily="34" charset="0"/>
                <a:ea typeface="Courier New" pitchFamily="34" charset="-122"/>
                <a:cs typeface="Courier New" pitchFamily="34" charset="-120"/>
              </a:rPr>
              <a:t>neg_idx = np.where(y_train == 0)[0]</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print("Before balancing:", len(pos_idx), "pos,", len(neg_idx), "neg")</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if len(pos_idx) &gt; 0:</a:t>
            </a:r>
          </a:p>
          <a:p>
            <a:r>
              <a:rPr lang="en-US" sz="880" dirty="0">
                <a:solidFill>
                  <a:srgbClr val="1E3A4A"/>
                </a:solidFill>
                <a:latin typeface="Courier New" pitchFamily="34" charset="0"/>
                <a:ea typeface="Courier New" pitchFamily="34" charset="-122"/>
                <a:cs typeface="Courier New" pitchFamily="34" charset="-120"/>
              </a:rPr>
              <a:t>    np.random.seed(SEED)</a:t>
            </a:r>
          </a:p>
          <a:p>
            <a:r>
              <a:rPr lang="en-US" sz="880" dirty="0">
                <a:solidFill>
                  <a:srgbClr val="1E3A4A"/>
                </a:solidFill>
                <a:latin typeface="Courier New" pitchFamily="34" charset="0"/>
                <a:ea typeface="Courier New" pitchFamily="34" charset="-122"/>
                <a:cs typeface="Courier New" pitchFamily="34" charset="-120"/>
              </a:rPr>
              <a:t>    pos_upsampled = np.random.choice(</a:t>
            </a:r>
          </a:p>
          <a:p>
            <a:r>
              <a:rPr lang="en-US" sz="880" dirty="0">
                <a:solidFill>
                  <a:srgbClr val="1E3A4A"/>
                </a:solidFill>
                <a:latin typeface="Courier New" pitchFamily="34" charset="0"/>
                <a:ea typeface="Courier New" pitchFamily="34" charset="-122"/>
                <a:cs typeface="Courier New" pitchFamily="34" charset="-120"/>
              </a:rPr>
              <a:t>        pos_idx, size=len(pos_idx) * 2, replace=True)</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    new_idx = np.concatenate([neg_idx, pos_upsampled])</a:t>
            </a:r>
          </a:p>
          <a:p>
            <a:r>
              <a:rPr lang="en-US" sz="880" dirty="0">
                <a:solidFill>
                  <a:srgbClr val="1E3A4A"/>
                </a:solidFill>
                <a:latin typeface="Courier New" pitchFamily="34" charset="0"/>
                <a:ea typeface="Courier New" pitchFamily="34" charset="-122"/>
                <a:cs typeface="Courier New" pitchFamily="34" charset="-120"/>
              </a:rPr>
              <a:t>    np.random.shuffle(new_idx)</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    X_train = X_train[new_idx]</a:t>
            </a:r>
          </a:p>
          <a:p>
            <a:r>
              <a:rPr lang="en-US" sz="880" dirty="0">
                <a:solidFill>
                  <a:srgbClr val="1E3A4A"/>
                </a:solidFill>
                <a:latin typeface="Courier New" pitchFamily="34" charset="0"/>
                <a:ea typeface="Courier New" pitchFamily="34" charset="-122"/>
                <a:cs typeface="Courier New" pitchFamily="34" charset="-120"/>
              </a:rPr>
              <a:t>    y_train = y_train[new_idx]</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print("After balancing: ", int(np.sum(y_train)), "pos,",</a:t>
            </a:r>
          </a:p>
          <a:p>
            <a:r>
              <a:rPr lang="en-US" sz="880" dirty="0">
                <a:solidFill>
                  <a:srgbClr val="1E3A4A"/>
                </a:solidFill>
                <a:latin typeface="Courier New" pitchFamily="34" charset="0"/>
                <a:ea typeface="Courier New" pitchFamily="34" charset="-122"/>
                <a:cs typeface="Courier New" pitchFamily="34" charset="-120"/>
              </a:rPr>
              <a:t>      int(len(y_train) - np.sum(y_train)), "neg")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4" name="Text 2"/>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XGBoost — Why It Is the Right Baseline Model</a:t>
            </a:r>
            <a:endParaRPr lang="en-US" sz="2800" dirty="0"/>
          </a:p>
        </p:txBody>
      </p:sp>
      <p:sp>
        <p:nvSpPr>
          <p:cNvPr id="5" name="Shape 3"/>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6" name="Shape 4"/>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7" name="Shape 5"/>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8" name="Text 6"/>
          <p:cNvSpPr/>
          <p:nvPr/>
        </p:nvSpPr>
        <p:spPr>
          <a:xfrm>
            <a:off x="411480" y="91440"/>
            <a:ext cx="8321040" cy="960120"/>
          </a:xfrm>
          <a:prstGeom prst="rect">
            <a:avLst/>
          </a:prstGeom>
          <a:noFill/>
          <a:ln/>
        </p:spPr>
        <p:txBody>
          <a:bodyPr wrap="square" rtlCol="0" anchor="ctr"/>
          <a:lstStyle/>
          <a:p>
            <a:pPr marL="0" indent="0">
              <a:buNone/>
            </a:pPr>
            <a:r>
              <a:rPr lang="en-US" sz="2600" dirty="0">
                <a:solidFill>
                  <a:srgbClr val="FFFFFF"/>
                </a:solidFill>
                <a:latin typeface="Calibri" pitchFamily="34" charset="0"/>
                <a:ea typeface="Calibri" pitchFamily="34" charset="-122"/>
                <a:cs typeface="Calibri" pitchFamily="34" charset="-120"/>
              </a:rPr>
              <a:t>XGBoost — Why It Is the Right Baseline Model</a:t>
            </a:r>
            <a:endParaRPr lang="en-US" sz="2600" dirty="0"/>
          </a:p>
        </p:txBody>
      </p:sp>
      <p:sp>
        <p:nvSpPr>
          <p:cNvPr id="9" name="Shape 7"/>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10" name="Text 8"/>
          <p:cNvSpPr/>
          <p:nvPr/>
        </p:nvSpPr>
        <p:spPr>
          <a:xfrm>
            <a:off x="365760" y="1298448"/>
            <a:ext cx="4114800"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Why XGBoost as Baseline?</a:t>
            </a:r>
            <a:endParaRPr lang="en-US" sz="1300" dirty="0"/>
          </a:p>
        </p:txBody>
      </p:sp>
      <p:sp>
        <p:nvSpPr>
          <p:cNvPr id="11" name="Text 9"/>
          <p:cNvSpPr/>
          <p:nvPr/>
        </p:nvSpPr>
        <p:spPr>
          <a:xfrm>
            <a:off x="365760" y="1664208"/>
            <a:ext cx="4023360" cy="219456"/>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No temporal structure needed:</a:t>
            </a:r>
            <a:endParaRPr lang="en-US" sz="1050" dirty="0"/>
          </a:p>
        </p:txBody>
      </p:sp>
      <p:sp>
        <p:nvSpPr>
          <p:cNvPr id="12" name="Text 10"/>
          <p:cNvSpPr/>
          <p:nvPr/>
        </p:nvSpPr>
        <p:spPr>
          <a:xfrm>
            <a:off x="365760" y="1892808"/>
            <a:ext cx="4023360" cy="38404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XGBoost receives flattened summary statistics (mean, std, min, max per feature across 48h window) — it treats each admission as a single row, not a sequence.</a:t>
            </a:r>
            <a:endParaRPr lang="en-US" sz="950" dirty="0"/>
          </a:p>
        </p:txBody>
      </p:sp>
      <p:sp>
        <p:nvSpPr>
          <p:cNvPr id="13" name="Text 11"/>
          <p:cNvSpPr/>
          <p:nvPr/>
        </p:nvSpPr>
        <p:spPr>
          <a:xfrm>
            <a:off x="365760" y="2331720"/>
            <a:ext cx="4023360" cy="219456"/>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Excels on tabular clinical data:</a:t>
            </a:r>
            <a:endParaRPr lang="en-US" sz="1050" dirty="0"/>
          </a:p>
        </p:txBody>
      </p:sp>
      <p:sp>
        <p:nvSpPr>
          <p:cNvPr id="14" name="Text 12"/>
          <p:cNvSpPr/>
          <p:nvPr/>
        </p:nvSpPr>
        <p:spPr>
          <a:xfrm>
            <a:off x="365760" y="2560320"/>
            <a:ext cx="4023360" cy="38404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Tree-based models consistently outperform neural networks on structured tabular data in healthcare, especially when N is small (&lt; 50K).</a:t>
            </a:r>
            <a:endParaRPr lang="en-US" sz="950" dirty="0"/>
          </a:p>
        </p:txBody>
      </p:sp>
      <p:sp>
        <p:nvSpPr>
          <p:cNvPr id="15" name="Text 13"/>
          <p:cNvSpPr/>
          <p:nvPr/>
        </p:nvSpPr>
        <p:spPr>
          <a:xfrm>
            <a:off x="365760" y="2999232"/>
            <a:ext cx="4023360" cy="219456"/>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Handles class imbalance natively:</a:t>
            </a:r>
            <a:endParaRPr lang="en-US" sz="1050" dirty="0"/>
          </a:p>
        </p:txBody>
      </p:sp>
      <p:sp>
        <p:nvSpPr>
          <p:cNvPr id="16" name="Text 14"/>
          <p:cNvSpPr/>
          <p:nvPr/>
        </p:nvSpPr>
        <p:spPr>
          <a:xfrm>
            <a:off x="365760" y="3227832"/>
            <a:ext cx="4023360" cy="38404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scale_pos_weight parameter directly weights the positive class without requiring oversampling.</a:t>
            </a:r>
            <a:endParaRPr lang="en-US" sz="950" dirty="0"/>
          </a:p>
        </p:txBody>
      </p:sp>
      <p:sp>
        <p:nvSpPr>
          <p:cNvPr id="17" name="Text 15"/>
          <p:cNvSpPr/>
          <p:nvPr/>
        </p:nvSpPr>
        <p:spPr>
          <a:xfrm>
            <a:off x="365760" y="3666744"/>
            <a:ext cx="4023360" cy="219456"/>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Fast iteration cycle:</a:t>
            </a:r>
            <a:endParaRPr lang="en-US" sz="1050" dirty="0"/>
          </a:p>
        </p:txBody>
      </p:sp>
      <p:sp>
        <p:nvSpPr>
          <p:cNvPr id="18" name="Text 16"/>
          <p:cNvSpPr/>
          <p:nvPr/>
        </p:nvSpPr>
        <p:spPr>
          <a:xfrm>
            <a:off x="365760" y="3895344"/>
            <a:ext cx="4023360" cy="38404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Trains in seconds on CPU — allows rapid hyperparameter tuning compared to hours of neural network training.</a:t>
            </a:r>
            <a:endParaRPr lang="en-US" sz="950" dirty="0"/>
          </a:p>
        </p:txBody>
      </p:sp>
      <p:sp>
        <p:nvSpPr>
          <p:cNvPr id="19" name="Text 17"/>
          <p:cNvSpPr/>
          <p:nvPr/>
        </p:nvSpPr>
        <p:spPr>
          <a:xfrm>
            <a:off x="365760" y="4334256"/>
            <a:ext cx="4023360" cy="219456"/>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Sets the performance floor:</a:t>
            </a:r>
            <a:endParaRPr lang="en-US" sz="1050" dirty="0"/>
          </a:p>
        </p:txBody>
      </p:sp>
      <p:sp>
        <p:nvSpPr>
          <p:cNvPr id="20" name="Text 18"/>
          <p:cNvSpPr/>
          <p:nvPr/>
        </p:nvSpPr>
        <p:spPr>
          <a:xfrm>
            <a:off x="365760" y="4562856"/>
            <a:ext cx="4023360" cy="38404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If LSTM/Transformer cannot beat XGBoost, it means temporal structure is not adding information beyond aggregate statistics.</a:t>
            </a:r>
            <a:endParaRPr lang="en-US" sz="950" dirty="0"/>
          </a:p>
        </p:txBody>
      </p:sp>
      <p:sp>
        <p:nvSpPr>
          <p:cNvPr id="21" name="Text 19"/>
          <p:cNvSpPr/>
          <p:nvPr/>
        </p:nvSpPr>
        <p:spPr>
          <a:xfrm>
            <a:off x="4800600" y="1298448"/>
            <a:ext cx="4023360" cy="292608"/>
          </a:xfrm>
          <a:prstGeom prst="rect">
            <a:avLst/>
          </a:prstGeom>
          <a:noFill/>
          <a:ln/>
        </p:spPr>
        <p:txBody>
          <a:bodyPr wrap="square" lIns="0" tIns="0" rIns="0" bIns="0" rtlCol="0" anchor="ctr"/>
          <a:lstStyle/>
          <a:p>
            <a:pPr marL="0" indent="0">
              <a:buNone/>
            </a:pPr>
            <a:r>
              <a:rPr lang="en-US" sz="1200" b="1" dirty="0">
                <a:solidFill>
                  <a:srgbClr val="0D1E2E"/>
                </a:solidFill>
                <a:latin typeface="Calibri" pitchFamily="34" charset="0"/>
                <a:ea typeface="Calibri" pitchFamily="34" charset="-122"/>
                <a:cs typeface="Calibri" pitchFamily="34" charset="-120"/>
              </a:rPr>
              <a:t>Python Code</a:t>
            </a:r>
            <a:endParaRPr lang="en-US" sz="1200" dirty="0"/>
          </a:p>
        </p:txBody>
      </p:sp>
      <p:sp>
        <p:nvSpPr>
          <p:cNvPr id="22" name="Shape 20"/>
          <p:cNvSpPr/>
          <p:nvPr/>
        </p:nvSpPr>
        <p:spPr>
          <a:xfrm>
            <a:off x="4800600" y="1664208"/>
            <a:ext cx="4023360" cy="3387852"/>
          </a:xfrm>
          <a:prstGeom prst="rect">
            <a:avLst/>
          </a:prstGeom>
          <a:solidFill>
            <a:srgbClr val="F4F6F8"/>
          </a:solidFill>
          <a:ln w="12700">
            <a:solidFill>
              <a:srgbClr val="D0D8E0"/>
            </a:solidFill>
            <a:prstDash val="solid"/>
          </a:ln>
        </p:spPr>
        <p:txBody>
          <a:bodyPr/>
          <a:lstStyle/>
          <a:p>
            <a:endParaRPr lang="en-US"/>
          </a:p>
        </p:txBody>
      </p:sp>
      <p:sp>
        <p:nvSpPr>
          <p:cNvPr id="23" name="Text 21"/>
          <p:cNvSpPr/>
          <p:nvPr/>
        </p:nvSpPr>
        <p:spPr>
          <a:xfrm>
            <a:off x="4910328" y="1719072"/>
            <a:ext cx="3840480" cy="3332988"/>
          </a:xfrm>
          <a:prstGeom prst="rect">
            <a:avLst/>
          </a:prstGeom>
          <a:noFill/>
          <a:ln/>
        </p:spPr>
        <p:txBody>
          <a:bodyPr wrap="square" lIns="0" tIns="0" rIns="0" bIns="0" rtlCol="0" anchor="t"/>
          <a:lstStyle/>
          <a:p>
            <a:pPr marL="0" indent="0">
              <a:buNone/>
            </a:pPr>
            <a:r>
              <a:rPr lang="en-US" sz="850" dirty="0">
                <a:solidFill>
                  <a:srgbClr val="1E3A4A"/>
                </a:solidFill>
                <a:latin typeface="Courier New" pitchFamily="34" charset="0"/>
                <a:ea typeface="Courier New" pitchFamily="34" charset="-122"/>
                <a:cs typeface="Courier New" pitchFamily="34" charset="-120"/>
              </a:rPr>
              <a:t>X_train_flat = np.concatenate([</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X_train.mean(axis=1),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X_train.std(axis=1),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X_train.max(axis=1),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X_train.min(axis=1)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axis=1)</a:t>
            </a:r>
            <a:endParaRPr lang="en-US" sz="850" dirty="0"/>
          </a:p>
          <a:p>
            <a:pPr marL="0" indent="0">
              <a:buNone/>
            </a:pPr>
            <a:endParaRPr lang="en-US" sz="850" dirty="0"/>
          </a:p>
          <a:p>
            <a:r>
              <a:rPr lang="en-US" sz="900" dirty="0" err="1">
                <a:latin typeface="Courier New" panose="02070309020205020404" pitchFamily="49" charset="0"/>
                <a:cs typeface="Courier New" panose="02070309020205020404" pitchFamily="49" charset="0"/>
              </a:rPr>
              <a:t>X_test_flat</a:t>
            </a:r>
            <a:r>
              <a:rPr lang="en-US" sz="900" dirty="0">
                <a:latin typeface="Courier New" panose="02070309020205020404" pitchFamily="49" charset="0"/>
                <a:cs typeface="Courier New" panose="02070309020205020404" pitchFamily="49" charset="0"/>
              </a:rPr>
              <a:t> = </a:t>
            </a:r>
            <a:r>
              <a:rPr lang="en-US" sz="900" dirty="0" err="1">
                <a:latin typeface="Courier New" panose="02070309020205020404" pitchFamily="49" charset="0"/>
                <a:cs typeface="Courier New" panose="02070309020205020404" pitchFamily="49" charset="0"/>
              </a:rPr>
              <a:t>np.concatenate</a:t>
            </a:r>
            <a:r>
              <a:rPr lang="en-US" sz="900" dirty="0">
                <a:latin typeface="Courier New" panose="02070309020205020404" pitchFamily="49" charset="0"/>
                <a:cs typeface="Courier New" panose="02070309020205020404" pitchFamily="49" charset="0"/>
              </a:rPr>
              <a:t>([</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X_test.mean(axis=1),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X_test.std(axis=1),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X_test.max(axis=1),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X_test.min(axis=1),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axis=1)</a:t>
            </a:r>
            <a:endParaRPr lang="en-US" sz="850" dirty="0"/>
          </a:p>
          <a:p>
            <a:pPr marL="0" indent="0">
              <a:buNone/>
            </a:pP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xgb = </a:t>
            </a:r>
            <a:r>
              <a:rPr lang="en-US" sz="850" dirty="0" err="1">
                <a:solidFill>
                  <a:srgbClr val="1E3A4A"/>
                </a:solidFill>
                <a:latin typeface="Courier New" pitchFamily="34" charset="0"/>
                <a:ea typeface="Courier New" pitchFamily="34" charset="-122"/>
                <a:cs typeface="Courier New" pitchFamily="34" charset="-120"/>
              </a:rPr>
              <a:t>XGBClassifier</a:t>
            </a:r>
            <a:r>
              <a:rPr lang="en-US" sz="850" dirty="0">
                <a:solidFill>
                  <a:srgbClr val="1E3A4A"/>
                </a:solidFill>
                <a:latin typeface="Courier New" pitchFamily="34" charset="0"/>
                <a:ea typeface="Courier New" pitchFamily="34" charset="-122"/>
                <a:cs typeface="Courier New" pitchFamily="34" charset="-120"/>
              </a:rPr>
              <a:t>(SEED=</a:t>
            </a:r>
            <a:r>
              <a:rPr lang="en-US" sz="850" dirty="0" err="1">
                <a:solidFill>
                  <a:srgbClr val="1E3A4A"/>
                </a:solidFill>
                <a:latin typeface="Courier New" pitchFamily="34" charset="0"/>
                <a:ea typeface="Courier New" pitchFamily="34" charset="-122"/>
                <a:cs typeface="Courier New" pitchFamily="34" charset="-120"/>
              </a:rPr>
              <a:t>SEED,n_estimators</a:t>
            </a:r>
            <a:r>
              <a:rPr lang="en-US" sz="850" dirty="0">
                <a:solidFill>
                  <a:srgbClr val="1E3A4A"/>
                </a:solidFill>
                <a:latin typeface="Courier New" pitchFamily="34" charset="0"/>
                <a:ea typeface="Courier New" pitchFamily="34" charset="-122"/>
                <a:cs typeface="Courier New" pitchFamily="34" charset="-120"/>
              </a:rPr>
              <a:t>=80,max_depth=4,</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learning_rate=0.05,subsample=0.8,</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colsample_bytree=0.8,</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scale_pos_weight=(</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len(y_train) - y_train.sum()) / y_train.sum(),</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eval_metric="</a:t>
            </a:r>
            <a:r>
              <a:rPr lang="en-US" sz="850" dirty="0" err="1">
                <a:solidFill>
                  <a:srgbClr val="1E3A4A"/>
                </a:solidFill>
                <a:latin typeface="Courier New" pitchFamily="34" charset="0"/>
                <a:ea typeface="Courier New" pitchFamily="34" charset="-122"/>
                <a:cs typeface="Courier New" pitchFamily="34" charset="-120"/>
              </a:rPr>
              <a:t>logloss</a:t>
            </a:r>
            <a:r>
              <a:rPr lang="en-US" sz="850" dirty="0">
                <a:solidFill>
                  <a:srgbClr val="1E3A4A"/>
                </a:solidFill>
                <a:latin typeface="Courier New" pitchFamily="34" charset="0"/>
                <a:ea typeface="Courier New" pitchFamily="34" charset="-122"/>
                <a:cs typeface="Courier New" pitchFamily="34" charset="-120"/>
              </a:rPr>
              <a:t>",</a:t>
            </a:r>
            <a:r>
              <a:rPr lang="en-US" sz="850" dirty="0"/>
              <a:t> </a:t>
            </a:r>
            <a:r>
              <a:rPr lang="en-US" sz="850" dirty="0" err="1">
                <a:solidFill>
                  <a:srgbClr val="1E3A4A"/>
                </a:solidFill>
                <a:latin typeface="Courier New" pitchFamily="34" charset="0"/>
                <a:ea typeface="Courier New" pitchFamily="34" charset="-122"/>
                <a:cs typeface="Courier New" pitchFamily="34" charset="-120"/>
              </a:rPr>
              <a:t>tree_method</a:t>
            </a:r>
            <a:r>
              <a:rPr lang="en-US" sz="850" dirty="0">
                <a:solidFill>
                  <a:srgbClr val="1E3A4A"/>
                </a:solidFill>
                <a:latin typeface="Courier New" pitchFamily="34" charset="0"/>
                <a:ea typeface="Courier New" pitchFamily="34" charset="-122"/>
                <a:cs typeface="Courier New" pitchFamily="34" charset="-120"/>
              </a:rPr>
              <a:t>="hist",</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    max_bin=256,n_jobs=-1</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xgb.fit(X_train_flat, y_train)</a:t>
            </a:r>
            <a:endParaRPr lang="en-US" sz="850" dirty="0"/>
          </a:p>
          <a:p>
            <a:pPr marL="0" indent="0">
              <a:buNone/>
            </a:pPr>
            <a:r>
              <a:rPr lang="en-US" sz="850" dirty="0">
                <a:solidFill>
                  <a:srgbClr val="1E3A4A"/>
                </a:solidFill>
                <a:latin typeface="Courier New" pitchFamily="34" charset="0"/>
                <a:ea typeface="Courier New" pitchFamily="34" charset="-122"/>
                <a:cs typeface="Courier New" pitchFamily="34" charset="-120"/>
              </a:rPr>
              <a:t>y_pred_ml = xgb.predict_proba(X_test_flat)[:,1]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LSTM</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Model</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Long Short-Term Memory (LSTM)</a:t>
            </a:r>
            <a:endParaRPr lang="en-US" sz="1300" dirty="0"/>
          </a:p>
        </p:txBody>
      </p:sp>
      <p:sp>
        <p:nvSpPr>
          <p:cNvPr id="7" name="Text 5"/>
          <p:cNvSpPr/>
          <p:nvPr/>
        </p:nvSpPr>
        <p:spPr>
          <a:xfrm>
            <a:off x="3730752" y="530352"/>
            <a:ext cx="5321808" cy="685800"/>
          </a:xfrm>
          <a:prstGeom prst="rect">
            <a:avLst/>
          </a:prstGeom>
          <a:noFill/>
          <a:ln/>
        </p:spPr>
        <p:txBody>
          <a:bodyPr wrap="square" rtlCol="0" anchor="ctr"/>
          <a:lstStyle/>
          <a:p>
            <a:pPr marL="0" indent="0">
              <a:buNone/>
            </a:pPr>
            <a:r>
              <a:rPr lang="en-US" sz="1100" b="1" dirty="0">
                <a:solidFill>
                  <a:srgbClr val="0D1E2E"/>
                </a:solidFill>
                <a:latin typeface="Calibri" pitchFamily="34" charset="0"/>
                <a:ea typeface="Calibri" pitchFamily="34" charset="-122"/>
                <a:cs typeface="Calibri" pitchFamily="34" charset="-120"/>
              </a:rPr>
              <a:t>LSTM</a:t>
            </a:r>
            <a:r>
              <a:rPr lang="en-US" sz="1100" dirty="0">
                <a:solidFill>
                  <a:srgbClr val="2C3E50"/>
                </a:solidFill>
                <a:latin typeface="Calibri" pitchFamily="34" charset="0"/>
                <a:ea typeface="Calibri" pitchFamily="34" charset="-122"/>
                <a:cs typeface="Calibri" pitchFamily="34" charset="-120"/>
              </a:rPr>
              <a:t> is a recurrent neural network architecture designed to learn long-range temporal dependencies. Unlike a standard RNN, LSTM uses </a:t>
            </a:r>
            <a:r>
              <a:rPr lang="en-US" sz="1100" b="1" dirty="0">
                <a:solidFill>
                  <a:srgbClr val="0E8BA0"/>
                </a:solidFill>
                <a:latin typeface="Calibri" pitchFamily="34" charset="0"/>
                <a:ea typeface="Calibri" pitchFamily="34" charset="-122"/>
                <a:cs typeface="Calibri" pitchFamily="34" charset="-120"/>
              </a:rPr>
              <a:t>gating mechanisms</a:t>
            </a:r>
            <a:r>
              <a:rPr lang="en-US" sz="1100" dirty="0">
                <a:solidFill>
                  <a:srgbClr val="2C3E50"/>
                </a:solidFill>
                <a:latin typeface="Calibri" pitchFamily="34" charset="0"/>
                <a:ea typeface="Calibri" pitchFamily="34" charset="-122"/>
                <a:cs typeface="Calibri" pitchFamily="34" charset="-120"/>
              </a:rPr>
              <a:t> (input, forget, output gates) to selectively remember or discard information across timesteps.</a:t>
            </a:r>
            <a:endParaRPr lang="en-US" sz="1100" dirty="0"/>
          </a:p>
        </p:txBody>
      </p:sp>
      <p:sp>
        <p:nvSpPr>
          <p:cNvPr id="8" name="Shape 6"/>
          <p:cNvSpPr/>
          <p:nvPr/>
        </p:nvSpPr>
        <p:spPr>
          <a:xfrm>
            <a:off x="3730752" y="1280160"/>
            <a:ext cx="5321808" cy="3566160"/>
          </a:xfrm>
          <a:prstGeom prst="rect">
            <a:avLst/>
          </a:prstGeom>
          <a:solidFill>
            <a:srgbClr val="F4F6F8"/>
          </a:solidFill>
          <a:ln w="12700">
            <a:solidFill>
              <a:srgbClr val="D0D8E0"/>
            </a:solidFill>
            <a:prstDash val="solid"/>
          </a:ln>
        </p:spPr>
        <p:txBody>
          <a:bodyPr/>
          <a:lstStyle/>
          <a:p>
            <a:endParaRPr lang="en-US"/>
          </a:p>
        </p:txBody>
      </p:sp>
      <p:sp>
        <p:nvSpPr>
          <p:cNvPr id="9" name="Text 7"/>
          <p:cNvSpPr/>
          <p:nvPr/>
        </p:nvSpPr>
        <p:spPr>
          <a:xfrm>
            <a:off x="3840480" y="1335024"/>
            <a:ext cx="5138928" cy="3474720"/>
          </a:xfrm>
          <a:prstGeom prst="rect">
            <a:avLst/>
          </a:prstGeom>
          <a:noFill/>
          <a:ln/>
        </p:spPr>
        <p:txBody>
          <a:bodyPr wrap="square" lIns="0" tIns="0" rIns="0" bIns="0" rtlCol="0" anchor="t"/>
          <a:lstStyle/>
          <a:p>
            <a:pPr marL="0" indent="0">
              <a:buNone/>
            </a:pPr>
            <a:r>
              <a:rPr lang="en-US" sz="880" dirty="0">
                <a:solidFill>
                  <a:srgbClr val="1E3A4A"/>
                </a:solidFill>
                <a:latin typeface="Courier New" pitchFamily="34" charset="0"/>
                <a:ea typeface="Courier New" pitchFamily="34" charset="-122"/>
                <a:cs typeface="Courier New" pitchFamily="34" charset="-120"/>
              </a:rPr>
              <a:t>class LSTMModel(nn.Module):</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def __init__(self, input_size):</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super().__init__()</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self.lstm = nn.LSTM(</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input_size,</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hidden_size=64,   # 64 hidden units per layer</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num_layers=2,     # 2 stacked LSTM layers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batch_first=True,</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dropout=0.2       # dropout between LSTM layers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self.fc = nn.Linear(64, 1)  # output: single logit</a:t>
            </a:r>
            <a:endParaRPr lang="en-US" sz="880" dirty="0"/>
          </a:p>
          <a:p>
            <a:pPr marL="0" indent="0">
              <a:buNone/>
            </a:pP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def forward(self, x):</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out, _ = self.lstm(x)   # out: (batch, 48, 64)</a:t>
            </a:r>
            <a:endParaRPr lang="en-US" sz="880" dirty="0"/>
          </a:p>
          <a:p>
            <a:pPr marL="0" indent="0">
              <a:buNone/>
            </a:pP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 Learnable attention pooling over timesteps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attn = torch.tanh(out)               # (B, T, H)</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attn = torch.mean(attn, dim=2)       # (B, T)</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attn = torch.softmax(attn, dim=1)    # (B, T) weights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 Weighted sum of timestep outputs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out = (out * attn.unsqueeze(-1)).sum(dim=1)</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return self.fc(out)</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LSTM</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Training</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&amp;</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Tuning</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Training Configuration &amp; Parameter Choices</a:t>
            </a:r>
            <a:endParaRPr lang="en-US" sz="1300" dirty="0"/>
          </a:p>
        </p:txBody>
      </p:sp>
      <p:sp>
        <p:nvSpPr>
          <p:cNvPr id="7" name="Shape 5"/>
          <p:cNvSpPr/>
          <p:nvPr/>
        </p:nvSpPr>
        <p:spPr>
          <a:xfrm>
            <a:off x="3730752" y="530352"/>
            <a:ext cx="5321808" cy="4448556"/>
          </a:xfrm>
          <a:prstGeom prst="rect">
            <a:avLst/>
          </a:prstGeom>
          <a:solidFill>
            <a:srgbClr val="F4F6F8"/>
          </a:solidFill>
          <a:ln w="12700">
            <a:solidFill>
              <a:srgbClr val="D0D8E0"/>
            </a:solidFill>
            <a:prstDash val="solid"/>
          </a:ln>
        </p:spPr>
        <p:txBody>
          <a:bodyPr/>
          <a:lstStyle/>
          <a:p>
            <a:endParaRPr lang="en-US"/>
          </a:p>
        </p:txBody>
      </p:sp>
      <p:sp>
        <p:nvSpPr>
          <p:cNvPr id="8" name="Text 6"/>
          <p:cNvSpPr/>
          <p:nvPr/>
        </p:nvSpPr>
        <p:spPr>
          <a:xfrm>
            <a:off x="3840480" y="530352"/>
            <a:ext cx="5138928" cy="4261104"/>
          </a:xfrm>
          <a:prstGeom prst="rect">
            <a:avLst/>
          </a:prstGeom>
          <a:noFill/>
          <a:ln/>
        </p:spPr>
        <p:txBody>
          <a:bodyPr wrap="square" lIns="0" tIns="0" rIns="0" bIns="0" rtlCol="0" anchor="t"/>
          <a:lstStyle/>
          <a:p>
            <a:r>
              <a:rPr lang="en-US" sz="850" dirty="0">
                <a:solidFill>
                  <a:srgbClr val="1E3A4A"/>
                </a:solidFill>
                <a:latin typeface="Courier New" pitchFamily="34" charset="0"/>
                <a:ea typeface="Courier New" pitchFamily="34" charset="-122"/>
                <a:cs typeface="Courier New" pitchFamily="34" charset="-120"/>
              </a:rPr>
              <a:t>device = </a:t>
            </a:r>
            <a:r>
              <a:rPr lang="en-US" sz="850" dirty="0" err="1">
                <a:solidFill>
                  <a:srgbClr val="1E3A4A"/>
                </a:solidFill>
                <a:latin typeface="Courier New" pitchFamily="34" charset="0"/>
                <a:ea typeface="Courier New" pitchFamily="34" charset="-122"/>
                <a:cs typeface="Courier New" pitchFamily="34" charset="-120"/>
              </a:rPr>
              <a:t>torch.device</a:t>
            </a:r>
            <a:r>
              <a:rPr lang="en-US" sz="850" dirty="0">
                <a:solidFill>
                  <a:srgbClr val="1E3A4A"/>
                </a:solidFill>
                <a:latin typeface="Courier New" pitchFamily="34" charset="0"/>
                <a:ea typeface="Courier New" pitchFamily="34" charset="-122"/>
                <a:cs typeface="Courier New" pitchFamily="34" charset="-120"/>
              </a:rPr>
              <a:t>(</a:t>
            </a:r>
          </a:p>
          <a:p>
            <a:r>
              <a:rPr lang="en-US" sz="850" dirty="0">
                <a:solidFill>
                  <a:srgbClr val="1E3A4A"/>
                </a:solidFill>
                <a:latin typeface="Courier New" pitchFamily="34" charset="0"/>
                <a:ea typeface="Courier New" pitchFamily="34" charset="-122"/>
                <a:cs typeface="Courier New" pitchFamily="34" charset="-120"/>
              </a:rPr>
              <a:t>    "</a:t>
            </a:r>
            <a:r>
              <a:rPr lang="en-US" sz="850" dirty="0" err="1">
                <a:solidFill>
                  <a:srgbClr val="1E3A4A"/>
                </a:solidFill>
                <a:latin typeface="Courier New" pitchFamily="34" charset="0"/>
                <a:ea typeface="Courier New" pitchFamily="34" charset="-122"/>
                <a:cs typeface="Courier New" pitchFamily="34" charset="-120"/>
              </a:rPr>
              <a:t>mps</a:t>
            </a:r>
            <a:r>
              <a:rPr lang="en-US" sz="850" dirty="0">
                <a:solidFill>
                  <a:srgbClr val="1E3A4A"/>
                </a:solidFill>
                <a:latin typeface="Courier New" pitchFamily="34" charset="0"/>
                <a:ea typeface="Courier New" pitchFamily="34" charset="-122"/>
                <a:cs typeface="Courier New" pitchFamily="34" charset="-120"/>
              </a:rPr>
              <a:t>" if </a:t>
            </a:r>
            <a:r>
              <a:rPr lang="en-US" sz="850" dirty="0" err="1">
                <a:solidFill>
                  <a:srgbClr val="1E3A4A"/>
                </a:solidFill>
                <a:latin typeface="Courier New" pitchFamily="34" charset="0"/>
                <a:ea typeface="Courier New" pitchFamily="34" charset="-122"/>
                <a:cs typeface="Courier New" pitchFamily="34" charset="-120"/>
              </a:rPr>
              <a:t>torch.backends.mps.is_available</a:t>
            </a:r>
            <a:r>
              <a:rPr lang="en-US" sz="850" dirty="0">
                <a:solidFill>
                  <a:srgbClr val="1E3A4A"/>
                </a:solidFill>
                <a:latin typeface="Courier New" pitchFamily="34" charset="0"/>
                <a:ea typeface="Courier New" pitchFamily="34" charset="-122"/>
                <a:cs typeface="Courier New" pitchFamily="34" charset="-120"/>
              </a:rPr>
              <a:t>() else "</a:t>
            </a:r>
            <a:r>
              <a:rPr lang="en-US" sz="850" dirty="0" err="1">
                <a:solidFill>
                  <a:srgbClr val="1E3A4A"/>
                </a:solidFill>
                <a:latin typeface="Courier New" pitchFamily="34" charset="0"/>
                <a:ea typeface="Courier New" pitchFamily="34" charset="-122"/>
                <a:cs typeface="Courier New" pitchFamily="34" charset="-120"/>
              </a:rPr>
              <a:t>cpu</a:t>
            </a:r>
            <a:r>
              <a:rPr lang="en-US" sz="850" dirty="0">
                <a:solidFill>
                  <a:srgbClr val="1E3A4A"/>
                </a:solidFill>
                <a:latin typeface="Courier New" pitchFamily="34" charset="0"/>
                <a:ea typeface="Courier New" pitchFamily="34" charset="-122"/>
                <a:cs typeface="Courier New" pitchFamily="34" charset="-120"/>
              </a:rPr>
              <a:t>")</a:t>
            </a:r>
          </a:p>
          <a:p>
            <a:endParaRPr lang="en-US" sz="850" dirty="0">
              <a:solidFill>
                <a:srgbClr val="1E3A4A"/>
              </a:solidFill>
              <a:latin typeface="Courier New" pitchFamily="34" charset="0"/>
              <a:ea typeface="Courier New" pitchFamily="34" charset="-122"/>
              <a:cs typeface="Courier New" pitchFamily="34" charset="-120"/>
            </a:endParaRPr>
          </a:p>
          <a:p>
            <a:r>
              <a:rPr lang="en-US" sz="850" dirty="0" err="1">
                <a:solidFill>
                  <a:srgbClr val="1E3A4A"/>
                </a:solidFill>
                <a:latin typeface="Courier New" pitchFamily="34" charset="0"/>
                <a:ea typeface="Courier New" pitchFamily="34" charset="-122"/>
                <a:cs typeface="Courier New" pitchFamily="34" charset="-120"/>
              </a:rPr>
              <a:t>X_train_t</a:t>
            </a:r>
            <a:r>
              <a:rPr lang="en-US" sz="850" dirty="0">
                <a:solidFill>
                  <a:srgbClr val="1E3A4A"/>
                </a:solidFill>
                <a:latin typeface="Courier New" pitchFamily="34" charset="0"/>
                <a:ea typeface="Courier New" pitchFamily="34" charset="-122"/>
                <a:cs typeface="Courier New" pitchFamily="34" charset="-120"/>
              </a:rPr>
              <a:t> = torch.from_numpy(X_train).to(device)</a:t>
            </a:r>
          </a:p>
          <a:p>
            <a:r>
              <a:rPr lang="en-US" sz="850" dirty="0">
                <a:solidFill>
                  <a:srgbClr val="1E3A4A"/>
                </a:solidFill>
                <a:latin typeface="Courier New" pitchFamily="34" charset="0"/>
                <a:ea typeface="Courier New" pitchFamily="34" charset="-122"/>
                <a:cs typeface="Courier New" pitchFamily="34" charset="-120"/>
              </a:rPr>
              <a:t>y_train_t = torch.from_numpy(y_train).to(device)</a:t>
            </a:r>
          </a:p>
          <a:p>
            <a:r>
              <a:rPr lang="en-US" sz="850" dirty="0">
                <a:solidFill>
                  <a:srgbClr val="1E3A4A"/>
                </a:solidFill>
                <a:latin typeface="Courier New" pitchFamily="34" charset="0"/>
                <a:ea typeface="Courier New" pitchFamily="34" charset="-122"/>
                <a:cs typeface="Courier New" pitchFamily="34" charset="-120"/>
              </a:rPr>
              <a:t>X_test_t  = torch.from_numpy(X_test).to(device)</a:t>
            </a:r>
          </a:p>
          <a:p>
            <a:r>
              <a:rPr lang="en-US" sz="850" dirty="0">
                <a:solidFill>
                  <a:srgbClr val="1E3A4A"/>
                </a:solidFill>
                <a:latin typeface="Courier New" pitchFamily="34" charset="0"/>
                <a:ea typeface="Courier New" pitchFamily="34" charset="-122"/>
                <a:cs typeface="Courier New" pitchFamily="34" charset="-120"/>
              </a:rPr>
              <a:t>y_test_t  = torch.from_numpy(y_test).to(device)</a:t>
            </a:r>
          </a:p>
          <a:p>
            <a:endParaRPr lang="en-US" sz="850" dirty="0">
              <a:solidFill>
                <a:srgbClr val="1E3A4A"/>
              </a:solidFill>
              <a:latin typeface="Courier New" pitchFamily="34" charset="0"/>
              <a:ea typeface="Courier New" pitchFamily="34" charset="-122"/>
              <a:cs typeface="Courier New" pitchFamily="34" charset="-120"/>
            </a:endParaRPr>
          </a:p>
          <a:p>
            <a:r>
              <a:rPr lang="en-US" sz="850" dirty="0">
                <a:solidFill>
                  <a:srgbClr val="1E3A4A"/>
                </a:solidFill>
                <a:latin typeface="Courier New" pitchFamily="34" charset="0"/>
                <a:ea typeface="Courier New" pitchFamily="34" charset="-122"/>
                <a:cs typeface="Courier New" pitchFamily="34" charset="-120"/>
              </a:rPr>
              <a:t>g = torch.Generator()</a:t>
            </a:r>
          </a:p>
          <a:p>
            <a:r>
              <a:rPr lang="en-US" sz="850" dirty="0">
                <a:solidFill>
                  <a:srgbClr val="1E3A4A"/>
                </a:solidFill>
                <a:latin typeface="Courier New" pitchFamily="34" charset="0"/>
                <a:ea typeface="Courier New" pitchFamily="34" charset="-122"/>
                <a:cs typeface="Courier New" pitchFamily="34" charset="-120"/>
              </a:rPr>
              <a:t>g.manual_seed(SEED)</a:t>
            </a:r>
          </a:p>
          <a:p>
            <a:endParaRPr lang="en-US" sz="850" dirty="0">
              <a:solidFill>
                <a:srgbClr val="1E3A4A"/>
              </a:solidFill>
              <a:latin typeface="Courier New" pitchFamily="34" charset="0"/>
              <a:ea typeface="Courier New" pitchFamily="34" charset="-122"/>
              <a:cs typeface="Courier New" pitchFamily="34" charset="-120"/>
            </a:endParaRPr>
          </a:p>
          <a:p>
            <a:r>
              <a:rPr lang="en-US" sz="850" dirty="0">
                <a:solidFill>
                  <a:srgbClr val="1E3A4A"/>
                </a:solidFill>
                <a:latin typeface="Courier New" pitchFamily="34" charset="0"/>
                <a:ea typeface="Courier New" pitchFamily="34" charset="-122"/>
                <a:cs typeface="Courier New" pitchFamily="34" charset="-120"/>
              </a:rPr>
              <a:t>train_loader = </a:t>
            </a:r>
            <a:r>
              <a:rPr lang="en-US" sz="850" dirty="0" err="1">
                <a:solidFill>
                  <a:srgbClr val="1E3A4A"/>
                </a:solidFill>
                <a:latin typeface="Courier New" pitchFamily="34" charset="0"/>
                <a:ea typeface="Courier New" pitchFamily="34" charset="-122"/>
                <a:cs typeface="Courier New" pitchFamily="34" charset="-120"/>
              </a:rPr>
              <a:t>DataLoader</a:t>
            </a:r>
            <a:r>
              <a:rPr lang="en-US" sz="850" dirty="0">
                <a:solidFill>
                  <a:srgbClr val="1E3A4A"/>
                </a:solidFill>
                <a:latin typeface="Courier New" pitchFamily="34" charset="0"/>
                <a:ea typeface="Courier New" pitchFamily="34" charset="-122"/>
                <a:cs typeface="Courier New" pitchFamily="34" charset="-120"/>
              </a:rPr>
              <a:t>(</a:t>
            </a:r>
            <a:r>
              <a:rPr lang="en-US" sz="850" dirty="0" err="1">
                <a:solidFill>
                  <a:srgbClr val="1E3A4A"/>
                </a:solidFill>
                <a:latin typeface="Courier New" pitchFamily="34" charset="0"/>
                <a:ea typeface="Courier New" pitchFamily="34" charset="-122"/>
                <a:cs typeface="Courier New" pitchFamily="34" charset="-120"/>
              </a:rPr>
              <a:t>TensorDataset</a:t>
            </a:r>
            <a:r>
              <a:rPr lang="en-US" sz="850" dirty="0">
                <a:solidFill>
                  <a:srgbClr val="1E3A4A"/>
                </a:solidFill>
                <a:latin typeface="Courier New" pitchFamily="34" charset="0"/>
                <a:ea typeface="Courier New" pitchFamily="34" charset="-122"/>
                <a:cs typeface="Courier New" pitchFamily="34" charset="-120"/>
              </a:rPr>
              <a:t>(X_train_t, y_train_t),</a:t>
            </a:r>
          </a:p>
          <a:p>
            <a:r>
              <a:rPr lang="en-US" sz="850" dirty="0">
                <a:solidFill>
                  <a:srgbClr val="1E3A4A"/>
                </a:solidFill>
                <a:latin typeface="Courier New" pitchFamily="34" charset="0"/>
                <a:ea typeface="Courier New" pitchFamily="34" charset="-122"/>
                <a:cs typeface="Courier New" pitchFamily="34" charset="-120"/>
              </a:rPr>
              <a:t>    batch_size=1024, shuffle=</a:t>
            </a:r>
            <a:r>
              <a:rPr lang="en-US" sz="850" dirty="0" err="1">
                <a:solidFill>
                  <a:srgbClr val="1E3A4A"/>
                </a:solidFill>
                <a:latin typeface="Courier New" pitchFamily="34" charset="0"/>
                <a:ea typeface="Courier New" pitchFamily="34" charset="-122"/>
                <a:cs typeface="Courier New" pitchFamily="34" charset="-120"/>
              </a:rPr>
              <a:t>True,num_workers</a:t>
            </a:r>
            <a:r>
              <a:rPr lang="en-US" sz="850" dirty="0">
                <a:solidFill>
                  <a:srgbClr val="1E3A4A"/>
                </a:solidFill>
                <a:latin typeface="Courier New" pitchFamily="34" charset="0"/>
                <a:ea typeface="Courier New" pitchFamily="34" charset="-122"/>
                <a:cs typeface="Courier New" pitchFamily="34" charset="-120"/>
              </a:rPr>
              <a:t>=0, generator=g)</a:t>
            </a:r>
          </a:p>
          <a:p>
            <a:endParaRPr lang="en-US" sz="850" dirty="0">
              <a:solidFill>
                <a:srgbClr val="1E3A4A"/>
              </a:solidFill>
              <a:latin typeface="Courier New" pitchFamily="34" charset="0"/>
              <a:ea typeface="Courier New" pitchFamily="34" charset="-122"/>
              <a:cs typeface="Courier New" pitchFamily="34" charset="-120"/>
            </a:endParaRPr>
          </a:p>
          <a:p>
            <a:r>
              <a:rPr lang="en-US" sz="850" dirty="0">
                <a:solidFill>
                  <a:srgbClr val="1E3A4A"/>
                </a:solidFill>
                <a:latin typeface="Courier New" pitchFamily="34" charset="0"/>
                <a:ea typeface="Courier New" pitchFamily="34" charset="-122"/>
                <a:cs typeface="Courier New" pitchFamily="34" charset="-120"/>
              </a:rPr>
              <a:t>model = LSTMModel(input_size=X_train.shape[2]).to(device)</a:t>
            </a:r>
          </a:p>
          <a:p>
            <a:r>
              <a:rPr lang="en-US" sz="850" dirty="0">
                <a:solidFill>
                  <a:srgbClr val="1E3A4A"/>
                </a:solidFill>
                <a:latin typeface="Courier New" pitchFamily="34" charset="0"/>
                <a:ea typeface="Courier New" pitchFamily="34" charset="-122"/>
                <a:cs typeface="Courier New" pitchFamily="34" charset="-120"/>
              </a:rPr>
              <a:t>criterion = HybridLoss(alpha=0.4)</a:t>
            </a:r>
          </a:p>
          <a:p>
            <a:r>
              <a:rPr lang="en-US" sz="850" dirty="0">
                <a:solidFill>
                  <a:srgbClr val="1E3A4A"/>
                </a:solidFill>
                <a:latin typeface="Courier New" pitchFamily="34" charset="0"/>
                <a:ea typeface="Courier New" pitchFamily="34" charset="-122"/>
                <a:cs typeface="Courier New" pitchFamily="34" charset="-120"/>
              </a:rPr>
              <a:t>optimizer = torch.optim.Adam(model.parameters(), lr=0.00015)</a:t>
            </a:r>
          </a:p>
          <a:p>
            <a:endParaRPr lang="en-US" sz="850" dirty="0">
              <a:solidFill>
                <a:srgbClr val="1E3A4A"/>
              </a:solidFill>
              <a:latin typeface="Courier New" pitchFamily="34" charset="0"/>
              <a:ea typeface="Courier New" pitchFamily="34" charset="-122"/>
              <a:cs typeface="Courier New" pitchFamily="34" charset="-120"/>
            </a:endParaRPr>
          </a:p>
          <a:p>
            <a:r>
              <a:rPr lang="en-US" sz="850" dirty="0">
                <a:solidFill>
                  <a:srgbClr val="1E3A4A"/>
                </a:solidFill>
                <a:latin typeface="Courier New" pitchFamily="34" charset="0"/>
                <a:ea typeface="Courier New" pitchFamily="34" charset="-122"/>
                <a:cs typeface="Courier New" pitchFamily="34" charset="-120"/>
              </a:rPr>
              <a:t>lstm_losses = []</a:t>
            </a:r>
          </a:p>
          <a:p>
            <a:r>
              <a:rPr lang="en-US" sz="850" dirty="0">
                <a:solidFill>
                  <a:srgbClr val="1E3A4A"/>
                </a:solidFill>
                <a:latin typeface="Courier New" pitchFamily="34" charset="0"/>
                <a:ea typeface="Courier New" pitchFamily="34" charset="-122"/>
                <a:cs typeface="Courier New" pitchFamily="34" charset="-120"/>
              </a:rPr>
              <a:t>for epoch in range(35):</a:t>
            </a:r>
          </a:p>
          <a:p>
            <a:r>
              <a:rPr lang="en-US" sz="850" dirty="0">
                <a:solidFill>
                  <a:srgbClr val="1E3A4A"/>
                </a:solidFill>
                <a:latin typeface="Courier New" pitchFamily="34" charset="0"/>
                <a:ea typeface="Courier New" pitchFamily="34" charset="-122"/>
                <a:cs typeface="Courier New" pitchFamily="34" charset="-120"/>
              </a:rPr>
              <a:t>    model.train()</a:t>
            </a:r>
          </a:p>
          <a:p>
            <a:r>
              <a:rPr lang="en-US" sz="850" dirty="0">
                <a:solidFill>
                  <a:srgbClr val="1E3A4A"/>
                </a:solidFill>
                <a:latin typeface="Courier New" pitchFamily="34" charset="0"/>
                <a:ea typeface="Courier New" pitchFamily="34" charset="-122"/>
                <a:cs typeface="Courier New" pitchFamily="34" charset="-120"/>
              </a:rPr>
              <a:t>    total_loss = 0</a:t>
            </a:r>
          </a:p>
          <a:p>
            <a:r>
              <a:rPr lang="en-US" sz="850" dirty="0">
                <a:solidFill>
                  <a:srgbClr val="1E3A4A"/>
                </a:solidFill>
                <a:latin typeface="Courier New" pitchFamily="34" charset="0"/>
                <a:ea typeface="Courier New" pitchFamily="34" charset="-122"/>
                <a:cs typeface="Courier New" pitchFamily="34" charset="-120"/>
              </a:rPr>
              <a:t>    for X_batch, y_batch in train_loader:</a:t>
            </a:r>
          </a:p>
          <a:p>
            <a:r>
              <a:rPr lang="en-US" sz="850" dirty="0">
                <a:solidFill>
                  <a:srgbClr val="1E3A4A"/>
                </a:solidFill>
                <a:latin typeface="Courier New" pitchFamily="34" charset="0"/>
                <a:ea typeface="Courier New" pitchFamily="34" charset="-122"/>
                <a:cs typeface="Courier New" pitchFamily="34" charset="-120"/>
              </a:rPr>
              <a:t>        X_batch = X_batch.to(device)</a:t>
            </a:r>
          </a:p>
          <a:p>
            <a:r>
              <a:rPr lang="en-US" sz="850" dirty="0">
                <a:solidFill>
                  <a:srgbClr val="1E3A4A"/>
                </a:solidFill>
                <a:latin typeface="Courier New" pitchFamily="34" charset="0"/>
                <a:ea typeface="Courier New" pitchFamily="34" charset="-122"/>
                <a:cs typeface="Courier New" pitchFamily="34" charset="-120"/>
              </a:rPr>
              <a:t>        y_batch = y_batch.to(device)</a:t>
            </a:r>
          </a:p>
          <a:p>
            <a:r>
              <a:rPr lang="en-US" sz="850" dirty="0">
                <a:solidFill>
                  <a:srgbClr val="1E3A4A"/>
                </a:solidFill>
                <a:latin typeface="Courier New" pitchFamily="34" charset="0"/>
                <a:ea typeface="Courier New" pitchFamily="34" charset="-122"/>
                <a:cs typeface="Courier New" pitchFamily="34" charset="-120"/>
              </a:rPr>
              <a:t>        optimizer.zero_grad(set_to_none=True)</a:t>
            </a:r>
          </a:p>
          <a:p>
            <a:r>
              <a:rPr lang="en-US" sz="850" dirty="0">
                <a:solidFill>
                  <a:srgbClr val="1E3A4A"/>
                </a:solidFill>
                <a:latin typeface="Courier New" pitchFamily="34" charset="0"/>
                <a:ea typeface="Courier New" pitchFamily="34" charset="-122"/>
                <a:cs typeface="Courier New" pitchFamily="34" charset="-120"/>
              </a:rPr>
              <a:t>        outputs = model(X_batch).squeeze()</a:t>
            </a:r>
          </a:p>
          <a:p>
            <a:r>
              <a:rPr lang="en-US" sz="850" dirty="0">
                <a:solidFill>
                  <a:srgbClr val="1E3A4A"/>
                </a:solidFill>
                <a:latin typeface="Courier New" pitchFamily="34" charset="0"/>
                <a:ea typeface="Courier New" pitchFamily="34" charset="-122"/>
                <a:cs typeface="Courier New" pitchFamily="34" charset="-120"/>
              </a:rPr>
              <a:t>        loss = criterion(outputs, y_batch)</a:t>
            </a:r>
          </a:p>
          <a:p>
            <a:r>
              <a:rPr lang="en-US" sz="850" dirty="0">
                <a:solidFill>
                  <a:srgbClr val="1E3A4A"/>
                </a:solidFill>
                <a:latin typeface="Courier New" pitchFamily="34" charset="0"/>
                <a:ea typeface="Courier New" pitchFamily="34" charset="-122"/>
                <a:cs typeface="Courier New" pitchFamily="34" charset="-120"/>
              </a:rPr>
              <a:t>        loss.backward()</a:t>
            </a:r>
          </a:p>
          <a:p>
            <a:r>
              <a:rPr lang="en-US" sz="850" dirty="0">
                <a:solidFill>
                  <a:srgbClr val="1E3A4A"/>
                </a:solidFill>
                <a:latin typeface="Courier New" pitchFamily="34" charset="0"/>
                <a:ea typeface="Courier New" pitchFamily="34" charset="-122"/>
                <a:cs typeface="Courier New" pitchFamily="34" charset="-120"/>
              </a:rPr>
              <a:t>        torch.nn.utils.clip_grad_norm_(model.parameters(), 1.0)</a:t>
            </a:r>
          </a:p>
          <a:p>
            <a:r>
              <a:rPr lang="en-US" sz="850" dirty="0">
                <a:solidFill>
                  <a:srgbClr val="1E3A4A"/>
                </a:solidFill>
                <a:latin typeface="Courier New" pitchFamily="34" charset="0"/>
                <a:ea typeface="Courier New" pitchFamily="34" charset="-122"/>
                <a:cs typeface="Courier New" pitchFamily="34" charset="-120"/>
              </a:rPr>
              <a:t>        optimizer.step()</a:t>
            </a:r>
          </a:p>
          <a:p>
            <a:r>
              <a:rPr lang="en-US" sz="850" dirty="0">
                <a:solidFill>
                  <a:srgbClr val="1E3A4A"/>
                </a:solidFill>
                <a:latin typeface="Courier New" pitchFamily="34" charset="0"/>
                <a:ea typeface="Courier New" pitchFamily="34" charset="-122"/>
                <a:cs typeface="Courier New" pitchFamily="34" charset="-120"/>
              </a:rPr>
              <a:t>        total_loss += loss.item()</a:t>
            </a:r>
          </a:p>
          <a:p>
            <a:r>
              <a:rPr lang="en-US" sz="850" dirty="0">
                <a:solidFill>
                  <a:srgbClr val="1E3A4A"/>
                </a:solidFill>
                <a:latin typeface="Courier New" pitchFamily="34" charset="0"/>
                <a:ea typeface="Courier New" pitchFamily="34" charset="-122"/>
                <a:cs typeface="Courier New" pitchFamily="34" charset="-120"/>
              </a:rPr>
              <a:t>    lstm_losses.append(total_loss)</a:t>
            </a:r>
          </a:p>
          <a:p>
            <a:r>
              <a:rPr lang="en-US" sz="850" dirty="0">
                <a:solidFill>
                  <a:srgbClr val="1E3A4A"/>
                </a:solidFill>
                <a:latin typeface="Courier New" pitchFamily="34" charset="0"/>
                <a:ea typeface="Courier New" pitchFamily="34" charset="-122"/>
                <a:cs typeface="Courier New" pitchFamily="34" charset="-120"/>
              </a:rPr>
              <a:t>    print(f"Epoch {epoch+1:02d}/35 | Loss: {total_loss:.4f}")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Hybrid</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Loss</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Function</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HybridLoss: Focal + Binary Cross-Entropy</a:t>
            </a:r>
            <a:endParaRPr lang="en-US" sz="1300" dirty="0"/>
          </a:p>
        </p:txBody>
      </p:sp>
      <p:sp>
        <p:nvSpPr>
          <p:cNvPr id="7" name="Text 5"/>
          <p:cNvSpPr/>
          <p:nvPr/>
        </p:nvSpPr>
        <p:spPr>
          <a:xfrm>
            <a:off x="3730752" y="530352"/>
            <a:ext cx="5321808" cy="594360"/>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Standard BCE</a:t>
            </a:r>
            <a:r>
              <a:rPr lang="en-US" sz="1100" dirty="0">
                <a:solidFill>
                  <a:srgbClr val="2C3E50"/>
                </a:solidFill>
                <a:latin typeface="Calibri" pitchFamily="34" charset="0"/>
                <a:ea typeface="Calibri" pitchFamily="34" charset="-122"/>
                <a:cs typeface="Calibri" pitchFamily="34" charset="-120"/>
              </a:rPr>
              <a:t> treats every sample equally. With 97% negatives, the model learns to ignore positives. </a:t>
            </a:r>
            <a:r>
              <a:rPr lang="en-US" sz="1100" b="1" dirty="0">
                <a:solidFill>
                  <a:srgbClr val="000000"/>
                </a:solidFill>
                <a:latin typeface="Calibri" pitchFamily="34" charset="0"/>
                <a:ea typeface="Calibri" pitchFamily="34" charset="-122"/>
                <a:cs typeface="Calibri" pitchFamily="34" charset="-120"/>
              </a:rPr>
              <a:t>Focal Loss</a:t>
            </a:r>
            <a:r>
              <a:rPr lang="en-US" sz="1100" dirty="0">
                <a:solidFill>
                  <a:srgbClr val="2C3E50"/>
                </a:solidFill>
                <a:latin typeface="Calibri" pitchFamily="34" charset="0"/>
                <a:ea typeface="Calibri" pitchFamily="34" charset="-122"/>
                <a:cs typeface="Calibri" pitchFamily="34" charset="-120"/>
              </a:rPr>
              <a:t> down-weights confident correct predictions and forces the model to focus on difficult, borderline cases.</a:t>
            </a:r>
            <a:endParaRPr lang="en-US" sz="1100" dirty="0"/>
          </a:p>
        </p:txBody>
      </p:sp>
      <p:sp>
        <p:nvSpPr>
          <p:cNvPr id="8" name="Shape 6"/>
          <p:cNvSpPr/>
          <p:nvPr/>
        </p:nvSpPr>
        <p:spPr>
          <a:xfrm>
            <a:off x="3730752" y="1188720"/>
            <a:ext cx="5321808" cy="3657600"/>
          </a:xfrm>
          <a:prstGeom prst="rect">
            <a:avLst/>
          </a:prstGeom>
          <a:solidFill>
            <a:srgbClr val="F4F6F8"/>
          </a:solidFill>
          <a:ln w="12700">
            <a:solidFill>
              <a:srgbClr val="D0D8E0"/>
            </a:solidFill>
            <a:prstDash val="solid"/>
          </a:ln>
        </p:spPr>
        <p:txBody>
          <a:bodyPr/>
          <a:lstStyle/>
          <a:p>
            <a:endParaRPr lang="en-US"/>
          </a:p>
        </p:txBody>
      </p:sp>
      <p:sp>
        <p:nvSpPr>
          <p:cNvPr id="9" name="Text 7"/>
          <p:cNvSpPr/>
          <p:nvPr/>
        </p:nvSpPr>
        <p:spPr>
          <a:xfrm>
            <a:off x="3840480" y="1243584"/>
            <a:ext cx="5138928" cy="3566160"/>
          </a:xfrm>
          <a:prstGeom prst="rect">
            <a:avLst/>
          </a:prstGeom>
          <a:noFill/>
          <a:ln/>
        </p:spPr>
        <p:txBody>
          <a:bodyPr wrap="square" lIns="0" tIns="0" rIns="0" bIns="0" rtlCol="0" anchor="t"/>
          <a:lstStyle/>
          <a:p>
            <a:pPr marL="0" indent="0">
              <a:buNone/>
            </a:pPr>
            <a:r>
              <a:rPr lang="en-US" sz="880" dirty="0">
                <a:solidFill>
                  <a:srgbClr val="1E3A4A"/>
                </a:solidFill>
                <a:latin typeface="Courier New" pitchFamily="34" charset="0"/>
                <a:ea typeface="Courier New" pitchFamily="34" charset="-122"/>
                <a:cs typeface="Courier New" pitchFamily="34" charset="-120"/>
              </a:rPr>
              <a:t>class HybridLoss(nn.Module):</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def __init__(self, alpha=0.4):</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super().__init__()</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self.alpha = alpha  # weight for focal component</a:t>
            </a:r>
            <a:endParaRPr lang="en-US" sz="880" dirty="0"/>
          </a:p>
          <a:p>
            <a:pPr marL="0" indent="0">
              <a:buNone/>
            </a:pP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def forward(self, logits, targets):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 Per-sample BCE (unreduced)</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bce = nn.functional.binary_cross_entropy_with_logits(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logits, targets, reduction='none')</a:t>
            </a:r>
            <a:endParaRPr lang="en-US" sz="880" dirty="0"/>
          </a:p>
          <a:p>
            <a:pPr marL="0" indent="0">
              <a:buNone/>
            </a:pP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 pt = probability assigned for the TRUE class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probs = torch.sigmoid(logits)</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pt = torch.where(targets == 1, probs, 1 - probs)</a:t>
            </a:r>
            <a:endParaRPr lang="en-US" sz="880" dirty="0"/>
          </a:p>
          <a:p>
            <a:pPr marL="0" indent="0">
              <a:buNone/>
            </a:pP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 Focal weight: (1 - p_t)^2</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focal = ((1 - pt) ** 2) * </a:t>
            </a:r>
            <a:r>
              <a:rPr lang="en-US" sz="880" dirty="0" err="1">
                <a:solidFill>
                  <a:srgbClr val="1E3A4A"/>
                </a:solidFill>
                <a:latin typeface="Courier New" pitchFamily="34" charset="0"/>
                <a:ea typeface="Courier New" pitchFamily="34" charset="-122"/>
                <a:cs typeface="Courier New" pitchFamily="34" charset="-120"/>
              </a:rPr>
              <a:t>bce</a:t>
            </a:r>
            <a:endParaRPr lang="en-US" sz="880" dirty="0"/>
          </a:p>
          <a:p>
            <a:pPr marL="0" indent="0">
              <a:buNone/>
            </a:pP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loss = </a:t>
            </a:r>
            <a:r>
              <a:rPr lang="en-US" sz="880" dirty="0" err="1">
                <a:solidFill>
                  <a:srgbClr val="1E3A4A"/>
                </a:solidFill>
                <a:latin typeface="Courier New" pitchFamily="34" charset="0"/>
                <a:ea typeface="Courier New" pitchFamily="34" charset="-122"/>
                <a:cs typeface="Courier New" pitchFamily="34" charset="-120"/>
              </a:rPr>
              <a:t>self.alpha</a:t>
            </a:r>
            <a:r>
              <a:rPr lang="en-US" sz="880" dirty="0">
                <a:solidFill>
                  <a:srgbClr val="1E3A4A"/>
                </a:solidFill>
                <a:latin typeface="Courier New" pitchFamily="34" charset="0"/>
                <a:ea typeface="Courier New" pitchFamily="34" charset="-122"/>
                <a:cs typeface="Courier New" pitchFamily="34" charset="-120"/>
              </a:rPr>
              <a:t> * focal + (1 - </a:t>
            </a:r>
            <a:r>
              <a:rPr lang="en-US" sz="880" dirty="0" err="1">
                <a:solidFill>
                  <a:srgbClr val="1E3A4A"/>
                </a:solidFill>
                <a:latin typeface="Courier New" pitchFamily="34" charset="0"/>
                <a:ea typeface="Courier New" pitchFamily="34" charset="-122"/>
                <a:cs typeface="Courier New" pitchFamily="34" charset="-120"/>
              </a:rPr>
              <a:t>self.alpha</a:t>
            </a:r>
            <a:r>
              <a:rPr lang="en-US" sz="880" dirty="0">
                <a:solidFill>
                  <a:srgbClr val="1E3A4A"/>
                </a:solidFill>
                <a:latin typeface="Courier New" pitchFamily="34" charset="0"/>
                <a:ea typeface="Courier New" pitchFamily="34" charset="-122"/>
                <a:cs typeface="Courier New" pitchFamily="34" charset="-120"/>
              </a:rPr>
              <a:t>) * </a:t>
            </a:r>
            <a:r>
              <a:rPr lang="en-US" sz="880" dirty="0" err="1">
                <a:solidFill>
                  <a:srgbClr val="1E3A4A"/>
                </a:solidFill>
                <a:latin typeface="Courier New" pitchFamily="34" charset="0"/>
                <a:ea typeface="Courier New" pitchFamily="34" charset="-122"/>
                <a:cs typeface="Courier New" pitchFamily="34" charset="-120"/>
              </a:rPr>
              <a:t>bce</a:t>
            </a:r>
            <a:endParaRPr lang="en-US" sz="880" dirty="0"/>
          </a:p>
          <a:p>
            <a:pPr marL="0" indent="0">
              <a:buNone/>
            </a:pPr>
            <a:r>
              <a:rPr lang="en-US" sz="880" dirty="0">
                <a:solidFill>
                  <a:srgbClr val="1E3A4A"/>
                </a:solidFill>
                <a:latin typeface="Courier New" pitchFamily="34" charset="0"/>
                <a:ea typeface="Courier New" pitchFamily="34" charset="-122"/>
                <a:cs typeface="Courier New" pitchFamily="34" charset="-120"/>
              </a:rPr>
              <a:t>        return loss.mean()</a:t>
            </a:r>
            <a:endParaRPr lang="en-US" sz="880" dirty="0"/>
          </a:p>
          <a:p>
            <a:pPr marL="0" indent="0">
              <a:buNone/>
            </a:pP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Transformer</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Model</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Self-Attention Encoder with CLS Token</a:t>
            </a:r>
            <a:endParaRPr lang="en-US" sz="1300" dirty="0"/>
          </a:p>
        </p:txBody>
      </p:sp>
      <p:sp>
        <p:nvSpPr>
          <p:cNvPr id="7" name="Text 5"/>
          <p:cNvSpPr/>
          <p:nvPr/>
        </p:nvSpPr>
        <p:spPr>
          <a:xfrm>
            <a:off x="3730752" y="530352"/>
            <a:ext cx="5321808" cy="566928"/>
          </a:xfrm>
          <a:prstGeom prst="rect">
            <a:avLst/>
          </a:prstGeom>
          <a:noFill/>
          <a:ln/>
        </p:spPr>
        <p:txBody>
          <a:bodyPr wrap="square" rtlCol="0" anchor="ctr"/>
          <a:lstStyle/>
          <a:p>
            <a:pPr marL="0" indent="0">
              <a:buNone/>
            </a:pPr>
            <a:r>
              <a:rPr lang="en-US" sz="1100" b="1" dirty="0">
                <a:solidFill>
                  <a:srgbClr val="0D1E2E"/>
                </a:solidFill>
                <a:latin typeface="Calibri" pitchFamily="34" charset="0"/>
                <a:ea typeface="Calibri" pitchFamily="34" charset="-122"/>
                <a:cs typeface="Calibri" pitchFamily="34" charset="-120"/>
              </a:rPr>
              <a:t>Transformers</a:t>
            </a:r>
            <a:r>
              <a:rPr lang="en-US" sz="1100" dirty="0">
                <a:solidFill>
                  <a:srgbClr val="2C3E50"/>
                </a:solidFill>
                <a:latin typeface="Calibri" pitchFamily="34" charset="0"/>
                <a:ea typeface="Calibri" pitchFamily="34" charset="-122"/>
                <a:cs typeface="Calibri" pitchFamily="34" charset="-120"/>
              </a:rPr>
              <a:t> replace recurrence with </a:t>
            </a:r>
            <a:r>
              <a:rPr lang="en-US" sz="1100" b="1" dirty="0">
                <a:solidFill>
                  <a:srgbClr val="0E8BA0"/>
                </a:solidFill>
                <a:latin typeface="Calibri" pitchFamily="34" charset="0"/>
                <a:ea typeface="Calibri" pitchFamily="34" charset="-122"/>
                <a:cs typeface="Calibri" pitchFamily="34" charset="-120"/>
              </a:rPr>
              <a:t>self-attention</a:t>
            </a:r>
            <a:r>
              <a:rPr lang="en-US" sz="1100" dirty="0">
                <a:solidFill>
                  <a:srgbClr val="2C3E50"/>
                </a:solidFill>
                <a:latin typeface="Calibri" pitchFamily="34" charset="0"/>
                <a:ea typeface="Calibri" pitchFamily="34" charset="-122"/>
                <a:cs typeface="Calibri" pitchFamily="34" charset="-120"/>
              </a:rPr>
              <a:t> — each timestep attends to all other timesteps simultaneously. This captures long-range dependencies that LSTMs may miss and allows parallelization during training.</a:t>
            </a:r>
            <a:endParaRPr lang="en-US" sz="1100" dirty="0"/>
          </a:p>
        </p:txBody>
      </p:sp>
      <p:sp>
        <p:nvSpPr>
          <p:cNvPr id="8" name="Shape 6"/>
          <p:cNvSpPr/>
          <p:nvPr/>
        </p:nvSpPr>
        <p:spPr>
          <a:xfrm>
            <a:off x="3730752" y="1152144"/>
            <a:ext cx="5321808" cy="3703320"/>
          </a:xfrm>
          <a:prstGeom prst="rect">
            <a:avLst/>
          </a:prstGeom>
          <a:solidFill>
            <a:srgbClr val="F4F6F8"/>
          </a:solidFill>
          <a:ln w="12700">
            <a:solidFill>
              <a:srgbClr val="D0D8E0"/>
            </a:solidFill>
            <a:prstDash val="solid"/>
          </a:ln>
        </p:spPr>
        <p:txBody>
          <a:bodyPr/>
          <a:lstStyle/>
          <a:p>
            <a:endParaRPr lang="en-US"/>
          </a:p>
        </p:txBody>
      </p:sp>
      <p:sp>
        <p:nvSpPr>
          <p:cNvPr id="9" name="Text 7"/>
          <p:cNvSpPr/>
          <p:nvPr/>
        </p:nvSpPr>
        <p:spPr>
          <a:xfrm>
            <a:off x="3840480" y="1207008"/>
            <a:ext cx="5138928" cy="3611880"/>
          </a:xfrm>
          <a:prstGeom prst="rect">
            <a:avLst/>
          </a:prstGeom>
          <a:noFill/>
          <a:ln/>
        </p:spPr>
        <p:txBody>
          <a:bodyPr wrap="square" lIns="0" tIns="0" rIns="0" bIns="0" rtlCol="0" anchor="t"/>
          <a:lstStyle/>
          <a:p>
            <a:r>
              <a:rPr lang="en-US" sz="850" dirty="0">
                <a:solidFill>
                  <a:srgbClr val="1E3A4A"/>
                </a:solidFill>
                <a:latin typeface="Courier New" pitchFamily="34" charset="0"/>
                <a:ea typeface="Courier New" pitchFamily="34" charset="-122"/>
                <a:cs typeface="Courier New" pitchFamily="34" charset="-120"/>
              </a:rPr>
              <a:t>class TransformerModel(nn.Module):</a:t>
            </a:r>
          </a:p>
          <a:p>
            <a:r>
              <a:rPr lang="en-US" sz="850" dirty="0">
                <a:solidFill>
                  <a:srgbClr val="1E3A4A"/>
                </a:solidFill>
                <a:latin typeface="Courier New" pitchFamily="34" charset="0"/>
                <a:ea typeface="Courier New" pitchFamily="34" charset="-122"/>
                <a:cs typeface="Courier New" pitchFamily="34" charset="-120"/>
              </a:rPr>
              <a:t>    def __init__(self, input_dim, d_model=96):</a:t>
            </a:r>
          </a:p>
          <a:p>
            <a:r>
              <a:rPr lang="en-US" sz="850" dirty="0">
                <a:solidFill>
                  <a:srgbClr val="1E3A4A"/>
                </a:solidFill>
                <a:latin typeface="Courier New" pitchFamily="34" charset="0"/>
                <a:ea typeface="Courier New" pitchFamily="34" charset="-122"/>
                <a:cs typeface="Courier New" pitchFamily="34" charset="-120"/>
              </a:rPr>
              <a:t>        super().__init__()</a:t>
            </a:r>
          </a:p>
          <a:p>
            <a:r>
              <a:rPr lang="en-US" sz="850" dirty="0">
                <a:solidFill>
                  <a:srgbClr val="1E3A4A"/>
                </a:solidFill>
                <a:latin typeface="Courier New" pitchFamily="34" charset="0"/>
                <a:ea typeface="Courier New" pitchFamily="34" charset="-122"/>
                <a:cs typeface="Courier New" pitchFamily="34" charset="-120"/>
              </a:rPr>
              <a:t>        self.input_proj    = nn.Linear(input_dim, d_model)</a:t>
            </a:r>
          </a:p>
          <a:p>
            <a:r>
              <a:rPr lang="en-US" sz="850" dirty="0">
                <a:solidFill>
                  <a:srgbClr val="1E3A4A"/>
                </a:solidFill>
                <a:latin typeface="Courier New" pitchFamily="34" charset="0"/>
                <a:ea typeface="Courier New" pitchFamily="34" charset="-122"/>
                <a:cs typeface="Courier New" pitchFamily="34" charset="-120"/>
              </a:rPr>
              <a:t>        self.cls_token     = nn.Parameter(torch.randn(1, 1, d_model))</a:t>
            </a:r>
          </a:p>
          <a:p>
            <a:r>
              <a:rPr lang="en-US" sz="850" dirty="0">
                <a:solidFill>
                  <a:srgbClr val="1E3A4A"/>
                </a:solidFill>
                <a:latin typeface="Courier New" pitchFamily="34" charset="0"/>
                <a:ea typeface="Courier New" pitchFamily="34" charset="-122"/>
                <a:cs typeface="Courier New" pitchFamily="34" charset="-120"/>
              </a:rPr>
              <a:t>        self.input_dropout = nn.Dropout(0.2)</a:t>
            </a:r>
          </a:p>
          <a:p>
            <a:r>
              <a:rPr lang="en-US" sz="850" dirty="0">
                <a:solidFill>
                  <a:srgbClr val="1E3A4A"/>
                </a:solidFill>
                <a:latin typeface="Courier New" pitchFamily="34" charset="0"/>
                <a:ea typeface="Courier New" pitchFamily="34" charset="-122"/>
                <a:cs typeface="Courier New" pitchFamily="34" charset="-120"/>
              </a:rPr>
              <a:t>        self.norm          = nn.LayerNorm(d_model)</a:t>
            </a:r>
          </a:p>
          <a:p>
            <a:r>
              <a:rPr lang="en-US" sz="850" dirty="0">
                <a:solidFill>
                  <a:srgbClr val="1E3A4A"/>
                </a:solidFill>
                <a:latin typeface="Courier New" pitchFamily="34" charset="0"/>
                <a:ea typeface="Courier New" pitchFamily="34" charset="-122"/>
                <a:cs typeface="Courier New" pitchFamily="34" charset="-120"/>
              </a:rPr>
              <a:t>        self.pos_embedding = nn.Parameter(torch.randn(1, 49, d_model))</a:t>
            </a:r>
          </a:p>
          <a:p>
            <a:endParaRPr lang="en-US" sz="850" dirty="0">
              <a:solidFill>
                <a:srgbClr val="1E3A4A"/>
              </a:solidFill>
              <a:latin typeface="Courier New" pitchFamily="34" charset="0"/>
              <a:ea typeface="Courier New" pitchFamily="34" charset="-122"/>
              <a:cs typeface="Courier New" pitchFamily="34" charset="-120"/>
            </a:endParaRPr>
          </a:p>
          <a:p>
            <a:r>
              <a:rPr lang="en-US" sz="850" dirty="0">
                <a:solidFill>
                  <a:srgbClr val="1E3A4A"/>
                </a:solidFill>
                <a:latin typeface="Courier New" pitchFamily="34" charset="0"/>
                <a:ea typeface="Courier New" pitchFamily="34" charset="-122"/>
                <a:cs typeface="Courier New" pitchFamily="34" charset="-120"/>
              </a:rPr>
              <a:t>        encoder_layer = nn.TransformerEncoderLayer(</a:t>
            </a:r>
          </a:p>
          <a:p>
            <a:r>
              <a:rPr lang="en-US" sz="850" dirty="0">
                <a:solidFill>
                  <a:srgbClr val="1E3A4A"/>
                </a:solidFill>
                <a:latin typeface="Courier New" pitchFamily="34" charset="0"/>
                <a:ea typeface="Courier New" pitchFamily="34" charset="-122"/>
                <a:cs typeface="Courier New" pitchFamily="34" charset="-120"/>
              </a:rPr>
              <a:t>            </a:t>
            </a:r>
            <a:r>
              <a:rPr lang="en-US" sz="850" dirty="0" err="1">
                <a:solidFill>
                  <a:srgbClr val="1E3A4A"/>
                </a:solidFill>
                <a:latin typeface="Courier New" pitchFamily="34" charset="0"/>
                <a:ea typeface="Courier New" pitchFamily="34" charset="-122"/>
                <a:cs typeface="Courier New" pitchFamily="34" charset="-120"/>
              </a:rPr>
              <a:t>d_model</a:t>
            </a:r>
            <a:r>
              <a:rPr lang="en-US" sz="850" dirty="0">
                <a:solidFill>
                  <a:srgbClr val="1E3A4A"/>
                </a:solidFill>
                <a:latin typeface="Courier New" pitchFamily="34" charset="0"/>
                <a:ea typeface="Courier New" pitchFamily="34" charset="-122"/>
                <a:cs typeface="Courier New" pitchFamily="34" charset="-120"/>
              </a:rPr>
              <a:t>=</a:t>
            </a:r>
            <a:r>
              <a:rPr lang="en-US" sz="850" dirty="0" err="1">
                <a:solidFill>
                  <a:srgbClr val="1E3A4A"/>
                </a:solidFill>
                <a:latin typeface="Courier New" pitchFamily="34" charset="0"/>
                <a:ea typeface="Courier New" pitchFamily="34" charset="-122"/>
                <a:cs typeface="Courier New" pitchFamily="34" charset="-120"/>
              </a:rPr>
              <a:t>d_model,nhead</a:t>
            </a:r>
            <a:r>
              <a:rPr lang="en-US" sz="850" dirty="0">
                <a:solidFill>
                  <a:srgbClr val="1E3A4A"/>
                </a:solidFill>
                <a:latin typeface="Courier New" pitchFamily="34" charset="0"/>
                <a:ea typeface="Courier New" pitchFamily="34" charset="-122"/>
                <a:cs typeface="Courier New" pitchFamily="34" charset="-120"/>
              </a:rPr>
              <a:t>=6,dim_feedforward=256,dropout=0.2,</a:t>
            </a:r>
          </a:p>
          <a:p>
            <a:r>
              <a:rPr lang="en-US" sz="850" dirty="0">
                <a:solidFill>
                  <a:srgbClr val="1E3A4A"/>
                </a:solidFill>
                <a:latin typeface="Courier New" pitchFamily="34" charset="0"/>
                <a:ea typeface="Courier New" pitchFamily="34" charset="-122"/>
                <a:cs typeface="Courier New" pitchFamily="34" charset="-120"/>
              </a:rPr>
              <a:t>            batch_first=True</a:t>
            </a:r>
          </a:p>
          <a:p>
            <a:r>
              <a:rPr lang="en-US" sz="850" dirty="0">
                <a:solidFill>
                  <a:srgbClr val="1E3A4A"/>
                </a:solidFill>
                <a:latin typeface="Courier New" pitchFamily="34" charset="0"/>
                <a:ea typeface="Courier New" pitchFamily="34" charset="-122"/>
                <a:cs typeface="Courier New" pitchFamily="34" charset="-120"/>
              </a:rPr>
              <a:t>        )</a:t>
            </a:r>
          </a:p>
          <a:p>
            <a:r>
              <a:rPr lang="en-US" sz="850" dirty="0">
                <a:solidFill>
                  <a:srgbClr val="1E3A4A"/>
                </a:solidFill>
                <a:latin typeface="Courier New" pitchFamily="34" charset="0"/>
                <a:ea typeface="Courier New" pitchFamily="34" charset="-122"/>
                <a:cs typeface="Courier New" pitchFamily="34" charset="-120"/>
              </a:rPr>
              <a:t>        self.transformer = nn.TransformerEncoder(</a:t>
            </a:r>
          </a:p>
          <a:p>
            <a:r>
              <a:rPr lang="en-US" sz="850" dirty="0">
                <a:solidFill>
                  <a:srgbClr val="1E3A4A"/>
                </a:solidFill>
                <a:latin typeface="Courier New" pitchFamily="34" charset="0"/>
                <a:ea typeface="Courier New" pitchFamily="34" charset="-122"/>
                <a:cs typeface="Courier New" pitchFamily="34" charset="-120"/>
              </a:rPr>
              <a:t>            encoder_layer, num_layers=3)</a:t>
            </a:r>
          </a:p>
          <a:p>
            <a:r>
              <a:rPr lang="en-US" sz="850" dirty="0">
                <a:solidFill>
                  <a:srgbClr val="1E3A4A"/>
                </a:solidFill>
                <a:latin typeface="Courier New" pitchFamily="34" charset="0"/>
                <a:ea typeface="Courier New" pitchFamily="34" charset="-122"/>
                <a:cs typeface="Courier New" pitchFamily="34" charset="-120"/>
              </a:rPr>
              <a:t>        self.fc = nn.Linear(d_model, 1)</a:t>
            </a:r>
          </a:p>
          <a:p>
            <a:endParaRPr lang="en-US" sz="850" dirty="0">
              <a:solidFill>
                <a:srgbClr val="1E3A4A"/>
              </a:solidFill>
              <a:latin typeface="Courier New" pitchFamily="34" charset="0"/>
              <a:ea typeface="Courier New" pitchFamily="34" charset="-122"/>
              <a:cs typeface="Courier New" pitchFamily="34" charset="-120"/>
            </a:endParaRPr>
          </a:p>
          <a:p>
            <a:r>
              <a:rPr lang="en-US" sz="850" dirty="0">
                <a:solidFill>
                  <a:srgbClr val="1E3A4A"/>
                </a:solidFill>
                <a:latin typeface="Courier New" pitchFamily="34" charset="0"/>
                <a:ea typeface="Courier New" pitchFamily="34" charset="-122"/>
                <a:cs typeface="Courier New" pitchFamily="34" charset="-120"/>
              </a:rPr>
              <a:t>    def forward(self, x):</a:t>
            </a:r>
          </a:p>
          <a:p>
            <a:r>
              <a:rPr lang="en-US" sz="850" dirty="0">
                <a:solidFill>
                  <a:srgbClr val="1E3A4A"/>
                </a:solidFill>
                <a:latin typeface="Courier New" pitchFamily="34" charset="0"/>
                <a:ea typeface="Courier New" pitchFamily="34" charset="-122"/>
                <a:cs typeface="Courier New" pitchFamily="34" charset="-120"/>
              </a:rPr>
              <a:t>        x = self.input_proj(x)</a:t>
            </a:r>
          </a:p>
          <a:p>
            <a:r>
              <a:rPr lang="en-US" sz="850" dirty="0">
                <a:solidFill>
                  <a:srgbClr val="1E3A4A"/>
                </a:solidFill>
                <a:latin typeface="Courier New" pitchFamily="34" charset="0"/>
                <a:ea typeface="Courier New" pitchFamily="34" charset="-122"/>
                <a:cs typeface="Courier New" pitchFamily="34" charset="-120"/>
              </a:rPr>
              <a:t>        x = self.input_dropout(x)</a:t>
            </a:r>
          </a:p>
          <a:p>
            <a:r>
              <a:rPr lang="en-US" sz="850" dirty="0">
                <a:solidFill>
                  <a:srgbClr val="1E3A4A"/>
                </a:solidFill>
                <a:latin typeface="Courier New" pitchFamily="34" charset="0"/>
                <a:ea typeface="Courier New" pitchFamily="34" charset="-122"/>
                <a:cs typeface="Courier New" pitchFamily="34" charset="-120"/>
              </a:rPr>
              <a:t>        cls_tokens = self.cls_token.expand(x.size(0), -1, -1)</a:t>
            </a:r>
          </a:p>
          <a:p>
            <a:r>
              <a:rPr lang="en-US" sz="850" dirty="0">
                <a:solidFill>
                  <a:srgbClr val="1E3A4A"/>
                </a:solidFill>
                <a:latin typeface="Courier New" pitchFamily="34" charset="0"/>
                <a:ea typeface="Courier New" pitchFamily="34" charset="-122"/>
                <a:cs typeface="Courier New" pitchFamily="34" charset="-120"/>
              </a:rPr>
              <a:t>        x = torch.cat([cls_tokens, x], dim=1)</a:t>
            </a:r>
          </a:p>
          <a:p>
            <a:r>
              <a:rPr lang="en-US" sz="850" dirty="0">
                <a:solidFill>
                  <a:srgbClr val="1E3A4A"/>
                </a:solidFill>
                <a:latin typeface="Courier New" pitchFamily="34" charset="0"/>
                <a:ea typeface="Courier New" pitchFamily="34" charset="-122"/>
                <a:cs typeface="Courier New" pitchFamily="34" charset="-120"/>
              </a:rPr>
              <a:t>        x = x + self.pos_embedding[:, :x.size(1), :]</a:t>
            </a:r>
          </a:p>
          <a:p>
            <a:r>
              <a:rPr lang="en-US" sz="850" dirty="0">
                <a:solidFill>
                  <a:srgbClr val="1E3A4A"/>
                </a:solidFill>
                <a:latin typeface="Courier New" pitchFamily="34" charset="0"/>
                <a:ea typeface="Courier New" pitchFamily="34" charset="-122"/>
                <a:cs typeface="Courier New" pitchFamily="34" charset="-120"/>
              </a:rPr>
              <a:t>        out = self.transformer(x)</a:t>
            </a:r>
          </a:p>
          <a:p>
            <a:r>
              <a:rPr lang="en-US" sz="850" dirty="0">
                <a:solidFill>
                  <a:srgbClr val="1E3A4A"/>
                </a:solidFill>
                <a:latin typeface="Courier New" pitchFamily="34" charset="0"/>
                <a:ea typeface="Courier New" pitchFamily="34" charset="-122"/>
                <a:cs typeface="Courier New" pitchFamily="34" charset="-120"/>
              </a:rPr>
              <a:t>        out = self.norm(out)</a:t>
            </a:r>
          </a:p>
          <a:p>
            <a:r>
              <a:rPr lang="en-US" sz="850" dirty="0">
                <a:solidFill>
                  <a:srgbClr val="1E3A4A"/>
                </a:solidFill>
                <a:latin typeface="Courier New" pitchFamily="34" charset="0"/>
                <a:ea typeface="Courier New" pitchFamily="34" charset="-122"/>
                <a:cs typeface="Courier New" pitchFamily="34" charset="-120"/>
              </a:rPr>
              <a:t>        out = out[:, 0, :]</a:t>
            </a:r>
          </a:p>
          <a:p>
            <a:r>
              <a:rPr lang="en-US" sz="850" dirty="0">
                <a:solidFill>
                  <a:srgbClr val="1E3A4A"/>
                </a:solidFill>
                <a:latin typeface="Courier New" pitchFamily="34" charset="0"/>
                <a:ea typeface="Courier New" pitchFamily="34" charset="-122"/>
                <a:cs typeface="Courier New" pitchFamily="34" charset="-120"/>
              </a:rPr>
              <a:t>        return self.fc(out)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Transformer</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Training</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&amp;</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Tuning</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Training Configuration</a:t>
            </a:r>
            <a:endParaRPr lang="en-US" sz="1300" dirty="0"/>
          </a:p>
        </p:txBody>
      </p:sp>
      <p:sp>
        <p:nvSpPr>
          <p:cNvPr id="7" name="Shape 5"/>
          <p:cNvSpPr/>
          <p:nvPr/>
        </p:nvSpPr>
        <p:spPr>
          <a:xfrm>
            <a:off x="3730752" y="530352"/>
            <a:ext cx="5321808" cy="4023360"/>
          </a:xfrm>
          <a:prstGeom prst="rect">
            <a:avLst/>
          </a:prstGeom>
          <a:solidFill>
            <a:srgbClr val="F4F6F8"/>
          </a:solidFill>
          <a:ln w="12700">
            <a:solidFill>
              <a:srgbClr val="D0D8E0"/>
            </a:solidFill>
            <a:prstDash val="solid"/>
          </a:ln>
        </p:spPr>
        <p:txBody>
          <a:bodyPr/>
          <a:lstStyle/>
          <a:p>
            <a:endParaRPr lang="en-US"/>
          </a:p>
        </p:txBody>
      </p:sp>
      <p:sp>
        <p:nvSpPr>
          <p:cNvPr id="8" name="Text 6"/>
          <p:cNvSpPr/>
          <p:nvPr/>
        </p:nvSpPr>
        <p:spPr>
          <a:xfrm>
            <a:off x="3776472" y="530352"/>
            <a:ext cx="5138928" cy="4059936"/>
          </a:xfrm>
          <a:prstGeom prst="rect">
            <a:avLst/>
          </a:prstGeom>
          <a:noFill/>
          <a:ln/>
        </p:spPr>
        <p:txBody>
          <a:bodyPr wrap="square" lIns="0" tIns="0" rIns="0" bIns="0" rtlCol="0" anchor="t"/>
          <a:lstStyle/>
          <a:p>
            <a:r>
              <a:rPr lang="en-US" sz="880" dirty="0">
                <a:solidFill>
                  <a:srgbClr val="1E3A4A"/>
                </a:solidFill>
                <a:latin typeface="Courier New" pitchFamily="34" charset="0"/>
                <a:ea typeface="Courier New" pitchFamily="34" charset="-122"/>
                <a:cs typeface="Courier New" pitchFamily="34" charset="-120"/>
              </a:rPr>
              <a:t>model_t = </a:t>
            </a:r>
            <a:r>
              <a:rPr lang="en-US" sz="880" dirty="0" err="1">
                <a:solidFill>
                  <a:srgbClr val="1E3A4A"/>
                </a:solidFill>
                <a:latin typeface="Courier New" pitchFamily="34" charset="0"/>
                <a:ea typeface="Courier New" pitchFamily="34" charset="-122"/>
                <a:cs typeface="Courier New" pitchFamily="34" charset="-120"/>
              </a:rPr>
              <a:t>TransformerModel</a:t>
            </a:r>
            <a:r>
              <a:rPr lang="en-US" sz="880" dirty="0">
                <a:solidFill>
                  <a:srgbClr val="1E3A4A"/>
                </a:solidFill>
                <a:latin typeface="Courier New" pitchFamily="34" charset="0"/>
                <a:ea typeface="Courier New" pitchFamily="34" charset="-122"/>
                <a:cs typeface="Courier New" pitchFamily="34" charset="-120"/>
              </a:rPr>
              <a:t>(</a:t>
            </a:r>
            <a:r>
              <a:rPr lang="en-US" sz="880" dirty="0" err="1">
                <a:solidFill>
                  <a:srgbClr val="1E3A4A"/>
                </a:solidFill>
                <a:latin typeface="Courier New" pitchFamily="34" charset="0"/>
                <a:ea typeface="Courier New" pitchFamily="34" charset="-122"/>
                <a:cs typeface="Courier New" pitchFamily="34" charset="-120"/>
              </a:rPr>
              <a:t>input_dim</a:t>
            </a:r>
            <a:r>
              <a:rPr lang="en-US" sz="880" dirty="0">
                <a:solidFill>
                  <a:srgbClr val="1E3A4A"/>
                </a:solidFill>
                <a:latin typeface="Courier New" pitchFamily="34" charset="0"/>
                <a:ea typeface="Courier New" pitchFamily="34" charset="-122"/>
                <a:cs typeface="Courier New" pitchFamily="34" charset="-120"/>
              </a:rPr>
              <a:t>=X_train.shape[2]).to(device)</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criterion = HybridLoss(alpha=0.4)</a:t>
            </a:r>
          </a:p>
          <a:p>
            <a:r>
              <a:rPr lang="en-US" sz="880" dirty="0">
                <a:solidFill>
                  <a:srgbClr val="1E3A4A"/>
                </a:solidFill>
                <a:latin typeface="Courier New" pitchFamily="34" charset="0"/>
                <a:ea typeface="Courier New" pitchFamily="34" charset="-122"/>
                <a:cs typeface="Courier New" pitchFamily="34" charset="-120"/>
              </a:rPr>
              <a:t>optimizer = </a:t>
            </a:r>
            <a:r>
              <a:rPr lang="en-US" sz="880" dirty="0" err="1">
                <a:solidFill>
                  <a:srgbClr val="1E3A4A"/>
                </a:solidFill>
                <a:latin typeface="Courier New" pitchFamily="34" charset="0"/>
                <a:ea typeface="Courier New" pitchFamily="34" charset="-122"/>
                <a:cs typeface="Courier New" pitchFamily="34" charset="-120"/>
              </a:rPr>
              <a:t>torch.optim.Adam</a:t>
            </a:r>
            <a:r>
              <a:rPr lang="en-US" sz="880" dirty="0">
                <a:solidFill>
                  <a:srgbClr val="1E3A4A"/>
                </a:solidFill>
                <a:latin typeface="Courier New" pitchFamily="34" charset="0"/>
                <a:ea typeface="Courier New" pitchFamily="34" charset="-122"/>
                <a:cs typeface="Courier New" pitchFamily="34" charset="-120"/>
              </a:rPr>
              <a:t>(</a:t>
            </a:r>
            <a:r>
              <a:rPr lang="en-US" sz="880" dirty="0" err="1">
                <a:solidFill>
                  <a:srgbClr val="1E3A4A"/>
                </a:solidFill>
                <a:latin typeface="Courier New" pitchFamily="34" charset="0"/>
                <a:ea typeface="Courier New" pitchFamily="34" charset="-122"/>
                <a:cs typeface="Courier New" pitchFamily="34" charset="-120"/>
              </a:rPr>
              <a:t>model_t.parameters</a:t>
            </a:r>
            <a:r>
              <a:rPr lang="en-US" sz="880" dirty="0">
                <a:solidFill>
                  <a:srgbClr val="1E3A4A"/>
                </a:solidFill>
                <a:latin typeface="Courier New" pitchFamily="34" charset="0"/>
                <a:ea typeface="Courier New" pitchFamily="34" charset="-122"/>
                <a:cs typeface="Courier New" pitchFamily="34" charset="-120"/>
              </a:rPr>
              <a:t>(), lr=0.00015)</a:t>
            </a:r>
          </a:p>
          <a:p>
            <a:endParaRPr lang="en-US" sz="880" dirty="0">
              <a:solidFill>
                <a:srgbClr val="1E3A4A"/>
              </a:solidFill>
              <a:latin typeface="Courier New" pitchFamily="34" charset="0"/>
              <a:ea typeface="Courier New" pitchFamily="34" charset="-122"/>
              <a:cs typeface="Courier New" pitchFamily="34" charset="-120"/>
            </a:endParaRPr>
          </a:p>
          <a:p>
            <a:r>
              <a:rPr lang="en-US" sz="880" dirty="0">
                <a:solidFill>
                  <a:srgbClr val="1E3A4A"/>
                </a:solidFill>
                <a:latin typeface="Courier New" pitchFamily="34" charset="0"/>
                <a:ea typeface="Courier New" pitchFamily="34" charset="-122"/>
                <a:cs typeface="Courier New" pitchFamily="34" charset="-120"/>
              </a:rPr>
              <a:t>trans_losses = []</a:t>
            </a:r>
          </a:p>
          <a:p>
            <a:r>
              <a:rPr lang="en-US" sz="880" dirty="0">
                <a:solidFill>
                  <a:srgbClr val="1E3A4A"/>
                </a:solidFill>
                <a:latin typeface="Courier New" pitchFamily="34" charset="0"/>
                <a:ea typeface="Courier New" pitchFamily="34" charset="-122"/>
                <a:cs typeface="Courier New" pitchFamily="34" charset="-120"/>
              </a:rPr>
              <a:t>for epoch in range(35):</a:t>
            </a:r>
          </a:p>
          <a:p>
            <a:r>
              <a:rPr lang="en-US" sz="880" dirty="0">
                <a:solidFill>
                  <a:srgbClr val="1E3A4A"/>
                </a:solidFill>
                <a:latin typeface="Courier New" pitchFamily="34" charset="0"/>
                <a:ea typeface="Courier New" pitchFamily="34" charset="-122"/>
                <a:cs typeface="Courier New" pitchFamily="34" charset="-120"/>
              </a:rPr>
              <a:t>    model_t.train()</a:t>
            </a:r>
          </a:p>
          <a:p>
            <a:r>
              <a:rPr lang="en-US" sz="880" dirty="0">
                <a:solidFill>
                  <a:srgbClr val="1E3A4A"/>
                </a:solidFill>
                <a:latin typeface="Courier New" pitchFamily="34" charset="0"/>
                <a:ea typeface="Courier New" pitchFamily="34" charset="-122"/>
                <a:cs typeface="Courier New" pitchFamily="34" charset="-120"/>
              </a:rPr>
              <a:t>    total_loss = 0</a:t>
            </a:r>
          </a:p>
          <a:p>
            <a:r>
              <a:rPr lang="en-US" sz="880" dirty="0">
                <a:solidFill>
                  <a:srgbClr val="1E3A4A"/>
                </a:solidFill>
                <a:latin typeface="Courier New" pitchFamily="34" charset="0"/>
                <a:ea typeface="Courier New" pitchFamily="34" charset="-122"/>
                <a:cs typeface="Courier New" pitchFamily="34" charset="-120"/>
              </a:rPr>
              <a:t>    for X_batch, y_batch in train_loader:</a:t>
            </a:r>
          </a:p>
          <a:p>
            <a:r>
              <a:rPr lang="en-US" sz="880" dirty="0">
                <a:solidFill>
                  <a:srgbClr val="1E3A4A"/>
                </a:solidFill>
                <a:latin typeface="Courier New" pitchFamily="34" charset="0"/>
                <a:ea typeface="Courier New" pitchFamily="34" charset="-122"/>
                <a:cs typeface="Courier New" pitchFamily="34" charset="-120"/>
              </a:rPr>
              <a:t>        X_batch = X_batch.to(device)</a:t>
            </a:r>
          </a:p>
          <a:p>
            <a:r>
              <a:rPr lang="en-US" sz="880" dirty="0">
                <a:solidFill>
                  <a:srgbClr val="1E3A4A"/>
                </a:solidFill>
                <a:latin typeface="Courier New" pitchFamily="34" charset="0"/>
                <a:ea typeface="Courier New" pitchFamily="34" charset="-122"/>
                <a:cs typeface="Courier New" pitchFamily="34" charset="-120"/>
              </a:rPr>
              <a:t>        y_batch = y_batch.to(device)</a:t>
            </a:r>
          </a:p>
          <a:p>
            <a:r>
              <a:rPr lang="en-US" sz="880" dirty="0">
                <a:solidFill>
                  <a:srgbClr val="1E3A4A"/>
                </a:solidFill>
                <a:latin typeface="Courier New" pitchFamily="34" charset="0"/>
                <a:ea typeface="Courier New" pitchFamily="34" charset="-122"/>
                <a:cs typeface="Courier New" pitchFamily="34" charset="-120"/>
              </a:rPr>
              <a:t>        optimizer.zero_grad(set_to_none=True)</a:t>
            </a:r>
          </a:p>
          <a:p>
            <a:r>
              <a:rPr lang="en-US" sz="880" dirty="0">
                <a:solidFill>
                  <a:srgbClr val="1E3A4A"/>
                </a:solidFill>
                <a:latin typeface="Courier New" pitchFamily="34" charset="0"/>
                <a:ea typeface="Courier New" pitchFamily="34" charset="-122"/>
                <a:cs typeface="Courier New" pitchFamily="34" charset="-120"/>
              </a:rPr>
              <a:t>        outputs = model_t(X_batch).squeeze()</a:t>
            </a:r>
          </a:p>
          <a:p>
            <a:r>
              <a:rPr lang="en-US" sz="880" dirty="0">
                <a:solidFill>
                  <a:srgbClr val="1E3A4A"/>
                </a:solidFill>
                <a:latin typeface="Courier New" pitchFamily="34" charset="0"/>
                <a:ea typeface="Courier New" pitchFamily="34" charset="-122"/>
                <a:cs typeface="Courier New" pitchFamily="34" charset="-120"/>
              </a:rPr>
              <a:t>        loss = criterion(outputs, y_batch)</a:t>
            </a:r>
          </a:p>
          <a:p>
            <a:r>
              <a:rPr lang="en-US" sz="880" dirty="0">
                <a:solidFill>
                  <a:srgbClr val="1E3A4A"/>
                </a:solidFill>
                <a:latin typeface="Courier New" pitchFamily="34" charset="0"/>
                <a:ea typeface="Courier New" pitchFamily="34" charset="-122"/>
                <a:cs typeface="Courier New" pitchFamily="34" charset="-120"/>
              </a:rPr>
              <a:t>        loss.backward()</a:t>
            </a:r>
          </a:p>
          <a:p>
            <a:r>
              <a:rPr lang="en-US" sz="880" dirty="0">
                <a:solidFill>
                  <a:srgbClr val="1E3A4A"/>
                </a:solidFill>
                <a:latin typeface="Courier New" pitchFamily="34" charset="0"/>
                <a:ea typeface="Courier New" pitchFamily="34" charset="-122"/>
                <a:cs typeface="Courier New" pitchFamily="34" charset="-120"/>
              </a:rPr>
              <a:t>        torch.nn.utils.clip_grad_norm_(</a:t>
            </a:r>
          </a:p>
          <a:p>
            <a:r>
              <a:rPr lang="en-US" sz="880" dirty="0">
                <a:solidFill>
                  <a:srgbClr val="1E3A4A"/>
                </a:solidFill>
                <a:latin typeface="Courier New" pitchFamily="34" charset="0"/>
                <a:ea typeface="Courier New" pitchFamily="34" charset="-122"/>
                <a:cs typeface="Courier New" pitchFamily="34" charset="-120"/>
              </a:rPr>
              <a:t>            model_t.parameters(), 1.0)</a:t>
            </a:r>
          </a:p>
          <a:p>
            <a:r>
              <a:rPr lang="en-US" sz="880" dirty="0">
                <a:solidFill>
                  <a:srgbClr val="1E3A4A"/>
                </a:solidFill>
                <a:latin typeface="Courier New" pitchFamily="34" charset="0"/>
                <a:ea typeface="Courier New" pitchFamily="34" charset="-122"/>
                <a:cs typeface="Courier New" pitchFamily="34" charset="-120"/>
              </a:rPr>
              <a:t>        optimizer.step()</a:t>
            </a:r>
          </a:p>
          <a:p>
            <a:r>
              <a:rPr lang="en-US" sz="880" dirty="0">
                <a:solidFill>
                  <a:srgbClr val="1E3A4A"/>
                </a:solidFill>
                <a:latin typeface="Courier New" pitchFamily="34" charset="0"/>
                <a:ea typeface="Courier New" pitchFamily="34" charset="-122"/>
                <a:cs typeface="Courier New" pitchFamily="34" charset="-120"/>
              </a:rPr>
              <a:t>        total_loss += loss.item()</a:t>
            </a:r>
          </a:p>
          <a:p>
            <a:r>
              <a:rPr lang="en-US" sz="880" dirty="0">
                <a:solidFill>
                  <a:srgbClr val="1E3A4A"/>
                </a:solidFill>
                <a:latin typeface="Courier New" pitchFamily="34" charset="0"/>
                <a:ea typeface="Courier New" pitchFamily="34" charset="-122"/>
                <a:cs typeface="Courier New" pitchFamily="34" charset="-120"/>
              </a:rPr>
              <a:t>    trans_losses.append(total_loss)</a:t>
            </a:r>
          </a:p>
          <a:p>
            <a:r>
              <a:rPr lang="en-US" sz="880" dirty="0">
                <a:solidFill>
                  <a:srgbClr val="1E3A4A"/>
                </a:solidFill>
                <a:latin typeface="Courier New" pitchFamily="34" charset="0"/>
                <a:ea typeface="Courier New" pitchFamily="34" charset="-122"/>
                <a:cs typeface="Courier New" pitchFamily="34" charset="-120"/>
              </a:rPr>
              <a:t>    print(f"[Transformer] Epoch {epoch+1:02d}/35 | Loss: {total_loss:.4f}")</a:t>
            </a:r>
          </a:p>
          <a:p>
            <a:endParaRPr lang="en-US" sz="880" dirty="0">
              <a:solidFill>
                <a:srgbClr val="1E3A4A"/>
              </a:solidFill>
              <a:latin typeface="Courier New" pitchFamily="34" charset="0"/>
              <a:ea typeface="Courier New" pitchFamily="34" charset="-122"/>
              <a:cs typeface="Courier New" pitchFamily="34" charset="-120"/>
            </a:endParaRPr>
          </a:p>
          <a:p>
            <a:endParaRPr lang="en-US" sz="880" dirty="0">
              <a:solidFill>
                <a:srgbClr val="1E3A4A"/>
              </a:solidFill>
              <a:latin typeface="Courier New" pitchFamily="34" charset="0"/>
              <a:ea typeface="Courier New" pitchFamily="34" charset="-122"/>
              <a:cs typeface="Courier New" pitchFamily="34" charset="-120"/>
            </a:endParaRPr>
          </a:p>
        </p:txBody>
      </p:sp>
      <p:sp>
        <p:nvSpPr>
          <p:cNvPr id="9" name="Text 7"/>
          <p:cNvSpPr/>
          <p:nvPr/>
        </p:nvSpPr>
        <p:spPr>
          <a:xfrm>
            <a:off x="3730752" y="4645152"/>
            <a:ext cx="5321808" cy="274320"/>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Training</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Loss</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Curves</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Explained</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What the Loss Curves Tell Us</a:t>
            </a:r>
            <a:endParaRPr lang="en-US" sz="1300" dirty="0"/>
          </a:p>
        </p:txBody>
      </p:sp>
      <p:sp>
        <p:nvSpPr>
          <p:cNvPr id="8" name="Text 5"/>
          <p:cNvSpPr/>
          <p:nvPr/>
        </p:nvSpPr>
        <p:spPr>
          <a:xfrm>
            <a:off x="3730752" y="3090672"/>
            <a:ext cx="5321808" cy="438912"/>
          </a:xfrm>
          <a:prstGeom prst="rect">
            <a:avLst/>
          </a:prstGeom>
          <a:noFill/>
          <a:ln/>
        </p:spPr>
        <p:txBody>
          <a:bodyPr wrap="square" rtlCol="0" anchor="ctr"/>
          <a:lstStyle/>
          <a:p>
            <a:pPr marL="0" indent="0">
              <a:buNone/>
            </a:pPr>
            <a:r>
              <a:rPr lang="en-US" sz="1000" b="1" dirty="0">
                <a:solidFill>
                  <a:srgbClr val="0E8BA0"/>
                </a:solidFill>
                <a:latin typeface="Calibri" pitchFamily="34" charset="0"/>
                <a:ea typeface="Calibri" pitchFamily="34" charset="-122"/>
                <a:cs typeface="Calibri" pitchFamily="34" charset="-120"/>
              </a:rPr>
              <a:t>LSTM (teal): </a:t>
            </a:r>
            <a:r>
              <a:rPr lang="en-US" sz="1000" dirty="0">
                <a:solidFill>
                  <a:srgbClr val="2C3E50"/>
                </a:solidFill>
                <a:latin typeface="Calibri" pitchFamily="34" charset="0"/>
                <a:ea typeface="Calibri" pitchFamily="34" charset="-122"/>
                <a:cs typeface="Calibri" pitchFamily="34" charset="-120"/>
              </a:rPr>
              <a:t>Smooth, steep descent 6.55 → 0.92. Consistent convergence with no oscillation — sign of well-tuned LR.</a:t>
            </a:r>
            <a:endParaRPr lang="en-US" sz="1000" dirty="0"/>
          </a:p>
        </p:txBody>
      </p:sp>
      <p:sp>
        <p:nvSpPr>
          <p:cNvPr id="9" name="Text 6"/>
          <p:cNvSpPr/>
          <p:nvPr/>
        </p:nvSpPr>
        <p:spPr>
          <a:xfrm>
            <a:off x="3730752" y="3575304"/>
            <a:ext cx="5321808" cy="438912"/>
          </a:xfrm>
          <a:prstGeom prst="rect">
            <a:avLst/>
          </a:prstGeom>
          <a:noFill/>
          <a:ln/>
        </p:spPr>
        <p:txBody>
          <a:bodyPr wrap="square" rtlCol="0" anchor="ctr"/>
          <a:lstStyle/>
          <a:p>
            <a:pPr marL="0" indent="0">
              <a:buNone/>
            </a:pPr>
            <a:r>
              <a:rPr lang="en-US" sz="1000" b="1" dirty="0">
                <a:solidFill>
                  <a:srgbClr val="0E8BA0"/>
                </a:solidFill>
                <a:latin typeface="Calibri" pitchFamily="34" charset="0"/>
                <a:ea typeface="Calibri" pitchFamily="34" charset="-122"/>
                <a:cs typeface="Calibri" pitchFamily="34" charset="-120"/>
              </a:rPr>
              <a:t>Transformer (blue): </a:t>
            </a:r>
            <a:r>
              <a:rPr lang="en-US" sz="1000" dirty="0">
                <a:solidFill>
                  <a:srgbClr val="2C3E50"/>
                </a:solidFill>
                <a:latin typeface="Calibri" pitchFamily="34" charset="0"/>
                <a:ea typeface="Calibri" pitchFamily="34" charset="-122"/>
                <a:cs typeface="Calibri" pitchFamily="34" charset="-120"/>
              </a:rPr>
              <a:t>Slower start (3.94 → plateau ~1.7. </a:t>
            </a:r>
            <a:endParaRPr lang="en-US" sz="1000" dirty="0"/>
          </a:p>
        </p:txBody>
      </p:sp>
      <p:sp>
        <p:nvSpPr>
          <p:cNvPr id="10" name="Text 7"/>
          <p:cNvSpPr/>
          <p:nvPr/>
        </p:nvSpPr>
        <p:spPr>
          <a:xfrm>
            <a:off x="3730752" y="4059936"/>
            <a:ext cx="5321808" cy="438912"/>
          </a:xfrm>
          <a:prstGeom prst="rect">
            <a:avLst/>
          </a:prstGeom>
          <a:noFill/>
          <a:ln/>
        </p:spPr>
        <p:txBody>
          <a:bodyPr wrap="square" rtlCol="0" anchor="ctr"/>
          <a:lstStyle/>
          <a:p>
            <a:pPr marL="0" indent="0">
              <a:buNone/>
            </a:pPr>
            <a:r>
              <a:rPr lang="en-US" sz="1000" b="1" dirty="0">
                <a:solidFill>
                  <a:srgbClr val="0E8BA0"/>
                </a:solidFill>
                <a:latin typeface="Calibri" pitchFamily="34" charset="0"/>
                <a:ea typeface="Calibri" pitchFamily="34" charset="-122"/>
                <a:cs typeface="Calibri" pitchFamily="34" charset="-120"/>
              </a:rPr>
              <a:t>30% gap: </a:t>
            </a:r>
            <a:r>
              <a:rPr lang="en-US" sz="1000" dirty="0">
                <a:solidFill>
                  <a:srgbClr val="2C3E50"/>
                </a:solidFill>
                <a:latin typeface="Calibri" pitchFamily="34" charset="0"/>
                <a:ea typeface="Calibri" pitchFamily="34" charset="-122"/>
                <a:cs typeface="Calibri" pitchFamily="34" charset="-120"/>
              </a:rPr>
              <a:t>LSTM converges ~30% lower loss. With small N, recurrence generalizes better than attention.</a:t>
            </a:r>
            <a:endParaRPr lang="en-US" sz="1000" dirty="0"/>
          </a:p>
        </p:txBody>
      </p:sp>
      <p:sp>
        <p:nvSpPr>
          <p:cNvPr id="11" name="Text 8"/>
          <p:cNvSpPr/>
          <p:nvPr/>
        </p:nvSpPr>
        <p:spPr>
          <a:xfrm>
            <a:off x="3730752" y="4544568"/>
            <a:ext cx="5321808" cy="438912"/>
          </a:xfrm>
          <a:prstGeom prst="rect">
            <a:avLst/>
          </a:prstGeom>
          <a:noFill/>
          <a:ln/>
        </p:spPr>
        <p:txBody>
          <a:bodyPr wrap="square" rtlCol="0" anchor="ctr"/>
          <a:lstStyle/>
          <a:p>
            <a:pPr marL="0" indent="0">
              <a:buNone/>
            </a:pPr>
            <a:r>
              <a:rPr lang="en-US" sz="1000" b="1" dirty="0">
                <a:solidFill>
                  <a:srgbClr val="0E8BA0"/>
                </a:solidFill>
                <a:latin typeface="Calibri" pitchFamily="34" charset="0"/>
                <a:ea typeface="Calibri" pitchFamily="34" charset="-122"/>
                <a:cs typeface="Calibri" pitchFamily="34" charset="-120"/>
              </a:rPr>
              <a:t>Both still declining: </a:t>
            </a:r>
            <a:r>
              <a:rPr lang="en-US" sz="1000" dirty="0">
                <a:solidFill>
                  <a:srgbClr val="2C3E50"/>
                </a:solidFill>
                <a:latin typeface="Calibri" pitchFamily="34" charset="0"/>
                <a:ea typeface="Calibri" pitchFamily="34" charset="-122"/>
                <a:cs typeface="Calibri" pitchFamily="34" charset="-120"/>
              </a:rPr>
              <a:t>Neither model has fully converged at epoch 35 — more epochs or a scheduler would improve results.</a:t>
            </a:r>
            <a:endParaRPr lang="en-US" sz="1000" dirty="0"/>
          </a:p>
        </p:txBody>
      </p:sp>
      <p:pic>
        <p:nvPicPr>
          <p:cNvPr id="13" name="Picture 12">
            <a:extLst>
              <a:ext uri="{FF2B5EF4-FFF2-40B4-BE49-F238E27FC236}">
                <a16:creationId xmlns:a16="http://schemas.microsoft.com/office/drawing/2014/main" id="{8689F42E-6B03-6BE3-2F33-E69CE8A1A901}"/>
              </a:ext>
            </a:extLst>
          </p:cNvPr>
          <p:cNvPicPr>
            <a:picLocks noChangeAspect="1"/>
          </p:cNvPicPr>
          <p:nvPr/>
        </p:nvPicPr>
        <p:blipFill>
          <a:blip r:embed="rId3"/>
          <a:stretch>
            <a:fillRect/>
          </a:stretch>
        </p:blipFill>
        <p:spPr>
          <a:xfrm>
            <a:off x="3730752" y="636674"/>
            <a:ext cx="5076925" cy="227452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4" name="Text 2"/>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When Will LSTM / Transformer Outperform XGBoost?</a:t>
            </a:r>
            <a:endParaRPr lang="en-US" sz="2800" dirty="0"/>
          </a:p>
        </p:txBody>
      </p:sp>
      <p:sp>
        <p:nvSpPr>
          <p:cNvPr id="5" name="Shape 3"/>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6" name="Shape 4"/>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7" name="Shape 5"/>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8" name="Text 6"/>
          <p:cNvSpPr/>
          <p:nvPr/>
        </p:nvSpPr>
        <p:spPr>
          <a:xfrm>
            <a:off x="411480" y="91440"/>
            <a:ext cx="8321040" cy="960120"/>
          </a:xfrm>
          <a:prstGeom prst="rect">
            <a:avLst/>
          </a:prstGeom>
          <a:noFill/>
          <a:ln/>
        </p:spPr>
        <p:txBody>
          <a:bodyPr wrap="square" rtlCol="0" anchor="ctr"/>
          <a:lstStyle/>
          <a:p>
            <a:pPr marL="0" indent="0">
              <a:buNone/>
            </a:pPr>
            <a:r>
              <a:rPr lang="en-US" sz="2400" dirty="0">
                <a:solidFill>
                  <a:srgbClr val="FFFFFF"/>
                </a:solidFill>
                <a:latin typeface="Calibri" pitchFamily="34" charset="0"/>
                <a:ea typeface="Calibri" pitchFamily="34" charset="-122"/>
                <a:cs typeface="Calibri" pitchFamily="34" charset="-120"/>
              </a:rPr>
              <a:t>When Will LSTM / Transformer Outperform XGBoost?</a:t>
            </a:r>
            <a:endParaRPr lang="en-US" sz="2400" dirty="0"/>
          </a:p>
        </p:txBody>
      </p:sp>
      <p:sp>
        <p:nvSpPr>
          <p:cNvPr id="9" name="Shape 7"/>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10" name="Text 8"/>
          <p:cNvSpPr/>
          <p:nvPr/>
        </p:nvSpPr>
        <p:spPr>
          <a:xfrm>
            <a:off x="274320" y="1261872"/>
            <a:ext cx="2743200" cy="384048"/>
          </a:xfrm>
          <a:prstGeom prst="rect">
            <a:avLst/>
          </a:prstGeom>
          <a:noFill/>
          <a:ln/>
        </p:spPr>
        <p:txBody>
          <a:bodyPr wrap="square" lIns="0" tIns="0" rIns="0" bIns="0" rtlCol="0" anchor="ctr"/>
          <a:lstStyle/>
          <a:p>
            <a:pPr marL="0" indent="0">
              <a:buNone/>
            </a:pPr>
            <a:r>
              <a:rPr lang="en-US" sz="1100" b="1" dirty="0">
                <a:solidFill>
                  <a:srgbClr val="0E8BA0"/>
                </a:solidFill>
                <a:latin typeface="Calibri" pitchFamily="34" charset="0"/>
                <a:ea typeface="Calibri" pitchFamily="34" charset="-122"/>
                <a:cs typeface="Calibri" pitchFamily="34" charset="-120"/>
              </a:rPr>
              <a:t>LSTM Will Win When...</a:t>
            </a:r>
            <a:endParaRPr lang="en-US" sz="1100" dirty="0"/>
          </a:p>
        </p:txBody>
      </p:sp>
      <p:sp>
        <p:nvSpPr>
          <p:cNvPr id="11" name="Shape 9"/>
          <p:cNvSpPr/>
          <p:nvPr/>
        </p:nvSpPr>
        <p:spPr>
          <a:xfrm>
            <a:off x="274320" y="1664208"/>
            <a:ext cx="2743200" cy="20117"/>
          </a:xfrm>
          <a:prstGeom prst="rect">
            <a:avLst/>
          </a:prstGeom>
          <a:solidFill>
            <a:srgbClr val="0E8BA0"/>
          </a:solidFill>
          <a:ln w="12700">
            <a:solidFill>
              <a:srgbClr val="0E8BA0"/>
            </a:solidFill>
            <a:prstDash val="solid"/>
          </a:ln>
        </p:spPr>
        <p:txBody>
          <a:bodyPr/>
          <a:lstStyle/>
          <a:p>
            <a:endParaRPr lang="en-US"/>
          </a:p>
        </p:txBody>
      </p:sp>
      <p:sp>
        <p:nvSpPr>
          <p:cNvPr id="12" name="Text 10"/>
          <p:cNvSpPr/>
          <p:nvPr/>
        </p:nvSpPr>
        <p:spPr>
          <a:xfrm>
            <a:off x="274320" y="173736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Temporal ORDER matters — rising lactate over 6h is more alarming than isolated elevated lactate</a:t>
            </a:r>
            <a:endParaRPr lang="en-US" sz="950" dirty="0"/>
          </a:p>
        </p:txBody>
      </p:sp>
      <p:sp>
        <p:nvSpPr>
          <p:cNvPr id="13" name="Text 11"/>
          <p:cNvSpPr/>
          <p:nvPr/>
        </p:nvSpPr>
        <p:spPr>
          <a:xfrm>
            <a:off x="274320" y="237744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Sequential dependencies exist — HR spike followed by BP drop is more predictive than either alone</a:t>
            </a:r>
            <a:endParaRPr lang="en-US" sz="950" dirty="0"/>
          </a:p>
        </p:txBody>
      </p:sp>
      <p:sp>
        <p:nvSpPr>
          <p:cNvPr id="14" name="Text 12"/>
          <p:cNvSpPr/>
          <p:nvPr/>
        </p:nvSpPr>
        <p:spPr>
          <a:xfrm>
            <a:off x="274320" y="301752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Dataset has 50K+ patients — LSTM needs volume to outlearn tree-based aggregate features</a:t>
            </a:r>
            <a:endParaRPr lang="en-US" sz="950" dirty="0"/>
          </a:p>
        </p:txBody>
      </p:sp>
      <p:sp>
        <p:nvSpPr>
          <p:cNvPr id="15" name="Text 13"/>
          <p:cNvSpPr/>
          <p:nvPr/>
        </p:nvSpPr>
        <p:spPr>
          <a:xfrm>
            <a:off x="274320" y="365760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Full SOFA labels used — cleaner labels amplify the sequential modeling advantage</a:t>
            </a:r>
            <a:endParaRPr lang="en-US" sz="950" dirty="0"/>
          </a:p>
        </p:txBody>
      </p:sp>
      <p:sp>
        <p:nvSpPr>
          <p:cNvPr id="16" name="Text 14"/>
          <p:cNvSpPr/>
          <p:nvPr/>
        </p:nvSpPr>
        <p:spPr>
          <a:xfrm>
            <a:off x="274320" y="429768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Multiple ICU admissions per patient — LSTM can exploit within-patient trajectory patterns</a:t>
            </a:r>
            <a:endParaRPr lang="en-US" sz="950" dirty="0"/>
          </a:p>
        </p:txBody>
      </p:sp>
      <p:sp>
        <p:nvSpPr>
          <p:cNvPr id="17" name="Text 15"/>
          <p:cNvSpPr/>
          <p:nvPr/>
        </p:nvSpPr>
        <p:spPr>
          <a:xfrm>
            <a:off x="3246120" y="1261872"/>
            <a:ext cx="2743200" cy="384048"/>
          </a:xfrm>
          <a:prstGeom prst="rect">
            <a:avLst/>
          </a:prstGeom>
          <a:noFill/>
          <a:ln/>
        </p:spPr>
        <p:txBody>
          <a:bodyPr wrap="square" lIns="0" tIns="0" rIns="0" bIns="0" rtlCol="0" anchor="ctr"/>
          <a:lstStyle/>
          <a:p>
            <a:pPr marL="0" indent="0">
              <a:buNone/>
            </a:pPr>
            <a:r>
              <a:rPr lang="en-US" sz="1100" b="1" dirty="0">
                <a:solidFill>
                  <a:srgbClr val="1464A0"/>
                </a:solidFill>
                <a:latin typeface="Calibri" pitchFamily="34" charset="0"/>
                <a:ea typeface="Calibri" pitchFamily="34" charset="-122"/>
                <a:cs typeface="Calibri" pitchFamily="34" charset="-120"/>
              </a:rPr>
              <a:t>Transformer Will Win When...</a:t>
            </a:r>
            <a:endParaRPr lang="en-US" sz="1100" dirty="0"/>
          </a:p>
        </p:txBody>
      </p:sp>
      <p:sp>
        <p:nvSpPr>
          <p:cNvPr id="18" name="Shape 16"/>
          <p:cNvSpPr/>
          <p:nvPr/>
        </p:nvSpPr>
        <p:spPr>
          <a:xfrm>
            <a:off x="3246120" y="1664208"/>
            <a:ext cx="2743200" cy="20117"/>
          </a:xfrm>
          <a:prstGeom prst="rect">
            <a:avLst/>
          </a:prstGeom>
          <a:solidFill>
            <a:srgbClr val="1464A0"/>
          </a:solidFill>
          <a:ln w="12700">
            <a:solidFill>
              <a:srgbClr val="1464A0"/>
            </a:solidFill>
            <a:prstDash val="solid"/>
          </a:ln>
        </p:spPr>
        <p:txBody>
          <a:bodyPr/>
          <a:lstStyle/>
          <a:p>
            <a:endParaRPr lang="en-US"/>
          </a:p>
        </p:txBody>
      </p:sp>
      <p:sp>
        <p:nvSpPr>
          <p:cNvPr id="19" name="Text 17"/>
          <p:cNvSpPr/>
          <p:nvPr/>
        </p:nvSpPr>
        <p:spPr>
          <a:xfrm>
            <a:off x="3246120" y="173736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Long-range attention across 48h window is needed — a deterioration at hour 2 correlating with a spike at hour 40</a:t>
            </a:r>
            <a:endParaRPr lang="en-US" sz="950" dirty="0"/>
          </a:p>
        </p:txBody>
      </p:sp>
      <p:sp>
        <p:nvSpPr>
          <p:cNvPr id="20" name="Text 18"/>
          <p:cNvSpPr/>
          <p:nvPr/>
        </p:nvSpPr>
        <p:spPr>
          <a:xfrm>
            <a:off x="3246120" y="237744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Large GPU compute is available — Colab T4/A100 enables full MIMIC cohort training</a:t>
            </a:r>
            <a:endParaRPr lang="en-US" sz="950" dirty="0"/>
          </a:p>
        </p:txBody>
      </p:sp>
      <p:sp>
        <p:nvSpPr>
          <p:cNvPr id="21" name="Text 19"/>
          <p:cNvSpPr/>
          <p:nvPr/>
        </p:nvSpPr>
        <p:spPr>
          <a:xfrm>
            <a:off x="3246120" y="301752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Attention visualization is required — heatmaps explain which time windows drove the prediction</a:t>
            </a:r>
            <a:endParaRPr lang="en-US" sz="950" dirty="0"/>
          </a:p>
        </p:txBody>
      </p:sp>
      <p:sp>
        <p:nvSpPr>
          <p:cNvPr id="22" name="Text 20"/>
          <p:cNvSpPr/>
          <p:nvPr/>
        </p:nvSpPr>
        <p:spPr>
          <a:xfrm>
            <a:off x="3246120" y="365760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Pre-training is possible — fine-tuning a clinical time-series foundation model (e.g., ETHOS) would far exceed XGBoost</a:t>
            </a:r>
            <a:endParaRPr lang="en-US" sz="950" dirty="0"/>
          </a:p>
        </p:txBody>
      </p:sp>
      <p:sp>
        <p:nvSpPr>
          <p:cNvPr id="23" name="Text 21"/>
          <p:cNvSpPr/>
          <p:nvPr/>
        </p:nvSpPr>
        <p:spPr>
          <a:xfrm>
            <a:off x="3246120" y="429768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Multiple physiological streams must be integrated — attention can cross-attend between vitals and labs</a:t>
            </a:r>
            <a:endParaRPr lang="en-US" sz="950" dirty="0"/>
          </a:p>
        </p:txBody>
      </p:sp>
      <p:sp>
        <p:nvSpPr>
          <p:cNvPr id="24" name="Text 22"/>
          <p:cNvSpPr/>
          <p:nvPr/>
        </p:nvSpPr>
        <p:spPr>
          <a:xfrm>
            <a:off x="6217920" y="1261872"/>
            <a:ext cx="2743200" cy="384048"/>
          </a:xfrm>
          <a:prstGeom prst="rect">
            <a:avLst/>
          </a:prstGeom>
          <a:noFill/>
          <a:ln/>
        </p:spPr>
        <p:txBody>
          <a:bodyPr wrap="square" lIns="0" tIns="0" rIns="0" bIns="0" rtlCol="0" anchor="ctr"/>
          <a:lstStyle/>
          <a:p>
            <a:pPr marL="0" indent="0">
              <a:buNone/>
            </a:pPr>
            <a:r>
              <a:rPr lang="en-US" sz="1100" b="1" dirty="0">
                <a:solidFill>
                  <a:srgbClr val="B45309"/>
                </a:solidFill>
                <a:latin typeface="Calibri" pitchFamily="34" charset="0"/>
                <a:ea typeface="Calibri" pitchFamily="34" charset="-122"/>
                <a:cs typeface="Calibri" pitchFamily="34" charset="-120"/>
              </a:rPr>
              <a:t>XGBoost Stays Ahead When...</a:t>
            </a:r>
            <a:endParaRPr lang="en-US" sz="1100" dirty="0"/>
          </a:p>
        </p:txBody>
      </p:sp>
      <p:sp>
        <p:nvSpPr>
          <p:cNvPr id="25" name="Shape 23"/>
          <p:cNvSpPr/>
          <p:nvPr/>
        </p:nvSpPr>
        <p:spPr>
          <a:xfrm>
            <a:off x="6217920" y="1664208"/>
            <a:ext cx="2743200" cy="20117"/>
          </a:xfrm>
          <a:prstGeom prst="rect">
            <a:avLst/>
          </a:prstGeom>
          <a:solidFill>
            <a:srgbClr val="B45309"/>
          </a:solidFill>
          <a:ln w="12700">
            <a:solidFill>
              <a:srgbClr val="B45309"/>
            </a:solidFill>
            <a:prstDash val="solid"/>
          </a:ln>
        </p:spPr>
        <p:txBody>
          <a:bodyPr/>
          <a:lstStyle/>
          <a:p>
            <a:endParaRPr lang="en-US"/>
          </a:p>
        </p:txBody>
      </p:sp>
      <p:sp>
        <p:nvSpPr>
          <p:cNvPr id="26" name="Text 24"/>
          <p:cNvSpPr/>
          <p:nvPr/>
        </p:nvSpPr>
        <p:spPr>
          <a:xfrm>
            <a:off x="6217920" y="173736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Dataset is small (&lt; 20K samples) — trees generalize better from few examples</a:t>
            </a:r>
            <a:endParaRPr lang="en-US" sz="950" dirty="0"/>
          </a:p>
        </p:txBody>
      </p:sp>
      <p:sp>
        <p:nvSpPr>
          <p:cNvPr id="27" name="Text 25"/>
          <p:cNvSpPr/>
          <p:nvPr/>
        </p:nvSpPr>
        <p:spPr>
          <a:xfrm>
            <a:off x="6217920" y="237744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Temporal order does not matter — extreme lab values predict sepsis regardless of sequence</a:t>
            </a:r>
            <a:endParaRPr lang="en-US" sz="950" dirty="0"/>
          </a:p>
        </p:txBody>
      </p:sp>
      <p:sp>
        <p:nvSpPr>
          <p:cNvPr id="28" name="Text 26"/>
          <p:cNvSpPr/>
          <p:nvPr/>
        </p:nvSpPr>
        <p:spPr>
          <a:xfrm>
            <a:off x="6217920" y="301752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Interpretability is required — feature importance scores are directly explainable to clinicians</a:t>
            </a:r>
            <a:endParaRPr lang="en-US" sz="950" dirty="0"/>
          </a:p>
        </p:txBody>
      </p:sp>
      <p:sp>
        <p:nvSpPr>
          <p:cNvPr id="29" name="Text 27"/>
          <p:cNvSpPr/>
          <p:nvPr/>
        </p:nvSpPr>
        <p:spPr>
          <a:xfrm>
            <a:off x="6217920" y="365760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Fast deployment is needed — XGBoost inference is microseconds; Transformer is milliseconds</a:t>
            </a:r>
            <a:endParaRPr lang="en-US" sz="950" dirty="0"/>
          </a:p>
        </p:txBody>
      </p:sp>
      <p:sp>
        <p:nvSpPr>
          <p:cNvPr id="30" name="Text 28"/>
          <p:cNvSpPr/>
          <p:nvPr/>
        </p:nvSpPr>
        <p:spPr>
          <a:xfrm>
            <a:off x="6217920" y="4297680"/>
            <a:ext cx="2743200" cy="59436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 Missing data is common — tree models handle NaN natively without imputation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Evaluation</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Metrics</a:t>
            </a:r>
            <a:endParaRPr lang="en-US" sz="2800" dirty="0"/>
          </a:p>
        </p:txBody>
      </p:sp>
      <p:sp>
        <p:nvSpPr>
          <p:cNvPr id="6" name="Text 4"/>
          <p:cNvSpPr/>
          <p:nvPr/>
        </p:nvSpPr>
        <p:spPr>
          <a:xfrm>
            <a:off x="3730752" y="182880"/>
            <a:ext cx="5321808" cy="292608"/>
          </a:xfrm>
          <a:prstGeom prst="rect">
            <a:avLst/>
          </a:prstGeom>
          <a:noFill/>
          <a:ln/>
        </p:spPr>
        <p:txBody>
          <a:bodyPr wrap="square" lIns="0" tIns="0" rIns="0" bIns="0" rtlCol="0" anchor="ctr"/>
          <a:lstStyle/>
          <a:p>
            <a:pPr marL="0" indent="0">
              <a:buNone/>
            </a:pPr>
            <a:r>
              <a:rPr lang="en-US" sz="1400" b="1" dirty="0">
                <a:solidFill>
                  <a:srgbClr val="0E8BA0"/>
                </a:solidFill>
                <a:latin typeface="Calibri" pitchFamily="34" charset="0"/>
                <a:ea typeface="Calibri" pitchFamily="34" charset="-122"/>
                <a:cs typeface="Calibri" pitchFamily="34" charset="-120"/>
              </a:rPr>
              <a:t>AUC-ROC</a:t>
            </a:r>
            <a:endParaRPr lang="en-US" sz="1400" dirty="0"/>
          </a:p>
        </p:txBody>
      </p:sp>
      <p:sp>
        <p:nvSpPr>
          <p:cNvPr id="7" name="Text 5"/>
          <p:cNvSpPr/>
          <p:nvPr/>
        </p:nvSpPr>
        <p:spPr>
          <a:xfrm>
            <a:off x="3730752" y="493776"/>
            <a:ext cx="5321808" cy="82296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Area Under the Receiver Operating Characteristic Curve. Measures how well the model RANKS septic patients above non-septic ones across all possible thresholds. AUC=1.0 is perfect; AUC=0.5 is random guessing. Our models: 0.887–0.924.</a:t>
            </a:r>
            <a:endParaRPr lang="en-US" sz="1050" dirty="0"/>
          </a:p>
        </p:txBody>
      </p:sp>
      <p:sp>
        <p:nvSpPr>
          <p:cNvPr id="8" name="Text 6"/>
          <p:cNvSpPr/>
          <p:nvPr/>
        </p:nvSpPr>
        <p:spPr>
          <a:xfrm>
            <a:off x="3730752" y="1371600"/>
            <a:ext cx="5321808" cy="274320"/>
          </a:xfrm>
          <a:prstGeom prst="rect">
            <a:avLst/>
          </a:prstGeom>
          <a:noFill/>
          <a:ln/>
        </p:spPr>
        <p:txBody>
          <a:bodyPr wrap="square" lIns="0" tIns="0" rIns="0" bIns="0" rtlCol="0" anchor="ctr"/>
          <a:lstStyle/>
          <a:p>
            <a:pPr marL="0" indent="0">
              <a:buNone/>
            </a:pPr>
            <a:r>
              <a:rPr lang="en-US" sz="950" i="1" dirty="0">
                <a:solidFill>
                  <a:srgbClr val="B45309"/>
                </a:solidFill>
                <a:latin typeface="Calibri" pitchFamily="34" charset="0"/>
                <a:ea typeface="Calibri" pitchFamily="34" charset="-122"/>
                <a:cs typeface="Calibri" pitchFamily="34" charset="-120"/>
              </a:rPr>
              <a:t>⚠ Can be misleadingly high when data is imbalanced (97% negatives).</a:t>
            </a:r>
            <a:endParaRPr lang="en-US" sz="950" dirty="0"/>
          </a:p>
        </p:txBody>
      </p:sp>
      <p:sp>
        <p:nvSpPr>
          <p:cNvPr id="9" name="Shape 7"/>
          <p:cNvSpPr/>
          <p:nvPr/>
        </p:nvSpPr>
        <p:spPr>
          <a:xfrm>
            <a:off x="3730752" y="1691640"/>
            <a:ext cx="5321808" cy="16459"/>
          </a:xfrm>
          <a:prstGeom prst="rect">
            <a:avLst/>
          </a:prstGeom>
          <a:solidFill>
            <a:srgbClr val="E0EEF5"/>
          </a:solidFill>
          <a:ln w="12700">
            <a:solidFill>
              <a:srgbClr val="E0EEF5"/>
            </a:solidFill>
            <a:prstDash val="solid"/>
          </a:ln>
        </p:spPr>
        <p:txBody>
          <a:bodyPr/>
          <a:lstStyle/>
          <a:p>
            <a:endParaRPr lang="en-US"/>
          </a:p>
        </p:txBody>
      </p:sp>
      <p:sp>
        <p:nvSpPr>
          <p:cNvPr id="10" name="Text 8"/>
          <p:cNvSpPr/>
          <p:nvPr/>
        </p:nvSpPr>
        <p:spPr>
          <a:xfrm>
            <a:off x="3730752" y="1755648"/>
            <a:ext cx="5321808" cy="292608"/>
          </a:xfrm>
          <a:prstGeom prst="rect">
            <a:avLst/>
          </a:prstGeom>
          <a:noFill/>
          <a:ln/>
        </p:spPr>
        <p:txBody>
          <a:bodyPr wrap="square" lIns="0" tIns="0" rIns="0" bIns="0" rtlCol="0" anchor="ctr"/>
          <a:lstStyle/>
          <a:p>
            <a:pPr marL="0" indent="0">
              <a:buNone/>
            </a:pPr>
            <a:r>
              <a:rPr lang="en-US" sz="1400" b="1" dirty="0">
                <a:solidFill>
                  <a:srgbClr val="0E8BA0"/>
                </a:solidFill>
                <a:latin typeface="Calibri" pitchFamily="34" charset="0"/>
                <a:ea typeface="Calibri" pitchFamily="34" charset="-122"/>
                <a:cs typeface="Calibri" pitchFamily="34" charset="-120"/>
              </a:rPr>
              <a:t>AUPRC</a:t>
            </a:r>
            <a:endParaRPr lang="en-US" sz="1400" dirty="0"/>
          </a:p>
        </p:txBody>
      </p:sp>
      <p:sp>
        <p:nvSpPr>
          <p:cNvPr id="11" name="Text 9"/>
          <p:cNvSpPr/>
          <p:nvPr/>
        </p:nvSpPr>
        <p:spPr>
          <a:xfrm>
            <a:off x="3730752" y="2066544"/>
            <a:ext cx="5321808" cy="82296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Area Under the Precision-Recall Curve. Measures performance specifically on the positive class. With a 3% positive rate, random AUPRC ≈ 0.03. Our models achieve 0.207–0.305 — a 7–10× lift over random. This is the most honest metric for imbalanced medical data.</a:t>
            </a:r>
            <a:endParaRPr lang="en-US" sz="1050" dirty="0"/>
          </a:p>
        </p:txBody>
      </p:sp>
      <p:sp>
        <p:nvSpPr>
          <p:cNvPr id="12" name="Text 10"/>
          <p:cNvSpPr/>
          <p:nvPr/>
        </p:nvSpPr>
        <p:spPr>
          <a:xfrm>
            <a:off x="3730752" y="2944368"/>
            <a:ext cx="5321808" cy="274320"/>
          </a:xfrm>
          <a:prstGeom prst="rect">
            <a:avLst/>
          </a:prstGeom>
          <a:noFill/>
          <a:ln/>
        </p:spPr>
        <p:txBody>
          <a:bodyPr wrap="square" lIns="0" tIns="0" rIns="0" bIns="0" rtlCol="0" anchor="ctr"/>
          <a:lstStyle/>
          <a:p>
            <a:pPr marL="0" indent="0">
              <a:buNone/>
            </a:pPr>
            <a:r>
              <a:rPr lang="en-US" sz="950" i="1" dirty="0">
                <a:solidFill>
                  <a:srgbClr val="B45309"/>
                </a:solidFill>
                <a:latin typeface="Calibri" pitchFamily="34" charset="0"/>
                <a:ea typeface="Calibri" pitchFamily="34" charset="-122"/>
                <a:cs typeface="Calibri" pitchFamily="34" charset="-120"/>
              </a:rPr>
              <a:t>⚠ Lower than AUC but more clinically relevant.</a:t>
            </a:r>
            <a:endParaRPr lang="en-US" sz="950" dirty="0"/>
          </a:p>
        </p:txBody>
      </p:sp>
      <p:sp>
        <p:nvSpPr>
          <p:cNvPr id="13" name="Shape 11"/>
          <p:cNvSpPr/>
          <p:nvPr/>
        </p:nvSpPr>
        <p:spPr>
          <a:xfrm>
            <a:off x="3730752" y="3264408"/>
            <a:ext cx="5321808" cy="16459"/>
          </a:xfrm>
          <a:prstGeom prst="rect">
            <a:avLst/>
          </a:prstGeom>
          <a:solidFill>
            <a:srgbClr val="E0EEF5"/>
          </a:solidFill>
          <a:ln w="12700">
            <a:solidFill>
              <a:srgbClr val="E0EEF5"/>
            </a:solidFill>
            <a:prstDash val="solid"/>
          </a:ln>
        </p:spPr>
        <p:txBody>
          <a:bodyPr/>
          <a:lstStyle/>
          <a:p>
            <a:endParaRPr lang="en-US"/>
          </a:p>
        </p:txBody>
      </p:sp>
      <p:sp>
        <p:nvSpPr>
          <p:cNvPr id="14" name="Text 12"/>
          <p:cNvSpPr/>
          <p:nvPr/>
        </p:nvSpPr>
        <p:spPr>
          <a:xfrm>
            <a:off x="3730752" y="3328416"/>
            <a:ext cx="5321808" cy="292608"/>
          </a:xfrm>
          <a:prstGeom prst="rect">
            <a:avLst/>
          </a:prstGeom>
          <a:noFill/>
          <a:ln/>
        </p:spPr>
        <p:txBody>
          <a:bodyPr wrap="square" lIns="0" tIns="0" rIns="0" bIns="0" rtlCol="0" anchor="ctr"/>
          <a:lstStyle/>
          <a:p>
            <a:pPr marL="0" indent="0">
              <a:buNone/>
            </a:pPr>
            <a:r>
              <a:rPr lang="en-US" sz="1400" b="1" dirty="0">
                <a:solidFill>
                  <a:srgbClr val="0E8BA0"/>
                </a:solidFill>
                <a:latin typeface="Calibri" pitchFamily="34" charset="0"/>
                <a:ea typeface="Calibri" pitchFamily="34" charset="-122"/>
                <a:cs typeface="Calibri" pitchFamily="34" charset="-120"/>
              </a:rPr>
              <a:t>F1 Score</a:t>
            </a:r>
            <a:endParaRPr lang="en-US" sz="1400" dirty="0"/>
          </a:p>
        </p:txBody>
      </p:sp>
      <p:sp>
        <p:nvSpPr>
          <p:cNvPr id="15" name="Text 13"/>
          <p:cNvSpPr/>
          <p:nvPr/>
        </p:nvSpPr>
        <p:spPr>
          <a:xfrm>
            <a:off x="3730752" y="3639312"/>
            <a:ext cx="5321808" cy="822960"/>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Harmonic mean of Precision and Recall at the optimal threshold. Precision = of all predicted positives, how many are real? Recall = of all real positives, how many did we catch? We auto-tune the threshold from 0.01–0.50 to maximize F1. Our models: 0.281–0.337.</a:t>
            </a:r>
            <a:endParaRPr lang="en-US" sz="1050" dirty="0"/>
          </a:p>
        </p:txBody>
      </p:sp>
      <p:sp>
        <p:nvSpPr>
          <p:cNvPr id="16" name="Text 14"/>
          <p:cNvSpPr/>
          <p:nvPr/>
        </p:nvSpPr>
        <p:spPr>
          <a:xfrm>
            <a:off x="3730752" y="4517136"/>
            <a:ext cx="5321808" cy="274320"/>
          </a:xfrm>
          <a:prstGeom prst="rect">
            <a:avLst/>
          </a:prstGeom>
          <a:noFill/>
          <a:ln/>
        </p:spPr>
        <p:txBody>
          <a:bodyPr wrap="square" lIns="0" tIns="0" rIns="0" bIns="0" rtlCol="0" anchor="ctr"/>
          <a:lstStyle/>
          <a:p>
            <a:pPr marL="0" indent="0">
              <a:buNone/>
            </a:pPr>
            <a:r>
              <a:rPr lang="en-US" sz="950" i="1" dirty="0">
                <a:solidFill>
                  <a:srgbClr val="B45309"/>
                </a:solidFill>
                <a:latin typeface="Calibri" pitchFamily="34" charset="0"/>
                <a:ea typeface="Calibri" pitchFamily="34" charset="-122"/>
                <a:cs typeface="Calibri" pitchFamily="34" charset="-120"/>
              </a:rPr>
              <a:t>⚠ Depends on threshold choice — we use auto-tuning.</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4" name="Text 2"/>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Model Performance Results</a:t>
            </a:r>
            <a:endParaRPr lang="en-US" sz="2800" dirty="0"/>
          </a:p>
        </p:txBody>
      </p:sp>
      <p:sp>
        <p:nvSpPr>
          <p:cNvPr id="5" name="Shape 3"/>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6" name="Shape 4"/>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7" name="Shape 5"/>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8" name="Text 6"/>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Model Performance Results</a:t>
            </a:r>
            <a:endParaRPr lang="en-US" sz="2800" dirty="0"/>
          </a:p>
        </p:txBody>
      </p:sp>
      <p:sp>
        <p:nvSpPr>
          <p:cNvPr id="9" name="Shape 7"/>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2960" y="1298448"/>
          <a:ext cx="7498080" cy="1572768"/>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393192">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0D1E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AUC-ROC</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0D1E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AUPRC</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0D1E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 Score</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0D1E2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Best At</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0D1E2E"/>
                    </a:solidFill>
                  </a:tcPr>
                </a:tc>
                <a:extLst>
                  <a:ext uri="{0D108BD9-81ED-4DB2-BD59-A6C34878D82A}">
                    <a16:rowId xmlns:a16="http://schemas.microsoft.com/office/drawing/2014/main" val="10000"/>
                  </a:ext>
                </a:extLst>
              </a:tr>
              <a:tr h="393192">
                <a:tc>
                  <a:txBody>
                    <a:bodyPr/>
                    <a:lstStyle/>
                    <a:p>
                      <a:pPr marL="0" indent="0" algn="ctr">
                        <a:buNone/>
                      </a:pPr>
                      <a:r>
                        <a:rPr lang="en-US" sz="1300" b="1" dirty="0">
                          <a:solidFill>
                            <a:srgbClr val="0D1E2E"/>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FF7E6"/>
                    </a:solidFill>
                  </a:tcPr>
                </a:tc>
                <a:tc>
                  <a:txBody>
                    <a:bodyPr/>
                    <a:lstStyle/>
                    <a:p>
                      <a:pPr marL="0" indent="0" algn="ctr">
                        <a:buNone/>
                      </a:pPr>
                      <a:r>
                        <a:rPr lang="en-US" sz="1300" b="1" dirty="0">
                          <a:solidFill>
                            <a:srgbClr val="92400E"/>
                          </a:solidFill>
                          <a:latin typeface="Calibri" pitchFamily="34" charset="0"/>
                          <a:ea typeface="Calibri" pitchFamily="34" charset="-122"/>
                          <a:cs typeface="Calibri" pitchFamily="34" charset="-120"/>
                        </a:rPr>
                        <a:t>0.9186 ★</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FF7E6"/>
                    </a:solidFill>
                  </a:tcPr>
                </a:tc>
                <a:tc>
                  <a:txBody>
                    <a:bodyPr/>
                    <a:lstStyle/>
                    <a:p>
                      <a:pPr marL="0" indent="0" algn="ctr">
                        <a:buNone/>
                      </a:pPr>
                      <a:r>
                        <a:rPr lang="en-US" sz="1300" b="1" dirty="0">
                          <a:solidFill>
                            <a:srgbClr val="92400E"/>
                          </a:solidFill>
                          <a:latin typeface="Calibri" pitchFamily="34" charset="0"/>
                          <a:ea typeface="Calibri" pitchFamily="34" charset="-122"/>
                          <a:cs typeface="Calibri" pitchFamily="34" charset="-120"/>
                        </a:rPr>
                        <a:t>0.3047 ★</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FF7E6"/>
                    </a:solidFill>
                  </a:tcPr>
                </a:tc>
                <a:tc>
                  <a:txBody>
                    <a:bodyPr/>
                    <a:lstStyle/>
                    <a:p>
                      <a:pPr marL="0" indent="0" algn="ctr">
                        <a:buNone/>
                      </a:pPr>
                      <a:r>
                        <a:rPr lang="en-US" sz="1300" dirty="0">
                          <a:solidFill>
                            <a:srgbClr val="2C3E50"/>
                          </a:solidFill>
                          <a:latin typeface="Calibri" pitchFamily="34" charset="0"/>
                          <a:ea typeface="Calibri" pitchFamily="34" charset="-122"/>
                          <a:cs typeface="Calibri" pitchFamily="34" charset="-120"/>
                        </a:rPr>
                        <a:t>0.2824</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FF7E6"/>
                    </a:solidFill>
                  </a:tcPr>
                </a:tc>
                <a:tc>
                  <a:txBody>
                    <a:bodyPr/>
                    <a:lstStyle/>
                    <a:p>
                      <a:pPr marL="0" indent="0" algn="ctr">
                        <a:buNone/>
                      </a:pPr>
                      <a:r>
                        <a:rPr lang="en-US" sz="1300" dirty="0">
                          <a:solidFill>
                            <a:srgbClr val="92400E"/>
                          </a:solidFill>
                          <a:latin typeface="Calibri" pitchFamily="34" charset="0"/>
                          <a:ea typeface="Calibri" pitchFamily="34" charset="-122"/>
                          <a:cs typeface="Calibri" pitchFamily="34" charset="-120"/>
                        </a:rPr>
                        <a:t>AUC, AUPRC</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FF7E6"/>
                    </a:solidFill>
                  </a:tcPr>
                </a:tc>
                <a:extLst>
                  <a:ext uri="{0D108BD9-81ED-4DB2-BD59-A6C34878D82A}">
                    <a16:rowId xmlns:a16="http://schemas.microsoft.com/office/drawing/2014/main" val="10001"/>
                  </a:ext>
                </a:extLst>
              </a:tr>
              <a:tr h="393192">
                <a:tc>
                  <a:txBody>
                    <a:bodyPr/>
                    <a:lstStyle/>
                    <a:p>
                      <a:pPr marL="0" indent="0" algn="ctr">
                        <a:buNone/>
                      </a:pPr>
                      <a:r>
                        <a:rPr lang="en-US" sz="1300" b="1" dirty="0">
                          <a:solidFill>
                            <a:srgbClr val="0D1E2E"/>
                          </a:solidFill>
                          <a:latin typeface="Calibri" pitchFamily="34" charset="0"/>
                          <a:ea typeface="Calibri" pitchFamily="34" charset="-122"/>
                          <a:cs typeface="Calibri" pitchFamily="34" charset="-120"/>
                        </a:rPr>
                        <a:t>Transformer</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EFF6FF"/>
                    </a:solidFill>
                  </a:tcPr>
                </a:tc>
                <a:tc>
                  <a:txBody>
                    <a:bodyPr/>
                    <a:lstStyle/>
                    <a:p>
                      <a:pPr marL="0" indent="0" algn="ctr">
                        <a:buNone/>
                      </a:pPr>
                      <a:r>
                        <a:rPr lang="en-US" sz="1300" dirty="0">
                          <a:solidFill>
                            <a:srgbClr val="2C3E50"/>
                          </a:solidFill>
                          <a:latin typeface="Calibri" pitchFamily="34" charset="0"/>
                          <a:ea typeface="Calibri" pitchFamily="34" charset="-122"/>
                          <a:cs typeface="Calibri" pitchFamily="34" charset="-120"/>
                        </a:rPr>
                        <a:t>0.8872</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EFF6FF"/>
                    </a:solidFill>
                  </a:tcPr>
                </a:tc>
                <a:tc>
                  <a:txBody>
                    <a:bodyPr/>
                    <a:lstStyle/>
                    <a:p>
                      <a:pPr marL="0" indent="0" algn="ctr">
                        <a:buNone/>
                      </a:pPr>
                      <a:r>
                        <a:rPr lang="en-US" sz="1300" dirty="0">
                          <a:solidFill>
                            <a:srgbClr val="2C3E50"/>
                          </a:solidFill>
                          <a:latin typeface="Calibri" pitchFamily="34" charset="0"/>
                          <a:ea typeface="Calibri" pitchFamily="34" charset="-122"/>
                          <a:cs typeface="Calibri" pitchFamily="34" charset="-120"/>
                        </a:rPr>
                        <a:t>0.2065</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EFF6FF"/>
                    </a:solidFill>
                  </a:tcPr>
                </a:tc>
                <a:tc>
                  <a:txBody>
                    <a:bodyPr/>
                    <a:lstStyle/>
                    <a:p>
                      <a:pPr marL="0" indent="0" algn="ctr">
                        <a:buNone/>
                      </a:pPr>
                      <a:r>
                        <a:rPr lang="en-US" sz="1300" b="1" dirty="0">
                          <a:solidFill>
                            <a:srgbClr val="1E40AF"/>
                          </a:solidFill>
                          <a:latin typeface="Calibri" pitchFamily="34" charset="0"/>
                          <a:ea typeface="Calibri" pitchFamily="34" charset="-122"/>
                          <a:cs typeface="Calibri" pitchFamily="34" charset="-120"/>
                        </a:rPr>
                        <a:t>0.3367 ★</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EFF6FF"/>
                    </a:solidFill>
                  </a:tcPr>
                </a:tc>
                <a:tc>
                  <a:txBody>
                    <a:bodyPr/>
                    <a:lstStyle/>
                    <a:p>
                      <a:pPr marL="0" indent="0" algn="ctr">
                        <a:buNone/>
                      </a:pPr>
                      <a:r>
                        <a:rPr lang="en-US" sz="1300" dirty="0">
                          <a:solidFill>
                            <a:srgbClr val="1E40AF"/>
                          </a:solidFill>
                          <a:latin typeface="Calibri" pitchFamily="34" charset="0"/>
                          <a:ea typeface="Calibri" pitchFamily="34" charset="-122"/>
                          <a:cs typeface="Calibri" pitchFamily="34" charset="-120"/>
                        </a:rPr>
                        <a:t>F1 Score</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393192">
                <a:tc>
                  <a:txBody>
                    <a:bodyPr/>
                    <a:lstStyle/>
                    <a:p>
                      <a:pPr marL="0" indent="0" algn="ctr">
                        <a:buNone/>
                      </a:pPr>
                      <a:r>
                        <a:rPr lang="en-US" sz="1300" b="1" dirty="0">
                          <a:solidFill>
                            <a:srgbClr val="0D1E2E"/>
                          </a:solidFill>
                          <a:latin typeface="Calibri" pitchFamily="34" charset="0"/>
                          <a:ea typeface="Calibri" pitchFamily="34" charset="-122"/>
                          <a:cs typeface="Calibri" pitchFamily="34" charset="-120"/>
                        </a:rPr>
                        <a:t>LSTM</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0FDF4"/>
                    </a:solidFill>
                  </a:tcPr>
                </a:tc>
                <a:tc>
                  <a:txBody>
                    <a:bodyPr/>
                    <a:lstStyle/>
                    <a:p>
                      <a:pPr marL="0" indent="0" algn="ctr">
                        <a:buNone/>
                      </a:pPr>
                      <a:r>
                        <a:rPr lang="en-US" sz="1300" dirty="0">
                          <a:solidFill>
                            <a:srgbClr val="2C3E50"/>
                          </a:solidFill>
                          <a:latin typeface="Calibri" pitchFamily="34" charset="0"/>
                          <a:ea typeface="Calibri" pitchFamily="34" charset="-122"/>
                          <a:cs typeface="Calibri" pitchFamily="34" charset="-120"/>
                        </a:rPr>
                        <a:t>0.9242 ★</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0FDF4"/>
                    </a:solidFill>
                  </a:tcPr>
                </a:tc>
                <a:tc>
                  <a:txBody>
                    <a:bodyPr/>
                    <a:lstStyle/>
                    <a:p>
                      <a:pPr marL="0" indent="0" algn="ctr">
                        <a:buNone/>
                      </a:pPr>
                      <a:r>
                        <a:rPr lang="en-US" sz="1300" dirty="0">
                          <a:solidFill>
                            <a:srgbClr val="2C3E50"/>
                          </a:solidFill>
                          <a:latin typeface="Calibri" pitchFamily="34" charset="0"/>
                          <a:ea typeface="Calibri" pitchFamily="34" charset="-122"/>
                          <a:cs typeface="Calibri" pitchFamily="34" charset="-120"/>
                        </a:rPr>
                        <a:t>0.2186</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0FDF4"/>
                    </a:solidFill>
                  </a:tcPr>
                </a:tc>
                <a:tc>
                  <a:txBody>
                    <a:bodyPr/>
                    <a:lstStyle/>
                    <a:p>
                      <a:pPr marL="0" indent="0" algn="ctr">
                        <a:buNone/>
                      </a:pPr>
                      <a:r>
                        <a:rPr lang="en-US" sz="1300" dirty="0">
                          <a:solidFill>
                            <a:srgbClr val="2C3E50"/>
                          </a:solidFill>
                          <a:latin typeface="Calibri" pitchFamily="34" charset="0"/>
                          <a:ea typeface="Calibri" pitchFamily="34" charset="-122"/>
                          <a:cs typeface="Calibri" pitchFamily="34" charset="-120"/>
                        </a:rPr>
                        <a:t>0.2807</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0FDF4"/>
                    </a:solidFill>
                  </a:tcPr>
                </a:tc>
                <a:tc>
                  <a:txBody>
                    <a:bodyPr/>
                    <a:lstStyle/>
                    <a:p>
                      <a:pPr marL="0" indent="0" algn="ctr">
                        <a:buNone/>
                      </a:pPr>
                      <a:r>
                        <a:rPr lang="en-US" sz="1300" dirty="0">
                          <a:solidFill>
                            <a:srgbClr val="166534"/>
                          </a:solidFill>
                          <a:latin typeface="Calibri" pitchFamily="34" charset="0"/>
                          <a:ea typeface="Calibri" pitchFamily="34" charset="-122"/>
                          <a:cs typeface="Calibri" pitchFamily="34" charset="-120"/>
                        </a:rPr>
                        <a:t>AUC</a:t>
                      </a:r>
                      <a:endParaRPr lang="en-US" sz="1300" dirty="0">
                        <a:latin typeface="Calibri" charset="0"/>
                        <a:ea typeface="Calibri" charset="0"/>
                        <a:cs typeface="Calibri" charset="0"/>
                      </a:endParaRPr>
                    </a:p>
                  </a:txBody>
                  <a:tcPr>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F0FDF4"/>
                    </a:solidFill>
                  </a:tcPr>
                </a:tc>
                <a:extLst>
                  <a:ext uri="{0D108BD9-81ED-4DB2-BD59-A6C34878D82A}">
                    <a16:rowId xmlns:a16="http://schemas.microsoft.com/office/drawing/2014/main" val="10003"/>
                  </a:ext>
                </a:extLst>
              </a:tr>
            </a:tbl>
          </a:graphicData>
        </a:graphic>
      </p:graphicFrame>
      <p:graphicFrame>
        <p:nvGraphicFramePr>
          <p:cNvPr id="11" name="Chart 0"/>
          <p:cNvGraphicFramePr/>
          <p:nvPr/>
        </p:nvGraphicFramePr>
        <p:xfrm>
          <a:off x="822960" y="3127248"/>
          <a:ext cx="7498080" cy="17830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2242686" cy="5143500"/>
          </a:xfrm>
          <a:prstGeom prst="rect">
            <a:avLst/>
          </a:prstGeom>
          <a:solidFill>
            <a:srgbClr val="0D1E2E"/>
          </a:solidFill>
          <a:ln w="12700">
            <a:solidFill>
              <a:srgbClr val="0D1E2E"/>
            </a:solidFill>
            <a:prstDash val="solid"/>
          </a:ln>
        </p:spPr>
        <p:txBody>
          <a:bodyPr/>
          <a:lstStyle/>
          <a:p>
            <a:endParaRPr lang="en-US"/>
          </a:p>
        </p:txBody>
      </p:sp>
      <p:sp>
        <p:nvSpPr>
          <p:cNvPr id="4" name="Shape 2"/>
          <p:cNvSpPr/>
          <p:nvPr/>
        </p:nvSpPr>
        <p:spPr>
          <a:xfrm>
            <a:off x="2242686" y="0"/>
            <a:ext cx="6901314"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1" y="0"/>
            <a:ext cx="2242686"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Performance Metrics</a:t>
            </a:r>
            <a:endParaRPr lang="en-US" sz="2800" dirty="0"/>
          </a:p>
        </p:txBody>
      </p:sp>
      <p:sp>
        <p:nvSpPr>
          <p:cNvPr id="6" name="Text 4"/>
          <p:cNvSpPr/>
          <p:nvPr/>
        </p:nvSpPr>
        <p:spPr>
          <a:xfrm>
            <a:off x="2377440" y="164592"/>
            <a:ext cx="6675120"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How to Read the ROC and PR Curves</a:t>
            </a:r>
            <a:endParaRPr lang="en-US" sz="1300" dirty="0"/>
          </a:p>
        </p:txBody>
      </p:sp>
      <p:sp>
        <p:nvSpPr>
          <p:cNvPr id="7" name="Text 5"/>
          <p:cNvSpPr/>
          <p:nvPr/>
        </p:nvSpPr>
        <p:spPr>
          <a:xfrm>
            <a:off x="2377440" y="548640"/>
            <a:ext cx="6675120" cy="256032"/>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ROC Curve (Receiver Operating Characteristic)</a:t>
            </a:r>
            <a:endParaRPr lang="en-US" sz="1050" dirty="0"/>
          </a:p>
        </p:txBody>
      </p:sp>
      <p:sp>
        <p:nvSpPr>
          <p:cNvPr id="8" name="Text 6"/>
          <p:cNvSpPr/>
          <p:nvPr/>
        </p:nvSpPr>
        <p:spPr>
          <a:xfrm>
            <a:off x="2377440" y="822960"/>
            <a:ext cx="6675120" cy="57366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X-axis: False Positive Rate (FPR) — fraction of non-septic patients incorrectly alarmed. Y-axis: True Positive Rate (TPR) — fraction of septic patients correctly detected. Each point = one probability threshold. The diagonal = random guessing (AUC=0.5). Our models cluster in the top-left — all three achieve AUC 0.887–0.924, meaning they rank septic patients above non-septic patients 87–91% of the time.</a:t>
            </a:r>
            <a:endParaRPr lang="en-US" sz="950" dirty="0"/>
          </a:p>
        </p:txBody>
      </p:sp>
      <p:sp>
        <p:nvSpPr>
          <p:cNvPr id="10" name="Text 8"/>
          <p:cNvSpPr/>
          <p:nvPr/>
        </p:nvSpPr>
        <p:spPr>
          <a:xfrm>
            <a:off x="2377440" y="1458227"/>
            <a:ext cx="6675120" cy="209349"/>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Precision-Recall Curve</a:t>
            </a:r>
            <a:endParaRPr lang="en-US" sz="1050" dirty="0"/>
          </a:p>
        </p:txBody>
      </p:sp>
      <p:sp>
        <p:nvSpPr>
          <p:cNvPr id="11" name="Text 9"/>
          <p:cNvSpPr/>
          <p:nvPr/>
        </p:nvSpPr>
        <p:spPr>
          <a:xfrm>
            <a:off x="2355782" y="1729177"/>
            <a:ext cx="6675120" cy="59195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X-axis: Recall (= TPR) — how many true sepsis cases are caught. Y-axis: Precision — of all predicted alarms, what fraction are real. The PR curve is more informative for imbalanced data because the random baseline ≈ positive rate (3%), not 0.5. Our models achieve AUPRC 0.207–0.305. The curve drops steeply after ~40% recall — meaning catching more than 40% of sepsis cases requires accepting many false alarms.</a:t>
            </a:r>
            <a:endParaRPr lang="en-US" sz="950" dirty="0"/>
          </a:p>
        </p:txBody>
      </p:sp>
      <p:pic>
        <p:nvPicPr>
          <p:cNvPr id="19" name="Picture 18">
            <a:extLst>
              <a:ext uri="{FF2B5EF4-FFF2-40B4-BE49-F238E27FC236}">
                <a16:creationId xmlns:a16="http://schemas.microsoft.com/office/drawing/2014/main" id="{C68F8B5F-8A38-3D62-AB31-AF469EAF6FC2}"/>
              </a:ext>
            </a:extLst>
          </p:cNvPr>
          <p:cNvPicPr>
            <a:picLocks noChangeAspect="1"/>
          </p:cNvPicPr>
          <p:nvPr/>
        </p:nvPicPr>
        <p:blipFill>
          <a:blip r:embed="rId3"/>
          <a:stretch>
            <a:fillRect/>
          </a:stretch>
        </p:blipFill>
        <p:spPr>
          <a:xfrm>
            <a:off x="2242685" y="2491481"/>
            <a:ext cx="3647976" cy="2581531"/>
          </a:xfrm>
          <a:prstGeom prst="rect">
            <a:avLst/>
          </a:prstGeom>
        </p:spPr>
      </p:pic>
      <p:pic>
        <p:nvPicPr>
          <p:cNvPr id="21" name="Picture 20">
            <a:extLst>
              <a:ext uri="{FF2B5EF4-FFF2-40B4-BE49-F238E27FC236}">
                <a16:creationId xmlns:a16="http://schemas.microsoft.com/office/drawing/2014/main" id="{CDD4E33F-78D3-4077-BB2F-16A0D7A852A9}"/>
              </a:ext>
            </a:extLst>
          </p:cNvPr>
          <p:cNvPicPr>
            <a:picLocks noChangeAspect="1"/>
          </p:cNvPicPr>
          <p:nvPr/>
        </p:nvPicPr>
        <p:blipFill>
          <a:blip r:embed="rId4"/>
          <a:stretch>
            <a:fillRect/>
          </a:stretch>
        </p:blipFill>
        <p:spPr>
          <a:xfrm>
            <a:off x="5971688" y="2653682"/>
            <a:ext cx="3091284" cy="218758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7432" y="0"/>
            <a:ext cx="3052652" cy="5143500"/>
          </a:xfrm>
          <a:prstGeom prst="rect">
            <a:avLst/>
          </a:prstGeom>
          <a:solidFill>
            <a:srgbClr val="0D1E2E"/>
          </a:solidFill>
          <a:ln w="12700">
            <a:solidFill>
              <a:srgbClr val="0D1E2E"/>
            </a:solidFill>
            <a:prstDash val="solid"/>
          </a:ln>
        </p:spPr>
        <p:txBody>
          <a:bodyPr/>
          <a:lstStyle/>
          <a:p>
            <a:endParaRPr lang="en-US"/>
          </a:p>
        </p:txBody>
      </p:sp>
      <p:sp>
        <p:nvSpPr>
          <p:cNvPr id="4" name="Shape 2"/>
          <p:cNvSpPr/>
          <p:nvPr/>
        </p:nvSpPr>
        <p:spPr>
          <a:xfrm>
            <a:off x="3080084" y="41063"/>
            <a:ext cx="6036484"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118872" y="163628"/>
            <a:ext cx="2508825" cy="1742173"/>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Sepsis</a:t>
            </a:r>
            <a:r>
              <a:rPr lang="en-US" sz="2800" dirty="0"/>
              <a:t> </a:t>
            </a:r>
            <a:r>
              <a:rPr lang="en-US" sz="2800" dirty="0">
                <a:solidFill>
                  <a:srgbClr val="FFFFFF"/>
                </a:solidFill>
                <a:latin typeface="Calibri" pitchFamily="34" charset="0"/>
                <a:ea typeface="Calibri" pitchFamily="34" charset="-122"/>
                <a:cs typeface="Calibri" pitchFamily="34" charset="-120"/>
              </a:rPr>
              <a:t>Risk</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Over</a:t>
            </a:r>
            <a:r>
              <a:rPr lang="en-US" sz="2800" dirty="0"/>
              <a:t> </a:t>
            </a:r>
            <a:r>
              <a:rPr lang="en-US" sz="2800" dirty="0">
                <a:solidFill>
                  <a:srgbClr val="FFFFFF"/>
                </a:solidFill>
                <a:latin typeface="Calibri" pitchFamily="34" charset="0"/>
                <a:ea typeface="Calibri" pitchFamily="34" charset="-122"/>
                <a:cs typeface="Calibri" pitchFamily="34" charset="-120"/>
              </a:rPr>
              <a:t>Time</a:t>
            </a:r>
            <a:endParaRPr lang="en-US" sz="2800" dirty="0"/>
          </a:p>
        </p:txBody>
      </p:sp>
      <p:sp>
        <p:nvSpPr>
          <p:cNvPr id="6" name="Text 4"/>
          <p:cNvSpPr/>
          <p:nvPr/>
        </p:nvSpPr>
        <p:spPr>
          <a:xfrm>
            <a:off x="3171524" y="77724"/>
            <a:ext cx="5881036" cy="274320"/>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What Is This Chart?</a:t>
            </a:r>
            <a:endParaRPr lang="en-US" sz="1300" dirty="0"/>
          </a:p>
        </p:txBody>
      </p:sp>
      <p:sp>
        <p:nvSpPr>
          <p:cNvPr id="7" name="Text 5"/>
          <p:cNvSpPr/>
          <p:nvPr/>
        </p:nvSpPr>
        <p:spPr>
          <a:xfrm>
            <a:off x="3171524" y="481483"/>
            <a:ext cx="5881036" cy="1321109"/>
          </a:xfrm>
          <a:prstGeom prst="rect">
            <a:avLst/>
          </a:prstGeom>
          <a:noFill/>
          <a:ln/>
        </p:spPr>
        <p:txBody>
          <a:bodyPr wrap="square" rtlCol="0" anchor="ctr"/>
          <a:lstStyle/>
          <a:p>
            <a:r>
              <a:rPr lang="en-US" sz="1100" dirty="0">
                <a:solidFill>
                  <a:srgbClr val="2C3E50"/>
                </a:solidFill>
                <a:latin typeface="Calibri" pitchFamily="34" charset="0"/>
                <a:ea typeface="Calibri" pitchFamily="34" charset="-122"/>
                <a:cs typeface="Calibri" pitchFamily="34" charset="-120"/>
              </a:rPr>
              <a:t>This chart simulates real-time ICU monitoring for a single test patient. The LSTM model is fed progressively longer sub-sequences — starting from the first hour — and we record the predicted sepsis probability at each step. A clinically useful model should show a smooth rise leading up to the onset window. Flat risk for most timesteps followed by a spike near onset is ideal. Our current model shows a gradual increase — qualitatively sensible but the signal could be sharper with better features and labels.</a:t>
            </a:r>
          </a:p>
          <a:p>
            <a:pPr marL="0" indent="0">
              <a:buNone/>
            </a:pPr>
            <a:endParaRPr lang="en-US" sz="1100" dirty="0"/>
          </a:p>
        </p:txBody>
      </p:sp>
      <p:sp>
        <p:nvSpPr>
          <p:cNvPr id="9" name="Text 7"/>
          <p:cNvSpPr/>
          <p:nvPr/>
        </p:nvSpPr>
        <p:spPr>
          <a:xfrm>
            <a:off x="3253339" y="1753933"/>
            <a:ext cx="5771789" cy="274320"/>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How to Read It</a:t>
            </a:r>
            <a:endParaRPr lang="en-US" sz="1300" dirty="0"/>
          </a:p>
        </p:txBody>
      </p:sp>
      <p:sp>
        <p:nvSpPr>
          <p:cNvPr id="10" name="Text 8"/>
          <p:cNvSpPr/>
          <p:nvPr/>
        </p:nvSpPr>
        <p:spPr>
          <a:xfrm>
            <a:off x="3253339" y="2115118"/>
            <a:ext cx="5321808" cy="201168"/>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 Flat line (low risk):</a:t>
            </a:r>
            <a:endParaRPr lang="en-US" sz="1050" dirty="0"/>
          </a:p>
        </p:txBody>
      </p:sp>
      <p:sp>
        <p:nvSpPr>
          <p:cNvPr id="11" name="Text 9"/>
          <p:cNvSpPr/>
          <p:nvPr/>
        </p:nvSpPr>
        <p:spPr>
          <a:xfrm>
            <a:off x="3253338" y="2350010"/>
            <a:ext cx="5678905" cy="39879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Early hours show low probability — the patient is stable. This is the expected baseline for a non-septic or pre-septic patient.</a:t>
            </a:r>
            <a:endParaRPr lang="en-US" sz="1000" dirty="0"/>
          </a:p>
        </p:txBody>
      </p:sp>
      <p:sp>
        <p:nvSpPr>
          <p:cNvPr id="12" name="Text 10"/>
          <p:cNvSpPr/>
          <p:nvPr/>
        </p:nvSpPr>
        <p:spPr>
          <a:xfrm>
            <a:off x="4499016" y="2839747"/>
            <a:ext cx="3538079" cy="180973"/>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 Rising signal:</a:t>
            </a:r>
            <a:endParaRPr lang="en-US" sz="1050" dirty="0"/>
          </a:p>
        </p:txBody>
      </p:sp>
      <p:sp>
        <p:nvSpPr>
          <p:cNvPr id="13" name="Text 11"/>
          <p:cNvSpPr/>
          <p:nvPr/>
        </p:nvSpPr>
        <p:spPr>
          <a:xfrm>
            <a:off x="4499016" y="3107588"/>
            <a:ext cx="4433227" cy="46314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Probability climbs as more timesteps accumulate. The model is detecting worsening patterns — rising lactate, tachycardia, or falling MAP — emerging over time.</a:t>
            </a:r>
            <a:endParaRPr lang="en-US" sz="1000" dirty="0"/>
          </a:p>
        </p:txBody>
      </p:sp>
      <p:sp>
        <p:nvSpPr>
          <p:cNvPr id="14" name="Text 12"/>
          <p:cNvSpPr/>
          <p:nvPr/>
        </p:nvSpPr>
        <p:spPr>
          <a:xfrm>
            <a:off x="4499016" y="3608678"/>
            <a:ext cx="4076131" cy="244146"/>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 Decision threshold (red dashed):</a:t>
            </a:r>
            <a:endParaRPr lang="en-US" sz="1050" dirty="0"/>
          </a:p>
        </p:txBody>
      </p:sp>
      <p:sp>
        <p:nvSpPr>
          <p:cNvPr id="15" name="Text 13"/>
          <p:cNvSpPr/>
          <p:nvPr/>
        </p:nvSpPr>
        <p:spPr>
          <a:xfrm>
            <a:off x="4499016" y="3824935"/>
            <a:ext cx="4433227" cy="293215"/>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The horizontal line at 0.5 is the classification boundary. When the predicted risk crosses this line, the model would trigger a sepsis alarm.</a:t>
            </a:r>
            <a:endParaRPr lang="en-US" sz="1000" dirty="0"/>
          </a:p>
        </p:txBody>
      </p:sp>
      <p:sp>
        <p:nvSpPr>
          <p:cNvPr id="16" name="Text 14"/>
          <p:cNvSpPr/>
          <p:nvPr/>
        </p:nvSpPr>
        <p:spPr>
          <a:xfrm>
            <a:off x="4499016" y="4291279"/>
            <a:ext cx="4553544" cy="184337"/>
          </a:xfrm>
          <a:prstGeom prst="rect">
            <a:avLst/>
          </a:prstGeom>
          <a:noFill/>
          <a:ln/>
        </p:spPr>
        <p:txBody>
          <a:bodyPr wrap="square" lIns="0" tIns="0" rIns="0" bIns="0" rtlCol="0" anchor="ctr"/>
          <a:lstStyle/>
          <a:p>
            <a:pPr marL="0" indent="0">
              <a:buNone/>
            </a:pPr>
            <a:r>
              <a:rPr lang="en-US" sz="1050" b="1" dirty="0">
                <a:solidFill>
                  <a:srgbClr val="0E7C86"/>
                </a:solidFill>
                <a:latin typeface="Calibri" pitchFamily="34" charset="0"/>
                <a:ea typeface="Calibri" pitchFamily="34" charset="-122"/>
                <a:cs typeface="Calibri" pitchFamily="34" charset="-120"/>
              </a:rPr>
              <a:t>▸ Gradual vs. sharp rise:</a:t>
            </a:r>
            <a:endParaRPr lang="en-US" sz="1050" dirty="0"/>
          </a:p>
        </p:txBody>
      </p:sp>
      <p:sp>
        <p:nvSpPr>
          <p:cNvPr id="17" name="Text 15"/>
          <p:cNvSpPr/>
          <p:nvPr/>
        </p:nvSpPr>
        <p:spPr>
          <a:xfrm>
            <a:off x="4499016" y="4535424"/>
            <a:ext cx="4433227" cy="55935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An ideal early-warning model shows a sharp spike 6–12 hours before clinical sepsis onset. A gradual rise (as seen here) is clinically sensible but indicates the model responds to chronic deterioration rather than acute pre-sepsis changes.</a:t>
            </a:r>
            <a:endParaRPr lang="en-US" sz="1000" dirty="0"/>
          </a:p>
        </p:txBody>
      </p:sp>
      <p:pic>
        <p:nvPicPr>
          <p:cNvPr id="19" name="Picture 18">
            <a:extLst>
              <a:ext uri="{FF2B5EF4-FFF2-40B4-BE49-F238E27FC236}">
                <a16:creationId xmlns:a16="http://schemas.microsoft.com/office/drawing/2014/main" id="{D5B367F0-B0A2-3A27-1905-5069B8E6DA4C}"/>
              </a:ext>
            </a:extLst>
          </p:cNvPr>
          <p:cNvPicPr>
            <a:picLocks noChangeAspect="1"/>
          </p:cNvPicPr>
          <p:nvPr/>
        </p:nvPicPr>
        <p:blipFill>
          <a:blip r:embed="rId3"/>
          <a:stretch>
            <a:fillRect/>
          </a:stretch>
        </p:blipFill>
        <p:spPr>
          <a:xfrm>
            <a:off x="118872" y="2839747"/>
            <a:ext cx="4288704" cy="18666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Transformer</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Attention</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Heatmap</a:t>
            </a:r>
            <a:endParaRPr lang="en-US" sz="2800" dirty="0"/>
          </a:p>
        </p:txBody>
      </p:sp>
      <p:sp>
        <p:nvSpPr>
          <p:cNvPr id="6" name="Text 4"/>
          <p:cNvSpPr/>
          <p:nvPr/>
        </p:nvSpPr>
        <p:spPr>
          <a:xfrm>
            <a:off x="3730752" y="123444"/>
            <a:ext cx="5321808" cy="274320"/>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What Is the Attention Heatmap?</a:t>
            </a:r>
            <a:endParaRPr lang="en-US" sz="1300" dirty="0"/>
          </a:p>
        </p:txBody>
      </p:sp>
      <p:sp>
        <p:nvSpPr>
          <p:cNvPr id="7" name="Text 5"/>
          <p:cNvSpPr/>
          <p:nvPr/>
        </p:nvSpPr>
        <p:spPr>
          <a:xfrm>
            <a:off x="3730752" y="397764"/>
            <a:ext cx="5321808" cy="566928"/>
          </a:xfrm>
          <a:prstGeom prst="rect">
            <a:avLst/>
          </a:prstGeom>
          <a:noFill/>
          <a:ln/>
        </p:spPr>
        <p:txBody>
          <a:bodyPr wrap="square" rtlCol="0" anchor="ctr"/>
          <a:lstStyle/>
          <a:p>
            <a:r>
              <a:rPr lang="en-US" sz="1100" dirty="0">
                <a:solidFill>
                  <a:srgbClr val="2C3E50"/>
                </a:solidFill>
                <a:latin typeface="Calibri" pitchFamily="34" charset="0"/>
                <a:ea typeface="Calibri" pitchFamily="34" charset="-122"/>
                <a:cs typeface="Calibri" pitchFamily="34" charset="-120"/>
              </a:rPr>
              <a:t>The Transformer's self-attention mechanism produces a </a:t>
            </a:r>
            <a:r>
              <a:rPr lang="en-US" sz="1100" b="1" dirty="0">
                <a:solidFill>
                  <a:srgbClr val="0D1E2E"/>
                </a:solidFill>
                <a:latin typeface="Calibri" pitchFamily="34" charset="0"/>
                <a:ea typeface="Calibri" pitchFamily="34" charset="-122"/>
                <a:cs typeface="Calibri" pitchFamily="34" charset="-120"/>
              </a:rPr>
              <a:t>48 × 48 weight matrix</a:t>
            </a:r>
            <a:r>
              <a:rPr lang="en-US" sz="1100" dirty="0">
                <a:solidFill>
                  <a:srgbClr val="2C3E50"/>
                </a:solidFill>
                <a:latin typeface="Calibri" pitchFamily="34" charset="0"/>
                <a:ea typeface="Calibri" pitchFamily="34" charset="-122"/>
                <a:cs typeface="Calibri" pitchFamily="34" charset="-120"/>
              </a:rPr>
              <a:t> — one weight for every pair of timesteps (hours). Brighter colours = higher attention weight. A well-trained model should show a diagonal plus a recency bias.</a:t>
            </a:r>
            <a:endParaRPr lang="en-US" sz="1100" dirty="0"/>
          </a:p>
        </p:txBody>
      </p:sp>
      <p:sp>
        <p:nvSpPr>
          <p:cNvPr id="8" name="Shape 6"/>
          <p:cNvSpPr/>
          <p:nvPr/>
        </p:nvSpPr>
        <p:spPr>
          <a:xfrm>
            <a:off x="3730752" y="1143000"/>
            <a:ext cx="5321808" cy="16459"/>
          </a:xfrm>
          <a:prstGeom prst="rect">
            <a:avLst/>
          </a:prstGeom>
          <a:solidFill>
            <a:srgbClr val="E2E8F0"/>
          </a:solidFill>
          <a:ln w="12700">
            <a:solidFill>
              <a:srgbClr val="E2E8F0"/>
            </a:solidFill>
            <a:prstDash val="solid"/>
          </a:ln>
        </p:spPr>
        <p:txBody>
          <a:bodyPr/>
          <a:lstStyle/>
          <a:p>
            <a:endParaRPr lang="en-US"/>
          </a:p>
        </p:txBody>
      </p:sp>
      <p:pic>
        <p:nvPicPr>
          <p:cNvPr id="19" name="Picture 18">
            <a:extLst>
              <a:ext uri="{FF2B5EF4-FFF2-40B4-BE49-F238E27FC236}">
                <a16:creationId xmlns:a16="http://schemas.microsoft.com/office/drawing/2014/main" id="{8D4C066B-B417-C909-4D1A-D3FB362A16BC}"/>
              </a:ext>
            </a:extLst>
          </p:cNvPr>
          <p:cNvPicPr>
            <a:picLocks noChangeAspect="1"/>
          </p:cNvPicPr>
          <p:nvPr/>
        </p:nvPicPr>
        <p:blipFill>
          <a:blip r:embed="rId3"/>
          <a:stretch>
            <a:fillRect/>
          </a:stretch>
        </p:blipFill>
        <p:spPr>
          <a:xfrm>
            <a:off x="3730752" y="1143000"/>
            <a:ext cx="4597507" cy="395948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4" name="Text 2"/>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Interpretation &amp; Key Takeaways</a:t>
            </a:r>
            <a:endParaRPr lang="en-US" sz="2800" dirty="0"/>
          </a:p>
        </p:txBody>
      </p:sp>
      <p:sp>
        <p:nvSpPr>
          <p:cNvPr id="5" name="Shape 3"/>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6" name="Shape 4"/>
          <p:cNvSpPr/>
          <p:nvPr/>
        </p:nvSpPr>
        <p:spPr>
          <a:xfrm>
            <a:off x="0" y="0"/>
            <a:ext cx="9144000" cy="1143000"/>
          </a:xfrm>
          <a:prstGeom prst="rect">
            <a:avLst/>
          </a:prstGeom>
          <a:solidFill>
            <a:srgbClr val="0D1E2E"/>
          </a:solidFill>
          <a:ln w="12700">
            <a:solidFill>
              <a:srgbClr val="0D1E2E"/>
            </a:solidFill>
            <a:prstDash val="solid"/>
          </a:ln>
        </p:spPr>
        <p:txBody>
          <a:bodyPr/>
          <a:lstStyle/>
          <a:p>
            <a:endParaRPr lang="en-US"/>
          </a:p>
        </p:txBody>
      </p:sp>
      <p:sp>
        <p:nvSpPr>
          <p:cNvPr id="7" name="Shape 5"/>
          <p:cNvSpPr/>
          <p:nvPr/>
        </p:nvSpPr>
        <p:spPr>
          <a:xfrm>
            <a:off x="5486400" y="0"/>
            <a:ext cx="3657600" cy="1143000"/>
          </a:xfrm>
          <a:prstGeom prst="rect">
            <a:avLst/>
          </a:prstGeom>
          <a:solidFill>
            <a:srgbClr val="0A3D4A"/>
          </a:solidFill>
          <a:ln w="12700">
            <a:solidFill>
              <a:srgbClr val="0A3D4A"/>
            </a:solidFill>
            <a:prstDash val="solid"/>
          </a:ln>
        </p:spPr>
        <p:txBody>
          <a:bodyPr/>
          <a:lstStyle/>
          <a:p>
            <a:endParaRPr lang="en-US"/>
          </a:p>
        </p:txBody>
      </p:sp>
      <p:sp>
        <p:nvSpPr>
          <p:cNvPr id="8" name="Text 6"/>
          <p:cNvSpPr/>
          <p:nvPr/>
        </p:nvSpPr>
        <p:spPr>
          <a:xfrm>
            <a:off x="411480" y="91440"/>
            <a:ext cx="8321040" cy="9601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Interpretation &amp; Key Takeaways</a:t>
            </a:r>
            <a:endParaRPr lang="en-US" sz="2800" dirty="0"/>
          </a:p>
        </p:txBody>
      </p:sp>
      <p:sp>
        <p:nvSpPr>
          <p:cNvPr id="9" name="Shape 7"/>
          <p:cNvSpPr/>
          <p:nvPr/>
        </p:nvSpPr>
        <p:spPr>
          <a:xfrm>
            <a:off x="0" y="1143000"/>
            <a:ext cx="9144000" cy="50292"/>
          </a:xfrm>
          <a:prstGeom prst="rect">
            <a:avLst/>
          </a:prstGeom>
          <a:solidFill>
            <a:srgbClr val="0E8BA0"/>
          </a:solidFill>
          <a:ln w="12700">
            <a:solidFill>
              <a:srgbClr val="0E8BA0"/>
            </a:solidFill>
            <a:prstDash val="solid"/>
          </a:ln>
        </p:spPr>
        <p:txBody>
          <a:bodyPr/>
          <a:lstStyle/>
          <a:p>
            <a:endParaRPr lang="en-US"/>
          </a:p>
        </p:txBody>
      </p:sp>
      <p:sp>
        <p:nvSpPr>
          <p:cNvPr id="10" name="Text 8"/>
          <p:cNvSpPr/>
          <p:nvPr/>
        </p:nvSpPr>
        <p:spPr>
          <a:xfrm>
            <a:off x="274320" y="1298448"/>
            <a:ext cx="457200" cy="640080"/>
          </a:xfrm>
          <a:prstGeom prst="rect">
            <a:avLst/>
          </a:prstGeom>
          <a:noFill/>
          <a:ln/>
        </p:spPr>
        <p:txBody>
          <a:bodyPr wrap="square" lIns="0" tIns="0" rIns="0" bIns="0" rtlCol="0" anchor="ctr"/>
          <a:lstStyle/>
          <a:p>
            <a:pPr marL="0" indent="0" algn="ctr">
              <a:buNone/>
            </a:pPr>
            <a:r>
              <a:rPr lang="en-US" sz="1800" b="1" dirty="0">
                <a:solidFill>
                  <a:srgbClr val="0E8BA0"/>
                </a:solidFill>
                <a:latin typeface="Calibri" pitchFamily="34" charset="0"/>
                <a:ea typeface="Calibri" pitchFamily="34" charset="-122"/>
                <a:cs typeface="Calibri" pitchFamily="34" charset="-120"/>
              </a:rPr>
              <a:t>01</a:t>
            </a:r>
            <a:endParaRPr lang="en-US" sz="1800" dirty="0"/>
          </a:p>
        </p:txBody>
      </p:sp>
      <p:sp>
        <p:nvSpPr>
          <p:cNvPr id="11" name="Shape 9"/>
          <p:cNvSpPr/>
          <p:nvPr/>
        </p:nvSpPr>
        <p:spPr>
          <a:xfrm>
            <a:off x="777240" y="1344168"/>
            <a:ext cx="22860" cy="548640"/>
          </a:xfrm>
          <a:prstGeom prst="rect">
            <a:avLst/>
          </a:prstGeom>
          <a:solidFill>
            <a:srgbClr val="0E8BA0"/>
          </a:solidFill>
          <a:ln w="12700">
            <a:solidFill>
              <a:srgbClr val="0E8BA0"/>
            </a:solidFill>
            <a:prstDash val="solid"/>
          </a:ln>
        </p:spPr>
        <p:txBody>
          <a:bodyPr/>
          <a:lstStyle/>
          <a:p>
            <a:endParaRPr lang="en-US"/>
          </a:p>
        </p:txBody>
      </p:sp>
      <p:sp>
        <p:nvSpPr>
          <p:cNvPr id="12" name="Text 10"/>
          <p:cNvSpPr/>
          <p:nvPr/>
        </p:nvSpPr>
        <p:spPr>
          <a:xfrm>
            <a:off x="868680" y="1298448"/>
            <a:ext cx="7955280" cy="274320"/>
          </a:xfrm>
          <a:prstGeom prst="rect">
            <a:avLst/>
          </a:prstGeom>
          <a:noFill/>
          <a:ln/>
        </p:spPr>
        <p:txBody>
          <a:bodyPr wrap="square" lIns="0" tIns="0" rIns="0" bIns="0" rtlCol="0" anchor="ctr"/>
          <a:lstStyle/>
          <a:p>
            <a:pPr marL="0" indent="0">
              <a:buNone/>
            </a:pPr>
            <a:r>
              <a:rPr lang="en-US" sz="1100" b="1" dirty="0">
                <a:solidFill>
                  <a:srgbClr val="0D1E2E"/>
                </a:solidFill>
                <a:latin typeface="Calibri" pitchFamily="34" charset="0"/>
                <a:ea typeface="Calibri" pitchFamily="34" charset="-122"/>
                <a:cs typeface="Calibri" pitchFamily="34" charset="-120"/>
              </a:rPr>
              <a:t>AUC of 0.887–0.924 is clinically promising but not sufficient alone</a:t>
            </a:r>
            <a:endParaRPr lang="en-US" sz="1100" dirty="0"/>
          </a:p>
        </p:txBody>
      </p:sp>
      <p:sp>
        <p:nvSpPr>
          <p:cNvPr id="13" name="Text 11"/>
          <p:cNvSpPr/>
          <p:nvPr/>
        </p:nvSpPr>
        <p:spPr>
          <a:xfrm>
            <a:off x="868680" y="1591056"/>
            <a:ext cx="79552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All three models rank septic patients well above non-septic ones (AUC 0.887–0.924). However AUC measures ranking only, not calibration. The LSTM leads AUC yet trails in F1 — it ranks well but makes less decisive alarm decisions at any fixed threshold.</a:t>
            </a:r>
            <a:endParaRPr lang="en-US" sz="950" dirty="0"/>
          </a:p>
        </p:txBody>
      </p:sp>
      <p:sp>
        <p:nvSpPr>
          <p:cNvPr id="14" name="Shape 12"/>
          <p:cNvSpPr/>
          <p:nvPr/>
        </p:nvSpPr>
        <p:spPr>
          <a:xfrm>
            <a:off x="274320" y="2011680"/>
            <a:ext cx="8595360" cy="12802"/>
          </a:xfrm>
          <a:prstGeom prst="rect">
            <a:avLst/>
          </a:prstGeom>
          <a:solidFill>
            <a:srgbClr val="E8F0F5"/>
          </a:solidFill>
          <a:ln w="12700">
            <a:solidFill>
              <a:srgbClr val="E8F0F5"/>
            </a:solidFill>
            <a:prstDash val="solid"/>
          </a:ln>
        </p:spPr>
        <p:txBody>
          <a:bodyPr/>
          <a:lstStyle/>
          <a:p>
            <a:endParaRPr lang="en-US"/>
          </a:p>
        </p:txBody>
      </p:sp>
      <p:sp>
        <p:nvSpPr>
          <p:cNvPr id="15" name="Text 13"/>
          <p:cNvSpPr/>
          <p:nvPr/>
        </p:nvSpPr>
        <p:spPr>
          <a:xfrm>
            <a:off x="274320" y="2048256"/>
            <a:ext cx="457200" cy="640080"/>
          </a:xfrm>
          <a:prstGeom prst="rect">
            <a:avLst/>
          </a:prstGeom>
          <a:noFill/>
          <a:ln/>
        </p:spPr>
        <p:txBody>
          <a:bodyPr wrap="square" lIns="0" tIns="0" rIns="0" bIns="0" rtlCol="0" anchor="ctr"/>
          <a:lstStyle/>
          <a:p>
            <a:pPr marL="0" indent="0" algn="ctr">
              <a:buNone/>
            </a:pPr>
            <a:r>
              <a:rPr lang="en-US" sz="1800" b="1" dirty="0">
                <a:solidFill>
                  <a:srgbClr val="0E8BA0"/>
                </a:solidFill>
                <a:latin typeface="Calibri" pitchFamily="34" charset="0"/>
                <a:ea typeface="Calibri" pitchFamily="34" charset="-122"/>
                <a:cs typeface="Calibri" pitchFamily="34" charset="-120"/>
              </a:rPr>
              <a:t>02</a:t>
            </a:r>
            <a:endParaRPr lang="en-US" sz="1800" dirty="0"/>
          </a:p>
        </p:txBody>
      </p:sp>
      <p:sp>
        <p:nvSpPr>
          <p:cNvPr id="16" name="Shape 14"/>
          <p:cNvSpPr/>
          <p:nvPr/>
        </p:nvSpPr>
        <p:spPr>
          <a:xfrm>
            <a:off x="777240" y="2093976"/>
            <a:ext cx="22860" cy="548640"/>
          </a:xfrm>
          <a:prstGeom prst="rect">
            <a:avLst/>
          </a:prstGeom>
          <a:solidFill>
            <a:srgbClr val="0E8BA0"/>
          </a:solidFill>
          <a:ln w="12700">
            <a:solidFill>
              <a:srgbClr val="0E8BA0"/>
            </a:solidFill>
            <a:prstDash val="solid"/>
          </a:ln>
        </p:spPr>
        <p:txBody>
          <a:bodyPr/>
          <a:lstStyle/>
          <a:p>
            <a:endParaRPr lang="en-US"/>
          </a:p>
        </p:txBody>
      </p:sp>
      <p:sp>
        <p:nvSpPr>
          <p:cNvPr id="17" name="Text 15"/>
          <p:cNvSpPr/>
          <p:nvPr/>
        </p:nvSpPr>
        <p:spPr>
          <a:xfrm>
            <a:off x="868680" y="2048256"/>
            <a:ext cx="7955280" cy="274320"/>
          </a:xfrm>
          <a:prstGeom prst="rect">
            <a:avLst/>
          </a:prstGeom>
          <a:noFill/>
          <a:ln/>
        </p:spPr>
        <p:txBody>
          <a:bodyPr wrap="square" lIns="0" tIns="0" rIns="0" bIns="0" rtlCol="0" anchor="ctr"/>
          <a:lstStyle/>
          <a:p>
            <a:pPr marL="0" indent="0">
              <a:buNone/>
            </a:pPr>
            <a:r>
              <a:rPr lang="en-US" sz="1100" b="1" dirty="0">
                <a:solidFill>
                  <a:srgbClr val="0D1E2E"/>
                </a:solidFill>
                <a:latin typeface="Calibri" pitchFamily="34" charset="0"/>
                <a:ea typeface="Calibri" pitchFamily="34" charset="-122"/>
                <a:cs typeface="Calibri" pitchFamily="34" charset="-120"/>
              </a:rPr>
              <a:t>AUPRC of 0.207–0.305 is the honest bottleneck</a:t>
            </a:r>
            <a:endParaRPr lang="en-US" sz="1100" dirty="0"/>
          </a:p>
        </p:txBody>
      </p:sp>
      <p:sp>
        <p:nvSpPr>
          <p:cNvPr id="18" name="Text 16"/>
          <p:cNvSpPr/>
          <p:nvPr/>
        </p:nvSpPr>
        <p:spPr>
          <a:xfrm>
            <a:off x="868680" y="2340864"/>
            <a:ext cx="79552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With a real sepsis rate of ~3–5%, the precision-recall gap reveals that catching 40% of sepsis cases still requires accepting many false alarms. Improving AUPRC requires better labels, more data, and full SOFA implementation.</a:t>
            </a:r>
            <a:endParaRPr lang="en-US" sz="950" dirty="0"/>
          </a:p>
        </p:txBody>
      </p:sp>
      <p:sp>
        <p:nvSpPr>
          <p:cNvPr id="19" name="Shape 17"/>
          <p:cNvSpPr/>
          <p:nvPr/>
        </p:nvSpPr>
        <p:spPr>
          <a:xfrm>
            <a:off x="274320" y="2761488"/>
            <a:ext cx="8595360" cy="12802"/>
          </a:xfrm>
          <a:prstGeom prst="rect">
            <a:avLst/>
          </a:prstGeom>
          <a:solidFill>
            <a:srgbClr val="E8F0F5"/>
          </a:solidFill>
          <a:ln w="12700">
            <a:solidFill>
              <a:srgbClr val="E8F0F5"/>
            </a:solidFill>
            <a:prstDash val="solid"/>
          </a:ln>
        </p:spPr>
        <p:txBody>
          <a:bodyPr/>
          <a:lstStyle/>
          <a:p>
            <a:endParaRPr lang="en-US"/>
          </a:p>
        </p:txBody>
      </p:sp>
      <p:sp>
        <p:nvSpPr>
          <p:cNvPr id="20" name="Text 18"/>
          <p:cNvSpPr/>
          <p:nvPr/>
        </p:nvSpPr>
        <p:spPr>
          <a:xfrm>
            <a:off x="274320" y="2798064"/>
            <a:ext cx="457200" cy="640080"/>
          </a:xfrm>
          <a:prstGeom prst="rect">
            <a:avLst/>
          </a:prstGeom>
          <a:noFill/>
          <a:ln/>
        </p:spPr>
        <p:txBody>
          <a:bodyPr wrap="square" lIns="0" tIns="0" rIns="0" bIns="0" rtlCol="0" anchor="ctr"/>
          <a:lstStyle/>
          <a:p>
            <a:pPr marL="0" indent="0" algn="ctr">
              <a:buNone/>
            </a:pPr>
            <a:r>
              <a:rPr lang="en-US" sz="1800" b="1" dirty="0">
                <a:solidFill>
                  <a:srgbClr val="0E8BA0"/>
                </a:solidFill>
                <a:latin typeface="Calibri" pitchFamily="34" charset="0"/>
                <a:ea typeface="Calibri" pitchFamily="34" charset="-122"/>
                <a:cs typeface="Calibri" pitchFamily="34" charset="-120"/>
              </a:rPr>
              <a:t>03</a:t>
            </a:r>
            <a:endParaRPr lang="en-US" sz="1800" dirty="0"/>
          </a:p>
        </p:txBody>
      </p:sp>
      <p:sp>
        <p:nvSpPr>
          <p:cNvPr id="21" name="Shape 19"/>
          <p:cNvSpPr/>
          <p:nvPr/>
        </p:nvSpPr>
        <p:spPr>
          <a:xfrm>
            <a:off x="777240" y="2843784"/>
            <a:ext cx="22860" cy="548640"/>
          </a:xfrm>
          <a:prstGeom prst="rect">
            <a:avLst/>
          </a:prstGeom>
          <a:solidFill>
            <a:srgbClr val="0E8BA0"/>
          </a:solidFill>
          <a:ln w="12700">
            <a:solidFill>
              <a:srgbClr val="0E8BA0"/>
            </a:solidFill>
            <a:prstDash val="solid"/>
          </a:ln>
        </p:spPr>
        <p:txBody>
          <a:bodyPr/>
          <a:lstStyle/>
          <a:p>
            <a:endParaRPr lang="en-US"/>
          </a:p>
        </p:txBody>
      </p:sp>
      <p:sp>
        <p:nvSpPr>
          <p:cNvPr id="22" name="Text 20"/>
          <p:cNvSpPr/>
          <p:nvPr/>
        </p:nvSpPr>
        <p:spPr>
          <a:xfrm>
            <a:off x="868680" y="2798064"/>
            <a:ext cx="7955280" cy="274320"/>
          </a:xfrm>
          <a:prstGeom prst="rect">
            <a:avLst/>
          </a:prstGeom>
          <a:noFill/>
          <a:ln/>
        </p:spPr>
        <p:txBody>
          <a:bodyPr wrap="square" lIns="0" tIns="0" rIns="0" bIns="0" rtlCol="0" anchor="ctr"/>
          <a:lstStyle/>
          <a:p>
            <a:pPr marL="0" indent="0">
              <a:buNone/>
            </a:pPr>
            <a:r>
              <a:rPr lang="en-US" sz="1100" b="1" dirty="0">
                <a:solidFill>
                  <a:srgbClr val="0D1E2E"/>
                </a:solidFill>
                <a:latin typeface="Calibri" pitchFamily="34" charset="0"/>
                <a:ea typeface="Calibri" pitchFamily="34" charset="-122"/>
                <a:cs typeface="Calibri" pitchFamily="34" charset="-120"/>
              </a:rPr>
              <a:t>LSTM leads AUC — sequential context adds discriminative power</a:t>
            </a:r>
            <a:endParaRPr lang="en-US" sz="1100" dirty="0"/>
          </a:p>
        </p:txBody>
      </p:sp>
      <p:sp>
        <p:nvSpPr>
          <p:cNvPr id="23" name="Text 21"/>
          <p:cNvSpPr/>
          <p:nvPr/>
        </p:nvSpPr>
        <p:spPr>
          <a:xfrm>
            <a:off x="868680" y="3090672"/>
            <a:ext cx="79552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LSTM achieves AUC 0.9242, edging past XGBoost (0.9186). Its recurrent gates learn that rising lactate FOLLOWED by falling MAP is more alarming than either value alone — sequential context that XGBoost's aggregate statistics cannot capture.</a:t>
            </a:r>
            <a:endParaRPr lang="en-US" sz="950" dirty="0"/>
          </a:p>
        </p:txBody>
      </p:sp>
      <p:sp>
        <p:nvSpPr>
          <p:cNvPr id="24" name="Shape 22"/>
          <p:cNvSpPr/>
          <p:nvPr/>
        </p:nvSpPr>
        <p:spPr>
          <a:xfrm>
            <a:off x="274320" y="3511296"/>
            <a:ext cx="8595360" cy="12802"/>
          </a:xfrm>
          <a:prstGeom prst="rect">
            <a:avLst/>
          </a:prstGeom>
          <a:solidFill>
            <a:srgbClr val="E8F0F5"/>
          </a:solidFill>
          <a:ln w="12700">
            <a:solidFill>
              <a:srgbClr val="E8F0F5"/>
            </a:solidFill>
            <a:prstDash val="solid"/>
          </a:ln>
        </p:spPr>
        <p:txBody>
          <a:bodyPr/>
          <a:lstStyle/>
          <a:p>
            <a:endParaRPr lang="en-US"/>
          </a:p>
        </p:txBody>
      </p:sp>
      <p:sp>
        <p:nvSpPr>
          <p:cNvPr id="25" name="Text 23"/>
          <p:cNvSpPr/>
          <p:nvPr/>
        </p:nvSpPr>
        <p:spPr>
          <a:xfrm>
            <a:off x="274320" y="3547872"/>
            <a:ext cx="457200" cy="640080"/>
          </a:xfrm>
          <a:prstGeom prst="rect">
            <a:avLst/>
          </a:prstGeom>
          <a:noFill/>
          <a:ln/>
        </p:spPr>
        <p:txBody>
          <a:bodyPr wrap="square" lIns="0" tIns="0" rIns="0" bIns="0" rtlCol="0" anchor="ctr"/>
          <a:lstStyle/>
          <a:p>
            <a:pPr marL="0" indent="0" algn="ctr">
              <a:buNone/>
            </a:pPr>
            <a:r>
              <a:rPr lang="en-US" sz="1800" b="1" dirty="0">
                <a:solidFill>
                  <a:srgbClr val="0E8BA0"/>
                </a:solidFill>
                <a:latin typeface="Calibri" pitchFamily="34" charset="0"/>
                <a:ea typeface="Calibri" pitchFamily="34" charset="-122"/>
                <a:cs typeface="Calibri" pitchFamily="34" charset="-120"/>
              </a:rPr>
              <a:t>04</a:t>
            </a:r>
            <a:endParaRPr lang="en-US" sz="1800" dirty="0"/>
          </a:p>
        </p:txBody>
      </p:sp>
      <p:sp>
        <p:nvSpPr>
          <p:cNvPr id="26" name="Shape 24"/>
          <p:cNvSpPr/>
          <p:nvPr/>
        </p:nvSpPr>
        <p:spPr>
          <a:xfrm>
            <a:off x="777240" y="3593592"/>
            <a:ext cx="22860" cy="548640"/>
          </a:xfrm>
          <a:prstGeom prst="rect">
            <a:avLst/>
          </a:prstGeom>
          <a:solidFill>
            <a:srgbClr val="0E8BA0"/>
          </a:solidFill>
          <a:ln w="12700">
            <a:solidFill>
              <a:srgbClr val="0E8BA0"/>
            </a:solidFill>
            <a:prstDash val="solid"/>
          </a:ln>
        </p:spPr>
        <p:txBody>
          <a:bodyPr/>
          <a:lstStyle/>
          <a:p>
            <a:endParaRPr lang="en-US"/>
          </a:p>
        </p:txBody>
      </p:sp>
      <p:sp>
        <p:nvSpPr>
          <p:cNvPr id="27" name="Text 25"/>
          <p:cNvSpPr/>
          <p:nvPr/>
        </p:nvSpPr>
        <p:spPr>
          <a:xfrm>
            <a:off x="868680" y="3547872"/>
            <a:ext cx="7955280" cy="274320"/>
          </a:xfrm>
          <a:prstGeom prst="rect">
            <a:avLst/>
          </a:prstGeom>
          <a:noFill/>
          <a:ln/>
        </p:spPr>
        <p:txBody>
          <a:bodyPr wrap="square" lIns="0" tIns="0" rIns="0" bIns="0" rtlCol="0" anchor="ctr"/>
          <a:lstStyle/>
          <a:p>
            <a:pPr marL="0" indent="0">
              <a:buNone/>
            </a:pPr>
            <a:r>
              <a:rPr lang="en-US" sz="1100" b="1" dirty="0">
                <a:solidFill>
                  <a:srgbClr val="0D1E2E"/>
                </a:solidFill>
                <a:latin typeface="Calibri" pitchFamily="34" charset="0"/>
                <a:ea typeface="Calibri" pitchFamily="34" charset="-122"/>
                <a:cs typeface="Calibri" pitchFamily="34" charset="-120"/>
              </a:rPr>
              <a:t>Transformer achieves best F1 — most decisive for real triage</a:t>
            </a:r>
            <a:endParaRPr lang="en-US" sz="1100" dirty="0"/>
          </a:p>
        </p:txBody>
      </p:sp>
      <p:sp>
        <p:nvSpPr>
          <p:cNvPr id="28" name="Text 26"/>
          <p:cNvSpPr/>
          <p:nvPr/>
        </p:nvSpPr>
        <p:spPr>
          <a:xfrm>
            <a:off x="868680" y="3840480"/>
            <a:ext cx="79552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Despite lower AUC, the Transformer makes the most decisive alarm decisions at the optimal threshold (F1=0.3367). In a clinical alarm system, decisive predictions are more useful than well-ranked probabilities.</a:t>
            </a:r>
            <a:endParaRPr lang="en-US" sz="950" dirty="0"/>
          </a:p>
        </p:txBody>
      </p:sp>
      <p:sp>
        <p:nvSpPr>
          <p:cNvPr id="29" name="Shape 27"/>
          <p:cNvSpPr/>
          <p:nvPr/>
        </p:nvSpPr>
        <p:spPr>
          <a:xfrm>
            <a:off x="274320" y="4261104"/>
            <a:ext cx="8595360" cy="12802"/>
          </a:xfrm>
          <a:prstGeom prst="rect">
            <a:avLst/>
          </a:prstGeom>
          <a:solidFill>
            <a:srgbClr val="E8F0F5"/>
          </a:solidFill>
          <a:ln w="12700">
            <a:solidFill>
              <a:srgbClr val="E8F0F5"/>
            </a:solidFill>
            <a:prstDash val="solid"/>
          </a:ln>
        </p:spPr>
        <p:txBody>
          <a:bodyPr/>
          <a:lstStyle/>
          <a:p>
            <a:endParaRPr lang="en-US"/>
          </a:p>
        </p:txBody>
      </p:sp>
      <p:sp>
        <p:nvSpPr>
          <p:cNvPr id="30" name="Text 28"/>
          <p:cNvSpPr/>
          <p:nvPr/>
        </p:nvSpPr>
        <p:spPr>
          <a:xfrm>
            <a:off x="274320" y="4297680"/>
            <a:ext cx="457200" cy="640080"/>
          </a:xfrm>
          <a:prstGeom prst="rect">
            <a:avLst/>
          </a:prstGeom>
          <a:noFill/>
          <a:ln/>
        </p:spPr>
        <p:txBody>
          <a:bodyPr wrap="square" lIns="0" tIns="0" rIns="0" bIns="0" rtlCol="0" anchor="ctr"/>
          <a:lstStyle/>
          <a:p>
            <a:pPr marL="0" indent="0" algn="ctr">
              <a:buNone/>
            </a:pPr>
            <a:r>
              <a:rPr lang="en-US" sz="1800" b="1" dirty="0">
                <a:solidFill>
                  <a:srgbClr val="0E8BA0"/>
                </a:solidFill>
                <a:latin typeface="Calibri" pitchFamily="34" charset="0"/>
                <a:ea typeface="Calibri" pitchFamily="34" charset="-122"/>
                <a:cs typeface="Calibri" pitchFamily="34" charset="-120"/>
              </a:rPr>
              <a:t>05</a:t>
            </a:r>
            <a:endParaRPr lang="en-US" sz="1800" dirty="0"/>
          </a:p>
        </p:txBody>
      </p:sp>
      <p:sp>
        <p:nvSpPr>
          <p:cNvPr id="31" name="Shape 29"/>
          <p:cNvSpPr/>
          <p:nvPr/>
        </p:nvSpPr>
        <p:spPr>
          <a:xfrm>
            <a:off x="777240" y="4343400"/>
            <a:ext cx="22860" cy="548640"/>
          </a:xfrm>
          <a:prstGeom prst="rect">
            <a:avLst/>
          </a:prstGeom>
          <a:solidFill>
            <a:srgbClr val="0E8BA0"/>
          </a:solidFill>
          <a:ln w="12700">
            <a:solidFill>
              <a:srgbClr val="0E8BA0"/>
            </a:solidFill>
            <a:prstDash val="solid"/>
          </a:ln>
        </p:spPr>
        <p:txBody>
          <a:bodyPr/>
          <a:lstStyle/>
          <a:p>
            <a:endParaRPr lang="en-US"/>
          </a:p>
        </p:txBody>
      </p:sp>
      <p:sp>
        <p:nvSpPr>
          <p:cNvPr id="32" name="Text 30"/>
          <p:cNvSpPr/>
          <p:nvPr/>
        </p:nvSpPr>
        <p:spPr>
          <a:xfrm>
            <a:off x="868680" y="4297680"/>
            <a:ext cx="7955280" cy="274320"/>
          </a:xfrm>
          <a:prstGeom prst="rect">
            <a:avLst/>
          </a:prstGeom>
          <a:noFill/>
          <a:ln/>
        </p:spPr>
        <p:txBody>
          <a:bodyPr wrap="square" lIns="0" tIns="0" rIns="0" bIns="0" rtlCol="0" anchor="ctr"/>
          <a:lstStyle/>
          <a:p>
            <a:pPr marL="0" indent="0">
              <a:buNone/>
            </a:pPr>
            <a:r>
              <a:rPr lang="en-US" sz="1100" b="1" dirty="0">
                <a:solidFill>
                  <a:srgbClr val="0D1E2E"/>
                </a:solidFill>
                <a:latin typeface="Calibri" pitchFamily="34" charset="0"/>
                <a:ea typeface="Calibri" pitchFamily="34" charset="-122"/>
                <a:cs typeface="Calibri" pitchFamily="34" charset="-120"/>
              </a:rPr>
              <a:t>Label quality is the most impactful improvement</a:t>
            </a:r>
            <a:endParaRPr lang="en-US" sz="1100" dirty="0"/>
          </a:p>
        </p:txBody>
      </p:sp>
      <p:sp>
        <p:nvSpPr>
          <p:cNvPr id="33" name="Text 31"/>
          <p:cNvSpPr/>
          <p:nvPr/>
        </p:nvSpPr>
        <p:spPr>
          <a:xfrm>
            <a:off x="868680" y="4590288"/>
            <a:ext cx="7955280" cy="40233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The 32% row-level sepsis rate (vs. 3-5% in published cohorts) reveals that our simplified SOFA proxy over-labels positives. Full 6-criteria SOFA + published cohort definition would produce cleaner training signal.</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D1E2E"/>
          </a:solidFill>
          <a:ln w="12700">
            <a:solidFill>
              <a:srgbClr val="0D1E2E"/>
            </a:solidFill>
            <a:prstDash val="solid"/>
          </a:ln>
        </p:spPr>
        <p:txBody>
          <a:bodyPr/>
          <a:lstStyle/>
          <a:p>
            <a:endParaRPr lang="en-US"/>
          </a:p>
        </p:txBody>
      </p:sp>
      <p:sp>
        <p:nvSpPr>
          <p:cNvPr id="3" name="Shape 1"/>
          <p:cNvSpPr/>
          <p:nvPr/>
        </p:nvSpPr>
        <p:spPr>
          <a:xfrm>
            <a:off x="0" y="2571750"/>
            <a:ext cx="3474720" cy="2571750"/>
          </a:xfrm>
          <a:prstGeom prst="rect">
            <a:avLst/>
          </a:prstGeom>
          <a:solidFill>
            <a:srgbClr val="0A3D4A">
              <a:alpha val="60000"/>
            </a:srgbClr>
          </a:solidFill>
          <a:ln w="12700">
            <a:solidFill>
              <a:srgbClr val="0A3D4A">
                <a:alpha val="60000"/>
              </a:srgbClr>
            </a:solidFill>
            <a:prstDash val="solid"/>
          </a:ln>
        </p:spPr>
        <p:txBody>
          <a:bodyPr/>
          <a:lstStyle/>
          <a:p>
            <a:endParaRPr lang="en-US"/>
          </a:p>
        </p:txBody>
      </p:sp>
      <p:sp>
        <p:nvSpPr>
          <p:cNvPr id="4" name="Shape 2"/>
          <p:cNvSpPr/>
          <p:nvPr/>
        </p:nvSpPr>
        <p:spPr>
          <a:xfrm>
            <a:off x="3474720" y="0"/>
            <a:ext cx="5669280" cy="5143500"/>
          </a:xfrm>
          <a:prstGeom prst="rect">
            <a:avLst/>
          </a:prstGeom>
          <a:solidFill>
            <a:srgbClr val="FFFFFF"/>
          </a:solidFill>
          <a:ln w="12700">
            <a:solidFill>
              <a:srgbClr val="FFFFFF"/>
            </a:solidFill>
            <a:prstDash val="solid"/>
          </a:ln>
        </p:spPr>
        <p:txBody>
          <a:bodyPr/>
          <a:lstStyle/>
          <a:p>
            <a:endParaRPr lang="en-US"/>
          </a:p>
        </p:txBody>
      </p:sp>
      <p:sp>
        <p:nvSpPr>
          <p:cNvPr id="5" name="Text 3"/>
          <p:cNvSpPr/>
          <p:nvPr/>
        </p:nvSpPr>
        <p:spPr>
          <a:xfrm>
            <a:off x="228600" y="0"/>
            <a:ext cx="3108960" cy="51435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Lessons</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&amp;</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Future</a:t>
            </a:r>
            <a:endParaRPr lang="en-US" sz="2800" dirty="0"/>
          </a:p>
          <a:p>
            <a:pPr marL="0" indent="0" algn="ctr">
              <a:buNone/>
            </a:pPr>
            <a:r>
              <a:rPr lang="en-US" sz="2800" dirty="0">
                <a:solidFill>
                  <a:srgbClr val="FFFFFF"/>
                </a:solidFill>
                <a:latin typeface="Calibri" pitchFamily="34" charset="0"/>
                <a:ea typeface="Calibri" pitchFamily="34" charset="-122"/>
                <a:cs typeface="Calibri" pitchFamily="34" charset="-120"/>
              </a:rPr>
              <a:t>Work</a:t>
            </a:r>
            <a:endParaRPr lang="en-US" sz="2800" dirty="0"/>
          </a:p>
        </p:txBody>
      </p:sp>
      <p:sp>
        <p:nvSpPr>
          <p:cNvPr id="6" name="Text 4"/>
          <p:cNvSpPr/>
          <p:nvPr/>
        </p:nvSpPr>
        <p:spPr>
          <a:xfrm>
            <a:off x="3730752" y="164592"/>
            <a:ext cx="5321808" cy="292608"/>
          </a:xfrm>
          <a:prstGeom prst="rect">
            <a:avLst/>
          </a:prstGeom>
          <a:noFill/>
          <a:ln/>
        </p:spPr>
        <p:txBody>
          <a:bodyPr wrap="square" lIns="0" tIns="0" rIns="0" bIns="0" rtlCol="0" anchor="ctr"/>
          <a:lstStyle/>
          <a:p>
            <a:pPr marL="0" indent="0">
              <a:buNone/>
            </a:pPr>
            <a:r>
              <a:rPr lang="en-US" sz="1300" b="1" dirty="0">
                <a:solidFill>
                  <a:srgbClr val="0D1E2E"/>
                </a:solidFill>
                <a:latin typeface="Calibri" pitchFamily="34" charset="0"/>
                <a:ea typeface="Calibri" pitchFamily="34" charset="-122"/>
                <a:cs typeface="Calibri" pitchFamily="34" charset="-120"/>
              </a:rPr>
              <a:t>Key Engineering Lessons</a:t>
            </a:r>
            <a:endParaRPr lang="en-US" sz="1300" dirty="0"/>
          </a:p>
        </p:txBody>
      </p:sp>
      <p:sp>
        <p:nvSpPr>
          <p:cNvPr id="7" name="Text 5"/>
          <p:cNvSpPr/>
          <p:nvPr/>
        </p:nvSpPr>
        <p:spPr>
          <a:xfrm>
            <a:off x="3730752" y="548640"/>
            <a:ext cx="5321808" cy="237744"/>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 Label quality &gt; model complexity</a:t>
            </a:r>
            <a:endParaRPr lang="en-US" sz="1050" dirty="0"/>
          </a:p>
        </p:txBody>
      </p:sp>
      <p:sp>
        <p:nvSpPr>
          <p:cNvPr id="8" name="Text 6"/>
          <p:cNvSpPr/>
          <p:nvPr/>
        </p:nvSpPr>
        <p:spPr>
          <a:xfrm>
            <a:off x="3730752" y="795528"/>
            <a:ext cx="5321808" cy="43891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Fixing the sepsis=organ_dysfunction fallback bug had more impact than any architectural improvement.</a:t>
            </a:r>
            <a:endParaRPr lang="en-US" sz="1000" dirty="0"/>
          </a:p>
        </p:txBody>
      </p:sp>
      <p:sp>
        <p:nvSpPr>
          <p:cNvPr id="9" name="Text 7"/>
          <p:cNvSpPr/>
          <p:nvPr/>
        </p:nvSpPr>
        <p:spPr>
          <a:xfrm>
            <a:off x="3730752" y="1307592"/>
            <a:ext cx="5321808" cy="237744"/>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 Patient-level split prevents leakage</a:t>
            </a:r>
            <a:endParaRPr lang="en-US" sz="1050" dirty="0"/>
          </a:p>
        </p:txBody>
      </p:sp>
      <p:sp>
        <p:nvSpPr>
          <p:cNvPr id="10" name="Text 8"/>
          <p:cNvSpPr/>
          <p:nvPr/>
        </p:nvSpPr>
        <p:spPr>
          <a:xfrm>
            <a:off x="3730752" y="1554480"/>
            <a:ext cx="5321808" cy="43891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Window-level splits inflate test AUC by letting the same patient appear in train and test.</a:t>
            </a:r>
            <a:endParaRPr lang="en-US" sz="1000" dirty="0"/>
          </a:p>
        </p:txBody>
      </p:sp>
      <p:sp>
        <p:nvSpPr>
          <p:cNvPr id="11" name="Text 9"/>
          <p:cNvSpPr/>
          <p:nvPr/>
        </p:nvSpPr>
        <p:spPr>
          <a:xfrm>
            <a:off x="3730752" y="2066544"/>
            <a:ext cx="5321808" cy="237744"/>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 Enable MPS on Apple M3</a:t>
            </a:r>
            <a:endParaRPr lang="en-US" sz="1050" dirty="0"/>
          </a:p>
        </p:txBody>
      </p:sp>
      <p:sp>
        <p:nvSpPr>
          <p:cNvPr id="12" name="Text 10"/>
          <p:cNvSpPr/>
          <p:nvPr/>
        </p:nvSpPr>
        <p:spPr>
          <a:xfrm>
            <a:off x="3730752" y="2313432"/>
            <a:ext cx="5321808" cy="43891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Removing the cpu() override reduced LSTM training from 10+ hours to ~20 minutes.</a:t>
            </a:r>
            <a:endParaRPr lang="en-US" sz="1000" dirty="0"/>
          </a:p>
        </p:txBody>
      </p:sp>
      <p:sp>
        <p:nvSpPr>
          <p:cNvPr id="13" name="Text 11"/>
          <p:cNvSpPr/>
          <p:nvPr/>
        </p:nvSpPr>
        <p:spPr>
          <a:xfrm>
            <a:off x="3730752" y="2825496"/>
            <a:ext cx="5321808" cy="237744"/>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 Onset label = early warning model</a:t>
            </a:r>
            <a:endParaRPr lang="en-US" sz="1050" dirty="0"/>
          </a:p>
        </p:txBody>
      </p:sp>
      <p:sp>
        <p:nvSpPr>
          <p:cNvPr id="14" name="Text 12"/>
          <p:cNvSpPr/>
          <p:nvPr/>
        </p:nvSpPr>
        <p:spPr>
          <a:xfrm>
            <a:off x="3730752" y="3072384"/>
            <a:ext cx="5321808" cy="43891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Using first-onset timestep forces the model to predict the future, not identify existing disease.</a:t>
            </a:r>
            <a:endParaRPr lang="en-US" sz="1000" dirty="0"/>
          </a:p>
        </p:txBody>
      </p:sp>
      <p:sp>
        <p:nvSpPr>
          <p:cNvPr id="15" name="Text 13"/>
          <p:cNvSpPr/>
          <p:nvPr/>
        </p:nvSpPr>
        <p:spPr>
          <a:xfrm>
            <a:off x="3730752" y="3584448"/>
            <a:ext cx="5321808" cy="237744"/>
          </a:xfrm>
          <a:prstGeom prst="rect">
            <a:avLst/>
          </a:prstGeom>
          <a:noFill/>
          <a:ln/>
        </p:spPr>
        <p:txBody>
          <a:bodyPr wrap="square" lIns="0" tIns="0" rIns="0" bIns="0" rtlCol="0" anchor="ctr"/>
          <a:lstStyle/>
          <a:p>
            <a:pPr marL="0" indent="0">
              <a:buNone/>
            </a:pPr>
            <a:r>
              <a:rPr lang="en-US" sz="1050" b="1" dirty="0">
                <a:solidFill>
                  <a:srgbClr val="0E8BA0"/>
                </a:solidFill>
                <a:latin typeface="Calibri" pitchFamily="34" charset="0"/>
                <a:ea typeface="Calibri" pitchFamily="34" charset="-122"/>
                <a:cs typeface="Calibri" pitchFamily="34" charset="-120"/>
              </a:rPr>
              <a:t>▸ Oversampling + pos_weight = double counting</a:t>
            </a:r>
            <a:endParaRPr lang="en-US" sz="1050" dirty="0"/>
          </a:p>
        </p:txBody>
      </p:sp>
      <p:sp>
        <p:nvSpPr>
          <p:cNvPr id="16" name="Text 14"/>
          <p:cNvSpPr/>
          <p:nvPr/>
        </p:nvSpPr>
        <p:spPr>
          <a:xfrm>
            <a:off x="3730752" y="3831336"/>
            <a:ext cx="5321808" cy="438912"/>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Use one strategy only. pos_weight in loss is cleaner for AUPRC calibration.</a:t>
            </a:r>
            <a:endParaRPr lang="en-US" sz="1000" dirty="0"/>
          </a:p>
        </p:txBody>
      </p:sp>
      <p:sp>
        <p:nvSpPr>
          <p:cNvPr id="17" name="Shape 15"/>
          <p:cNvSpPr/>
          <p:nvPr/>
        </p:nvSpPr>
        <p:spPr>
          <a:xfrm>
            <a:off x="3730752" y="4297680"/>
            <a:ext cx="5321808" cy="16459"/>
          </a:xfrm>
          <a:prstGeom prst="rect">
            <a:avLst/>
          </a:prstGeom>
          <a:solidFill>
            <a:srgbClr val="0E8BA0"/>
          </a:solidFill>
          <a:ln w="12700">
            <a:solidFill>
              <a:srgbClr val="0E8BA0"/>
            </a:solidFill>
            <a:prstDash val="solid"/>
          </a:ln>
        </p:spPr>
        <p:txBody>
          <a:bodyPr/>
          <a:lstStyle/>
          <a:p>
            <a:endParaRPr lang="en-US"/>
          </a:p>
        </p:txBody>
      </p:sp>
      <p:sp>
        <p:nvSpPr>
          <p:cNvPr id="18" name="Text 16"/>
          <p:cNvSpPr/>
          <p:nvPr/>
        </p:nvSpPr>
        <p:spPr>
          <a:xfrm>
            <a:off x="3730752" y="4361688"/>
            <a:ext cx="5321808" cy="411480"/>
          </a:xfrm>
          <a:prstGeom prst="rect">
            <a:avLst/>
          </a:prstGeom>
          <a:noFill/>
          <a:ln/>
        </p:spPr>
        <p:txBody>
          <a:bodyPr wrap="square" lIns="0" tIns="0" rIns="0" bIns="0" rtlCol="0" anchor="ctr"/>
          <a:lstStyle/>
          <a:p>
            <a:pPr marL="0" indent="0">
              <a:buNone/>
            </a:pPr>
            <a:r>
              <a:rPr lang="en-US" sz="1000" i="1" dirty="0">
                <a:solidFill>
                  <a:srgbClr val="2C3E50"/>
                </a:solidFill>
                <a:latin typeface="Calibri" pitchFamily="34" charset="0"/>
                <a:ea typeface="Calibri" pitchFamily="34" charset="-122"/>
                <a:cs typeface="Calibri" pitchFamily="34" charset="-120"/>
              </a:rPr>
              <a:t>Future: Full SOFA  ·  Published cohort labels  ·  CosineAnnealingLR  ·  Google Colab T4 GPU  ·  Early stopping on val AUPRC</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0D1E2E"/>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0A3D4A"/>
          </a:solidFill>
          <a:ln w="12700">
            <a:solidFill>
              <a:srgbClr val="0A3D4A"/>
            </a:solidFill>
            <a:prstDash val="solid"/>
          </a:ln>
        </p:spPr>
        <p:txBody>
          <a:bodyPr/>
          <a:lstStyle/>
          <a:p>
            <a:endParaRPr lang="en-US"/>
          </a:p>
        </p:txBody>
      </p:sp>
      <p:sp>
        <p:nvSpPr>
          <p:cNvPr id="3" name="Text 1"/>
          <p:cNvSpPr/>
          <p:nvPr/>
        </p:nvSpPr>
        <p:spPr>
          <a:xfrm>
            <a:off x="457200" y="731520"/>
            <a:ext cx="5943600" cy="914400"/>
          </a:xfrm>
          <a:prstGeom prst="rect">
            <a:avLst/>
          </a:prstGeom>
          <a:noFill/>
          <a:ln/>
        </p:spPr>
        <p:txBody>
          <a:bodyPr wrap="square" rtlCol="0" anchor="ctr"/>
          <a:lstStyle/>
          <a:p>
            <a:pPr marL="0" indent="0">
              <a:buNone/>
            </a:pPr>
            <a:r>
              <a:rPr lang="en-US" sz="4200" dirty="0">
                <a:solidFill>
                  <a:srgbClr val="FFFFFF"/>
                </a:solidFill>
                <a:latin typeface="Calibri" pitchFamily="34" charset="0"/>
                <a:ea typeface="Calibri" pitchFamily="34" charset="-122"/>
                <a:cs typeface="Calibri" pitchFamily="34" charset="-120"/>
              </a:rPr>
              <a:t>Questions?</a:t>
            </a:r>
            <a:endParaRPr lang="en-US" sz="4200" dirty="0"/>
          </a:p>
        </p:txBody>
      </p:sp>
      <p:sp>
        <p:nvSpPr>
          <p:cNvPr id="4" name="Shape 2"/>
          <p:cNvSpPr/>
          <p:nvPr/>
        </p:nvSpPr>
        <p:spPr>
          <a:xfrm>
            <a:off x="457200" y="1691640"/>
            <a:ext cx="5029200" cy="36576"/>
          </a:xfrm>
          <a:prstGeom prst="rect">
            <a:avLst/>
          </a:prstGeom>
          <a:solidFill>
            <a:srgbClr val="0E8BA0"/>
          </a:solidFill>
          <a:ln w="12700">
            <a:solidFill>
              <a:srgbClr val="0E8BA0"/>
            </a:solidFill>
            <a:prstDash val="solid"/>
          </a:ln>
        </p:spPr>
        <p:txBody>
          <a:bodyPr/>
          <a:lstStyle/>
          <a:p>
            <a:endParaRPr lang="en-US"/>
          </a:p>
        </p:txBody>
      </p:sp>
      <p:sp>
        <p:nvSpPr>
          <p:cNvPr id="5" name="Text 3"/>
          <p:cNvSpPr/>
          <p:nvPr/>
        </p:nvSpPr>
        <p:spPr>
          <a:xfrm>
            <a:off x="457200" y="1847088"/>
            <a:ext cx="5943600" cy="438912"/>
          </a:xfrm>
          <a:prstGeom prst="rect">
            <a:avLst/>
          </a:prstGeom>
          <a:noFill/>
          <a:ln/>
        </p:spPr>
        <p:txBody>
          <a:bodyPr wrap="square" lIns="0" tIns="0" rIns="0" bIns="0" rtlCol="0" anchor="ctr"/>
          <a:lstStyle/>
          <a:p>
            <a:pPr marL="0" indent="0">
              <a:buNone/>
            </a:pPr>
            <a:r>
              <a:rPr lang="en-US" sz="1100" dirty="0">
                <a:solidFill>
                  <a:srgbClr val="AECBDE"/>
                </a:solidFill>
                <a:latin typeface="Calibri" pitchFamily="34" charset="0"/>
                <a:ea typeface="Calibri" pitchFamily="34" charset="-122"/>
                <a:cs typeface="Calibri" pitchFamily="34" charset="-120"/>
              </a:rPr>
              <a:t>▸  LSTM (AUC 0.924) — best AUC — sequential context adds discriminative value</a:t>
            </a:r>
            <a:endParaRPr lang="en-US" sz="1100" dirty="0"/>
          </a:p>
        </p:txBody>
      </p:sp>
      <p:sp>
        <p:nvSpPr>
          <p:cNvPr id="6" name="Text 4"/>
          <p:cNvSpPr/>
          <p:nvPr/>
        </p:nvSpPr>
        <p:spPr>
          <a:xfrm>
            <a:off x="457200" y="2350008"/>
            <a:ext cx="5943600" cy="438912"/>
          </a:xfrm>
          <a:prstGeom prst="rect">
            <a:avLst/>
          </a:prstGeom>
          <a:noFill/>
          <a:ln/>
        </p:spPr>
        <p:txBody>
          <a:bodyPr wrap="square" lIns="0" tIns="0" rIns="0" bIns="0" rtlCol="0" anchor="ctr"/>
          <a:lstStyle/>
          <a:p>
            <a:pPr marL="0" indent="0">
              <a:buNone/>
            </a:pPr>
            <a:r>
              <a:rPr lang="en-US" sz="1100" dirty="0">
                <a:solidFill>
                  <a:srgbClr val="AECBDE"/>
                </a:solidFill>
                <a:latin typeface="Calibri" pitchFamily="34" charset="0"/>
                <a:ea typeface="Calibri" pitchFamily="34" charset="-122"/>
                <a:cs typeface="Calibri" pitchFamily="34" charset="-120"/>
              </a:rPr>
              <a:t>▸  Transformer (F1 0.337) — best decisive predictions, attention heatmap insight</a:t>
            </a:r>
            <a:endParaRPr lang="en-US" sz="1100" dirty="0"/>
          </a:p>
        </p:txBody>
      </p:sp>
      <p:sp>
        <p:nvSpPr>
          <p:cNvPr id="7" name="Text 5"/>
          <p:cNvSpPr/>
          <p:nvPr/>
        </p:nvSpPr>
        <p:spPr>
          <a:xfrm>
            <a:off x="457200" y="2852928"/>
            <a:ext cx="5943600" cy="438912"/>
          </a:xfrm>
          <a:prstGeom prst="rect">
            <a:avLst/>
          </a:prstGeom>
          <a:noFill/>
          <a:ln/>
        </p:spPr>
        <p:txBody>
          <a:bodyPr wrap="square" lIns="0" tIns="0" rIns="0" bIns="0" rtlCol="0" anchor="ctr"/>
          <a:lstStyle/>
          <a:p>
            <a:pPr marL="0" indent="0">
              <a:buNone/>
            </a:pPr>
            <a:r>
              <a:rPr lang="en-US" sz="1100" dirty="0">
                <a:solidFill>
                  <a:srgbClr val="AECBDE"/>
                </a:solidFill>
                <a:latin typeface="Calibri" pitchFamily="34" charset="0"/>
                <a:ea typeface="Calibri" pitchFamily="34" charset="-122"/>
                <a:cs typeface="Calibri" pitchFamily="34" charset="-120"/>
              </a:rPr>
              <a:t>▸  XGBoost (AUC 0.919) — strong aggregate baseline — fast to train, highly interpretable</a:t>
            </a:r>
            <a:endParaRPr lang="en-US" sz="1100" dirty="0"/>
          </a:p>
        </p:txBody>
      </p:sp>
      <p:sp>
        <p:nvSpPr>
          <p:cNvPr id="8" name="Text 6"/>
          <p:cNvSpPr/>
          <p:nvPr/>
        </p:nvSpPr>
        <p:spPr>
          <a:xfrm>
            <a:off x="457200" y="3355848"/>
            <a:ext cx="5943600" cy="438912"/>
          </a:xfrm>
          <a:prstGeom prst="rect">
            <a:avLst/>
          </a:prstGeom>
          <a:noFill/>
          <a:ln/>
        </p:spPr>
        <p:txBody>
          <a:bodyPr wrap="square" lIns="0" tIns="0" rIns="0" bIns="0" rtlCol="0" anchor="ctr"/>
          <a:lstStyle/>
          <a:p>
            <a:pPr marL="0" indent="0">
              <a:buNone/>
            </a:pPr>
            <a:r>
              <a:rPr lang="en-US" sz="1100" dirty="0">
                <a:solidFill>
                  <a:srgbClr val="AECBDE"/>
                </a:solidFill>
                <a:latin typeface="Calibri" pitchFamily="34" charset="0"/>
                <a:ea typeface="Calibri" pitchFamily="34" charset="-122"/>
                <a:cs typeface="Calibri" pitchFamily="34" charset="-120"/>
              </a:rPr>
              <a:t>▸  AUPRC (0.207–0.305) — the bottleneck to address in future work</a:t>
            </a:r>
            <a:endParaRPr lang="en-US" sz="1100" dirty="0"/>
          </a:p>
        </p:txBody>
      </p:sp>
      <p:sp>
        <p:nvSpPr>
          <p:cNvPr id="9" name="Text 7"/>
          <p:cNvSpPr/>
          <p:nvPr/>
        </p:nvSpPr>
        <p:spPr>
          <a:xfrm>
            <a:off x="457200" y="4389120"/>
            <a:ext cx="8229600" cy="548640"/>
          </a:xfrm>
          <a:prstGeom prst="rect">
            <a:avLst/>
          </a:prstGeom>
          <a:noFill/>
          <a:ln/>
        </p:spPr>
        <p:txBody>
          <a:bodyPr wrap="square" lIns="0" tIns="0" rIns="0" bIns="0" rtlCol="0" anchor="ctr"/>
          <a:lstStyle/>
          <a:p>
            <a:pPr marL="0" indent="0">
              <a:buNone/>
            </a:pPr>
            <a:r>
              <a:rPr lang="en-US" sz="900" i="1" dirty="0">
                <a:solidFill>
                  <a:srgbClr val="8899AA"/>
                </a:solidFill>
                <a:latin typeface="Calibri" pitchFamily="34" charset="0"/>
                <a:ea typeface="Calibri" pitchFamily="34" charset="-122"/>
                <a:cs typeface="Calibri" pitchFamily="34" charset="-120"/>
              </a:rPr>
              <a:t>MIMIC-III v1.4  ·  PyTorch 2.x  ·  Apple M3 MPS  ·  XGBoost  ·  Sepsis-3</a:t>
            </a:r>
            <a:endParaRPr lang="en-US" sz="900" dirty="0"/>
          </a:p>
          <a:p>
            <a:pPr marL="0" indent="0">
              <a:buNone/>
            </a:pPr>
            <a:r>
              <a:rPr lang="en-US" sz="900" i="1" dirty="0">
                <a:solidFill>
                  <a:srgbClr val="8899AA"/>
                </a:solidFill>
                <a:latin typeface="Calibri" pitchFamily="34" charset="0"/>
                <a:ea typeface="Calibri" pitchFamily="34" charset="-122"/>
                <a:cs typeface="Calibri" pitchFamily="34" charset="-120"/>
              </a:rPr>
              <a:t>AI 395T | AI In Healthcare | University of Texas at Austin | Spring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6674</TotalTime>
  <Words>9461</Words>
  <Application>Microsoft Macintosh PowerPoint</Application>
  <PresentationFormat>On-screen Show (16:9)</PresentationFormat>
  <Paragraphs>623</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Sepsis Prediction Using Deep Learning on MIMIC-III</dc:title>
  <dc:subject>PptxGenJS Presentation</dc:subject>
  <dc:creator>PptxGenJS</dc:creator>
  <cp:lastModifiedBy>Sritama Paul</cp:lastModifiedBy>
  <cp:revision>13</cp:revision>
  <dcterms:created xsi:type="dcterms:W3CDTF">2026-04-06T07:13:05Z</dcterms:created>
  <dcterms:modified xsi:type="dcterms:W3CDTF">2026-04-11T23:46:39Z</dcterms:modified>
</cp:coreProperties>
</file>