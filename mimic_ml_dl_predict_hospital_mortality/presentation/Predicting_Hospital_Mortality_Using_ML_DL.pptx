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3"/>
  </p:notesMasterIdLst>
  <p:sldIdLst>
    <p:sldId id="256" r:id="rId2"/>
    <p:sldId id="258" r:id="rId3"/>
    <p:sldId id="289" r:id="rId4"/>
    <p:sldId id="293" r:id="rId5"/>
    <p:sldId id="294" r:id="rId6"/>
    <p:sldId id="296" r:id="rId7"/>
    <p:sldId id="295" r:id="rId8"/>
    <p:sldId id="297" r:id="rId9"/>
    <p:sldId id="299" r:id="rId10"/>
    <p:sldId id="300" r:id="rId11"/>
    <p:sldId id="301" r:id="rId12"/>
    <p:sldId id="302" r:id="rId13"/>
    <p:sldId id="303" r:id="rId14"/>
    <p:sldId id="304" r:id="rId15"/>
    <p:sldId id="305" r:id="rId16"/>
    <p:sldId id="306" r:id="rId17"/>
    <p:sldId id="307" r:id="rId18"/>
    <p:sldId id="309" r:id="rId19"/>
    <p:sldId id="311" r:id="rId20"/>
    <p:sldId id="310" r:id="rId21"/>
    <p:sldId id="312" r:id="rId22"/>
    <p:sldId id="313" r:id="rId23"/>
    <p:sldId id="314" r:id="rId24"/>
    <p:sldId id="316" r:id="rId25"/>
    <p:sldId id="315" r:id="rId26"/>
    <p:sldId id="317" r:id="rId27"/>
    <p:sldId id="323" r:id="rId28"/>
    <p:sldId id="325" r:id="rId29"/>
    <p:sldId id="326" r:id="rId30"/>
    <p:sldId id="327" r:id="rId31"/>
    <p:sldId id="328" r:id="rId32"/>
    <p:sldId id="329" r:id="rId33"/>
    <p:sldId id="330" r:id="rId34"/>
    <p:sldId id="331" r:id="rId35"/>
    <p:sldId id="333" r:id="rId36"/>
    <p:sldId id="318" r:id="rId37"/>
    <p:sldId id="320" r:id="rId38"/>
    <p:sldId id="319" r:id="rId39"/>
    <p:sldId id="321" r:id="rId40"/>
    <p:sldId id="322" r:id="rId41"/>
    <p:sldId id="324"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A66AFC-FF94-9742-99B8-0120DE8AEBFA}">
          <p14:sldIdLst>
            <p14:sldId id="256"/>
            <p14:sldId id="258"/>
            <p14:sldId id="289"/>
            <p14:sldId id="293"/>
            <p14:sldId id="294"/>
          </p14:sldIdLst>
        </p14:section>
        <p14:section name="Feature Engineering" id="{D054A143-8F5D-774A-90E3-5B5DE4F3CDC7}">
          <p14:sldIdLst>
            <p14:sldId id="296"/>
            <p14:sldId id="295"/>
            <p14:sldId id="297"/>
            <p14:sldId id="299"/>
            <p14:sldId id="300"/>
            <p14:sldId id="301"/>
          </p14:sldIdLst>
        </p14:section>
        <p14:section name="ML Models" id="{57C5F00A-C273-4841-98F1-B41B47032B65}">
          <p14:sldIdLst>
            <p14:sldId id="302"/>
            <p14:sldId id="303"/>
          </p14:sldIdLst>
        </p14:section>
        <p14:section name="NLP Model" id="{D7DFA1E0-0D1A-ED40-8101-DF28190AB232}">
          <p14:sldIdLst>
            <p14:sldId id="304"/>
            <p14:sldId id="305"/>
            <p14:sldId id="306"/>
            <p14:sldId id="307"/>
          </p14:sldIdLst>
        </p14:section>
        <p14:section name="Deep Learning" id="{B52D170B-3FC2-A44E-897B-7282C668E131}">
          <p14:sldIdLst>
            <p14:sldId id="309"/>
            <p14:sldId id="311"/>
            <p14:sldId id="310"/>
            <p14:sldId id="312"/>
            <p14:sldId id="313"/>
            <p14:sldId id="314"/>
          </p14:sldIdLst>
        </p14:section>
        <p14:section name="Multimodal Model" id="{9395F4E8-CAF1-6B46-8EFB-7F8BF36525AE}">
          <p14:sldIdLst>
            <p14:sldId id="316"/>
            <p14:sldId id="315"/>
            <p14:sldId id="317"/>
          </p14:sldIdLst>
        </p14:section>
        <p14:section name="Feature Comparison" id="{42EF2AB7-A53C-AB40-AC98-95171B3AF670}">
          <p14:sldIdLst>
            <p14:sldId id="323"/>
            <p14:sldId id="325"/>
            <p14:sldId id="326"/>
            <p14:sldId id="327"/>
            <p14:sldId id="328"/>
            <p14:sldId id="329"/>
            <p14:sldId id="330"/>
            <p14:sldId id="331"/>
            <p14:sldId id="333"/>
          </p14:sldIdLst>
        </p14:section>
        <p14:section name="Model Performance Comparison" id="{BB269FA3-9EB1-C54E-ADC8-D271A0DCD4CC}">
          <p14:sldIdLst>
            <p14:sldId id="318"/>
            <p14:sldId id="320"/>
            <p14:sldId id="319"/>
            <p14:sldId id="321"/>
            <p14:sldId id="322"/>
            <p14:sldId id="324"/>
          </p14:sldIdLst>
        </p14:section>
      </p14:sectionLst>
    </p:ex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08"/>
    <p:restoredTop sz="80791"/>
  </p:normalViewPr>
  <p:slideViewPr>
    <p:cSldViewPr snapToGrid="0">
      <p:cViewPr varScale="1">
        <p:scale>
          <a:sx n="82" d="100"/>
          <a:sy n="82" d="100"/>
        </p:scale>
        <p:origin x="1720" y="472"/>
      </p:cViewPr>
      <p:guideLst/>
    </p:cSldViewPr>
  </p:slideViewPr>
  <p:notesTextViewPr>
    <p:cViewPr>
      <p:scale>
        <a:sx n="1" d="1"/>
        <a:sy n="1" d="1"/>
      </p:scale>
      <p:origin x="0" y="0"/>
    </p:cViewPr>
  </p:notesTextViewPr>
  <p:notesViewPr>
    <p:cSldViewPr snapToGrid="0">
      <p:cViewPr varScale="1">
        <p:scale>
          <a:sx n="91" d="100"/>
          <a:sy n="91" d="100"/>
        </p:scale>
        <p:origin x="3928" y="20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0343F95-8947-4DB6-A831-6D1A3EF07B60}"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E485391-6BD1-4B3E-8C7F-72E9DCA37225}">
      <dgm:prSet/>
      <dgm:spPr/>
      <dgm:t>
        <a:bodyPr/>
        <a:lstStyle/>
        <a:p>
          <a:pPr>
            <a:lnSpc>
              <a:spcPct val="100000"/>
            </a:lnSpc>
            <a:defRPr b="1"/>
          </a:pPr>
          <a:r>
            <a:rPr lang="en-US" dirty="0"/>
            <a:t>Clinical Features Used</a:t>
          </a:r>
        </a:p>
      </dgm:t>
    </dgm:pt>
    <dgm:pt modelId="{D45FB814-6C97-4366-A604-137EF0D51403}" type="parTrans" cxnId="{B463EC6E-D969-4740-BF60-A8CF7F56C456}">
      <dgm:prSet/>
      <dgm:spPr/>
      <dgm:t>
        <a:bodyPr/>
        <a:lstStyle/>
        <a:p>
          <a:endParaRPr lang="en-US"/>
        </a:p>
      </dgm:t>
    </dgm:pt>
    <dgm:pt modelId="{863D877E-451B-48AC-A1A8-3DAA2EA05C75}" type="sibTrans" cxnId="{B463EC6E-D969-4740-BF60-A8CF7F56C456}">
      <dgm:prSet/>
      <dgm:spPr/>
      <dgm:t>
        <a:bodyPr/>
        <a:lstStyle/>
        <a:p>
          <a:pPr>
            <a:lnSpc>
              <a:spcPct val="100000"/>
            </a:lnSpc>
            <a:defRPr b="1"/>
          </a:pPr>
          <a:endParaRPr lang="en-US"/>
        </a:p>
      </dgm:t>
    </dgm:pt>
    <dgm:pt modelId="{E7CC2ABC-A7E5-429E-B226-36C10E1FAED8}">
      <dgm:prSet/>
      <dgm:spPr/>
      <dgm:t>
        <a:bodyPr/>
        <a:lstStyle/>
        <a:p>
          <a:pPr>
            <a:lnSpc>
              <a:spcPct val="100000"/>
            </a:lnSpc>
          </a:pPr>
          <a:r>
            <a:rPr lang="en-US" dirty="0"/>
            <a:t>Age</a:t>
          </a:r>
        </a:p>
      </dgm:t>
    </dgm:pt>
    <dgm:pt modelId="{05C997B0-E959-4E14-912D-B1151256C9D9}" type="parTrans" cxnId="{270D70E7-2711-4C88-91AB-87EBACA3BA15}">
      <dgm:prSet/>
      <dgm:spPr/>
      <dgm:t>
        <a:bodyPr/>
        <a:lstStyle/>
        <a:p>
          <a:endParaRPr lang="en-US"/>
        </a:p>
      </dgm:t>
    </dgm:pt>
    <dgm:pt modelId="{EEB563D0-C9E0-44AF-85F6-B44A27374B71}" type="sibTrans" cxnId="{270D70E7-2711-4C88-91AB-87EBACA3BA15}">
      <dgm:prSet/>
      <dgm:spPr/>
      <dgm:t>
        <a:bodyPr/>
        <a:lstStyle/>
        <a:p>
          <a:endParaRPr lang="en-US"/>
        </a:p>
      </dgm:t>
    </dgm:pt>
    <dgm:pt modelId="{DD4371D1-ABC8-444D-8C72-9ADE387B1D38}">
      <dgm:prSet/>
      <dgm:spPr/>
      <dgm:t>
        <a:bodyPr/>
        <a:lstStyle/>
        <a:p>
          <a:pPr>
            <a:lnSpc>
              <a:spcPct val="100000"/>
            </a:lnSpc>
          </a:pPr>
          <a:r>
            <a:rPr lang="en-US" dirty="0"/>
            <a:t>Gender</a:t>
          </a:r>
        </a:p>
      </dgm:t>
    </dgm:pt>
    <dgm:pt modelId="{0AA491FB-81C5-4C7A-BAB0-FA11BECEC600}" type="parTrans" cxnId="{F098F8D0-4CDA-4D87-BD8C-ACFC78BEDFAF}">
      <dgm:prSet/>
      <dgm:spPr/>
      <dgm:t>
        <a:bodyPr/>
        <a:lstStyle/>
        <a:p>
          <a:endParaRPr lang="en-US"/>
        </a:p>
      </dgm:t>
    </dgm:pt>
    <dgm:pt modelId="{4961CA06-DD50-4E8B-8B44-E764BA79FD79}" type="sibTrans" cxnId="{F098F8D0-4CDA-4D87-BD8C-ACFC78BEDFAF}">
      <dgm:prSet/>
      <dgm:spPr/>
      <dgm:t>
        <a:bodyPr/>
        <a:lstStyle/>
        <a:p>
          <a:endParaRPr lang="en-US"/>
        </a:p>
      </dgm:t>
    </dgm:pt>
    <dgm:pt modelId="{5C1A1940-9593-43F0-988A-310D5647AE05}">
      <dgm:prSet/>
      <dgm:spPr/>
      <dgm:t>
        <a:bodyPr/>
        <a:lstStyle/>
        <a:p>
          <a:pPr>
            <a:lnSpc>
              <a:spcPct val="100000"/>
            </a:lnSpc>
          </a:pPr>
          <a:r>
            <a:rPr lang="en-US" dirty="0"/>
            <a:t>Length of Stay</a:t>
          </a:r>
        </a:p>
      </dgm:t>
    </dgm:pt>
    <dgm:pt modelId="{9D46312E-3A7E-4FBE-BA2D-C65A339F1342}" type="parTrans" cxnId="{A319546E-54C1-41CE-B2F8-C7CCE33B7A60}">
      <dgm:prSet/>
      <dgm:spPr/>
      <dgm:t>
        <a:bodyPr/>
        <a:lstStyle/>
        <a:p>
          <a:endParaRPr lang="en-US"/>
        </a:p>
      </dgm:t>
    </dgm:pt>
    <dgm:pt modelId="{B689947E-B916-4A37-992F-AC8EF3BA4521}" type="sibTrans" cxnId="{A319546E-54C1-41CE-B2F8-C7CCE33B7A60}">
      <dgm:prSet/>
      <dgm:spPr/>
      <dgm:t>
        <a:bodyPr/>
        <a:lstStyle/>
        <a:p>
          <a:endParaRPr lang="en-US"/>
        </a:p>
      </dgm:t>
    </dgm:pt>
    <dgm:pt modelId="{8F389A98-5E63-4CEE-B57B-13D61285E02F}">
      <dgm:prSet/>
      <dgm:spPr/>
      <dgm:t>
        <a:bodyPr/>
        <a:lstStyle/>
        <a:p>
          <a:pPr>
            <a:lnSpc>
              <a:spcPct val="100000"/>
            </a:lnSpc>
          </a:pPr>
          <a:r>
            <a:rPr lang="en-US" dirty="0"/>
            <a:t>Admission Type</a:t>
          </a:r>
        </a:p>
      </dgm:t>
    </dgm:pt>
    <dgm:pt modelId="{46508D9C-EFBF-43CA-BE72-757A66F21A51}" type="parTrans" cxnId="{4061850F-EC18-4E17-BF51-0F8C2FC4C9CC}">
      <dgm:prSet/>
      <dgm:spPr/>
      <dgm:t>
        <a:bodyPr/>
        <a:lstStyle/>
        <a:p>
          <a:endParaRPr lang="en-US"/>
        </a:p>
      </dgm:t>
    </dgm:pt>
    <dgm:pt modelId="{C64C6EAC-D767-4092-94C5-429DD6E486E9}" type="sibTrans" cxnId="{4061850F-EC18-4E17-BF51-0F8C2FC4C9CC}">
      <dgm:prSet/>
      <dgm:spPr/>
      <dgm:t>
        <a:bodyPr/>
        <a:lstStyle/>
        <a:p>
          <a:endParaRPr lang="en-US"/>
        </a:p>
      </dgm:t>
    </dgm:pt>
    <dgm:pt modelId="{7F456EC7-66FD-43A5-B190-DFF1820613F6}">
      <dgm:prSet/>
      <dgm:spPr/>
      <dgm:t>
        <a:bodyPr/>
        <a:lstStyle/>
        <a:p>
          <a:pPr>
            <a:lnSpc>
              <a:spcPct val="100000"/>
            </a:lnSpc>
          </a:pPr>
          <a:r>
            <a:rPr lang="en-US" dirty="0"/>
            <a:t>Admission Location</a:t>
          </a:r>
        </a:p>
      </dgm:t>
    </dgm:pt>
    <dgm:pt modelId="{2563BBB2-163F-4B03-907F-F6A877FDD743}" type="parTrans" cxnId="{9BB3CF04-EE1F-4E8D-BE0E-CD2FC9FE037F}">
      <dgm:prSet/>
      <dgm:spPr/>
      <dgm:t>
        <a:bodyPr/>
        <a:lstStyle/>
        <a:p>
          <a:endParaRPr lang="en-US"/>
        </a:p>
      </dgm:t>
    </dgm:pt>
    <dgm:pt modelId="{839B25B7-396C-4A3C-B9C5-83CCD8D0CAB7}" type="sibTrans" cxnId="{9BB3CF04-EE1F-4E8D-BE0E-CD2FC9FE037F}">
      <dgm:prSet/>
      <dgm:spPr/>
      <dgm:t>
        <a:bodyPr/>
        <a:lstStyle/>
        <a:p>
          <a:endParaRPr lang="en-US"/>
        </a:p>
      </dgm:t>
    </dgm:pt>
    <dgm:pt modelId="{7441B705-A4E1-4753-94D9-CF20B95087DF}">
      <dgm:prSet/>
      <dgm:spPr/>
      <dgm:t>
        <a:bodyPr/>
        <a:lstStyle/>
        <a:p>
          <a:pPr>
            <a:lnSpc>
              <a:spcPct val="100000"/>
            </a:lnSpc>
            <a:defRPr b="1"/>
          </a:pPr>
          <a:r>
            <a:rPr lang="en-US"/>
            <a:t>Vitals</a:t>
          </a:r>
        </a:p>
      </dgm:t>
    </dgm:pt>
    <dgm:pt modelId="{E9D98BC9-67AC-481E-89DB-166D22E5ACB1}" type="parTrans" cxnId="{DC5A36D9-D0A3-4631-BC30-C0BFFE208518}">
      <dgm:prSet/>
      <dgm:spPr/>
      <dgm:t>
        <a:bodyPr/>
        <a:lstStyle/>
        <a:p>
          <a:endParaRPr lang="en-US"/>
        </a:p>
      </dgm:t>
    </dgm:pt>
    <dgm:pt modelId="{E2BC000B-89CF-4442-BB0A-B65BB63FB704}" type="sibTrans" cxnId="{DC5A36D9-D0A3-4631-BC30-C0BFFE208518}">
      <dgm:prSet/>
      <dgm:spPr/>
      <dgm:t>
        <a:bodyPr/>
        <a:lstStyle/>
        <a:p>
          <a:pPr>
            <a:lnSpc>
              <a:spcPct val="100000"/>
            </a:lnSpc>
            <a:defRPr b="1"/>
          </a:pPr>
          <a:endParaRPr lang="en-US"/>
        </a:p>
      </dgm:t>
    </dgm:pt>
    <dgm:pt modelId="{665E1FA8-9FA5-4938-9E5B-206A48691AEE}">
      <dgm:prSet/>
      <dgm:spPr/>
      <dgm:t>
        <a:bodyPr/>
        <a:lstStyle/>
        <a:p>
          <a:pPr>
            <a:lnSpc>
              <a:spcPct val="100000"/>
            </a:lnSpc>
          </a:pPr>
          <a:r>
            <a:rPr lang="en-US" dirty="0"/>
            <a:t>Heart Rate</a:t>
          </a:r>
        </a:p>
      </dgm:t>
    </dgm:pt>
    <dgm:pt modelId="{E62FF7C4-A884-47E6-AC5E-79AD3FC65033}" type="parTrans" cxnId="{8932A46C-7381-49B1-BFC1-88B821E728FD}">
      <dgm:prSet/>
      <dgm:spPr/>
      <dgm:t>
        <a:bodyPr/>
        <a:lstStyle/>
        <a:p>
          <a:endParaRPr lang="en-US"/>
        </a:p>
      </dgm:t>
    </dgm:pt>
    <dgm:pt modelId="{BCF2BE6E-B5B3-49FF-9224-2AA764DA996B}" type="sibTrans" cxnId="{8932A46C-7381-49B1-BFC1-88B821E728FD}">
      <dgm:prSet/>
      <dgm:spPr/>
      <dgm:t>
        <a:bodyPr/>
        <a:lstStyle/>
        <a:p>
          <a:endParaRPr lang="en-US"/>
        </a:p>
      </dgm:t>
    </dgm:pt>
    <dgm:pt modelId="{2DD385BE-100C-4EB2-B029-0EB0540AC659}">
      <dgm:prSet/>
      <dgm:spPr/>
      <dgm:t>
        <a:bodyPr/>
        <a:lstStyle/>
        <a:p>
          <a:pPr>
            <a:lnSpc>
              <a:spcPct val="100000"/>
            </a:lnSpc>
          </a:pPr>
          <a:r>
            <a:rPr lang="en-US"/>
            <a:t>Respiratory Rate</a:t>
          </a:r>
        </a:p>
      </dgm:t>
    </dgm:pt>
    <dgm:pt modelId="{BD89C6F4-9712-42F3-AC71-6B9C1BC96351}" type="parTrans" cxnId="{21D2C744-854A-457E-BA5B-C243994139E6}">
      <dgm:prSet/>
      <dgm:spPr/>
      <dgm:t>
        <a:bodyPr/>
        <a:lstStyle/>
        <a:p>
          <a:endParaRPr lang="en-US"/>
        </a:p>
      </dgm:t>
    </dgm:pt>
    <dgm:pt modelId="{566B4656-D5D4-471A-83A8-60266A66EBA4}" type="sibTrans" cxnId="{21D2C744-854A-457E-BA5B-C243994139E6}">
      <dgm:prSet/>
      <dgm:spPr/>
      <dgm:t>
        <a:bodyPr/>
        <a:lstStyle/>
        <a:p>
          <a:endParaRPr lang="en-US"/>
        </a:p>
      </dgm:t>
    </dgm:pt>
    <dgm:pt modelId="{41255A77-E12B-4104-B565-960CE507FCB2}">
      <dgm:prSet/>
      <dgm:spPr/>
      <dgm:t>
        <a:bodyPr/>
        <a:lstStyle/>
        <a:p>
          <a:pPr>
            <a:lnSpc>
              <a:spcPct val="100000"/>
            </a:lnSpc>
          </a:pPr>
          <a:r>
            <a:rPr lang="en-US" dirty="0"/>
            <a:t>Blood Pressure</a:t>
          </a:r>
        </a:p>
      </dgm:t>
    </dgm:pt>
    <dgm:pt modelId="{5503C63C-4393-4D84-8017-89D343B21E8F}" type="parTrans" cxnId="{CBD7B11D-681E-49CF-BFF3-F4B52AA2FDB3}">
      <dgm:prSet/>
      <dgm:spPr/>
      <dgm:t>
        <a:bodyPr/>
        <a:lstStyle/>
        <a:p>
          <a:endParaRPr lang="en-US"/>
        </a:p>
      </dgm:t>
    </dgm:pt>
    <dgm:pt modelId="{EDFDB6AD-9375-4B70-B207-4E374262BEED}" type="sibTrans" cxnId="{CBD7B11D-681E-49CF-BFF3-F4B52AA2FDB3}">
      <dgm:prSet/>
      <dgm:spPr/>
      <dgm:t>
        <a:bodyPr/>
        <a:lstStyle/>
        <a:p>
          <a:endParaRPr lang="en-US"/>
        </a:p>
      </dgm:t>
    </dgm:pt>
    <dgm:pt modelId="{C7629526-50FA-4274-A5D6-34BEE16D1013}">
      <dgm:prSet/>
      <dgm:spPr/>
      <dgm:t>
        <a:bodyPr/>
        <a:lstStyle/>
        <a:p>
          <a:pPr>
            <a:lnSpc>
              <a:spcPct val="100000"/>
            </a:lnSpc>
            <a:defRPr b="1"/>
          </a:pPr>
          <a:r>
            <a:rPr lang="en-US"/>
            <a:t>Lab Values</a:t>
          </a:r>
        </a:p>
      </dgm:t>
    </dgm:pt>
    <dgm:pt modelId="{15E2945B-58D8-4313-B91F-D6527247E6D1}" type="parTrans" cxnId="{B5B24326-DA21-418E-8DA1-E5B8639C1058}">
      <dgm:prSet/>
      <dgm:spPr/>
      <dgm:t>
        <a:bodyPr/>
        <a:lstStyle/>
        <a:p>
          <a:endParaRPr lang="en-US"/>
        </a:p>
      </dgm:t>
    </dgm:pt>
    <dgm:pt modelId="{41D0F855-8CA9-40D5-871D-C0E2735DBBF9}" type="sibTrans" cxnId="{B5B24326-DA21-418E-8DA1-E5B8639C1058}">
      <dgm:prSet/>
      <dgm:spPr/>
      <dgm:t>
        <a:bodyPr/>
        <a:lstStyle/>
        <a:p>
          <a:endParaRPr lang="en-US"/>
        </a:p>
      </dgm:t>
    </dgm:pt>
    <dgm:pt modelId="{A3E3E814-82D3-42C2-A0D8-842B51777999}">
      <dgm:prSet/>
      <dgm:spPr/>
      <dgm:t>
        <a:bodyPr/>
        <a:lstStyle/>
        <a:p>
          <a:pPr>
            <a:lnSpc>
              <a:spcPct val="100000"/>
            </a:lnSpc>
          </a:pPr>
          <a:r>
            <a:rPr lang="en-US" dirty="0"/>
            <a:t>Creatinine</a:t>
          </a:r>
        </a:p>
      </dgm:t>
    </dgm:pt>
    <dgm:pt modelId="{B4DDC30D-AF91-4CE4-8378-89D16538B356}" type="parTrans" cxnId="{C4C83496-313A-4083-8A64-C60E6C75DD17}">
      <dgm:prSet/>
      <dgm:spPr/>
      <dgm:t>
        <a:bodyPr/>
        <a:lstStyle/>
        <a:p>
          <a:endParaRPr lang="en-US"/>
        </a:p>
      </dgm:t>
    </dgm:pt>
    <dgm:pt modelId="{2BC0DF32-04C6-47F5-BD6A-C8A7DD44F9F5}" type="sibTrans" cxnId="{C4C83496-313A-4083-8A64-C60E6C75DD17}">
      <dgm:prSet/>
      <dgm:spPr/>
      <dgm:t>
        <a:bodyPr/>
        <a:lstStyle/>
        <a:p>
          <a:endParaRPr lang="en-US"/>
        </a:p>
      </dgm:t>
    </dgm:pt>
    <dgm:pt modelId="{FE585676-DA65-4C6B-AD35-FB9DFACE1DEE}">
      <dgm:prSet/>
      <dgm:spPr/>
      <dgm:t>
        <a:bodyPr/>
        <a:lstStyle/>
        <a:p>
          <a:pPr>
            <a:lnSpc>
              <a:spcPct val="100000"/>
            </a:lnSpc>
          </a:pPr>
          <a:r>
            <a:rPr lang="en-US"/>
            <a:t>BUN</a:t>
          </a:r>
        </a:p>
      </dgm:t>
    </dgm:pt>
    <dgm:pt modelId="{DDF6CA3E-A47C-4615-BD9D-BD60EA12E2D2}" type="parTrans" cxnId="{01666A33-0D2F-446E-984C-E830F2F7711D}">
      <dgm:prSet/>
      <dgm:spPr/>
      <dgm:t>
        <a:bodyPr/>
        <a:lstStyle/>
        <a:p>
          <a:endParaRPr lang="en-US"/>
        </a:p>
      </dgm:t>
    </dgm:pt>
    <dgm:pt modelId="{6CF9BEC5-B3D9-4AED-80A1-274CE7E88B03}" type="sibTrans" cxnId="{01666A33-0D2F-446E-984C-E830F2F7711D}">
      <dgm:prSet/>
      <dgm:spPr/>
      <dgm:t>
        <a:bodyPr/>
        <a:lstStyle/>
        <a:p>
          <a:endParaRPr lang="en-US"/>
        </a:p>
      </dgm:t>
    </dgm:pt>
    <dgm:pt modelId="{72308A18-2482-4546-BCDF-95A858DCD587}">
      <dgm:prSet/>
      <dgm:spPr/>
      <dgm:t>
        <a:bodyPr/>
        <a:lstStyle/>
        <a:p>
          <a:pPr>
            <a:lnSpc>
              <a:spcPct val="100000"/>
            </a:lnSpc>
          </a:pPr>
          <a:r>
            <a:rPr lang="en-US"/>
            <a:t>WBC</a:t>
          </a:r>
        </a:p>
      </dgm:t>
    </dgm:pt>
    <dgm:pt modelId="{7074F197-E8F0-4EC8-87E5-5FE943FD0AFA}" type="parTrans" cxnId="{11E1398E-B85A-4C2B-880C-F95CE3BB1EB7}">
      <dgm:prSet/>
      <dgm:spPr/>
      <dgm:t>
        <a:bodyPr/>
        <a:lstStyle/>
        <a:p>
          <a:endParaRPr lang="en-US"/>
        </a:p>
      </dgm:t>
    </dgm:pt>
    <dgm:pt modelId="{95D51E9C-0470-42F8-88B3-E9277E7CAEF1}" type="sibTrans" cxnId="{11E1398E-B85A-4C2B-880C-F95CE3BB1EB7}">
      <dgm:prSet/>
      <dgm:spPr/>
      <dgm:t>
        <a:bodyPr/>
        <a:lstStyle/>
        <a:p>
          <a:endParaRPr lang="en-US"/>
        </a:p>
      </dgm:t>
    </dgm:pt>
    <dgm:pt modelId="{A26DA182-68CA-4C46-841B-FB51351CD4B9}">
      <dgm:prSet/>
      <dgm:spPr/>
      <dgm:t>
        <a:bodyPr/>
        <a:lstStyle/>
        <a:p>
          <a:pPr>
            <a:lnSpc>
              <a:spcPct val="100000"/>
            </a:lnSpc>
          </a:pPr>
          <a:r>
            <a:rPr lang="en-US"/>
            <a:t>Hemoglobin</a:t>
          </a:r>
        </a:p>
      </dgm:t>
    </dgm:pt>
    <dgm:pt modelId="{E0DA42A3-8AA8-492B-9C9A-9E42E5C8FA43}" type="parTrans" cxnId="{9E4939D4-CFFE-4AFD-95ED-9DA83F8361FC}">
      <dgm:prSet/>
      <dgm:spPr/>
      <dgm:t>
        <a:bodyPr/>
        <a:lstStyle/>
        <a:p>
          <a:endParaRPr lang="en-US"/>
        </a:p>
      </dgm:t>
    </dgm:pt>
    <dgm:pt modelId="{AE2C4257-1932-4A37-909E-2A78727F0266}" type="sibTrans" cxnId="{9E4939D4-CFFE-4AFD-95ED-9DA83F8361FC}">
      <dgm:prSet/>
      <dgm:spPr/>
      <dgm:t>
        <a:bodyPr/>
        <a:lstStyle/>
        <a:p>
          <a:endParaRPr lang="en-US"/>
        </a:p>
      </dgm:t>
    </dgm:pt>
    <dgm:pt modelId="{DBCC012A-AEF0-4989-92EF-C6F0EAAAB95C}">
      <dgm:prSet/>
      <dgm:spPr/>
      <dgm:t>
        <a:bodyPr/>
        <a:lstStyle/>
        <a:p>
          <a:pPr>
            <a:lnSpc>
              <a:spcPct val="100000"/>
            </a:lnSpc>
          </a:pPr>
          <a:r>
            <a:rPr lang="en-US"/>
            <a:t>Platelets</a:t>
          </a:r>
        </a:p>
      </dgm:t>
    </dgm:pt>
    <dgm:pt modelId="{765E1338-F389-4136-88BD-2088CC2AAA38}" type="parTrans" cxnId="{3FDEFBA4-89B8-41DC-B57B-BA01A910D103}">
      <dgm:prSet/>
      <dgm:spPr/>
      <dgm:t>
        <a:bodyPr/>
        <a:lstStyle/>
        <a:p>
          <a:endParaRPr lang="en-US"/>
        </a:p>
      </dgm:t>
    </dgm:pt>
    <dgm:pt modelId="{51117F1C-6128-4F21-AC09-79EE2D68A88F}" type="sibTrans" cxnId="{3FDEFBA4-89B8-41DC-B57B-BA01A910D103}">
      <dgm:prSet/>
      <dgm:spPr/>
      <dgm:t>
        <a:bodyPr/>
        <a:lstStyle/>
        <a:p>
          <a:endParaRPr lang="en-US"/>
        </a:p>
      </dgm:t>
    </dgm:pt>
    <dgm:pt modelId="{F6424776-73CB-4CFF-A812-58783D30BD31}">
      <dgm:prSet/>
      <dgm:spPr/>
      <dgm:t>
        <a:bodyPr/>
        <a:lstStyle/>
        <a:p>
          <a:pPr>
            <a:lnSpc>
              <a:spcPct val="100000"/>
            </a:lnSpc>
          </a:pPr>
          <a:r>
            <a:rPr lang="en-US"/>
            <a:t>Sodium</a:t>
          </a:r>
        </a:p>
      </dgm:t>
    </dgm:pt>
    <dgm:pt modelId="{949BC7F6-0B17-4DB1-B0E3-72D9A1DFCFD9}" type="parTrans" cxnId="{D0F56F88-8795-4EEE-93EF-22E090E9AB55}">
      <dgm:prSet/>
      <dgm:spPr/>
      <dgm:t>
        <a:bodyPr/>
        <a:lstStyle/>
        <a:p>
          <a:endParaRPr lang="en-US"/>
        </a:p>
      </dgm:t>
    </dgm:pt>
    <dgm:pt modelId="{2C055575-3A96-40D6-8BDD-395005CC0F03}" type="sibTrans" cxnId="{D0F56F88-8795-4EEE-93EF-22E090E9AB55}">
      <dgm:prSet/>
      <dgm:spPr/>
      <dgm:t>
        <a:bodyPr/>
        <a:lstStyle/>
        <a:p>
          <a:endParaRPr lang="en-US"/>
        </a:p>
      </dgm:t>
    </dgm:pt>
    <dgm:pt modelId="{90E8108A-5B71-493D-826E-4769F5750384}">
      <dgm:prSet/>
      <dgm:spPr/>
      <dgm:t>
        <a:bodyPr/>
        <a:lstStyle/>
        <a:p>
          <a:pPr>
            <a:lnSpc>
              <a:spcPct val="100000"/>
            </a:lnSpc>
          </a:pPr>
          <a:r>
            <a:rPr lang="en-US" dirty="0"/>
            <a:t>Potassium</a:t>
          </a:r>
        </a:p>
      </dgm:t>
    </dgm:pt>
    <dgm:pt modelId="{E97E48B5-8296-4196-8EAB-A6843C73F5F5}" type="parTrans" cxnId="{D15CFA8A-76AE-4AB0-9EB0-E5130323D2C6}">
      <dgm:prSet/>
      <dgm:spPr/>
      <dgm:t>
        <a:bodyPr/>
        <a:lstStyle/>
        <a:p>
          <a:endParaRPr lang="en-US"/>
        </a:p>
      </dgm:t>
    </dgm:pt>
    <dgm:pt modelId="{6A0A65C4-A1E1-4AEE-97B6-8BEA3A35A0A9}" type="sibTrans" cxnId="{D15CFA8A-76AE-4AB0-9EB0-E5130323D2C6}">
      <dgm:prSet/>
      <dgm:spPr/>
      <dgm:t>
        <a:bodyPr/>
        <a:lstStyle/>
        <a:p>
          <a:endParaRPr lang="en-US"/>
        </a:p>
      </dgm:t>
    </dgm:pt>
    <dgm:pt modelId="{133153DD-4A07-1444-8052-0475153D4968}" type="pres">
      <dgm:prSet presAssocID="{F0343F95-8947-4DB6-A831-6D1A3EF07B60}" presName="Name0" presStyleCnt="0">
        <dgm:presLayoutVars>
          <dgm:dir/>
          <dgm:resizeHandles val="exact"/>
        </dgm:presLayoutVars>
      </dgm:prSet>
      <dgm:spPr/>
    </dgm:pt>
    <dgm:pt modelId="{3A0F1123-07DD-B54F-AE2F-7289E59B8C7D}" type="pres">
      <dgm:prSet presAssocID="{6E485391-6BD1-4B3E-8C7F-72E9DCA37225}" presName="compNode" presStyleCnt="0"/>
      <dgm:spPr/>
    </dgm:pt>
    <dgm:pt modelId="{94EEE3D1-B026-9944-968B-75A21AD3BA09}" type="pres">
      <dgm:prSet presAssocID="{6E485391-6BD1-4B3E-8C7F-72E9DCA37225}" presName="pictRect" presStyleLbl="revTx" presStyleIdx="0" presStyleCnt="6">
        <dgm:presLayoutVars>
          <dgm:chMax val="0"/>
          <dgm:bulletEnabled/>
        </dgm:presLayoutVars>
      </dgm:prSet>
      <dgm:spPr/>
    </dgm:pt>
    <dgm:pt modelId="{E6607E8E-61E6-2142-A1E8-FD698E40B75F}" type="pres">
      <dgm:prSet presAssocID="{6E485391-6BD1-4B3E-8C7F-72E9DCA37225}" presName="textRect" presStyleLbl="revTx" presStyleIdx="1" presStyleCnt="6">
        <dgm:presLayoutVars>
          <dgm:bulletEnabled/>
        </dgm:presLayoutVars>
      </dgm:prSet>
      <dgm:spPr/>
    </dgm:pt>
    <dgm:pt modelId="{C6A5CBE8-CB2B-D946-B317-E0872A19DDC5}" type="pres">
      <dgm:prSet presAssocID="{863D877E-451B-48AC-A1A8-3DAA2EA05C75}" presName="sibTrans" presStyleLbl="sibTrans2D1" presStyleIdx="0" presStyleCnt="0"/>
      <dgm:spPr/>
    </dgm:pt>
    <dgm:pt modelId="{7598B834-143E-724E-A733-C998EBC228CC}" type="pres">
      <dgm:prSet presAssocID="{7441B705-A4E1-4753-94D9-CF20B95087DF}" presName="compNode" presStyleCnt="0"/>
      <dgm:spPr/>
    </dgm:pt>
    <dgm:pt modelId="{D8830F78-1E41-9747-8E4A-DDF4DD8433FC}" type="pres">
      <dgm:prSet presAssocID="{7441B705-A4E1-4753-94D9-CF20B95087DF}" presName="pictRect" presStyleLbl="revTx" presStyleIdx="2" presStyleCnt="6">
        <dgm:presLayoutVars>
          <dgm:chMax val="0"/>
          <dgm:bulletEnabled/>
        </dgm:presLayoutVars>
      </dgm:prSet>
      <dgm:spPr/>
    </dgm:pt>
    <dgm:pt modelId="{C408BB91-0839-A04C-8D7B-AB32AEBAC72A}" type="pres">
      <dgm:prSet presAssocID="{7441B705-A4E1-4753-94D9-CF20B95087DF}" presName="textRect" presStyleLbl="revTx" presStyleIdx="3" presStyleCnt="6">
        <dgm:presLayoutVars>
          <dgm:bulletEnabled/>
        </dgm:presLayoutVars>
      </dgm:prSet>
      <dgm:spPr/>
    </dgm:pt>
    <dgm:pt modelId="{741A9F38-C11B-D04F-98D5-BF48E0D36E4B}" type="pres">
      <dgm:prSet presAssocID="{E2BC000B-89CF-4442-BB0A-B65BB63FB704}" presName="sibTrans" presStyleLbl="sibTrans2D1" presStyleIdx="0" presStyleCnt="0"/>
      <dgm:spPr/>
    </dgm:pt>
    <dgm:pt modelId="{74610D32-188B-034C-A8E8-74E2E68553AF}" type="pres">
      <dgm:prSet presAssocID="{C7629526-50FA-4274-A5D6-34BEE16D1013}" presName="compNode" presStyleCnt="0"/>
      <dgm:spPr/>
    </dgm:pt>
    <dgm:pt modelId="{B6051081-CDC5-474C-9E44-C858228611FA}" type="pres">
      <dgm:prSet presAssocID="{C7629526-50FA-4274-A5D6-34BEE16D1013}" presName="pictRect" presStyleLbl="revTx" presStyleIdx="4" presStyleCnt="6">
        <dgm:presLayoutVars>
          <dgm:chMax val="0"/>
          <dgm:bulletEnabled/>
        </dgm:presLayoutVars>
      </dgm:prSet>
      <dgm:spPr/>
    </dgm:pt>
    <dgm:pt modelId="{6F145FAB-1C94-424B-96C4-D1E24808805A}" type="pres">
      <dgm:prSet presAssocID="{C7629526-50FA-4274-A5D6-34BEE16D1013}" presName="textRect" presStyleLbl="revTx" presStyleIdx="5" presStyleCnt="6">
        <dgm:presLayoutVars>
          <dgm:bulletEnabled/>
        </dgm:presLayoutVars>
      </dgm:prSet>
      <dgm:spPr/>
    </dgm:pt>
  </dgm:ptLst>
  <dgm:cxnLst>
    <dgm:cxn modelId="{8E6BB801-5949-2543-8799-EF5DE7351E03}" type="presOf" srcId="{665E1FA8-9FA5-4938-9E5B-206A48691AEE}" destId="{C408BB91-0839-A04C-8D7B-AB32AEBAC72A}" srcOrd="0" destOrd="0" presId="urn:microsoft.com/office/officeart/2024/3/layout/hArchList1"/>
    <dgm:cxn modelId="{3EC63202-D710-8A49-B64C-0ABFB9F5CD98}" type="presOf" srcId="{E2BC000B-89CF-4442-BB0A-B65BB63FB704}" destId="{741A9F38-C11B-D04F-98D5-BF48E0D36E4B}" srcOrd="0" destOrd="0" presId="urn:microsoft.com/office/officeart/2024/3/layout/hArchList1"/>
    <dgm:cxn modelId="{9BB3CF04-EE1F-4E8D-BE0E-CD2FC9FE037F}" srcId="{6E485391-6BD1-4B3E-8C7F-72E9DCA37225}" destId="{7F456EC7-66FD-43A5-B190-DFF1820613F6}" srcOrd="4" destOrd="0" parTransId="{2563BBB2-163F-4B03-907F-F6A877FDD743}" sibTransId="{839B25B7-396C-4A3C-B9C5-83CCD8D0CAB7}"/>
    <dgm:cxn modelId="{CCBAE007-3163-EE43-B042-C8A1BE23768D}" type="presOf" srcId="{2DD385BE-100C-4EB2-B029-0EB0540AC659}" destId="{C408BB91-0839-A04C-8D7B-AB32AEBAC72A}" srcOrd="0" destOrd="1" presId="urn:microsoft.com/office/officeart/2024/3/layout/hArchList1"/>
    <dgm:cxn modelId="{516D260E-9E35-564D-9222-CE1FC78EF6EB}" type="presOf" srcId="{863D877E-451B-48AC-A1A8-3DAA2EA05C75}" destId="{C6A5CBE8-CB2B-D946-B317-E0872A19DDC5}" srcOrd="0" destOrd="0" presId="urn:microsoft.com/office/officeart/2024/3/layout/hArchList1"/>
    <dgm:cxn modelId="{4061850F-EC18-4E17-BF51-0F8C2FC4C9CC}" srcId="{6E485391-6BD1-4B3E-8C7F-72E9DCA37225}" destId="{8F389A98-5E63-4CEE-B57B-13D61285E02F}" srcOrd="3" destOrd="0" parTransId="{46508D9C-EFBF-43CA-BE72-757A66F21A51}" sibTransId="{C64C6EAC-D767-4092-94C5-429DD6E486E9}"/>
    <dgm:cxn modelId="{1B315716-2061-DC4B-816F-25128730B060}" type="presOf" srcId="{5C1A1940-9593-43F0-988A-310D5647AE05}" destId="{E6607E8E-61E6-2142-A1E8-FD698E40B75F}" srcOrd="0" destOrd="2" presId="urn:microsoft.com/office/officeart/2024/3/layout/hArchList1"/>
    <dgm:cxn modelId="{CBD7B11D-681E-49CF-BFF3-F4B52AA2FDB3}" srcId="{7441B705-A4E1-4753-94D9-CF20B95087DF}" destId="{41255A77-E12B-4104-B565-960CE507FCB2}" srcOrd="2" destOrd="0" parTransId="{5503C63C-4393-4D84-8017-89D343B21E8F}" sibTransId="{EDFDB6AD-9375-4B70-B207-4E374262BEED}"/>
    <dgm:cxn modelId="{B5B24326-DA21-418E-8DA1-E5B8639C1058}" srcId="{F0343F95-8947-4DB6-A831-6D1A3EF07B60}" destId="{C7629526-50FA-4274-A5D6-34BEE16D1013}" srcOrd="2" destOrd="0" parTransId="{15E2945B-58D8-4313-B91F-D6527247E6D1}" sibTransId="{41D0F855-8CA9-40D5-871D-C0E2735DBBF9}"/>
    <dgm:cxn modelId="{69523D27-6249-7642-AD43-8626957AC5D1}" type="presOf" srcId="{FE585676-DA65-4C6B-AD35-FB9DFACE1DEE}" destId="{6F145FAB-1C94-424B-96C4-D1E24808805A}" srcOrd="0" destOrd="1" presId="urn:microsoft.com/office/officeart/2024/3/layout/hArchList1"/>
    <dgm:cxn modelId="{01666A33-0D2F-446E-984C-E830F2F7711D}" srcId="{C7629526-50FA-4274-A5D6-34BEE16D1013}" destId="{FE585676-DA65-4C6B-AD35-FB9DFACE1DEE}" srcOrd="1" destOrd="0" parTransId="{DDF6CA3E-A47C-4615-BD9D-BD60EA12E2D2}" sibTransId="{6CF9BEC5-B3D9-4AED-80A1-274CE7E88B03}"/>
    <dgm:cxn modelId="{21D2C744-854A-457E-BA5B-C243994139E6}" srcId="{7441B705-A4E1-4753-94D9-CF20B95087DF}" destId="{2DD385BE-100C-4EB2-B029-0EB0540AC659}" srcOrd="1" destOrd="0" parTransId="{BD89C6F4-9712-42F3-AC71-6B9C1BC96351}" sibTransId="{566B4656-D5D4-471A-83A8-60266A66EBA4}"/>
    <dgm:cxn modelId="{65607A48-381B-CA41-B345-A5A204F1A78A}" type="presOf" srcId="{A26DA182-68CA-4C46-841B-FB51351CD4B9}" destId="{6F145FAB-1C94-424B-96C4-D1E24808805A}" srcOrd="0" destOrd="3" presId="urn:microsoft.com/office/officeart/2024/3/layout/hArchList1"/>
    <dgm:cxn modelId="{4A74314D-D404-1B40-8BCB-41433FAA7E35}" type="presOf" srcId="{6E485391-6BD1-4B3E-8C7F-72E9DCA37225}" destId="{94EEE3D1-B026-9944-968B-75A21AD3BA09}" srcOrd="0" destOrd="0" presId="urn:microsoft.com/office/officeart/2024/3/layout/hArchList1"/>
    <dgm:cxn modelId="{191D5C5A-457A-A349-8736-589B85A68023}" type="presOf" srcId="{8F389A98-5E63-4CEE-B57B-13D61285E02F}" destId="{E6607E8E-61E6-2142-A1E8-FD698E40B75F}" srcOrd="0" destOrd="3" presId="urn:microsoft.com/office/officeart/2024/3/layout/hArchList1"/>
    <dgm:cxn modelId="{ABB9516C-BBB1-4B44-8310-66D92B39934B}" type="presOf" srcId="{A3E3E814-82D3-42C2-A0D8-842B51777999}" destId="{6F145FAB-1C94-424B-96C4-D1E24808805A}" srcOrd="0" destOrd="0" presId="urn:microsoft.com/office/officeart/2024/3/layout/hArchList1"/>
    <dgm:cxn modelId="{8932A46C-7381-49B1-BFC1-88B821E728FD}" srcId="{7441B705-A4E1-4753-94D9-CF20B95087DF}" destId="{665E1FA8-9FA5-4938-9E5B-206A48691AEE}" srcOrd="0" destOrd="0" parTransId="{E62FF7C4-A884-47E6-AC5E-79AD3FC65033}" sibTransId="{BCF2BE6E-B5B3-49FF-9224-2AA764DA996B}"/>
    <dgm:cxn modelId="{A319546E-54C1-41CE-B2F8-C7CCE33B7A60}" srcId="{6E485391-6BD1-4B3E-8C7F-72E9DCA37225}" destId="{5C1A1940-9593-43F0-988A-310D5647AE05}" srcOrd="2" destOrd="0" parTransId="{9D46312E-3A7E-4FBE-BA2D-C65A339F1342}" sibTransId="{B689947E-B916-4A37-992F-AC8EF3BA4521}"/>
    <dgm:cxn modelId="{B463EC6E-D969-4740-BF60-A8CF7F56C456}" srcId="{F0343F95-8947-4DB6-A831-6D1A3EF07B60}" destId="{6E485391-6BD1-4B3E-8C7F-72E9DCA37225}" srcOrd="0" destOrd="0" parTransId="{D45FB814-6C97-4366-A604-137EF0D51403}" sibTransId="{863D877E-451B-48AC-A1A8-3DAA2EA05C75}"/>
    <dgm:cxn modelId="{727DF26F-68CC-7346-951E-6E5E2D122095}" type="presOf" srcId="{90E8108A-5B71-493D-826E-4769F5750384}" destId="{6F145FAB-1C94-424B-96C4-D1E24808805A}" srcOrd="0" destOrd="6" presId="urn:microsoft.com/office/officeart/2024/3/layout/hArchList1"/>
    <dgm:cxn modelId="{D8C9D776-69F3-9E41-A1D0-145975BB1150}" type="presOf" srcId="{DD4371D1-ABC8-444D-8C72-9ADE387B1D38}" destId="{E6607E8E-61E6-2142-A1E8-FD698E40B75F}" srcOrd="0" destOrd="1" presId="urn:microsoft.com/office/officeart/2024/3/layout/hArchList1"/>
    <dgm:cxn modelId="{D0F56F88-8795-4EEE-93EF-22E090E9AB55}" srcId="{C7629526-50FA-4274-A5D6-34BEE16D1013}" destId="{F6424776-73CB-4CFF-A812-58783D30BD31}" srcOrd="5" destOrd="0" parTransId="{949BC7F6-0B17-4DB1-B0E3-72D9A1DFCFD9}" sibTransId="{2C055575-3A96-40D6-8BDD-395005CC0F03}"/>
    <dgm:cxn modelId="{B5B3B688-DFC3-D54C-BE3C-9D8C7C0F28A2}" type="presOf" srcId="{72308A18-2482-4546-BCDF-95A858DCD587}" destId="{6F145FAB-1C94-424B-96C4-D1E24808805A}" srcOrd="0" destOrd="2" presId="urn:microsoft.com/office/officeart/2024/3/layout/hArchList1"/>
    <dgm:cxn modelId="{BEFAF68A-A72C-BB4F-AAB4-19CBF766EE43}" type="presOf" srcId="{E7CC2ABC-A7E5-429E-B226-36C10E1FAED8}" destId="{E6607E8E-61E6-2142-A1E8-FD698E40B75F}" srcOrd="0" destOrd="0" presId="urn:microsoft.com/office/officeart/2024/3/layout/hArchList1"/>
    <dgm:cxn modelId="{D15CFA8A-76AE-4AB0-9EB0-E5130323D2C6}" srcId="{C7629526-50FA-4274-A5D6-34BEE16D1013}" destId="{90E8108A-5B71-493D-826E-4769F5750384}" srcOrd="6" destOrd="0" parTransId="{E97E48B5-8296-4196-8EAB-A6843C73F5F5}" sibTransId="{6A0A65C4-A1E1-4AEE-97B6-8BEA3A35A0A9}"/>
    <dgm:cxn modelId="{8BBC298E-C604-B544-ACC4-418E22DC7018}" type="presOf" srcId="{41255A77-E12B-4104-B565-960CE507FCB2}" destId="{C408BB91-0839-A04C-8D7B-AB32AEBAC72A}" srcOrd="0" destOrd="2" presId="urn:microsoft.com/office/officeart/2024/3/layout/hArchList1"/>
    <dgm:cxn modelId="{11E1398E-B85A-4C2B-880C-F95CE3BB1EB7}" srcId="{C7629526-50FA-4274-A5D6-34BEE16D1013}" destId="{72308A18-2482-4546-BCDF-95A858DCD587}" srcOrd="2" destOrd="0" parTransId="{7074F197-E8F0-4EC8-87E5-5FE943FD0AFA}" sibTransId="{95D51E9C-0470-42F8-88B3-E9277E7CAEF1}"/>
    <dgm:cxn modelId="{C4C83496-313A-4083-8A64-C60E6C75DD17}" srcId="{C7629526-50FA-4274-A5D6-34BEE16D1013}" destId="{A3E3E814-82D3-42C2-A0D8-842B51777999}" srcOrd="0" destOrd="0" parTransId="{B4DDC30D-AF91-4CE4-8378-89D16538B356}" sibTransId="{2BC0DF32-04C6-47F5-BD6A-C8A7DD44F9F5}"/>
    <dgm:cxn modelId="{0FCF30A3-5BD0-8248-93F1-49C25B198E2D}" type="presOf" srcId="{7441B705-A4E1-4753-94D9-CF20B95087DF}" destId="{D8830F78-1E41-9747-8E4A-DDF4DD8433FC}" srcOrd="0" destOrd="0" presId="urn:microsoft.com/office/officeart/2024/3/layout/hArchList1"/>
    <dgm:cxn modelId="{3FDEFBA4-89B8-41DC-B57B-BA01A910D103}" srcId="{C7629526-50FA-4274-A5D6-34BEE16D1013}" destId="{DBCC012A-AEF0-4989-92EF-C6F0EAAAB95C}" srcOrd="4" destOrd="0" parTransId="{765E1338-F389-4136-88BD-2088CC2AAA38}" sibTransId="{51117F1C-6128-4F21-AC09-79EE2D68A88F}"/>
    <dgm:cxn modelId="{18A670B3-2354-A646-87FC-1F9BE6C0D271}" type="presOf" srcId="{C7629526-50FA-4274-A5D6-34BEE16D1013}" destId="{B6051081-CDC5-474C-9E44-C858228611FA}" srcOrd="0" destOrd="0" presId="urn:microsoft.com/office/officeart/2024/3/layout/hArchList1"/>
    <dgm:cxn modelId="{CBD631BA-12F8-BE43-967B-4199B140361C}" type="presOf" srcId="{DBCC012A-AEF0-4989-92EF-C6F0EAAAB95C}" destId="{6F145FAB-1C94-424B-96C4-D1E24808805A}" srcOrd="0" destOrd="4" presId="urn:microsoft.com/office/officeart/2024/3/layout/hArchList1"/>
    <dgm:cxn modelId="{A624B7BA-A4BD-4A43-BC1C-1133602B4112}" type="presOf" srcId="{F6424776-73CB-4CFF-A812-58783D30BD31}" destId="{6F145FAB-1C94-424B-96C4-D1E24808805A}" srcOrd="0" destOrd="5" presId="urn:microsoft.com/office/officeart/2024/3/layout/hArchList1"/>
    <dgm:cxn modelId="{F098F8D0-4CDA-4D87-BD8C-ACFC78BEDFAF}" srcId="{6E485391-6BD1-4B3E-8C7F-72E9DCA37225}" destId="{DD4371D1-ABC8-444D-8C72-9ADE387B1D38}" srcOrd="1" destOrd="0" parTransId="{0AA491FB-81C5-4C7A-BAB0-FA11BECEC600}" sibTransId="{4961CA06-DD50-4E8B-8B44-E764BA79FD79}"/>
    <dgm:cxn modelId="{9E4939D4-CFFE-4AFD-95ED-9DA83F8361FC}" srcId="{C7629526-50FA-4274-A5D6-34BEE16D1013}" destId="{A26DA182-68CA-4C46-841B-FB51351CD4B9}" srcOrd="3" destOrd="0" parTransId="{E0DA42A3-8AA8-492B-9C9A-9E42E5C8FA43}" sibTransId="{AE2C4257-1932-4A37-909E-2A78727F0266}"/>
    <dgm:cxn modelId="{1C3875D6-E3DC-5444-BC5E-2C0DE3E58D37}" type="presOf" srcId="{F0343F95-8947-4DB6-A831-6D1A3EF07B60}" destId="{133153DD-4A07-1444-8052-0475153D4968}" srcOrd="0" destOrd="0" presId="urn:microsoft.com/office/officeart/2024/3/layout/hArchList1"/>
    <dgm:cxn modelId="{DC5A36D9-D0A3-4631-BC30-C0BFFE208518}" srcId="{F0343F95-8947-4DB6-A831-6D1A3EF07B60}" destId="{7441B705-A4E1-4753-94D9-CF20B95087DF}" srcOrd="1" destOrd="0" parTransId="{E9D98BC9-67AC-481E-89DB-166D22E5ACB1}" sibTransId="{E2BC000B-89CF-4442-BB0A-B65BB63FB704}"/>
    <dgm:cxn modelId="{270D70E7-2711-4C88-91AB-87EBACA3BA15}" srcId="{6E485391-6BD1-4B3E-8C7F-72E9DCA37225}" destId="{E7CC2ABC-A7E5-429E-B226-36C10E1FAED8}" srcOrd="0" destOrd="0" parTransId="{05C997B0-E959-4E14-912D-B1151256C9D9}" sibTransId="{EEB563D0-C9E0-44AF-85F6-B44A27374B71}"/>
    <dgm:cxn modelId="{A6F089E7-9D80-C148-9E9C-D1051BEEB9E2}" type="presOf" srcId="{7F456EC7-66FD-43A5-B190-DFF1820613F6}" destId="{E6607E8E-61E6-2142-A1E8-FD698E40B75F}" srcOrd="0" destOrd="4" presId="urn:microsoft.com/office/officeart/2024/3/layout/hArchList1"/>
    <dgm:cxn modelId="{7F7AF455-7E9E-E240-B72A-BF76162A5406}" type="presParOf" srcId="{133153DD-4A07-1444-8052-0475153D4968}" destId="{3A0F1123-07DD-B54F-AE2F-7289E59B8C7D}" srcOrd="0" destOrd="0" presId="urn:microsoft.com/office/officeart/2024/3/layout/hArchList1"/>
    <dgm:cxn modelId="{E3826F2E-0082-8E4B-BE01-FFCE0BDE156D}" type="presParOf" srcId="{3A0F1123-07DD-B54F-AE2F-7289E59B8C7D}" destId="{94EEE3D1-B026-9944-968B-75A21AD3BA09}" srcOrd="0" destOrd="0" presId="urn:microsoft.com/office/officeart/2024/3/layout/hArchList1"/>
    <dgm:cxn modelId="{225A1F9F-2807-4947-81EE-371ECE8451B4}" type="presParOf" srcId="{3A0F1123-07DD-B54F-AE2F-7289E59B8C7D}" destId="{E6607E8E-61E6-2142-A1E8-FD698E40B75F}" srcOrd="1" destOrd="0" presId="urn:microsoft.com/office/officeart/2024/3/layout/hArchList1"/>
    <dgm:cxn modelId="{8B807608-B714-1647-B301-A51B8B2FFE84}" type="presParOf" srcId="{133153DD-4A07-1444-8052-0475153D4968}" destId="{C6A5CBE8-CB2B-D946-B317-E0872A19DDC5}" srcOrd="1" destOrd="0" presId="urn:microsoft.com/office/officeart/2024/3/layout/hArchList1"/>
    <dgm:cxn modelId="{425571EB-2EF6-4F4B-B2FE-5B1F50770DAF}" type="presParOf" srcId="{133153DD-4A07-1444-8052-0475153D4968}" destId="{7598B834-143E-724E-A733-C998EBC228CC}" srcOrd="2" destOrd="0" presId="urn:microsoft.com/office/officeart/2024/3/layout/hArchList1"/>
    <dgm:cxn modelId="{E6D6DBE1-FE98-EB4F-8087-FE6F8B415E65}" type="presParOf" srcId="{7598B834-143E-724E-A733-C998EBC228CC}" destId="{D8830F78-1E41-9747-8E4A-DDF4DD8433FC}" srcOrd="0" destOrd="0" presId="urn:microsoft.com/office/officeart/2024/3/layout/hArchList1"/>
    <dgm:cxn modelId="{341892A9-F95C-9A4C-B548-0BEFFB770FAF}" type="presParOf" srcId="{7598B834-143E-724E-A733-C998EBC228CC}" destId="{C408BB91-0839-A04C-8D7B-AB32AEBAC72A}" srcOrd="1" destOrd="0" presId="urn:microsoft.com/office/officeart/2024/3/layout/hArchList1"/>
    <dgm:cxn modelId="{B107D13F-92C7-4045-B9C4-30A7E9034386}" type="presParOf" srcId="{133153DD-4A07-1444-8052-0475153D4968}" destId="{741A9F38-C11B-D04F-98D5-BF48E0D36E4B}" srcOrd="3" destOrd="0" presId="urn:microsoft.com/office/officeart/2024/3/layout/hArchList1"/>
    <dgm:cxn modelId="{12423839-78D7-9344-84E5-CC2F0A52DB1B}" type="presParOf" srcId="{133153DD-4A07-1444-8052-0475153D4968}" destId="{74610D32-188B-034C-A8E8-74E2E68553AF}" srcOrd="4" destOrd="0" presId="urn:microsoft.com/office/officeart/2024/3/layout/hArchList1"/>
    <dgm:cxn modelId="{6D9B023C-438B-A043-98E0-BB169996D64C}" type="presParOf" srcId="{74610D32-188B-034C-A8E8-74E2E68553AF}" destId="{B6051081-CDC5-474C-9E44-C858228611FA}" srcOrd="0" destOrd="0" presId="urn:microsoft.com/office/officeart/2024/3/layout/hArchList1"/>
    <dgm:cxn modelId="{7AE371AE-1F48-C040-AD0D-4B62E5497A9E}" type="presParOf" srcId="{74610D32-188B-034C-A8E8-74E2E68553AF}" destId="{6F145FAB-1C94-424B-96C4-D1E24808805A}"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4EEE3D1-B026-9944-968B-75A21AD3BA09}">
      <dsp:nvSpPr>
        <dsp:cNvPr id="0" name=""/>
        <dsp:cNvSpPr/>
      </dsp:nvSpPr>
      <dsp:spPr>
        <a:xfrm>
          <a:off x="0" y="0"/>
          <a:ext cx="3404366" cy="33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Clinical Features Used</a:t>
          </a:r>
        </a:p>
      </dsp:txBody>
      <dsp:txXfrm>
        <a:off x="0" y="0"/>
        <a:ext cx="3404366" cy="337608"/>
      </dsp:txXfrm>
    </dsp:sp>
    <dsp:sp modelId="{E6607E8E-61E6-2142-A1E8-FD698E40B75F}">
      <dsp:nvSpPr>
        <dsp:cNvPr id="0" name=""/>
        <dsp:cNvSpPr/>
      </dsp:nvSpPr>
      <dsp:spPr>
        <a:xfrm>
          <a:off x="0" y="337608"/>
          <a:ext cx="3404366" cy="2296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Age</a:t>
          </a:r>
        </a:p>
        <a:p>
          <a:pPr marL="0" lvl="0" indent="0" algn="l" defTabSz="622300">
            <a:lnSpc>
              <a:spcPct val="100000"/>
            </a:lnSpc>
            <a:spcBef>
              <a:spcPct val="0"/>
            </a:spcBef>
            <a:spcAft>
              <a:spcPct val="35000"/>
            </a:spcAft>
            <a:buNone/>
          </a:pPr>
          <a:r>
            <a:rPr lang="en-US" sz="1400" kern="1200" dirty="0"/>
            <a:t>Gender</a:t>
          </a:r>
        </a:p>
        <a:p>
          <a:pPr marL="0" lvl="0" indent="0" algn="l" defTabSz="622300">
            <a:lnSpc>
              <a:spcPct val="100000"/>
            </a:lnSpc>
            <a:spcBef>
              <a:spcPct val="0"/>
            </a:spcBef>
            <a:spcAft>
              <a:spcPct val="35000"/>
            </a:spcAft>
            <a:buNone/>
          </a:pPr>
          <a:r>
            <a:rPr lang="en-US" sz="1400" kern="1200" dirty="0"/>
            <a:t>Length of Stay</a:t>
          </a:r>
        </a:p>
        <a:p>
          <a:pPr marL="0" lvl="0" indent="0" algn="l" defTabSz="622300">
            <a:lnSpc>
              <a:spcPct val="100000"/>
            </a:lnSpc>
            <a:spcBef>
              <a:spcPct val="0"/>
            </a:spcBef>
            <a:spcAft>
              <a:spcPct val="35000"/>
            </a:spcAft>
            <a:buNone/>
          </a:pPr>
          <a:r>
            <a:rPr lang="en-US" sz="1400" kern="1200" dirty="0"/>
            <a:t>Admission Type</a:t>
          </a:r>
        </a:p>
        <a:p>
          <a:pPr marL="0" lvl="0" indent="0" algn="l" defTabSz="622300">
            <a:lnSpc>
              <a:spcPct val="100000"/>
            </a:lnSpc>
            <a:spcBef>
              <a:spcPct val="0"/>
            </a:spcBef>
            <a:spcAft>
              <a:spcPct val="35000"/>
            </a:spcAft>
            <a:buNone/>
          </a:pPr>
          <a:r>
            <a:rPr lang="en-US" sz="1400" kern="1200" dirty="0"/>
            <a:t>Admission Location</a:t>
          </a:r>
        </a:p>
      </dsp:txBody>
      <dsp:txXfrm>
        <a:off x="0" y="337608"/>
        <a:ext cx="3404366" cy="2296233"/>
      </dsp:txXfrm>
    </dsp:sp>
    <dsp:sp modelId="{D8830F78-1E41-9747-8E4A-DDF4DD8433FC}">
      <dsp:nvSpPr>
        <dsp:cNvPr id="0" name=""/>
        <dsp:cNvSpPr/>
      </dsp:nvSpPr>
      <dsp:spPr>
        <a:xfrm>
          <a:off x="3744802" y="0"/>
          <a:ext cx="3404366" cy="33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Vitals</a:t>
          </a:r>
        </a:p>
      </dsp:txBody>
      <dsp:txXfrm>
        <a:off x="3744802" y="0"/>
        <a:ext cx="3404366" cy="337608"/>
      </dsp:txXfrm>
    </dsp:sp>
    <dsp:sp modelId="{C408BB91-0839-A04C-8D7B-AB32AEBAC72A}">
      <dsp:nvSpPr>
        <dsp:cNvPr id="0" name=""/>
        <dsp:cNvSpPr/>
      </dsp:nvSpPr>
      <dsp:spPr>
        <a:xfrm>
          <a:off x="3744802" y="337608"/>
          <a:ext cx="3404366" cy="2296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Heart Rate</a:t>
          </a:r>
        </a:p>
        <a:p>
          <a:pPr marL="0" lvl="0" indent="0" algn="l" defTabSz="622300">
            <a:lnSpc>
              <a:spcPct val="100000"/>
            </a:lnSpc>
            <a:spcBef>
              <a:spcPct val="0"/>
            </a:spcBef>
            <a:spcAft>
              <a:spcPct val="35000"/>
            </a:spcAft>
            <a:buNone/>
          </a:pPr>
          <a:r>
            <a:rPr lang="en-US" sz="1400" kern="1200"/>
            <a:t>Respiratory Rate</a:t>
          </a:r>
        </a:p>
        <a:p>
          <a:pPr marL="0" lvl="0" indent="0" algn="l" defTabSz="622300">
            <a:lnSpc>
              <a:spcPct val="100000"/>
            </a:lnSpc>
            <a:spcBef>
              <a:spcPct val="0"/>
            </a:spcBef>
            <a:spcAft>
              <a:spcPct val="35000"/>
            </a:spcAft>
            <a:buNone/>
          </a:pPr>
          <a:r>
            <a:rPr lang="en-US" sz="1400" kern="1200" dirty="0"/>
            <a:t>Blood Pressure</a:t>
          </a:r>
        </a:p>
      </dsp:txBody>
      <dsp:txXfrm>
        <a:off x="3744802" y="337608"/>
        <a:ext cx="3404366" cy="2296233"/>
      </dsp:txXfrm>
    </dsp:sp>
    <dsp:sp modelId="{B6051081-CDC5-474C-9E44-C858228611FA}">
      <dsp:nvSpPr>
        <dsp:cNvPr id="0" name=""/>
        <dsp:cNvSpPr/>
      </dsp:nvSpPr>
      <dsp:spPr>
        <a:xfrm>
          <a:off x="7489605" y="0"/>
          <a:ext cx="3404366" cy="33760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Lab Values</a:t>
          </a:r>
        </a:p>
      </dsp:txBody>
      <dsp:txXfrm>
        <a:off x="7489605" y="0"/>
        <a:ext cx="3404366" cy="337608"/>
      </dsp:txXfrm>
    </dsp:sp>
    <dsp:sp modelId="{6F145FAB-1C94-424B-96C4-D1E24808805A}">
      <dsp:nvSpPr>
        <dsp:cNvPr id="0" name=""/>
        <dsp:cNvSpPr/>
      </dsp:nvSpPr>
      <dsp:spPr>
        <a:xfrm>
          <a:off x="7489605" y="337608"/>
          <a:ext cx="3404366" cy="229623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a:t>Creatinine</a:t>
          </a:r>
        </a:p>
        <a:p>
          <a:pPr marL="0" lvl="0" indent="0" algn="l" defTabSz="622300">
            <a:lnSpc>
              <a:spcPct val="100000"/>
            </a:lnSpc>
            <a:spcBef>
              <a:spcPct val="0"/>
            </a:spcBef>
            <a:spcAft>
              <a:spcPct val="35000"/>
            </a:spcAft>
            <a:buNone/>
          </a:pPr>
          <a:r>
            <a:rPr lang="en-US" sz="1400" kern="1200"/>
            <a:t>BUN</a:t>
          </a:r>
        </a:p>
        <a:p>
          <a:pPr marL="0" lvl="0" indent="0" algn="l" defTabSz="622300">
            <a:lnSpc>
              <a:spcPct val="100000"/>
            </a:lnSpc>
            <a:spcBef>
              <a:spcPct val="0"/>
            </a:spcBef>
            <a:spcAft>
              <a:spcPct val="35000"/>
            </a:spcAft>
            <a:buNone/>
          </a:pPr>
          <a:r>
            <a:rPr lang="en-US" sz="1400" kern="1200"/>
            <a:t>WBC</a:t>
          </a:r>
        </a:p>
        <a:p>
          <a:pPr marL="0" lvl="0" indent="0" algn="l" defTabSz="622300">
            <a:lnSpc>
              <a:spcPct val="100000"/>
            </a:lnSpc>
            <a:spcBef>
              <a:spcPct val="0"/>
            </a:spcBef>
            <a:spcAft>
              <a:spcPct val="35000"/>
            </a:spcAft>
            <a:buNone/>
          </a:pPr>
          <a:r>
            <a:rPr lang="en-US" sz="1400" kern="1200"/>
            <a:t>Hemoglobin</a:t>
          </a:r>
        </a:p>
        <a:p>
          <a:pPr marL="0" lvl="0" indent="0" algn="l" defTabSz="622300">
            <a:lnSpc>
              <a:spcPct val="100000"/>
            </a:lnSpc>
            <a:spcBef>
              <a:spcPct val="0"/>
            </a:spcBef>
            <a:spcAft>
              <a:spcPct val="35000"/>
            </a:spcAft>
            <a:buNone/>
          </a:pPr>
          <a:r>
            <a:rPr lang="en-US" sz="1400" kern="1200"/>
            <a:t>Platelets</a:t>
          </a:r>
        </a:p>
        <a:p>
          <a:pPr marL="0" lvl="0" indent="0" algn="l" defTabSz="622300">
            <a:lnSpc>
              <a:spcPct val="100000"/>
            </a:lnSpc>
            <a:spcBef>
              <a:spcPct val="0"/>
            </a:spcBef>
            <a:spcAft>
              <a:spcPct val="35000"/>
            </a:spcAft>
            <a:buNone/>
          </a:pPr>
          <a:r>
            <a:rPr lang="en-US" sz="1400" kern="1200"/>
            <a:t>Sodium</a:t>
          </a:r>
        </a:p>
        <a:p>
          <a:pPr marL="0" lvl="0" indent="0" algn="l" defTabSz="622300">
            <a:lnSpc>
              <a:spcPct val="100000"/>
            </a:lnSpc>
            <a:spcBef>
              <a:spcPct val="0"/>
            </a:spcBef>
            <a:spcAft>
              <a:spcPct val="35000"/>
            </a:spcAft>
            <a:buNone/>
          </a:pPr>
          <a:r>
            <a:rPr lang="en-US" sz="1400" kern="1200" dirty="0"/>
            <a:t>Potassium</a:t>
          </a:r>
        </a:p>
      </dsp:txBody>
      <dsp:txXfrm>
        <a:off x="7489605" y="337608"/>
        <a:ext cx="3404366" cy="2296233"/>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A1F3E1B-5925-BC4F-802A-DD410E9D1AA4}" type="datetimeFigureOut">
              <a:rPr lang="en-US" smtClean="0"/>
              <a:t>3/13/26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5CEE3F-E9BC-9F42-9FEE-5AAD149E4BE7}" type="slidenum">
              <a:rPr lang="en-US" smtClean="0"/>
              <a:t>‹#›</a:t>
            </a:fld>
            <a:endParaRPr lang="en-US"/>
          </a:p>
        </p:txBody>
      </p:sp>
    </p:spTree>
    <p:extLst>
      <p:ext uri="{BB962C8B-B14F-4D97-AF65-F5344CB8AC3E}">
        <p14:creationId xmlns:p14="http://schemas.microsoft.com/office/powerpoint/2010/main" val="7155193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this tutorial, we will learn how to build several AI models to predict hospital mortality using ICU patient data from the MIMIC-III dataset. We will compare the results from </a:t>
            </a:r>
          </a:p>
          <a:p>
            <a:endParaRPr lang="en-US" dirty="0"/>
          </a:p>
          <a:p>
            <a:r>
              <a:rPr lang="en-US" dirty="0"/>
              <a:t>Machine Learning model</a:t>
            </a:r>
          </a:p>
          <a:p>
            <a:r>
              <a:rPr lang="en-US" dirty="0"/>
              <a:t>Deep Learning model</a:t>
            </a:r>
          </a:p>
          <a:p>
            <a:r>
              <a:rPr lang="en-US" dirty="0"/>
              <a:t>NLP model</a:t>
            </a:r>
          </a:p>
          <a:p>
            <a:r>
              <a:rPr lang="en-US" dirty="0"/>
              <a:t>Multimodal model</a:t>
            </a:r>
          </a:p>
          <a:p>
            <a:endParaRPr lang="en-US" dirty="0"/>
          </a:p>
        </p:txBody>
      </p:sp>
      <p:sp>
        <p:nvSpPr>
          <p:cNvPr id="4" name="Slide Number Placeholder 3"/>
          <p:cNvSpPr>
            <a:spLocks noGrp="1"/>
          </p:cNvSpPr>
          <p:nvPr>
            <p:ph type="sldNum" sz="quarter" idx="5"/>
          </p:nvPr>
        </p:nvSpPr>
        <p:spPr/>
        <p:txBody>
          <a:bodyPr/>
          <a:lstStyle/>
          <a:p>
            <a:fld id="{725CEE3F-E9BC-9F42-9FEE-5AAD149E4BE7}" type="slidenum">
              <a:rPr lang="en-US" smtClean="0"/>
              <a:t>1</a:t>
            </a:fld>
            <a:endParaRPr lang="en-US"/>
          </a:p>
        </p:txBody>
      </p:sp>
    </p:spTree>
    <p:extLst>
      <p:ext uri="{BB962C8B-B14F-4D97-AF65-F5344CB8AC3E}">
        <p14:creationId xmlns:p14="http://schemas.microsoft.com/office/powerpoint/2010/main" val="22403575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tutorial demonstrates a </a:t>
            </a:r>
            <a:r>
              <a:rPr lang="en-US" b="1" dirty="0"/>
              <a:t>complete healthcare AI pipeline</a:t>
            </a:r>
            <a:r>
              <a:rPr lang="en-US" dirty="0"/>
              <a:t> from raw EHR data to predictive modeling.</a:t>
            </a:r>
          </a:p>
          <a:p>
            <a:endParaRPr lang="en-US" dirty="0"/>
          </a:p>
          <a:p>
            <a:r>
              <a:rPr lang="en-US" dirty="0"/>
              <a:t>We will build five models and compare their performance.</a:t>
            </a:r>
          </a:p>
          <a:p>
            <a:endParaRPr lang="en-US" dirty="0"/>
          </a:p>
        </p:txBody>
      </p:sp>
      <p:sp>
        <p:nvSpPr>
          <p:cNvPr id="4" name="Slide Number Placeholder 3"/>
          <p:cNvSpPr>
            <a:spLocks noGrp="1"/>
          </p:cNvSpPr>
          <p:nvPr>
            <p:ph type="sldNum" sz="quarter" idx="5"/>
          </p:nvPr>
        </p:nvSpPr>
        <p:spPr/>
        <p:txBody>
          <a:bodyPr/>
          <a:lstStyle/>
          <a:p>
            <a:fld id="{725CEE3F-E9BC-9F42-9FEE-5AAD149E4BE7}" type="slidenum">
              <a:rPr lang="en-US" smtClean="0"/>
              <a:t>2</a:t>
            </a:fld>
            <a:endParaRPr lang="en-US"/>
          </a:p>
        </p:txBody>
      </p:sp>
    </p:spTree>
    <p:extLst>
      <p:ext uri="{BB962C8B-B14F-4D97-AF65-F5344CB8AC3E}">
        <p14:creationId xmlns:p14="http://schemas.microsoft.com/office/powerpoint/2010/main" val="244680463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t>The </a:t>
            </a:r>
            <a:r>
              <a:rPr lang="en-US" sz="1800" b="1" dirty="0"/>
              <a:t>MIMIC-III dataset</a:t>
            </a:r>
            <a:r>
              <a:rPr lang="en-US" sz="1800" dirty="0"/>
              <a:t> is a publicly available ICU database developed by MIT. It contains over </a:t>
            </a:r>
            <a:r>
              <a:rPr lang="en-US" sz="1800" b="1" dirty="0"/>
              <a:t>50,000 ICU admissions</a:t>
            </a:r>
            <a:r>
              <a:rPr lang="en-US" sz="1800" dirty="0"/>
              <a:t>, making it ideal for healthcare AI research. We will be using this dataset for this tutorial. </a:t>
            </a:r>
          </a:p>
          <a:p>
            <a:endParaRPr lang="en-US" dirty="0"/>
          </a:p>
        </p:txBody>
      </p:sp>
      <p:sp>
        <p:nvSpPr>
          <p:cNvPr id="4" name="Slide Number Placeholder 3"/>
          <p:cNvSpPr>
            <a:spLocks noGrp="1"/>
          </p:cNvSpPr>
          <p:nvPr>
            <p:ph type="sldNum" sz="quarter" idx="5"/>
          </p:nvPr>
        </p:nvSpPr>
        <p:spPr/>
        <p:txBody>
          <a:bodyPr/>
          <a:lstStyle/>
          <a:p>
            <a:fld id="{725CEE3F-E9BC-9F42-9FEE-5AAD149E4BE7}" type="slidenum">
              <a:rPr lang="en-US" smtClean="0"/>
              <a:t>3</a:t>
            </a:fld>
            <a:endParaRPr lang="en-US"/>
          </a:p>
        </p:txBody>
      </p:sp>
    </p:spTree>
    <p:extLst>
      <p:ext uri="{BB962C8B-B14F-4D97-AF65-F5344CB8AC3E}">
        <p14:creationId xmlns:p14="http://schemas.microsoft.com/office/powerpoint/2010/main" val="134508684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532CA4-8F4F-BAB1-9E3F-13CC5FEE768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05D41-65D8-B057-3485-7201FD24C1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FEE791-DABB-9000-5416-FBCF5BBC8D83}"/>
              </a:ext>
            </a:extLst>
          </p:cNvPr>
          <p:cNvSpPr>
            <a:spLocks noGrp="1"/>
          </p:cNvSpPr>
          <p:nvPr>
            <p:ph type="body" idx="1"/>
          </p:nvPr>
        </p:nvSpPr>
        <p:spPr/>
        <p:txBody>
          <a:bodyPr/>
          <a:lstStyle/>
          <a:p>
            <a:r>
              <a:rPr lang="en-US" sz="1800" dirty="0"/>
              <a:t>This tutorial follows the typical workflow used in healthcare AI research.</a:t>
            </a:r>
          </a:p>
          <a:p>
            <a:endParaRPr lang="en-US" dirty="0"/>
          </a:p>
        </p:txBody>
      </p:sp>
      <p:sp>
        <p:nvSpPr>
          <p:cNvPr id="4" name="Slide Number Placeholder 3">
            <a:extLst>
              <a:ext uri="{FF2B5EF4-FFF2-40B4-BE49-F238E27FC236}">
                <a16:creationId xmlns:a16="http://schemas.microsoft.com/office/drawing/2014/main" id="{0CACB2B7-ECFF-5B7C-94D5-473FDEB4D895}"/>
              </a:ext>
            </a:extLst>
          </p:cNvPr>
          <p:cNvSpPr>
            <a:spLocks noGrp="1"/>
          </p:cNvSpPr>
          <p:nvPr>
            <p:ph type="sldNum" sz="quarter" idx="5"/>
          </p:nvPr>
        </p:nvSpPr>
        <p:spPr/>
        <p:txBody>
          <a:bodyPr/>
          <a:lstStyle/>
          <a:p>
            <a:fld id="{725CEE3F-E9BC-9F42-9FEE-5AAD149E4BE7}" type="slidenum">
              <a:rPr lang="en-US" smtClean="0"/>
              <a:t>4</a:t>
            </a:fld>
            <a:endParaRPr lang="en-US"/>
          </a:p>
        </p:txBody>
      </p:sp>
    </p:spTree>
    <p:extLst>
      <p:ext uri="{BB962C8B-B14F-4D97-AF65-F5344CB8AC3E}">
        <p14:creationId xmlns:p14="http://schemas.microsoft.com/office/powerpoint/2010/main" val="2326929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1213CE-A1F2-328D-133D-EC81CC1ADA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EA22C3-887E-89BA-6180-EC5E5277E1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CCE79E-258F-AE94-CA44-D618CA25047C}"/>
              </a:ext>
            </a:extLst>
          </p:cNvPr>
          <p:cNvSpPr>
            <a:spLocks noGrp="1"/>
          </p:cNvSpPr>
          <p:nvPr>
            <p:ph type="body" idx="1"/>
          </p:nvPr>
        </p:nvSpPr>
        <p:spPr/>
        <p:txBody>
          <a:bodyPr/>
          <a:lstStyle/>
          <a:p>
            <a:r>
              <a:rPr lang="en-US" dirty="0"/>
              <a:t>These libraries support:</a:t>
            </a:r>
          </a:p>
          <a:p>
            <a:endParaRPr lang="en-US" dirty="0"/>
          </a:p>
          <a:p>
            <a:pPr marL="228600" indent="-228600">
              <a:buFont typeface="+mj-lt"/>
              <a:buAutoNum type="arabicPeriod"/>
            </a:pPr>
            <a:r>
              <a:rPr lang="en-US" dirty="0"/>
              <a:t>data manipulation</a:t>
            </a:r>
          </a:p>
          <a:p>
            <a:pPr marL="228600" indent="-228600">
              <a:buFont typeface="+mj-lt"/>
              <a:buAutoNum type="arabicPeriod"/>
            </a:pPr>
            <a:r>
              <a:rPr lang="en-US" dirty="0"/>
              <a:t>visualization</a:t>
            </a:r>
          </a:p>
          <a:p>
            <a:pPr marL="228600" indent="-228600">
              <a:buFont typeface="+mj-lt"/>
              <a:buAutoNum type="arabicPeriod"/>
            </a:pPr>
            <a:r>
              <a:rPr lang="en-US" dirty="0"/>
              <a:t>machine learning</a:t>
            </a:r>
          </a:p>
          <a:p>
            <a:pPr marL="228600" indent="-228600">
              <a:buFont typeface="+mj-lt"/>
              <a:buAutoNum type="arabicPeriod"/>
            </a:pPr>
            <a:r>
              <a:rPr lang="en-US" dirty="0"/>
              <a:t>deep learning</a:t>
            </a:r>
          </a:p>
          <a:p>
            <a:endParaRPr lang="en-US" dirty="0"/>
          </a:p>
        </p:txBody>
      </p:sp>
      <p:sp>
        <p:nvSpPr>
          <p:cNvPr id="4" name="Slide Number Placeholder 3">
            <a:extLst>
              <a:ext uri="{FF2B5EF4-FFF2-40B4-BE49-F238E27FC236}">
                <a16:creationId xmlns:a16="http://schemas.microsoft.com/office/drawing/2014/main" id="{80083A41-F92A-71EB-9E9C-613CA7DF2328}"/>
              </a:ext>
            </a:extLst>
          </p:cNvPr>
          <p:cNvSpPr>
            <a:spLocks noGrp="1"/>
          </p:cNvSpPr>
          <p:nvPr>
            <p:ph type="sldNum" sz="quarter" idx="5"/>
          </p:nvPr>
        </p:nvSpPr>
        <p:spPr/>
        <p:txBody>
          <a:bodyPr/>
          <a:lstStyle/>
          <a:p>
            <a:fld id="{725CEE3F-E9BC-9F42-9FEE-5AAD149E4BE7}" type="slidenum">
              <a:rPr lang="en-US" smtClean="0"/>
              <a:t>5</a:t>
            </a:fld>
            <a:endParaRPr lang="en-US"/>
          </a:p>
        </p:txBody>
      </p:sp>
    </p:spTree>
    <p:extLst>
      <p:ext uri="{BB962C8B-B14F-4D97-AF65-F5344CB8AC3E}">
        <p14:creationId xmlns:p14="http://schemas.microsoft.com/office/powerpoint/2010/main" val="19041454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AA7E9-AC6C-5C0D-D6F1-573219EC42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091F8D-E362-CAE7-403F-DDB51783C9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145A1-5F16-AAE4-004F-36AE66704745}"/>
              </a:ext>
            </a:extLst>
          </p:cNvPr>
          <p:cNvSpPr>
            <a:spLocks noGrp="1"/>
          </p:cNvSpPr>
          <p:nvPr>
            <p:ph type="body" idx="1"/>
          </p:nvPr>
        </p:nvSpPr>
        <p:spPr/>
        <p:txBody>
          <a:bodyPr/>
          <a:lstStyle/>
          <a:p>
            <a:r>
              <a:rPr lang="en-US" dirty="0"/>
              <a:t>Each dataset provides different information about the patient.</a:t>
            </a:r>
          </a:p>
          <a:p>
            <a:r>
              <a:rPr lang="en-US" dirty="0"/>
              <a:t>For example:</a:t>
            </a:r>
          </a:p>
          <a:p>
            <a:r>
              <a:rPr lang="en-US" dirty="0"/>
              <a:t>PATIENTS → demographics</a:t>
            </a:r>
          </a:p>
          <a:p>
            <a:r>
              <a:rPr lang="en-US" dirty="0"/>
              <a:t>ADMISSIONS → hospital admissions</a:t>
            </a:r>
          </a:p>
          <a:p>
            <a:r>
              <a:rPr lang="en-US" dirty="0"/>
              <a:t>ICUSTAYS → ICU stay information</a:t>
            </a:r>
          </a:p>
          <a:p>
            <a:endParaRPr lang="en-US" dirty="0"/>
          </a:p>
          <a:p>
            <a:endParaRPr lang="en-US" dirty="0"/>
          </a:p>
        </p:txBody>
      </p:sp>
      <p:sp>
        <p:nvSpPr>
          <p:cNvPr id="4" name="Slide Number Placeholder 3">
            <a:extLst>
              <a:ext uri="{FF2B5EF4-FFF2-40B4-BE49-F238E27FC236}">
                <a16:creationId xmlns:a16="http://schemas.microsoft.com/office/drawing/2014/main" id="{3138050B-6014-E7DA-5945-7EB5ACB159B3}"/>
              </a:ext>
            </a:extLst>
          </p:cNvPr>
          <p:cNvSpPr>
            <a:spLocks noGrp="1"/>
          </p:cNvSpPr>
          <p:nvPr>
            <p:ph type="sldNum" sz="quarter" idx="5"/>
          </p:nvPr>
        </p:nvSpPr>
        <p:spPr/>
        <p:txBody>
          <a:bodyPr/>
          <a:lstStyle/>
          <a:p>
            <a:fld id="{725CEE3F-E9BC-9F42-9FEE-5AAD149E4BE7}" type="slidenum">
              <a:rPr lang="en-US" smtClean="0"/>
              <a:t>6</a:t>
            </a:fld>
            <a:endParaRPr lang="en-US"/>
          </a:p>
        </p:txBody>
      </p:sp>
    </p:spTree>
    <p:extLst>
      <p:ext uri="{BB962C8B-B14F-4D97-AF65-F5344CB8AC3E}">
        <p14:creationId xmlns:p14="http://schemas.microsoft.com/office/powerpoint/2010/main" val="2093479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0E372E-AEBF-690B-F7DA-84B69CAA3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4F8A304-8F24-C3BF-4E6A-3AD64C904C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6DD2CB-31F9-9EFF-F79A-788AEAAB858D}"/>
              </a:ext>
            </a:extLst>
          </p:cNvPr>
          <p:cNvSpPr>
            <a:spLocks noGrp="1"/>
          </p:cNvSpPr>
          <p:nvPr>
            <p:ph type="body" idx="1"/>
          </p:nvPr>
        </p:nvSpPr>
        <p:spPr/>
        <p:txBody>
          <a:bodyPr/>
          <a:lstStyle/>
          <a:p>
            <a:r>
              <a:rPr lang="en-US" dirty="0"/>
              <a:t>Filter the </a:t>
            </a:r>
            <a:r>
              <a:rPr lang="en-US" dirty="0" err="1"/>
              <a:t>chartevents</a:t>
            </a:r>
            <a:r>
              <a:rPr lang="en-US" dirty="0"/>
              <a:t> data based on some critical vital indicators. </a:t>
            </a:r>
          </a:p>
          <a:p>
            <a:endParaRPr lang="en-US" dirty="0"/>
          </a:p>
        </p:txBody>
      </p:sp>
      <p:sp>
        <p:nvSpPr>
          <p:cNvPr id="4" name="Slide Number Placeholder 3">
            <a:extLst>
              <a:ext uri="{FF2B5EF4-FFF2-40B4-BE49-F238E27FC236}">
                <a16:creationId xmlns:a16="http://schemas.microsoft.com/office/drawing/2014/main" id="{A52C9E83-C1D4-A2D7-B62F-1C866049CC09}"/>
              </a:ext>
            </a:extLst>
          </p:cNvPr>
          <p:cNvSpPr>
            <a:spLocks noGrp="1"/>
          </p:cNvSpPr>
          <p:nvPr>
            <p:ph type="sldNum" sz="quarter" idx="5"/>
          </p:nvPr>
        </p:nvSpPr>
        <p:spPr/>
        <p:txBody>
          <a:bodyPr/>
          <a:lstStyle/>
          <a:p>
            <a:fld id="{725CEE3F-E9BC-9F42-9FEE-5AAD149E4BE7}" type="slidenum">
              <a:rPr lang="en-US" smtClean="0"/>
              <a:t>7</a:t>
            </a:fld>
            <a:endParaRPr lang="en-US"/>
          </a:p>
        </p:txBody>
      </p:sp>
    </p:spTree>
    <p:extLst>
      <p:ext uri="{BB962C8B-B14F-4D97-AF65-F5344CB8AC3E}">
        <p14:creationId xmlns:p14="http://schemas.microsoft.com/office/powerpoint/2010/main" val="245043267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CE75E8-9CD6-2D4E-7EBE-F782FE258C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D15001-A690-4D0E-F17B-09730C8D5F5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C921025-62AD-6A56-022A-BDB56300DB4D}"/>
              </a:ext>
            </a:extLst>
          </p:cNvPr>
          <p:cNvSpPr>
            <a:spLocks noGrp="1"/>
          </p:cNvSpPr>
          <p:nvPr>
            <p:ph type="body" idx="1"/>
          </p:nvPr>
        </p:nvSpPr>
        <p:spPr/>
        <p:txBody>
          <a:bodyPr/>
          <a:lstStyle/>
          <a:p>
            <a:r>
              <a:rPr lang="en-US" dirty="0"/>
              <a:t>Filter the </a:t>
            </a:r>
            <a:r>
              <a:rPr lang="en-US" dirty="0" err="1"/>
              <a:t>labevents</a:t>
            </a:r>
            <a:r>
              <a:rPr lang="en-US" dirty="0"/>
              <a:t> data based on some critical lab tests. </a:t>
            </a:r>
          </a:p>
          <a:p>
            <a:endParaRPr lang="en-US" dirty="0"/>
          </a:p>
        </p:txBody>
      </p:sp>
      <p:sp>
        <p:nvSpPr>
          <p:cNvPr id="4" name="Slide Number Placeholder 3">
            <a:extLst>
              <a:ext uri="{FF2B5EF4-FFF2-40B4-BE49-F238E27FC236}">
                <a16:creationId xmlns:a16="http://schemas.microsoft.com/office/drawing/2014/main" id="{4D7420FC-C8A8-31E7-A3D3-EB56B84D7DF5}"/>
              </a:ext>
            </a:extLst>
          </p:cNvPr>
          <p:cNvSpPr>
            <a:spLocks noGrp="1"/>
          </p:cNvSpPr>
          <p:nvPr>
            <p:ph type="sldNum" sz="quarter" idx="5"/>
          </p:nvPr>
        </p:nvSpPr>
        <p:spPr/>
        <p:txBody>
          <a:bodyPr/>
          <a:lstStyle/>
          <a:p>
            <a:fld id="{725CEE3F-E9BC-9F42-9FEE-5AAD149E4BE7}" type="slidenum">
              <a:rPr lang="en-US" smtClean="0"/>
              <a:t>8</a:t>
            </a:fld>
            <a:endParaRPr lang="en-US"/>
          </a:p>
        </p:txBody>
      </p:sp>
    </p:spTree>
    <p:extLst>
      <p:ext uri="{BB962C8B-B14F-4D97-AF65-F5344CB8AC3E}">
        <p14:creationId xmlns:p14="http://schemas.microsoft.com/office/powerpoint/2010/main" val="14932537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3B99D-C7E5-22C4-8CEC-48419B2E2D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61C562-3D7F-9429-663F-2EA3EE102FA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4E2C114-266D-DEB9-4857-51954059CE62}"/>
              </a:ext>
            </a:extLst>
          </p:cNvPr>
          <p:cNvSpPr>
            <a:spLocks noGrp="1"/>
          </p:cNvSpPr>
          <p:nvPr>
            <p:ph type="body" idx="1"/>
          </p:nvPr>
        </p:nvSpPr>
        <p:spPr/>
        <p:txBody>
          <a:bodyPr/>
          <a:lstStyle/>
          <a:p>
            <a:r>
              <a:rPr lang="en-US" dirty="0"/>
              <a:t>Feature engineering is critical in healthcare AI.</a:t>
            </a:r>
          </a:p>
          <a:p>
            <a:r>
              <a:rPr lang="en-US" dirty="0"/>
              <a:t>These features represent </a:t>
            </a:r>
            <a:r>
              <a:rPr lang="en-US" b="1" dirty="0"/>
              <a:t>patient physiological status </a:t>
            </a:r>
            <a:r>
              <a:rPr lang="en-US" b="0" dirty="0"/>
              <a:t>and are useful for predicting hospital mortality. </a:t>
            </a:r>
            <a:endParaRPr lang="en-US" dirty="0"/>
          </a:p>
          <a:p>
            <a:endParaRPr lang="en-US" dirty="0"/>
          </a:p>
        </p:txBody>
      </p:sp>
      <p:sp>
        <p:nvSpPr>
          <p:cNvPr id="4" name="Slide Number Placeholder 3">
            <a:extLst>
              <a:ext uri="{FF2B5EF4-FFF2-40B4-BE49-F238E27FC236}">
                <a16:creationId xmlns:a16="http://schemas.microsoft.com/office/drawing/2014/main" id="{E137D469-28BA-477E-00E1-187FBD45E77D}"/>
              </a:ext>
            </a:extLst>
          </p:cNvPr>
          <p:cNvSpPr>
            <a:spLocks noGrp="1"/>
          </p:cNvSpPr>
          <p:nvPr>
            <p:ph type="sldNum" sz="quarter" idx="5"/>
          </p:nvPr>
        </p:nvSpPr>
        <p:spPr/>
        <p:txBody>
          <a:bodyPr/>
          <a:lstStyle/>
          <a:p>
            <a:fld id="{725CEE3F-E9BC-9F42-9FEE-5AAD149E4BE7}" type="slidenum">
              <a:rPr lang="en-US" smtClean="0"/>
              <a:t>9</a:t>
            </a:fld>
            <a:endParaRPr lang="en-US"/>
          </a:p>
        </p:txBody>
      </p:sp>
    </p:spTree>
    <p:extLst>
      <p:ext uri="{BB962C8B-B14F-4D97-AF65-F5344CB8AC3E}">
        <p14:creationId xmlns:p14="http://schemas.microsoft.com/office/powerpoint/2010/main" val="3981562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3109B-948D-4BBE-3898-6439268B8F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CE0325-6E80-EDF3-1DEC-41D8C5443C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7B51FB-6109-66B9-B9B4-4443330D8DD0}"/>
              </a:ext>
            </a:extLst>
          </p:cNvPr>
          <p:cNvSpPr>
            <a:spLocks noGrp="1"/>
          </p:cNvSpPr>
          <p:nvPr>
            <p:ph type="body" idx="1"/>
          </p:nvPr>
        </p:nvSpPr>
        <p:spPr/>
        <p:txBody>
          <a:bodyPr/>
          <a:lstStyle/>
          <a:p>
            <a:r>
              <a:rPr lang="en-US" dirty="0"/>
              <a:t>This dataset is </a:t>
            </a:r>
            <a:r>
              <a:rPr lang="en-US" b="1" dirty="0"/>
              <a:t>imbalanced</a:t>
            </a:r>
            <a:r>
              <a:rPr lang="en-US" dirty="0"/>
              <a:t>, meaning deaths occur less frequently.</a:t>
            </a:r>
          </a:p>
          <a:p>
            <a:r>
              <a:rPr lang="en-US" dirty="0"/>
              <a:t>This is why we use </a:t>
            </a:r>
            <a:r>
              <a:rPr lang="en-US" b="1" dirty="0"/>
              <a:t>stratified train/test splitting</a:t>
            </a:r>
            <a:r>
              <a:rPr lang="en-US" dirty="0"/>
              <a:t>.</a:t>
            </a:r>
          </a:p>
          <a:p>
            <a:r>
              <a:rPr lang="en-US" dirty="0"/>
              <a:t>The chart in the notebook confirms this distribution. </a:t>
            </a:r>
          </a:p>
          <a:p>
            <a:endParaRPr lang="en-US" dirty="0"/>
          </a:p>
        </p:txBody>
      </p:sp>
      <p:sp>
        <p:nvSpPr>
          <p:cNvPr id="4" name="Slide Number Placeholder 3">
            <a:extLst>
              <a:ext uri="{FF2B5EF4-FFF2-40B4-BE49-F238E27FC236}">
                <a16:creationId xmlns:a16="http://schemas.microsoft.com/office/drawing/2014/main" id="{35B8308B-A236-19F9-99DA-AA2BA9C6F1C5}"/>
              </a:ext>
            </a:extLst>
          </p:cNvPr>
          <p:cNvSpPr>
            <a:spLocks noGrp="1"/>
          </p:cNvSpPr>
          <p:nvPr>
            <p:ph type="sldNum" sz="quarter" idx="5"/>
          </p:nvPr>
        </p:nvSpPr>
        <p:spPr/>
        <p:txBody>
          <a:bodyPr/>
          <a:lstStyle/>
          <a:p>
            <a:fld id="{725CEE3F-E9BC-9F42-9FEE-5AAD149E4BE7}" type="slidenum">
              <a:rPr lang="en-US" smtClean="0"/>
              <a:t>10</a:t>
            </a:fld>
            <a:endParaRPr lang="en-US"/>
          </a:p>
        </p:txBody>
      </p:sp>
    </p:spTree>
    <p:extLst>
      <p:ext uri="{BB962C8B-B14F-4D97-AF65-F5344CB8AC3E}">
        <p14:creationId xmlns:p14="http://schemas.microsoft.com/office/powerpoint/2010/main" val="20449234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B23CD1-B2D8-436E-267F-65EA648DBE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62BDCA-00F3-F2DB-7B0E-288380600D3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D4A88A-1B5F-71B5-4CFF-442D09DB58EC}"/>
              </a:ext>
            </a:extLst>
          </p:cNvPr>
          <p:cNvSpPr>
            <a:spLocks noGrp="1"/>
          </p:cNvSpPr>
          <p:nvPr>
            <p:ph type="body" idx="1"/>
          </p:nvPr>
        </p:nvSpPr>
        <p:spPr/>
        <p:txBody>
          <a:bodyPr/>
          <a:lstStyle/>
          <a:p>
            <a:r>
              <a:rPr lang="en-US" dirty="0"/>
              <a:t>This dataset is </a:t>
            </a:r>
            <a:r>
              <a:rPr lang="en-US" b="1" dirty="0"/>
              <a:t>imbalanced</a:t>
            </a:r>
            <a:r>
              <a:rPr lang="en-US" dirty="0"/>
              <a:t>, meaning deaths occur less frequently.</a:t>
            </a:r>
          </a:p>
          <a:p>
            <a:r>
              <a:rPr lang="en-US" dirty="0"/>
              <a:t>This is why we use </a:t>
            </a:r>
            <a:r>
              <a:rPr lang="en-US" b="1" dirty="0"/>
              <a:t>stratified train/test splitting</a:t>
            </a:r>
            <a:r>
              <a:rPr lang="en-US" dirty="0"/>
              <a:t>.</a:t>
            </a:r>
          </a:p>
          <a:p>
            <a:endParaRPr lang="en-US" dirty="0"/>
          </a:p>
        </p:txBody>
      </p:sp>
      <p:sp>
        <p:nvSpPr>
          <p:cNvPr id="4" name="Slide Number Placeholder 3">
            <a:extLst>
              <a:ext uri="{FF2B5EF4-FFF2-40B4-BE49-F238E27FC236}">
                <a16:creationId xmlns:a16="http://schemas.microsoft.com/office/drawing/2014/main" id="{8AE2E25D-F514-7E7E-B22B-EC45CAA66E82}"/>
              </a:ext>
            </a:extLst>
          </p:cNvPr>
          <p:cNvSpPr>
            <a:spLocks noGrp="1"/>
          </p:cNvSpPr>
          <p:nvPr>
            <p:ph type="sldNum" sz="quarter" idx="5"/>
          </p:nvPr>
        </p:nvSpPr>
        <p:spPr/>
        <p:txBody>
          <a:bodyPr/>
          <a:lstStyle/>
          <a:p>
            <a:fld id="{725CEE3F-E9BC-9F42-9FEE-5AAD149E4BE7}" type="slidenum">
              <a:rPr lang="en-US" smtClean="0"/>
              <a:t>11</a:t>
            </a:fld>
            <a:endParaRPr lang="en-US"/>
          </a:p>
        </p:txBody>
      </p:sp>
    </p:spTree>
    <p:extLst>
      <p:ext uri="{BB962C8B-B14F-4D97-AF65-F5344CB8AC3E}">
        <p14:creationId xmlns:p14="http://schemas.microsoft.com/office/powerpoint/2010/main" val="406192191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60C0A-2586-2882-F257-9D58431704E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7980553-804C-D3AD-A24E-E97A17D017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E8497E-7D4D-6195-EC38-060047AAB8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Logistic regression helps us understand which features increase mortality risk.</a:t>
            </a:r>
          </a:p>
          <a:p>
            <a:endParaRPr lang="en-US" dirty="0"/>
          </a:p>
        </p:txBody>
      </p:sp>
      <p:sp>
        <p:nvSpPr>
          <p:cNvPr id="4" name="Slide Number Placeholder 3">
            <a:extLst>
              <a:ext uri="{FF2B5EF4-FFF2-40B4-BE49-F238E27FC236}">
                <a16:creationId xmlns:a16="http://schemas.microsoft.com/office/drawing/2014/main" id="{D66E170C-99C4-0E9B-E71F-5E1CDD3B21FB}"/>
              </a:ext>
            </a:extLst>
          </p:cNvPr>
          <p:cNvSpPr>
            <a:spLocks noGrp="1"/>
          </p:cNvSpPr>
          <p:nvPr>
            <p:ph type="sldNum" sz="quarter" idx="5"/>
          </p:nvPr>
        </p:nvSpPr>
        <p:spPr/>
        <p:txBody>
          <a:bodyPr/>
          <a:lstStyle/>
          <a:p>
            <a:fld id="{725CEE3F-E9BC-9F42-9FEE-5AAD149E4BE7}" type="slidenum">
              <a:rPr lang="en-US" smtClean="0"/>
              <a:t>12</a:t>
            </a:fld>
            <a:endParaRPr lang="en-US"/>
          </a:p>
        </p:txBody>
      </p:sp>
    </p:spTree>
    <p:extLst>
      <p:ext uri="{BB962C8B-B14F-4D97-AF65-F5344CB8AC3E}">
        <p14:creationId xmlns:p14="http://schemas.microsoft.com/office/powerpoint/2010/main" val="159013835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9C45A-367E-3142-F637-42FC1D3306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1548EE-0B04-B39C-87F3-F1A9ADC970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597744B-FB20-A00C-3768-442749842D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Instead of relying on a single decision tree, Random Forest creates multiple trees using random subsets of the data and features (a method called bagging). Each tree makes a prediction, and the final output is determined by: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Majority vote for classification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Average prediction for regression</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In a medical dataset, a Random Forest model could predict whether a patient has a high risk of </a:t>
            </a:r>
            <a:r>
              <a:rPr lang="en-US" b="1" dirty="0"/>
              <a:t>mortality</a:t>
            </a:r>
            <a:r>
              <a:rPr lang="en-US" dirty="0"/>
              <a:t> based on multiple features like age, blood pressure, heart rate, creatinine level etc.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 forests often perform better than linear models.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4E425B5-9A0F-A8B3-5708-02F0A0BC0B91}"/>
              </a:ext>
            </a:extLst>
          </p:cNvPr>
          <p:cNvSpPr>
            <a:spLocks noGrp="1"/>
          </p:cNvSpPr>
          <p:nvPr>
            <p:ph type="sldNum" sz="quarter" idx="5"/>
          </p:nvPr>
        </p:nvSpPr>
        <p:spPr/>
        <p:txBody>
          <a:bodyPr/>
          <a:lstStyle/>
          <a:p>
            <a:fld id="{725CEE3F-E9BC-9F42-9FEE-5AAD149E4BE7}" type="slidenum">
              <a:rPr lang="en-US" smtClean="0"/>
              <a:t>13</a:t>
            </a:fld>
            <a:endParaRPr lang="en-US"/>
          </a:p>
        </p:txBody>
      </p:sp>
    </p:spTree>
    <p:extLst>
      <p:ext uri="{BB962C8B-B14F-4D97-AF65-F5344CB8AC3E}">
        <p14:creationId xmlns:p14="http://schemas.microsoft.com/office/powerpoint/2010/main" val="16411103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AAB5BE-A90C-EB2E-7D56-583297231F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BF8490-1455-9D09-4FBB-0EEEF2B4E2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EA09D9-BAA5-FFF3-0947-60FB42BAEF87}"/>
              </a:ext>
            </a:extLst>
          </p:cNvPr>
          <p:cNvSpPr>
            <a:spLocks noGrp="1"/>
          </p:cNvSpPr>
          <p:nvPr>
            <p:ph type="body" idx="1"/>
          </p:nvPr>
        </p:nvSpPr>
        <p:spPr/>
        <p:txBody>
          <a:bodyPr/>
          <a:lstStyle/>
          <a:p>
            <a:r>
              <a:rPr lang="en-US" dirty="0"/>
              <a:t>TF-IDF has two main components:</a:t>
            </a:r>
          </a:p>
          <a:p>
            <a:r>
              <a:rPr lang="en-US" b="1" dirty="0"/>
              <a:t>Term Frequency (TF):</a:t>
            </a:r>
            <a:r>
              <a:rPr lang="en-US" dirty="0"/>
              <a:t> Measures how frequently a word appears in a document.</a:t>
            </a:r>
          </a:p>
          <a:p>
            <a:r>
              <a:rPr lang="en-US" b="1" dirty="0"/>
              <a:t>Inverse Document Frequency (IDF):</a:t>
            </a:r>
            <a:r>
              <a:rPr lang="en-US" dirty="0"/>
              <a:t> Reduces the weight of words that appear frequently across many documents and increases the importance of words that are more unique.</a:t>
            </a:r>
          </a:p>
          <a:p>
            <a:r>
              <a:rPr lang="en-US" dirty="0"/>
              <a:t>This approach helps the model focus on </a:t>
            </a:r>
            <a:r>
              <a:rPr lang="en-US" b="1" dirty="0"/>
              <a:t>informative words rather than common words</a:t>
            </a:r>
            <a:r>
              <a:rPr lang="en-US" dirty="0"/>
              <a:t> that carry little meaning.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1E88CA12-397F-DC36-0ADC-4672C624EF4C}"/>
              </a:ext>
            </a:extLst>
          </p:cNvPr>
          <p:cNvSpPr>
            <a:spLocks noGrp="1"/>
          </p:cNvSpPr>
          <p:nvPr>
            <p:ph type="sldNum" sz="quarter" idx="5"/>
          </p:nvPr>
        </p:nvSpPr>
        <p:spPr/>
        <p:txBody>
          <a:bodyPr/>
          <a:lstStyle/>
          <a:p>
            <a:fld id="{725CEE3F-E9BC-9F42-9FEE-5AAD149E4BE7}" type="slidenum">
              <a:rPr lang="en-US" smtClean="0"/>
              <a:t>14</a:t>
            </a:fld>
            <a:endParaRPr lang="en-US"/>
          </a:p>
        </p:txBody>
      </p:sp>
    </p:spTree>
    <p:extLst>
      <p:ext uri="{BB962C8B-B14F-4D97-AF65-F5344CB8AC3E}">
        <p14:creationId xmlns:p14="http://schemas.microsoft.com/office/powerpoint/2010/main" val="207896657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B2C645-0CB6-EB5F-03FA-9C86852595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01B07-B892-C0CB-4232-6D67DDD3E8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426E9D-6113-6451-0101-DA01210D3BAE}"/>
              </a:ext>
            </a:extLst>
          </p:cNvPr>
          <p:cNvSpPr>
            <a:spLocks noGrp="1"/>
          </p:cNvSpPr>
          <p:nvPr>
            <p:ph type="body" idx="1"/>
          </p:nvPr>
        </p:nvSpPr>
        <p:spPr/>
        <p:txBody>
          <a:bodyPr/>
          <a:lstStyle/>
          <a:p>
            <a:r>
              <a:rPr lang="en-US" b="1" dirty="0"/>
              <a:t>Stop words</a:t>
            </a:r>
            <a:r>
              <a:rPr lang="en-US" dirty="0"/>
              <a:t> are very common words such as </a:t>
            </a:r>
            <a:r>
              <a:rPr lang="en-US" i="1" dirty="0"/>
              <a:t>“the”, “is”, “and”, “of”</a:t>
            </a:r>
            <a:r>
              <a:rPr lang="en-US" dirty="0"/>
              <a:t> that typically </a:t>
            </a:r>
            <a:r>
              <a:rPr lang="en-US" b="1" dirty="0"/>
              <a:t>do not contribute meaningful information</a:t>
            </a:r>
            <a:r>
              <a:rPr lang="en-US" dirty="0"/>
              <a:t> for classification tasks.</a:t>
            </a:r>
          </a:p>
          <a:p>
            <a:endParaRPr lang="en-US" dirty="0"/>
          </a:p>
          <a:p>
            <a:r>
              <a:rPr lang="en-US" dirty="0"/>
              <a:t>In the vectorization step, stop words were removed because:</a:t>
            </a:r>
          </a:p>
          <a:p>
            <a:endParaRPr lang="en-US" dirty="0"/>
          </a:p>
          <a:p>
            <a:r>
              <a:rPr lang="en-US" dirty="0"/>
              <a:t>They appear in almost all documents and therefore provide </a:t>
            </a:r>
            <a:r>
              <a:rPr lang="en-US" b="1" dirty="0"/>
              <a:t>little discriminatory value</a:t>
            </a:r>
            <a:r>
              <a:rPr lang="en-US" dirty="0"/>
              <a:t>.</a:t>
            </a:r>
          </a:p>
          <a:p>
            <a:r>
              <a:rPr lang="en-US" dirty="0"/>
              <a:t>Removing them </a:t>
            </a:r>
            <a:r>
              <a:rPr lang="en-US" b="1" dirty="0"/>
              <a:t>reduces noise</a:t>
            </a:r>
            <a:r>
              <a:rPr lang="en-US" dirty="0"/>
              <a:t> in the dataset.</a:t>
            </a:r>
          </a:p>
          <a:p>
            <a:r>
              <a:rPr lang="en-US" dirty="0"/>
              <a:t>It </a:t>
            </a:r>
            <a:r>
              <a:rPr lang="en-US" b="1" dirty="0"/>
              <a:t>improves computational efficiency</a:t>
            </a:r>
            <a:r>
              <a:rPr lang="en-US" dirty="0"/>
              <a:t> by reducing the number of features.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0F7989F6-531E-DBA4-51AD-FC1CBCB35E41}"/>
              </a:ext>
            </a:extLst>
          </p:cNvPr>
          <p:cNvSpPr>
            <a:spLocks noGrp="1"/>
          </p:cNvSpPr>
          <p:nvPr>
            <p:ph type="sldNum" sz="quarter" idx="5"/>
          </p:nvPr>
        </p:nvSpPr>
        <p:spPr/>
        <p:txBody>
          <a:bodyPr/>
          <a:lstStyle/>
          <a:p>
            <a:fld id="{725CEE3F-E9BC-9F42-9FEE-5AAD149E4BE7}" type="slidenum">
              <a:rPr lang="en-US" smtClean="0"/>
              <a:t>15</a:t>
            </a:fld>
            <a:endParaRPr lang="en-US"/>
          </a:p>
        </p:txBody>
      </p:sp>
    </p:spTree>
    <p:extLst>
      <p:ext uri="{BB962C8B-B14F-4D97-AF65-F5344CB8AC3E}">
        <p14:creationId xmlns:p14="http://schemas.microsoft.com/office/powerpoint/2010/main" val="5344239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B6DF6B-4496-F76F-B982-2EDC1ACA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DB35D5-53CC-91C2-45E5-F9EB2F82C5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BC6C88A-6DFD-44A6-A96F-177B4E5BC24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Together, these parameters help produce a </a:t>
            </a:r>
            <a:r>
              <a:rPr lang="en-US" b="1" dirty="0"/>
              <a:t>balanced feature representation</a:t>
            </a:r>
            <a:r>
              <a:rPr lang="en-US" dirty="0"/>
              <a:t> that captures important language patterns while reducing unnecessary noise.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62F428A9-EAB0-18DD-7A05-B4F35095F9AC}"/>
              </a:ext>
            </a:extLst>
          </p:cNvPr>
          <p:cNvSpPr>
            <a:spLocks noGrp="1"/>
          </p:cNvSpPr>
          <p:nvPr>
            <p:ph type="sldNum" sz="quarter" idx="5"/>
          </p:nvPr>
        </p:nvSpPr>
        <p:spPr/>
        <p:txBody>
          <a:bodyPr/>
          <a:lstStyle/>
          <a:p>
            <a:fld id="{725CEE3F-E9BC-9F42-9FEE-5AAD149E4BE7}" type="slidenum">
              <a:rPr lang="en-US" smtClean="0"/>
              <a:t>16</a:t>
            </a:fld>
            <a:endParaRPr lang="en-US"/>
          </a:p>
        </p:txBody>
      </p:sp>
    </p:spTree>
    <p:extLst>
      <p:ext uri="{BB962C8B-B14F-4D97-AF65-F5344CB8AC3E}">
        <p14:creationId xmlns:p14="http://schemas.microsoft.com/office/powerpoint/2010/main" val="4873145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DE5B08-4B51-E95A-E10D-706319654D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1EA404-4721-B229-B195-D20400E89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4B4A3-65C6-657B-8B98-F7AA7704360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Because TF-IDF produces </a:t>
            </a:r>
            <a:r>
              <a:rPr lang="en-US" b="1" dirty="0"/>
              <a:t>linearly separable feature spaces in many text classification problems</a:t>
            </a:r>
            <a:r>
              <a:rPr lang="en-US" dirty="0"/>
              <a:t>, Logistic Regression often performs </a:t>
            </a:r>
            <a:r>
              <a:rPr lang="en-US" b="1" dirty="0"/>
              <a:t>very well as a baseline model</a:t>
            </a:r>
            <a:r>
              <a:rPr lang="en-US" dirty="0"/>
              <a:t> in NLP pipelines.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0" dirty="0"/>
              <a:t>Logistic regression also provides </a:t>
            </a:r>
            <a:r>
              <a:rPr lang="en-US" b="1" dirty="0"/>
              <a:t>Interpretable coefficients</a:t>
            </a:r>
            <a:r>
              <a:rPr lang="en-US" dirty="0"/>
              <a:t>, allowing us to identify which words contribute most strongly to predictions.</a:t>
            </a:r>
          </a:p>
          <a:p>
            <a:r>
              <a:rPr lang="en-US" dirty="0"/>
              <a:t>Provides </a:t>
            </a:r>
            <a:r>
              <a:rPr lang="en-US" b="1" dirty="0"/>
              <a:t>probability estimates</a:t>
            </a:r>
            <a:r>
              <a:rPr lang="en-US" dirty="0"/>
              <a:t>, which are useful for evaluating classification confidence.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E50785D1-C16F-CC0A-8464-B260C29CF84A}"/>
              </a:ext>
            </a:extLst>
          </p:cNvPr>
          <p:cNvSpPr>
            <a:spLocks noGrp="1"/>
          </p:cNvSpPr>
          <p:nvPr>
            <p:ph type="sldNum" sz="quarter" idx="5"/>
          </p:nvPr>
        </p:nvSpPr>
        <p:spPr/>
        <p:txBody>
          <a:bodyPr/>
          <a:lstStyle/>
          <a:p>
            <a:fld id="{725CEE3F-E9BC-9F42-9FEE-5AAD149E4BE7}" type="slidenum">
              <a:rPr lang="en-US" smtClean="0"/>
              <a:t>17</a:t>
            </a:fld>
            <a:endParaRPr lang="en-US"/>
          </a:p>
        </p:txBody>
      </p:sp>
    </p:spTree>
    <p:extLst>
      <p:ext uri="{BB962C8B-B14F-4D97-AF65-F5344CB8AC3E}">
        <p14:creationId xmlns:p14="http://schemas.microsoft.com/office/powerpoint/2010/main" val="262124033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7A9AE3-5FB7-A5D5-99A6-F3D7042FDB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2A69BA-81BF-F078-43AF-50E82C6BE573}"/>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704132DB-6BDE-652C-F4ED-2C6F1DA787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 learning can capture complex nonlinear patterns in clinical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err="1"/>
                  <a:t>ReLU</a:t>
                </a:r>
                <a:r>
                  <a:rPr lang="en-US" b="1" dirty="0"/>
                  <a:t> (Rectified Linear Unit)</a:t>
                </a:r>
                <a:r>
                  <a:rPr lang="en-US" dirty="0"/>
                  <a:t> is an </a:t>
                </a:r>
                <a:r>
                  <a:rPr lang="en-US" b="1" dirty="0"/>
                  <a:t>activation function</a:t>
                </a:r>
                <a:r>
                  <a:rPr lang="en-US" dirty="0"/>
                  <a:t> commonly used in neural networks and deep learning models. It introduces </a:t>
                </a:r>
                <a:r>
                  <a:rPr lang="en-US" b="1" dirty="0"/>
                  <a:t>non-linearity</a:t>
                </a:r>
                <a:r>
                  <a:rPr lang="en-US" dirty="0"/>
                  <a:t> into the network so the model can learn complex patterns in data.</a:t>
                </a:r>
              </a:p>
              <a:p>
                <a:r>
                  <a:rPr lang="en-US" dirty="0"/>
                  <a:t>The </a:t>
                </a:r>
                <a:r>
                  <a:rPr lang="en-US" dirty="0" err="1"/>
                  <a:t>ReLU</a:t>
                </a:r>
                <a:r>
                  <a:rPr lang="en-US" dirty="0"/>
                  <a:t> function outputs the input directly if it is positive, and </a:t>
                </a:r>
                <a:r>
                  <a:rPr lang="en-US" b="1" dirty="0"/>
                  <a:t>returns zero if the input is negative</a:t>
                </a:r>
                <a:r>
                  <a:rPr lang="en-US" dirty="0"/>
                  <a:t>.</a:t>
                </a:r>
              </a:p>
              <a:p>
                <a:r>
                  <a:rPr lang="en-US" dirty="0"/>
                  <a:t>Mathematically:</a:t>
                </a:r>
                <a:r>
                  <a:rPr lang="en-US" baseline="0"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𝑓</m:t>
                    </m:r>
                    <m:d>
                      <m:dPr>
                        <m:ctrlPr>
                          <a:rPr lang="ar-AE" sz="1200" i="1" kern="1200">
                            <a:solidFill>
                              <a:schemeClr val="tx1"/>
                            </a:solidFill>
                            <a:latin typeface="Cambria Math" panose="02040503050406030204" pitchFamily="18" charset="0"/>
                            <a:ea typeface="+mn-ea"/>
                            <a:cs typeface="+mn-cs"/>
                          </a:rPr>
                        </m:ctrlPr>
                      </m:dPr>
                      <m:e>
                        <m:r>
                          <a:rPr lang="ar-AE" sz="1200" i="1" kern="1200">
                            <a:solidFill>
                              <a:schemeClr val="tx1"/>
                            </a:solidFill>
                            <a:latin typeface="Cambria Math" panose="02040503050406030204" pitchFamily="18" charset="0"/>
                            <a:ea typeface="+mn-ea"/>
                            <a:cs typeface="+mn-cs"/>
                          </a:rPr>
                          <m:t>𝑥</m:t>
                        </m:r>
                      </m:e>
                    </m:d>
                    <m:r>
                      <a:rPr lang="ar-AE" sz="1200" i="0" kern="1200">
                        <a:solidFill>
                          <a:schemeClr val="tx1"/>
                        </a:solidFill>
                        <a:latin typeface="Cambria Math" panose="02040503050406030204" pitchFamily="18" charset="0"/>
                        <a:ea typeface="+mn-ea"/>
                        <a:cs typeface="+mn-cs"/>
                      </a:rPr>
                      <m:t>=</m:t>
                    </m:r>
                    <m:r>
                      <m:rPr>
                        <m:sty m:val="p"/>
                      </m:rPr>
                      <a:rPr lang="en-US" sz="1200" i="0" kern="1200">
                        <a:solidFill>
                          <a:schemeClr val="tx1"/>
                        </a:solidFill>
                        <a:latin typeface="Cambria Math" panose="02040503050406030204" pitchFamily="18" charset="0"/>
                        <a:ea typeface="+mn-ea"/>
                        <a:cs typeface="+mn-cs"/>
                      </a:rPr>
                      <m:t>max</m:t>
                    </m:r>
                    <m:r>
                      <a:rPr lang="en-US" sz="1200" i="0" kern="1200">
                        <a:solidFill>
                          <a:schemeClr val="tx1"/>
                        </a:solidFill>
                        <a:latin typeface="Cambria Math" panose="02040503050406030204" pitchFamily="18" charset="0"/>
                        <a:ea typeface="+mn-ea"/>
                        <a:cs typeface="+mn-cs"/>
                      </a:rPr>
                      <m:t>⁡</m:t>
                    </m:r>
                    <m:d>
                      <m:dPr>
                        <m:sepChr m:val=","/>
                        <m:ctrlPr>
                          <a:rPr lang="ar-AE" sz="1200" i="1" kern="1200">
                            <a:solidFill>
                              <a:schemeClr val="tx1"/>
                            </a:solidFill>
                            <a:latin typeface="Cambria Math" panose="02040503050406030204" pitchFamily="18" charset="0"/>
                            <a:ea typeface="+mn-ea"/>
                            <a:cs typeface="+mn-cs"/>
                          </a:rPr>
                        </m:ctrlPr>
                      </m:dPr>
                      <m:e>
                        <m:r>
                          <a:rPr lang="ar-AE" sz="1200" i="0" kern="1200">
                            <a:solidFill>
                              <a:schemeClr val="tx1"/>
                            </a:solidFill>
                            <a:latin typeface="Cambria Math" panose="02040503050406030204" pitchFamily="18" charset="0"/>
                            <a:ea typeface="+mn-ea"/>
                            <a:cs typeface="+mn-cs"/>
                          </a:rPr>
                          <m:t>0</m:t>
                        </m:r>
                      </m:e>
                      <m:e>
                        <m:r>
                          <a:rPr lang="ar-AE" sz="1200" i="1" kern="1200">
                            <a:solidFill>
                              <a:schemeClr val="tx1"/>
                            </a:solidFill>
                            <a:latin typeface="Cambria Math" panose="02040503050406030204" pitchFamily="18" charset="0"/>
                            <a:ea typeface="+mn-ea"/>
                            <a:cs typeface="+mn-cs"/>
                          </a:rPr>
                          <m:t>𝑥</m:t>
                        </m:r>
                      </m:e>
                    </m:d>
                  </m:oMath>
                </a14:m>
                <a:endParaRPr lang="en-US" dirty="0"/>
              </a:p>
              <a:p>
                <a:endParaRPr lang="ar-AE" dirty="0"/>
              </a:p>
              <a:p>
                <a:r>
                  <a:rPr lang="en-US" b="1" dirty="0"/>
                  <a:t>Key characteristics:</a:t>
                </a:r>
                <a:endParaRPr lang="en-US" dirty="0"/>
              </a:p>
              <a:p>
                <a:r>
                  <a:rPr lang="en-US" dirty="0"/>
                  <a:t>If </a:t>
                </a:r>
                <a14:m>
                  <m:oMath xmlns:m="http://schemas.openxmlformats.org/officeDocument/2006/math">
                    <m:r>
                      <a:rPr lang="en-US" sz="1200" i="1" kern="1200">
                        <a:solidFill>
                          <a:schemeClr val="tx1"/>
                        </a:solidFill>
                        <a:latin typeface="Cambria Math" panose="02040503050406030204" pitchFamily="18" charset="0"/>
                        <a:ea typeface="+mn-ea"/>
                        <a:cs typeface="+mn-cs"/>
                      </a:rPr>
                      <m:t>𝑥</m:t>
                    </m:r>
                    <m:r>
                      <a:rPr lang="en-US" sz="1200" i="0" kern="1200">
                        <a:solidFill>
                          <a:schemeClr val="tx1"/>
                        </a:solidFill>
                        <a:latin typeface="Cambria Math" panose="02040503050406030204" pitchFamily="18" charset="0"/>
                        <a:ea typeface="+mn-ea"/>
                        <a:cs typeface="+mn-cs"/>
                      </a:rPr>
                      <m:t>&gt;0</m:t>
                    </m:r>
                  </m:oMath>
                </a14:m>
                <a:r>
                  <a:rPr lang="en-US" dirty="0"/>
                  <a:t>, the output is </a:t>
                </a:r>
                <a14:m>
                  <m:oMath xmlns:m="http://schemas.openxmlformats.org/officeDocument/2006/math">
                    <m:r>
                      <a:rPr lang="en-US" sz="1200" i="1" kern="1200">
                        <a:solidFill>
                          <a:schemeClr val="tx1"/>
                        </a:solidFill>
                        <a:latin typeface="Cambria Math" panose="02040503050406030204" pitchFamily="18" charset="0"/>
                        <a:ea typeface="+mn-ea"/>
                        <a:cs typeface="+mn-cs"/>
                      </a:rPr>
                      <m:t>𝑥</m:t>
                    </m:r>
                  </m:oMath>
                </a14:m>
                <a:endParaRPr lang="en-US" dirty="0"/>
              </a:p>
              <a:p>
                <a:r>
                  <a:rPr lang="en-US" dirty="0"/>
                  <a:t>If </a:t>
                </a:r>
                <a14:m>
                  <m:oMath xmlns:m="http://schemas.openxmlformats.org/officeDocument/2006/math">
                    <m:r>
                      <a:rPr lang="en-US" sz="1200" i="1" kern="1200">
                        <a:solidFill>
                          <a:schemeClr val="tx1"/>
                        </a:solidFill>
                        <a:latin typeface="Cambria Math" panose="02040503050406030204" pitchFamily="18" charset="0"/>
                        <a:ea typeface="+mn-ea"/>
                        <a:cs typeface="+mn-cs"/>
                      </a:rPr>
                      <m:t>𝑥</m:t>
                    </m:r>
                    <m:r>
                      <a:rPr lang="en-US" sz="1200" i="0" kern="1200">
                        <a:solidFill>
                          <a:schemeClr val="tx1"/>
                        </a:solidFill>
                        <a:latin typeface="Cambria Math" panose="02040503050406030204" pitchFamily="18" charset="0"/>
                        <a:ea typeface="+mn-ea"/>
                        <a:cs typeface="+mn-cs"/>
                      </a:rPr>
                      <m:t>≤0</m:t>
                    </m:r>
                  </m:oMath>
                </a14:m>
                <a:r>
                  <a:rPr lang="en-US" dirty="0"/>
                  <a:t>, the output is </a:t>
                </a:r>
                <a14:m>
                  <m:oMath xmlns:m="http://schemas.openxmlformats.org/officeDocument/2006/math">
                    <m:r>
                      <a:rPr lang="en-US" sz="1200" kern="1200">
                        <a:solidFill>
                          <a:schemeClr val="tx1"/>
                        </a:solidFill>
                        <a:latin typeface="Cambria Math" panose="02040503050406030204" pitchFamily="18" charset="0"/>
                        <a:ea typeface="+mn-ea"/>
                        <a:cs typeface="+mn-cs"/>
                      </a:rPr>
                      <m:t>0</m:t>
                    </m:r>
                  </m:oMath>
                </a14:m>
                <a:endParaRPr lang="en-US" dirty="0"/>
              </a:p>
              <a:p>
                <a:endParaRPr lang="en-US" dirty="0"/>
              </a:p>
              <a:p>
                <a:r>
                  <a:rPr lang="en-US" b="1" dirty="0"/>
                  <a:t>Why </a:t>
                </a:r>
                <a:r>
                  <a:rPr lang="en-US" b="1" dirty="0" err="1"/>
                  <a:t>ReLU</a:t>
                </a:r>
                <a:r>
                  <a:rPr lang="en-US" b="1" dirty="0"/>
                  <a:t> is widely used:</a:t>
                </a:r>
              </a:p>
              <a:p>
                <a:endParaRPr lang="en-US" dirty="0"/>
              </a:p>
              <a:p>
                <a:r>
                  <a:rPr lang="en-US" dirty="0"/>
                  <a:t>Computationally </a:t>
                </a:r>
                <a:r>
                  <a:rPr lang="en-US" b="1" dirty="0"/>
                  <a:t>simple and efficient</a:t>
                </a:r>
                <a:endParaRPr lang="en-US" dirty="0"/>
              </a:p>
              <a:p>
                <a:r>
                  <a:rPr lang="en-US" dirty="0"/>
                  <a:t>Helps reduce the </a:t>
                </a:r>
                <a:r>
                  <a:rPr lang="en-US" b="1" dirty="0"/>
                  <a:t>vanishing gradient problem</a:t>
                </a:r>
                <a:endParaRPr lang="en-US" dirty="0"/>
              </a:p>
              <a:p>
                <a:r>
                  <a:rPr lang="en-US" dirty="0"/>
                  <a:t>Allows neural networks to </a:t>
                </a:r>
                <a:r>
                  <a:rPr lang="en-US" b="1" dirty="0"/>
                  <a:t>train faster</a:t>
                </a:r>
              </a:p>
              <a:p>
                <a:endParaRPr lang="en-US" dirty="0"/>
              </a:p>
              <a:p>
                <a:r>
                  <a:rPr lang="en-US" b="1" dirty="0"/>
                  <a:t>Example:</a:t>
                </a:r>
                <a:br>
                  <a:rPr lang="en-US" dirty="0"/>
                </a:br>
                <a:r>
                  <a:rPr lang="en-US" dirty="0"/>
                  <a:t>If a neuron receives values </a:t>
                </a:r>
                <a14:m>
                  <m:oMath xmlns:m="http://schemas.openxmlformats.org/officeDocument/2006/math">
                    <m:r>
                      <a:rPr lang="en-US" sz="1200" kern="1200">
                        <a:solidFill>
                          <a:schemeClr val="tx1"/>
                        </a:solidFill>
                        <a:latin typeface="Cambria Math" panose="02040503050406030204" pitchFamily="18" charset="0"/>
                        <a:ea typeface="+mn-ea"/>
                        <a:cs typeface="+mn-cs"/>
                      </a:rPr>
                      <m:t>−</m:t>
                    </m:r>
                    <m:r>
                      <a:rPr lang="en-US" sz="1200" i="0" kern="1200">
                        <a:solidFill>
                          <a:schemeClr val="tx1"/>
                        </a:solidFill>
                        <a:latin typeface="Cambria Math" panose="02040503050406030204" pitchFamily="18" charset="0"/>
                        <a:ea typeface="+mn-ea"/>
                        <a:cs typeface="+mn-cs"/>
                      </a:rPr>
                      <m:t>3,−1,0,2,5</m:t>
                    </m:r>
                  </m:oMath>
                </a14:m>
                <a:r>
                  <a:rPr lang="en-US" dirty="0"/>
                  <a:t>, the </a:t>
                </a:r>
                <a:r>
                  <a:rPr lang="en-US" dirty="0" err="1"/>
                  <a:t>ReLU</a:t>
                </a:r>
                <a:r>
                  <a:rPr lang="en-US" dirty="0"/>
                  <a:t> output becomes </a:t>
                </a:r>
                <a:r>
                  <a:rPr lang="en-US" b="1" dirty="0"/>
                  <a:t>0, 0, 0, 2, 5</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Choice>
        <mc:Fallback xmlns="">
          <p:sp>
            <p:nvSpPr>
              <p:cNvPr id="3" name="Notes Placeholder 2">
                <a:extLst>
                  <a:ext uri="{FF2B5EF4-FFF2-40B4-BE49-F238E27FC236}">
                    <a16:creationId xmlns:a16="http://schemas.microsoft.com/office/drawing/2014/main" id="{704132DB-6BDE-652C-F4ED-2C6F1DA787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Deep learning can capture complex nonlinear patterns in clinical data.</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b="1" dirty="0" err="1"/>
                  <a:t>ReLU</a:t>
                </a:r>
                <a:r>
                  <a:rPr lang="en-US" b="1" dirty="0"/>
                  <a:t> (Rectified Linear Unit)</a:t>
                </a:r>
                <a:r>
                  <a:rPr lang="en-US" dirty="0"/>
                  <a:t> is an </a:t>
                </a:r>
                <a:r>
                  <a:rPr lang="en-US" b="1" dirty="0"/>
                  <a:t>activation function</a:t>
                </a:r>
                <a:r>
                  <a:rPr lang="en-US" dirty="0"/>
                  <a:t> commonly used in neural networks and deep learning models. It introduces </a:t>
                </a:r>
                <a:r>
                  <a:rPr lang="en-US" b="1" dirty="0"/>
                  <a:t>non-linearity</a:t>
                </a:r>
                <a:r>
                  <a:rPr lang="en-US" dirty="0"/>
                  <a:t> into the network so the model can learn complex patterns in data.</a:t>
                </a:r>
              </a:p>
              <a:p>
                <a:r>
                  <a:rPr lang="en-US" dirty="0"/>
                  <a:t>The </a:t>
                </a:r>
                <a:r>
                  <a:rPr lang="en-US" dirty="0" err="1"/>
                  <a:t>ReLU</a:t>
                </a:r>
                <a:r>
                  <a:rPr lang="en-US" dirty="0"/>
                  <a:t> function outputs the input directly if it is positive, and </a:t>
                </a:r>
                <a:r>
                  <a:rPr lang="en-US" b="1" dirty="0"/>
                  <a:t>returns zero if the input is negative</a:t>
                </a:r>
                <a:r>
                  <a:rPr lang="en-US" dirty="0"/>
                  <a:t>.</a:t>
                </a:r>
              </a:p>
              <a:p>
                <a:r>
                  <a:rPr lang="en-US" dirty="0"/>
                  <a:t>Mathematically:</a:t>
                </a:r>
                <a:r>
                  <a:rPr lang="en-US" baseline="0" dirty="0"/>
                  <a:t> </a:t>
                </a:r>
                <a:r>
                  <a:rPr lang="en-US" sz="1200" i="0" kern="1200">
                    <a:solidFill>
                      <a:schemeClr val="tx1"/>
                    </a:solidFill>
                    <a:latin typeface="+mn-lt"/>
                    <a:ea typeface="+mn-ea"/>
                    <a:cs typeface="+mn-cs"/>
                  </a:rPr>
                  <a:t>𝑓</a:t>
                </a:r>
                <a:r>
                  <a:rPr lang="ar-AE" sz="1200" i="0" kern="1200">
                    <a:solidFill>
                      <a:schemeClr val="tx1"/>
                    </a:solidFill>
                    <a:latin typeface="+mn-lt"/>
                    <a:ea typeface="+mn-ea"/>
                    <a:cs typeface="+mn-cs"/>
                  </a:rPr>
                  <a:t>(𝑥)=</a:t>
                </a:r>
                <a:r>
                  <a:rPr lang="en-US" sz="1200" i="0" kern="1200">
                    <a:solidFill>
                      <a:schemeClr val="tx1"/>
                    </a:solidFill>
                    <a:latin typeface="+mn-lt"/>
                    <a:ea typeface="+mn-ea"/>
                    <a:cs typeface="+mn-cs"/>
                  </a:rPr>
                  <a:t>max⁡</a:t>
                </a:r>
                <a:r>
                  <a:rPr lang="ar-AE" sz="1200" i="0" kern="1200">
                    <a:solidFill>
                      <a:schemeClr val="tx1"/>
                    </a:solidFill>
                    <a:latin typeface="+mn-lt"/>
                    <a:ea typeface="+mn-ea"/>
                    <a:cs typeface="+mn-cs"/>
                  </a:rPr>
                  <a:t>(0ⓜ,𝑥)</a:t>
                </a:r>
                <a:endParaRPr lang="en-US" dirty="0"/>
              </a:p>
              <a:p>
                <a:endParaRPr lang="ar-AE" dirty="0"/>
              </a:p>
              <a:p>
                <a:r>
                  <a:rPr lang="en-US" b="1" dirty="0"/>
                  <a:t>Key characteristics:</a:t>
                </a:r>
                <a:endParaRPr lang="en-US" dirty="0"/>
              </a:p>
              <a:p>
                <a:r>
                  <a:rPr lang="en-US" dirty="0"/>
                  <a:t>If </a:t>
                </a:r>
                <a:r>
                  <a:rPr lang="en-US" sz="1200" i="0" kern="1200">
                    <a:solidFill>
                      <a:schemeClr val="tx1"/>
                    </a:solidFill>
                    <a:latin typeface="+mn-lt"/>
                    <a:ea typeface="+mn-ea"/>
                    <a:cs typeface="+mn-cs"/>
                  </a:rPr>
                  <a:t>𝑥&gt;0</a:t>
                </a:r>
                <a:r>
                  <a:rPr lang="en-US" dirty="0"/>
                  <a:t>, the output is </a:t>
                </a:r>
                <a:r>
                  <a:rPr lang="en-US" sz="1200" i="0" kern="1200">
                    <a:solidFill>
                      <a:schemeClr val="tx1"/>
                    </a:solidFill>
                    <a:latin typeface="+mn-lt"/>
                    <a:ea typeface="+mn-ea"/>
                    <a:cs typeface="+mn-cs"/>
                  </a:rPr>
                  <a:t>𝑥</a:t>
                </a:r>
                <a:endParaRPr lang="en-US" dirty="0"/>
              </a:p>
              <a:p>
                <a:r>
                  <a:rPr lang="en-US" dirty="0"/>
                  <a:t>If </a:t>
                </a:r>
                <a:r>
                  <a:rPr lang="en-US" sz="1200" i="0" kern="1200">
                    <a:solidFill>
                      <a:schemeClr val="tx1"/>
                    </a:solidFill>
                    <a:latin typeface="+mn-lt"/>
                    <a:ea typeface="+mn-ea"/>
                    <a:cs typeface="+mn-cs"/>
                  </a:rPr>
                  <a:t>𝑥≤0</a:t>
                </a:r>
                <a:r>
                  <a:rPr lang="en-US" dirty="0"/>
                  <a:t>, the output is </a:t>
                </a:r>
                <a:r>
                  <a:rPr lang="en-US" sz="1200" i="0" kern="1200">
                    <a:solidFill>
                      <a:schemeClr val="tx1"/>
                    </a:solidFill>
                    <a:latin typeface="+mn-lt"/>
                    <a:ea typeface="+mn-ea"/>
                    <a:cs typeface="+mn-cs"/>
                  </a:rPr>
                  <a:t>0</a:t>
                </a:r>
                <a:endParaRPr lang="en-US" dirty="0"/>
              </a:p>
              <a:p>
                <a:endParaRPr lang="en-US" dirty="0"/>
              </a:p>
              <a:p>
                <a:r>
                  <a:rPr lang="en-US" b="1" dirty="0"/>
                  <a:t>Why </a:t>
                </a:r>
                <a:r>
                  <a:rPr lang="en-US" b="1" dirty="0" err="1"/>
                  <a:t>ReLU</a:t>
                </a:r>
                <a:r>
                  <a:rPr lang="en-US" b="1" dirty="0"/>
                  <a:t> is widely used:</a:t>
                </a:r>
              </a:p>
              <a:p>
                <a:endParaRPr lang="en-US" dirty="0"/>
              </a:p>
              <a:p>
                <a:r>
                  <a:rPr lang="en-US" dirty="0"/>
                  <a:t>Computationally </a:t>
                </a:r>
                <a:r>
                  <a:rPr lang="en-US" b="1" dirty="0"/>
                  <a:t>simple and efficient</a:t>
                </a:r>
                <a:endParaRPr lang="en-US" dirty="0"/>
              </a:p>
              <a:p>
                <a:r>
                  <a:rPr lang="en-US" dirty="0"/>
                  <a:t>Helps reduce the </a:t>
                </a:r>
                <a:r>
                  <a:rPr lang="en-US" b="1" dirty="0"/>
                  <a:t>vanishing gradient problem</a:t>
                </a:r>
                <a:endParaRPr lang="en-US" dirty="0"/>
              </a:p>
              <a:p>
                <a:r>
                  <a:rPr lang="en-US" dirty="0"/>
                  <a:t>Allows neural networks to </a:t>
                </a:r>
                <a:r>
                  <a:rPr lang="en-US" b="1" dirty="0"/>
                  <a:t>train faster</a:t>
                </a:r>
              </a:p>
              <a:p>
                <a:endParaRPr lang="en-US" dirty="0"/>
              </a:p>
              <a:p>
                <a:r>
                  <a:rPr lang="en-US" b="1" dirty="0"/>
                  <a:t>Example:</a:t>
                </a:r>
                <a:br>
                  <a:rPr lang="en-US" dirty="0"/>
                </a:br>
                <a:r>
                  <a:rPr lang="en-US" dirty="0"/>
                  <a:t>If a neuron receives values </a:t>
                </a:r>
                <a:r>
                  <a:rPr lang="en-US" sz="1200" i="0" kern="1200">
                    <a:solidFill>
                      <a:schemeClr val="tx1"/>
                    </a:solidFill>
                    <a:latin typeface="+mn-lt"/>
                    <a:ea typeface="+mn-ea"/>
                    <a:cs typeface="+mn-cs"/>
                  </a:rPr>
                  <a:t>−3,−1,0,2,5</a:t>
                </a:r>
                <a:r>
                  <a:rPr lang="en-US" dirty="0"/>
                  <a:t>, the </a:t>
                </a:r>
                <a:r>
                  <a:rPr lang="en-US" dirty="0" err="1"/>
                  <a:t>ReLU</a:t>
                </a:r>
                <a:r>
                  <a:rPr lang="en-US" dirty="0"/>
                  <a:t> output becomes </a:t>
                </a:r>
                <a:r>
                  <a:rPr lang="en-US" b="1" dirty="0"/>
                  <a:t>0, 0, 0, 2, 5</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a:extLst>
              <a:ext uri="{FF2B5EF4-FFF2-40B4-BE49-F238E27FC236}">
                <a16:creationId xmlns:a16="http://schemas.microsoft.com/office/drawing/2014/main" id="{B093DC9F-412C-90DD-1E87-8F556EC6D272}"/>
              </a:ext>
            </a:extLst>
          </p:cNvPr>
          <p:cNvSpPr>
            <a:spLocks noGrp="1"/>
          </p:cNvSpPr>
          <p:nvPr>
            <p:ph type="sldNum" sz="quarter" idx="5"/>
          </p:nvPr>
        </p:nvSpPr>
        <p:spPr/>
        <p:txBody>
          <a:bodyPr/>
          <a:lstStyle/>
          <a:p>
            <a:fld id="{725CEE3F-E9BC-9F42-9FEE-5AAD149E4BE7}" type="slidenum">
              <a:rPr lang="en-US" smtClean="0"/>
              <a:t>18</a:t>
            </a:fld>
            <a:endParaRPr lang="en-US"/>
          </a:p>
        </p:txBody>
      </p:sp>
    </p:spTree>
    <p:extLst>
      <p:ext uri="{BB962C8B-B14F-4D97-AF65-F5344CB8AC3E}">
        <p14:creationId xmlns:p14="http://schemas.microsoft.com/office/powerpoint/2010/main" val="358611280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7B723A-3EA2-A93F-0F55-576CEC6F9D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056A0F-30A2-7F10-3F12-00FC261525A9}"/>
              </a:ext>
            </a:extLst>
          </p:cNvPr>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a:extLst>
                  <a:ext uri="{FF2B5EF4-FFF2-40B4-BE49-F238E27FC236}">
                    <a16:creationId xmlns:a16="http://schemas.microsoft.com/office/drawing/2014/main" id="{C18C2C26-C56D-E299-D643-31CEEAF74220}"/>
                  </a:ext>
                </a:extLst>
              </p:cNvPr>
              <p:cNvSpPr>
                <a:spLocks noGrp="1"/>
              </p:cNvSpPr>
              <p:nvPr>
                <p:ph type="body" idx="1"/>
              </p:nvPr>
            </p:nvSpPr>
            <p:spPr/>
            <p:txBody>
              <a:bodyPr/>
              <a:lstStyle/>
              <a:p>
                <a:r>
                  <a:rPr lang="en-US" dirty="0"/>
                  <a:t>Creates a </a:t>
                </a:r>
                <a:r>
                  <a:rPr lang="en-US" b="1" dirty="0"/>
                  <a:t>custom neural network class</a:t>
                </a:r>
                <a:r>
                  <a:rPr lang="en-US" dirty="0"/>
                  <a:t>.</a:t>
                </a:r>
              </a:p>
              <a:p>
                <a:r>
                  <a:rPr lang="en-US" dirty="0"/>
                  <a:t>Inherits from </a:t>
                </a:r>
                <a:r>
                  <a:rPr lang="en-US" sz="1200" kern="1200" dirty="0" err="1">
                    <a:solidFill>
                      <a:schemeClr val="tx1"/>
                    </a:solidFill>
                    <a:latin typeface="+mn-lt"/>
                    <a:ea typeface="+mn-ea"/>
                    <a:cs typeface="+mn-cs"/>
                  </a:rPr>
                  <a:t>nn.Module</a:t>
                </a:r>
                <a:r>
                  <a:rPr lang="en-US" dirty="0"/>
                  <a:t>, the </a:t>
                </a:r>
                <a:r>
                  <a:rPr lang="en-US" b="1" dirty="0"/>
                  <a:t>base class for all </a:t>
                </a:r>
                <a:r>
                  <a:rPr lang="en-US" b="1" dirty="0" err="1"/>
                  <a:t>PyTorch</a:t>
                </a:r>
                <a:r>
                  <a:rPr lang="en-US" b="1" dirty="0"/>
                  <a:t> models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latin typeface="+mn-lt"/>
                    <a:ea typeface="+mn-ea"/>
                    <a:cs typeface="+mn-cs"/>
                  </a:rPr>
                  <a:t>input_dim</a:t>
                </a:r>
                <a:r>
                  <a:rPr lang="en-US" dirty="0"/>
                  <a:t> represents </a:t>
                </a:r>
                <a:r>
                  <a:rPr lang="en-US" b="1" dirty="0"/>
                  <a:t>number of input features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latin typeface="+mn-lt"/>
                    <a:ea typeface="+mn-ea"/>
                    <a:cs typeface="+mn-cs"/>
                  </a:rPr>
                  <a:t>nn.Sequential</a:t>
                </a:r>
                <a:r>
                  <a:rPr lang="en-US" dirty="0"/>
                  <a:t> builds a </a:t>
                </a:r>
                <a:r>
                  <a:rPr lang="en-US" b="1" dirty="0"/>
                  <a:t>layer-by-layer neural network pipeline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nn.Linear</a:t>
                </a:r>
                <a:r>
                  <a:rPr lang="en-US" dirty="0"/>
                  <a:t>(input_dim,32)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Fully connected layer.</a:t>
                </a:r>
              </a:p>
              <a:p>
                <a:r>
                  <a:rPr lang="en-US" dirty="0"/>
                  <a:t>Transforms input features → </a:t>
                </a:r>
                <a:r>
                  <a:rPr lang="en-US" b="1" dirty="0"/>
                  <a:t>32 hidden neurons</a:t>
                </a:r>
                <a:r>
                  <a:rPr lang="en-US" dirty="0"/>
                  <a:t>.</a:t>
                </a:r>
              </a:p>
              <a:p>
                <a:r>
                  <a:rPr lang="en-US" dirty="0"/>
                  <a:t>Mathematically:</a:t>
                </a:r>
                <a:r>
                  <a:rPr lang="en-US" baseline="0" dirty="0"/>
                  <a:t> </a:t>
                </a:r>
                <a14:m>
                  <m:oMath xmlns:m="http://schemas.openxmlformats.org/officeDocument/2006/math">
                    <m:r>
                      <a:rPr lang="en-US" sz="1200" i="1" kern="1200">
                        <a:solidFill>
                          <a:schemeClr val="tx1"/>
                        </a:solidFill>
                        <a:latin typeface="Cambria Math" panose="02040503050406030204" pitchFamily="18" charset="0"/>
                        <a:ea typeface="+mn-ea"/>
                        <a:cs typeface="+mn-cs"/>
                      </a:rPr>
                      <m:t>𝑦</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𝑊𝑥</m:t>
                    </m:r>
                    <m:r>
                      <a:rPr lang="en-US" sz="1200" i="0" kern="1200">
                        <a:solidFill>
                          <a:schemeClr val="tx1"/>
                        </a:solidFill>
                        <a:latin typeface="Cambria Math" panose="02040503050406030204" pitchFamily="18" charset="0"/>
                        <a:ea typeface="+mn-ea"/>
                        <a:cs typeface="+mn-cs"/>
                      </a:rPr>
                      <m:t>+</m:t>
                    </m:r>
                    <m:r>
                      <a:rPr lang="en-US" sz="1200" i="1" kern="1200">
                        <a:solidFill>
                          <a:schemeClr val="tx1"/>
                        </a:solidFill>
                        <a:latin typeface="Cambria Math" panose="02040503050406030204" pitchFamily="18" charset="0"/>
                        <a:ea typeface="+mn-ea"/>
                        <a:cs typeface="+mn-cs"/>
                      </a:rPr>
                      <m:t>𝑏</m:t>
                    </m:r>
                  </m:oMath>
                </a14:m>
                <a:endParaRPr lang="en-US" dirty="0"/>
              </a:p>
              <a:p>
                <a:r>
                  <a:rPr lang="en-US" dirty="0"/>
                  <a:t>Where:</a:t>
                </a:r>
              </a:p>
              <a:p>
                <a14:m>
                  <m:oMath xmlns:m="http://schemas.openxmlformats.org/officeDocument/2006/math">
                    <m:r>
                      <a:rPr lang="en-US" sz="1200" i="1" kern="1200">
                        <a:solidFill>
                          <a:schemeClr val="tx1"/>
                        </a:solidFill>
                        <a:latin typeface="Cambria Math" panose="02040503050406030204" pitchFamily="18" charset="0"/>
                        <a:ea typeface="+mn-ea"/>
                        <a:cs typeface="+mn-cs"/>
                      </a:rPr>
                      <m:t>𝑊</m:t>
                    </m:r>
                  </m:oMath>
                </a14:m>
                <a:r>
                  <a:rPr lang="en-US" dirty="0"/>
                  <a:t>= weights</a:t>
                </a:r>
              </a:p>
              <a:p>
                <a14:m>
                  <m:oMath xmlns:m="http://schemas.openxmlformats.org/officeDocument/2006/math">
                    <m:r>
                      <a:rPr lang="en-US" sz="1200" i="1" kern="1200">
                        <a:solidFill>
                          <a:schemeClr val="tx1"/>
                        </a:solidFill>
                        <a:latin typeface="Cambria Math" panose="02040503050406030204" pitchFamily="18" charset="0"/>
                        <a:ea typeface="+mn-ea"/>
                        <a:cs typeface="+mn-cs"/>
                      </a:rPr>
                      <m:t>𝑏</m:t>
                    </m:r>
                  </m:oMath>
                </a14:m>
                <a:r>
                  <a:rPr lang="en-US" dirty="0"/>
                  <a:t>= bias</a:t>
                </a:r>
              </a:p>
              <a:p>
                <a:r>
                  <a:rPr lang="en-US" dirty="0"/>
                  <a:t>Purpose:</a:t>
                </a:r>
              </a:p>
              <a:p>
                <a:r>
                  <a:rPr lang="en-US" dirty="0"/>
                  <a:t>Allows the network to </a:t>
                </a:r>
                <a:r>
                  <a:rPr lang="en-US" b="1" dirty="0"/>
                  <a:t>learn weighted combinations of input features</a:t>
                </a:r>
                <a:r>
                  <a:rPr lang="en-US" dirty="0"/>
                  <a:t>.</a:t>
                </a:r>
              </a:p>
              <a:p>
                <a:endParaRPr lang="en-US" dirty="0"/>
              </a:p>
              <a:p>
                <a:endParaRPr lang="en-US" dirty="0"/>
              </a:p>
              <a:p>
                <a:pPr rtl="0"/>
                <a:r>
                  <a:rPr lang="en-US" sz="1200" kern="1200" dirty="0" err="1">
                    <a:solidFill>
                      <a:schemeClr val="tx1"/>
                    </a:solidFill>
                    <a:latin typeface="+mn-lt"/>
                    <a:ea typeface="+mn-ea"/>
                    <a:cs typeface="+mn-cs"/>
                  </a:rPr>
                  <a:t>nn.Dropout</a:t>
                </a:r>
                <a:r>
                  <a:rPr lang="en-US" sz="1200" kern="1200" dirty="0">
                    <a:solidFill>
                      <a:schemeClr val="tx1"/>
                    </a:solidFill>
                    <a:latin typeface="+mn-lt"/>
                    <a:ea typeface="+mn-ea"/>
                    <a:cs typeface="+mn-cs"/>
                  </a:rPr>
                  <a:t>(0.3)</a:t>
                </a:r>
              </a:p>
              <a:p>
                <a:r>
                  <a:rPr lang="en-US" dirty="0"/>
                  <a:t>Randomly </a:t>
                </a:r>
                <a:r>
                  <a:rPr lang="en-US" b="1" dirty="0"/>
                  <a:t>turns off 30% of neurons during training</a:t>
                </a:r>
                <a:r>
                  <a:rPr lang="en-US" dirty="0"/>
                  <a:t>.</a:t>
                </a:r>
              </a:p>
              <a:p>
                <a:r>
                  <a:rPr lang="en-US" dirty="0"/>
                  <a:t>Purpose:</a:t>
                </a:r>
              </a:p>
              <a:p>
                <a:r>
                  <a:rPr lang="en-US" dirty="0"/>
                  <a:t>Prevents </a:t>
                </a:r>
                <a:r>
                  <a:rPr lang="en-US" b="1" dirty="0"/>
                  <a:t>overfitting</a:t>
                </a:r>
                <a:endParaRPr lang="en-US" dirty="0"/>
              </a:p>
              <a:p>
                <a:r>
                  <a:rPr lang="en-US" dirty="0"/>
                  <a:t>Forces network to learn </a:t>
                </a:r>
                <a:r>
                  <a:rPr lang="en-US" b="1" dirty="0"/>
                  <a:t>more robust patterns</a:t>
                </a:r>
                <a:endParaRPr lang="en-US" dirty="0"/>
              </a:p>
              <a:p>
                <a:r>
                  <a:rPr lang="en-US" dirty="0"/>
                  <a:t>Works like </a:t>
                </a:r>
                <a:r>
                  <a:rPr lang="en-US" b="1" dirty="0"/>
                  <a:t>regularization</a:t>
                </a:r>
                <a:r>
                  <a:rPr lang="en-US" dirty="0"/>
                  <a:t>.</a:t>
                </a:r>
              </a:p>
              <a:p>
                <a:endParaRPr lang="en-US" dirty="0"/>
              </a:p>
              <a:p>
                <a:endParaRPr lang="en-US" dirty="0"/>
              </a:p>
              <a:p>
                <a:pPr rtl="0"/>
                <a:r>
                  <a:rPr lang="en-US" sz="1200" kern="1200" dirty="0" err="1">
                    <a:solidFill>
                      <a:schemeClr val="tx1"/>
                    </a:solidFill>
                    <a:latin typeface="+mn-lt"/>
                    <a:ea typeface="+mn-ea"/>
                    <a:cs typeface="+mn-cs"/>
                  </a:rPr>
                  <a:t>nn.Linear</a:t>
                </a:r>
                <a:r>
                  <a:rPr lang="en-US" sz="1200" kern="1200" dirty="0">
                    <a:solidFill>
                      <a:schemeClr val="tx1"/>
                    </a:solidFill>
                    <a:latin typeface="+mn-lt"/>
                    <a:ea typeface="+mn-ea"/>
                    <a:cs typeface="+mn-cs"/>
                  </a:rPr>
                  <a:t>(32,1)</a:t>
                </a:r>
              </a:p>
              <a:p>
                <a:r>
                  <a:rPr lang="en-US" dirty="0"/>
                  <a:t>Converts 32 hidden neurons → </a:t>
                </a:r>
                <a:r>
                  <a:rPr lang="en-US" b="1" dirty="0"/>
                  <a:t>1 output neuron</a:t>
                </a:r>
                <a:r>
                  <a:rPr lang="en-US" dirty="0"/>
                  <a:t>.</a:t>
                </a:r>
              </a:p>
              <a:p>
                <a:r>
                  <a:rPr lang="en-US" dirty="0"/>
                  <a:t>Purpose:</a:t>
                </a:r>
              </a:p>
              <a:p>
                <a:r>
                  <a:rPr lang="en-US" dirty="0"/>
                  <a:t>Predicts </a:t>
                </a:r>
                <a:r>
                  <a:rPr lang="en-US" b="1" dirty="0"/>
                  <a:t>mortality probability</a:t>
                </a:r>
                <a:r>
                  <a:rPr lang="en-US" dirty="0"/>
                  <a:t> for binary classification.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Choice>
        <mc:Fallback xmlns="">
          <p:sp>
            <p:nvSpPr>
              <p:cNvPr id="3" name="Notes Placeholder 2">
                <a:extLst>
                  <a:ext uri="{FF2B5EF4-FFF2-40B4-BE49-F238E27FC236}">
                    <a16:creationId xmlns:a16="http://schemas.microsoft.com/office/drawing/2014/main" id="{C18C2C26-C56D-E299-D643-31CEEAF74220}"/>
                  </a:ext>
                </a:extLst>
              </p:cNvPr>
              <p:cNvSpPr>
                <a:spLocks noGrp="1"/>
              </p:cNvSpPr>
              <p:nvPr>
                <p:ph type="body" idx="1"/>
              </p:nvPr>
            </p:nvSpPr>
            <p:spPr/>
            <p:txBody>
              <a:bodyPr/>
              <a:lstStyle/>
              <a:p>
                <a:r>
                  <a:rPr lang="en-US" dirty="0"/>
                  <a:t>Creates a </a:t>
                </a:r>
                <a:r>
                  <a:rPr lang="en-US" b="1" dirty="0"/>
                  <a:t>custom neural network class</a:t>
                </a:r>
                <a:r>
                  <a:rPr lang="en-US" dirty="0"/>
                  <a:t>.</a:t>
                </a:r>
              </a:p>
              <a:p>
                <a:r>
                  <a:rPr lang="en-US" dirty="0"/>
                  <a:t>Inherits from </a:t>
                </a:r>
                <a:r>
                  <a:rPr lang="en-US" sz="1200" kern="1200" dirty="0" err="1">
                    <a:solidFill>
                      <a:schemeClr val="tx1"/>
                    </a:solidFill>
                    <a:latin typeface="+mn-lt"/>
                    <a:ea typeface="+mn-ea"/>
                    <a:cs typeface="+mn-cs"/>
                  </a:rPr>
                  <a:t>nn.Module</a:t>
                </a:r>
                <a:r>
                  <a:rPr lang="en-US" dirty="0"/>
                  <a:t>, the </a:t>
                </a:r>
                <a:r>
                  <a:rPr lang="en-US" b="1" dirty="0"/>
                  <a:t>base class for all </a:t>
                </a:r>
                <a:r>
                  <a:rPr lang="en-US" b="1" dirty="0" err="1"/>
                  <a:t>PyTorch</a:t>
                </a:r>
                <a:r>
                  <a:rPr lang="en-US" b="1" dirty="0"/>
                  <a:t> models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latin typeface="+mn-lt"/>
                    <a:ea typeface="+mn-ea"/>
                    <a:cs typeface="+mn-cs"/>
                  </a:rPr>
                  <a:t>input_dim</a:t>
                </a:r>
                <a:r>
                  <a:rPr lang="en-US" dirty="0"/>
                  <a:t> represents </a:t>
                </a:r>
                <a:r>
                  <a:rPr lang="en-US" b="1" dirty="0"/>
                  <a:t>number of input features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latin typeface="+mn-lt"/>
                    <a:ea typeface="+mn-ea"/>
                    <a:cs typeface="+mn-cs"/>
                  </a:rPr>
                  <a:t>nn.Sequential</a:t>
                </a:r>
                <a:r>
                  <a:rPr lang="en-US" dirty="0"/>
                  <a:t> builds a </a:t>
                </a:r>
                <a:r>
                  <a:rPr lang="en-US" b="1" dirty="0"/>
                  <a:t>layer-by-layer neural network pipeline</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err="1"/>
                  <a:t>nn.Linear</a:t>
                </a:r>
                <a:r>
                  <a:rPr lang="en-US" dirty="0"/>
                  <a:t>(input_dim,32)</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dirty="0"/>
                  <a:t>Fully connected layer.</a:t>
                </a:r>
              </a:p>
              <a:p>
                <a:r>
                  <a:rPr lang="en-US" dirty="0"/>
                  <a:t>Transforms input features → </a:t>
                </a:r>
                <a:r>
                  <a:rPr lang="en-US" b="1" dirty="0"/>
                  <a:t>32 hidden neurons</a:t>
                </a:r>
                <a:r>
                  <a:rPr lang="en-US" dirty="0"/>
                  <a:t>.</a:t>
                </a:r>
              </a:p>
              <a:p>
                <a:r>
                  <a:rPr lang="en-US" dirty="0"/>
                  <a:t>Mathematically:</a:t>
                </a:r>
                <a:r>
                  <a:rPr lang="en-US" baseline="0" dirty="0"/>
                  <a:t> </a:t>
                </a:r>
                <a:r>
                  <a:rPr lang="en-US" sz="1200" i="0" kern="1200">
                    <a:solidFill>
                      <a:schemeClr val="tx1"/>
                    </a:solidFill>
                    <a:latin typeface="+mn-lt"/>
                    <a:ea typeface="+mn-ea"/>
                    <a:cs typeface="+mn-cs"/>
                  </a:rPr>
                  <a:t>𝑦=𝑊𝑥+𝑏</a:t>
                </a:r>
                <a:endParaRPr lang="en-US" dirty="0"/>
              </a:p>
              <a:p>
                <a:r>
                  <a:rPr lang="en-US" dirty="0"/>
                  <a:t>Where:</a:t>
                </a:r>
              </a:p>
              <a:p>
                <a:r>
                  <a:rPr lang="en-US" sz="1200" i="0" kern="1200">
                    <a:solidFill>
                      <a:schemeClr val="tx1"/>
                    </a:solidFill>
                    <a:latin typeface="+mn-lt"/>
                    <a:ea typeface="+mn-ea"/>
                    <a:cs typeface="+mn-cs"/>
                  </a:rPr>
                  <a:t>𝑊</a:t>
                </a:r>
                <a:r>
                  <a:rPr lang="en-US" dirty="0"/>
                  <a:t>= weights</a:t>
                </a:r>
              </a:p>
              <a:p>
                <a:r>
                  <a:rPr lang="en-US" sz="1200" i="0" kern="1200">
                    <a:solidFill>
                      <a:schemeClr val="tx1"/>
                    </a:solidFill>
                    <a:latin typeface="+mn-lt"/>
                    <a:ea typeface="+mn-ea"/>
                    <a:cs typeface="+mn-cs"/>
                  </a:rPr>
                  <a:t>𝑏</a:t>
                </a:r>
                <a:r>
                  <a:rPr lang="en-US" dirty="0"/>
                  <a:t>= bias</a:t>
                </a:r>
              </a:p>
              <a:p>
                <a:r>
                  <a:rPr lang="en-US" dirty="0"/>
                  <a:t>Purpose:</a:t>
                </a:r>
              </a:p>
              <a:p>
                <a:r>
                  <a:rPr lang="en-US" dirty="0"/>
                  <a:t>Allows the network to </a:t>
                </a:r>
                <a:r>
                  <a:rPr lang="en-US" b="1" dirty="0"/>
                  <a:t>learn weighted combinations of input features</a:t>
                </a:r>
                <a:r>
                  <a:rPr lang="en-US" dirty="0"/>
                  <a:t>.</a:t>
                </a:r>
              </a:p>
              <a:p>
                <a:endParaRPr lang="en-US" dirty="0"/>
              </a:p>
              <a:p>
                <a:endParaRPr lang="en-US" dirty="0"/>
              </a:p>
              <a:p>
                <a:pPr rtl="0"/>
                <a:r>
                  <a:rPr lang="en-US" sz="1200" kern="1200" dirty="0" err="1">
                    <a:solidFill>
                      <a:schemeClr val="tx1"/>
                    </a:solidFill>
                    <a:latin typeface="+mn-lt"/>
                    <a:ea typeface="+mn-ea"/>
                    <a:cs typeface="+mn-cs"/>
                  </a:rPr>
                  <a:t>nn.Dropout</a:t>
                </a:r>
                <a:r>
                  <a:rPr lang="en-US" sz="1200" kern="1200" dirty="0">
                    <a:solidFill>
                      <a:schemeClr val="tx1"/>
                    </a:solidFill>
                    <a:latin typeface="+mn-lt"/>
                    <a:ea typeface="+mn-ea"/>
                    <a:cs typeface="+mn-cs"/>
                  </a:rPr>
                  <a:t>(0.3)</a:t>
                </a:r>
              </a:p>
              <a:p>
                <a:r>
                  <a:rPr lang="en-US" dirty="0"/>
                  <a:t>Randomly </a:t>
                </a:r>
                <a:r>
                  <a:rPr lang="en-US" b="1" dirty="0"/>
                  <a:t>turns off 30% of neurons during training</a:t>
                </a:r>
                <a:r>
                  <a:rPr lang="en-US" dirty="0"/>
                  <a:t>.</a:t>
                </a:r>
              </a:p>
              <a:p>
                <a:r>
                  <a:rPr lang="en-US" dirty="0"/>
                  <a:t>Purpose:</a:t>
                </a:r>
              </a:p>
              <a:p>
                <a:r>
                  <a:rPr lang="en-US" dirty="0"/>
                  <a:t>Prevents </a:t>
                </a:r>
                <a:r>
                  <a:rPr lang="en-US" b="1" dirty="0"/>
                  <a:t>overfitting</a:t>
                </a:r>
                <a:endParaRPr lang="en-US" dirty="0"/>
              </a:p>
              <a:p>
                <a:r>
                  <a:rPr lang="en-US" dirty="0"/>
                  <a:t>Forces network to learn </a:t>
                </a:r>
                <a:r>
                  <a:rPr lang="en-US" b="1" dirty="0"/>
                  <a:t>more robust patterns</a:t>
                </a:r>
                <a:endParaRPr lang="en-US" dirty="0"/>
              </a:p>
              <a:p>
                <a:r>
                  <a:rPr lang="en-US" dirty="0"/>
                  <a:t>Works like </a:t>
                </a:r>
                <a:r>
                  <a:rPr lang="en-US" b="1" dirty="0"/>
                  <a:t>regularization</a:t>
                </a:r>
                <a:r>
                  <a:rPr lang="en-US" dirty="0"/>
                  <a:t>.</a:t>
                </a:r>
              </a:p>
              <a:p>
                <a:endParaRPr lang="en-US" dirty="0"/>
              </a:p>
              <a:p>
                <a:endParaRPr lang="en-US" dirty="0"/>
              </a:p>
              <a:p>
                <a:pPr rtl="0"/>
                <a:r>
                  <a:rPr lang="en-US" sz="1200" kern="1200" dirty="0" err="1">
                    <a:solidFill>
                      <a:schemeClr val="tx1"/>
                    </a:solidFill>
                    <a:latin typeface="+mn-lt"/>
                    <a:ea typeface="+mn-ea"/>
                    <a:cs typeface="+mn-cs"/>
                  </a:rPr>
                  <a:t>nn.Linear</a:t>
                </a:r>
                <a:r>
                  <a:rPr lang="en-US" sz="1200" kern="1200" dirty="0">
                    <a:solidFill>
                      <a:schemeClr val="tx1"/>
                    </a:solidFill>
                    <a:latin typeface="+mn-lt"/>
                    <a:ea typeface="+mn-ea"/>
                    <a:cs typeface="+mn-cs"/>
                  </a:rPr>
                  <a:t>(32,1)</a:t>
                </a:r>
              </a:p>
              <a:p>
                <a:r>
                  <a:rPr lang="en-US" dirty="0"/>
                  <a:t>Converts 32 hidden neurons → </a:t>
                </a:r>
                <a:r>
                  <a:rPr lang="en-US" b="1" dirty="0"/>
                  <a:t>1 output neuron</a:t>
                </a:r>
                <a:r>
                  <a:rPr lang="en-US" dirty="0"/>
                  <a:t>.</a:t>
                </a:r>
              </a:p>
              <a:p>
                <a:r>
                  <a:rPr lang="en-US" dirty="0"/>
                  <a:t>Purpose:</a:t>
                </a:r>
              </a:p>
              <a:p>
                <a:r>
                  <a:rPr lang="en-US" dirty="0"/>
                  <a:t>Predicts </a:t>
                </a:r>
                <a:r>
                  <a:rPr lang="en-US" b="1" dirty="0"/>
                  <a:t>mortality probability</a:t>
                </a:r>
                <a:r>
                  <a:rPr lang="en-US" dirty="0"/>
                  <a:t> for binary classification.</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mc:Fallback>
      </mc:AlternateContent>
      <p:sp>
        <p:nvSpPr>
          <p:cNvPr id="4" name="Slide Number Placeholder 3">
            <a:extLst>
              <a:ext uri="{FF2B5EF4-FFF2-40B4-BE49-F238E27FC236}">
                <a16:creationId xmlns:a16="http://schemas.microsoft.com/office/drawing/2014/main" id="{4187BF4E-5701-4710-B63F-92150C755F93}"/>
              </a:ext>
            </a:extLst>
          </p:cNvPr>
          <p:cNvSpPr>
            <a:spLocks noGrp="1"/>
          </p:cNvSpPr>
          <p:nvPr>
            <p:ph type="sldNum" sz="quarter" idx="5"/>
          </p:nvPr>
        </p:nvSpPr>
        <p:spPr/>
        <p:txBody>
          <a:bodyPr/>
          <a:lstStyle/>
          <a:p>
            <a:fld id="{725CEE3F-E9BC-9F42-9FEE-5AAD149E4BE7}" type="slidenum">
              <a:rPr lang="en-US" smtClean="0"/>
              <a:t>19</a:t>
            </a:fld>
            <a:endParaRPr lang="en-US"/>
          </a:p>
        </p:txBody>
      </p:sp>
    </p:spTree>
    <p:extLst>
      <p:ext uri="{BB962C8B-B14F-4D97-AF65-F5344CB8AC3E}">
        <p14:creationId xmlns:p14="http://schemas.microsoft.com/office/powerpoint/2010/main" val="2637510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1B4072-5F54-5C26-6A31-0FCDC1C93B9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26FB38-6A2F-E1A5-E9D7-E1E02B873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79B551-C5BA-EB21-B046-D39D1A5013B3}"/>
              </a:ext>
            </a:extLst>
          </p:cNvPr>
          <p:cNvSpPr>
            <a:spLocks noGrp="1"/>
          </p:cNvSpPr>
          <p:nvPr>
            <p:ph type="body" idx="1"/>
          </p:nvPr>
        </p:nvSpPr>
        <p:spPr/>
        <p:txBody>
          <a:bodyPr/>
          <a:lstStyle/>
          <a:p>
            <a:r>
              <a:rPr lang="en-US" dirty="0" err="1"/>
              <a:t>StandardScaler</a:t>
            </a:r>
            <a:r>
              <a:rPr lang="en-US" dirty="0"/>
              <a:t> </a:t>
            </a:r>
            <a:r>
              <a:rPr lang="en-US" b="1" dirty="0"/>
              <a:t>normalizes </a:t>
            </a:r>
            <a:r>
              <a:rPr lang="en-US" b="0" dirty="0"/>
              <a:t>the features</a:t>
            </a:r>
            <a:r>
              <a:rPr lang="en-US" dirty="0"/>
              <a:t> so they have:</a:t>
            </a:r>
          </a:p>
          <a:p>
            <a:pPr lvl="1"/>
            <a:r>
              <a:rPr lang="en-US" b="1" dirty="0"/>
              <a:t>Mean = 0</a:t>
            </a:r>
            <a:endParaRPr lang="en-US" dirty="0"/>
          </a:p>
          <a:p>
            <a:pPr lvl="1"/>
            <a:r>
              <a:rPr lang="en-US" b="1" dirty="0"/>
              <a:t>Standard deviation = 1</a:t>
            </a:r>
            <a:endParaRPr lang="en-US" dirty="0"/>
          </a:p>
          <a:p>
            <a:r>
              <a:rPr lang="en-US" dirty="0"/>
              <a:t>Neural networks train </a:t>
            </a:r>
            <a:r>
              <a:rPr lang="en-US" b="1" dirty="0"/>
              <a:t>more efficiently when input features are on similar scales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rtl="0"/>
            <a:r>
              <a:rPr lang="en-US" sz="1200" kern="1200" dirty="0" err="1">
                <a:solidFill>
                  <a:schemeClr val="tx1"/>
                </a:solidFill>
                <a:latin typeface="+mn-lt"/>
                <a:ea typeface="+mn-ea"/>
                <a:cs typeface="+mn-cs"/>
              </a:rPr>
              <a:t>X_train_tensor</a:t>
            </a:r>
            <a:r>
              <a:rPr lang="en-US" sz="1200" kern="1200" dirty="0">
                <a:solidFill>
                  <a:schemeClr val="tx1"/>
                </a:solidFill>
                <a:latin typeface="+mn-lt"/>
                <a:ea typeface="+mn-ea"/>
                <a:cs typeface="+mn-cs"/>
              </a:rPr>
              <a:t> = </a:t>
            </a:r>
            <a:r>
              <a:rPr lang="en-US" sz="1200" kern="1200" dirty="0" err="1">
                <a:solidFill>
                  <a:schemeClr val="tx1"/>
                </a:solidFill>
                <a:latin typeface="+mn-lt"/>
                <a:ea typeface="+mn-ea"/>
                <a:cs typeface="+mn-cs"/>
              </a:rPr>
              <a:t>torch.tensor</a:t>
            </a:r>
            <a:r>
              <a:rPr lang="en-US" sz="1200" kern="1200" dirty="0">
                <a:solidFill>
                  <a:schemeClr val="tx1"/>
                </a:solidFill>
                <a:latin typeface="+mn-lt"/>
                <a:ea typeface="+mn-ea"/>
                <a:cs typeface="+mn-cs"/>
              </a:rPr>
              <a:t>(</a:t>
            </a:r>
            <a:r>
              <a:rPr lang="en-US" sz="1200" kern="1200" dirty="0" err="1">
                <a:solidFill>
                  <a:schemeClr val="tx1"/>
                </a:solidFill>
                <a:latin typeface="+mn-lt"/>
                <a:ea typeface="+mn-ea"/>
                <a:cs typeface="+mn-cs"/>
              </a:rPr>
              <a:t>X_train_scaled</a:t>
            </a:r>
            <a:r>
              <a:rPr lang="en-US" sz="1200" kern="1200" dirty="0">
                <a:solidFill>
                  <a:schemeClr val="tx1"/>
                </a:solidFill>
                <a:latin typeface="+mn-lt"/>
                <a:ea typeface="+mn-ea"/>
                <a:cs typeface="+mn-cs"/>
              </a:rPr>
              <a:t>, </a:t>
            </a:r>
            <a:r>
              <a:rPr lang="en-US" sz="1200" kern="1200" dirty="0" err="1">
                <a:solidFill>
                  <a:schemeClr val="tx1"/>
                </a:solidFill>
                <a:latin typeface="+mn-lt"/>
                <a:ea typeface="+mn-ea"/>
                <a:cs typeface="+mn-cs"/>
              </a:rPr>
              <a:t>dtype</a:t>
            </a:r>
            <a:r>
              <a:rPr lang="en-US" sz="1200" kern="1200" dirty="0">
                <a:solidFill>
                  <a:schemeClr val="tx1"/>
                </a:solidFill>
                <a:latin typeface="+mn-lt"/>
                <a:ea typeface="+mn-ea"/>
                <a:cs typeface="+mn-cs"/>
              </a:rPr>
              <a:t>=torch.float32)</a:t>
            </a:r>
          </a:p>
          <a:p>
            <a:pPr rtl="0"/>
            <a:endParaRPr lang="en-US" sz="1200" kern="1200" dirty="0">
              <a:solidFill>
                <a:schemeClr val="tx1"/>
              </a:solidFill>
              <a:latin typeface="+mn-lt"/>
              <a:ea typeface="+mn-ea"/>
              <a:cs typeface="+mn-cs"/>
            </a:endParaRPr>
          </a:p>
          <a:p>
            <a:r>
              <a:rPr lang="en-US" dirty="0"/>
              <a:t>Converts the scaled NumPy array into a </a:t>
            </a:r>
            <a:r>
              <a:rPr lang="en-US" b="1" dirty="0" err="1"/>
              <a:t>PyTorch</a:t>
            </a:r>
            <a:r>
              <a:rPr lang="en-US" b="1" dirty="0"/>
              <a:t> tensor</a:t>
            </a:r>
            <a:r>
              <a:rPr lang="en-US" dirty="0"/>
              <a:t>.</a:t>
            </a:r>
          </a:p>
          <a:p>
            <a:r>
              <a:rPr lang="en-US" sz="1200" kern="1200" dirty="0" err="1">
                <a:solidFill>
                  <a:schemeClr val="tx1"/>
                </a:solidFill>
                <a:latin typeface="+mn-lt"/>
                <a:ea typeface="+mn-ea"/>
                <a:cs typeface="+mn-cs"/>
              </a:rPr>
              <a:t>dtype</a:t>
            </a:r>
            <a:r>
              <a:rPr lang="en-US" sz="1200" kern="1200" dirty="0">
                <a:solidFill>
                  <a:schemeClr val="tx1"/>
                </a:solidFill>
                <a:latin typeface="+mn-lt"/>
                <a:ea typeface="+mn-ea"/>
                <a:cs typeface="+mn-cs"/>
              </a:rPr>
              <a:t>=torch.float32</a:t>
            </a:r>
            <a:r>
              <a:rPr lang="en-US" dirty="0"/>
              <a:t> ensures the correct numeric type for neural networks.</a:t>
            </a:r>
          </a:p>
          <a:p>
            <a:r>
              <a:rPr lang="en-US" dirty="0" err="1"/>
              <a:t>PyTorch</a:t>
            </a:r>
            <a:r>
              <a:rPr lang="en-US" dirty="0"/>
              <a:t> models operate on </a:t>
            </a:r>
            <a:r>
              <a:rPr lang="en-US" b="1" dirty="0"/>
              <a:t>tensors rather than NumPy arrays</a:t>
            </a:r>
            <a:r>
              <a:rPr lang="en-US" dirty="0"/>
              <a: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r>
              <a:rPr lang="en-US" sz="1200" b="0" kern="1200" dirty="0">
                <a:solidFill>
                  <a:schemeClr val="tx1"/>
                </a:solidFill>
                <a:effectLst/>
                <a:latin typeface="+mn-lt"/>
                <a:ea typeface="+mn-ea"/>
                <a:cs typeface="+mn-cs"/>
              </a:rPr>
              <a:t>criterion = </a:t>
            </a:r>
            <a:r>
              <a:rPr lang="en-US" sz="1200" b="0" kern="1200" dirty="0" err="1">
                <a:solidFill>
                  <a:schemeClr val="tx1"/>
                </a:solidFill>
                <a:effectLst/>
                <a:latin typeface="+mn-lt"/>
                <a:ea typeface="+mn-ea"/>
                <a:cs typeface="+mn-cs"/>
              </a:rPr>
              <a:t>nn.BCEWithLogitsLoss</a:t>
            </a:r>
            <a:r>
              <a:rPr lang="en-US" sz="1200" b="0" kern="1200" dirty="0">
                <a:solidFill>
                  <a:schemeClr val="tx1"/>
                </a:solidFill>
                <a:effectLst/>
                <a:latin typeface="+mn-lt"/>
                <a:ea typeface="+mn-ea"/>
                <a:cs typeface="+mn-cs"/>
              </a:rPr>
              <a:t>() # Binary Cross Entropy with Logits Loss, Used for binary classification.</a:t>
            </a:r>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optimizer = </a:t>
            </a:r>
            <a:r>
              <a:rPr lang="en-US" sz="1200" b="0" kern="1200" dirty="0" err="1">
                <a:solidFill>
                  <a:schemeClr val="tx1"/>
                </a:solidFill>
                <a:effectLst/>
                <a:latin typeface="+mn-lt"/>
                <a:ea typeface="+mn-ea"/>
                <a:cs typeface="+mn-cs"/>
              </a:rPr>
              <a:t>optim.Adam</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model.parameters</a:t>
            </a:r>
            <a:r>
              <a:rPr lang="en-US" sz="1200" b="0" kern="1200" dirty="0">
                <a:solidFill>
                  <a:schemeClr val="tx1"/>
                </a:solidFill>
                <a:effectLst/>
                <a:latin typeface="+mn-lt"/>
                <a:ea typeface="+mn-ea"/>
                <a:cs typeface="+mn-cs"/>
              </a:rPr>
              <a:t>(),</a:t>
            </a:r>
            <a:r>
              <a:rPr lang="en-US" sz="1200" b="0" kern="1200" dirty="0" err="1">
                <a:solidFill>
                  <a:schemeClr val="tx1"/>
                </a:solidFill>
                <a:effectLst/>
                <a:latin typeface="+mn-lt"/>
                <a:ea typeface="+mn-ea"/>
                <a:cs typeface="+mn-cs"/>
              </a:rPr>
              <a:t>lr</a:t>
            </a:r>
            <a:r>
              <a:rPr lang="en-US" sz="1200" b="0" kern="1200" dirty="0">
                <a:solidFill>
                  <a:schemeClr val="tx1"/>
                </a:solidFill>
                <a:effectLst/>
                <a:latin typeface="+mn-lt"/>
                <a:ea typeface="+mn-ea"/>
                <a:cs typeface="+mn-cs"/>
              </a:rPr>
              <a:t>=0.001) # Optimizer updates the model weights to minimize loss.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ADE535D4-FFDA-D2EA-8A52-6DE284A7EA86}"/>
              </a:ext>
            </a:extLst>
          </p:cNvPr>
          <p:cNvSpPr>
            <a:spLocks noGrp="1"/>
          </p:cNvSpPr>
          <p:nvPr>
            <p:ph type="sldNum" sz="quarter" idx="5"/>
          </p:nvPr>
        </p:nvSpPr>
        <p:spPr/>
        <p:txBody>
          <a:bodyPr/>
          <a:lstStyle/>
          <a:p>
            <a:fld id="{725CEE3F-E9BC-9F42-9FEE-5AAD149E4BE7}" type="slidenum">
              <a:rPr lang="en-US" smtClean="0"/>
              <a:t>20</a:t>
            </a:fld>
            <a:endParaRPr lang="en-US"/>
          </a:p>
        </p:txBody>
      </p:sp>
    </p:spTree>
    <p:extLst>
      <p:ext uri="{BB962C8B-B14F-4D97-AF65-F5344CB8AC3E}">
        <p14:creationId xmlns:p14="http://schemas.microsoft.com/office/powerpoint/2010/main" val="4706297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218B4F-1018-118C-E272-273DC518F3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0DE60FC-1FD9-A445-8BB0-730BDF473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99EB4BE-EFAF-BEC8-2633-4A276D6EB531}"/>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E6EF850-B208-E601-F1E8-1224F1422020}"/>
              </a:ext>
            </a:extLst>
          </p:cNvPr>
          <p:cNvSpPr>
            <a:spLocks noGrp="1"/>
          </p:cNvSpPr>
          <p:nvPr>
            <p:ph type="sldNum" sz="quarter" idx="5"/>
          </p:nvPr>
        </p:nvSpPr>
        <p:spPr/>
        <p:txBody>
          <a:bodyPr/>
          <a:lstStyle/>
          <a:p>
            <a:fld id="{725CEE3F-E9BC-9F42-9FEE-5AAD149E4BE7}" type="slidenum">
              <a:rPr lang="en-US" smtClean="0"/>
              <a:t>21</a:t>
            </a:fld>
            <a:endParaRPr lang="en-US"/>
          </a:p>
        </p:txBody>
      </p:sp>
    </p:spTree>
    <p:extLst>
      <p:ext uri="{BB962C8B-B14F-4D97-AF65-F5344CB8AC3E}">
        <p14:creationId xmlns:p14="http://schemas.microsoft.com/office/powerpoint/2010/main" val="94710216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27130-781C-118E-ED4C-1C1B9A2D25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266F61-C02C-7C6B-A6C7-93F032C95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F78338-D46D-820E-5F0A-35A2692B8D45}"/>
              </a:ext>
            </a:extLst>
          </p:cNvPr>
          <p:cNvSpPr>
            <a:spLocks noGrp="1"/>
          </p:cNvSpPr>
          <p:nvPr>
            <p:ph type="body" idx="1"/>
          </p:nvPr>
        </p:nvSpPr>
        <p:spPr/>
        <p:txBody>
          <a:bodyPr/>
          <a:lstStyle/>
          <a:p>
            <a:r>
              <a:rPr lang="en-US" dirty="0"/>
              <a:t>A </a:t>
            </a:r>
            <a:r>
              <a:rPr lang="en-US" b="1" dirty="0"/>
              <a:t>loss function</a:t>
            </a:r>
            <a:r>
              <a:rPr lang="en-US" dirty="0"/>
              <a:t> is a mathematical function used in machine learning to </a:t>
            </a:r>
            <a:r>
              <a:rPr lang="en-US" b="0" dirty="0"/>
              <a:t>measure the difference between the model’s predicted output and the actual target value.</a:t>
            </a:r>
          </a:p>
          <a:p>
            <a:r>
              <a:rPr lang="en-US" b="0" dirty="0"/>
              <a:t>It quantifies how well or poorly a model is performing. During training, the model adjusts its parameters (weights) to minimize the loss, which helps improve prediction accuracy.</a:t>
            </a:r>
          </a:p>
          <a:p>
            <a:endParaRPr lang="en-US" b="0" dirty="0"/>
          </a:p>
          <a:p>
            <a:r>
              <a:rPr lang="en-US" dirty="0"/>
              <a:t>Each epoch follows this sequence:</a:t>
            </a:r>
          </a:p>
          <a:p>
            <a:r>
              <a:rPr lang="en-US" b="0" dirty="0"/>
              <a:t>Reset gradients</a:t>
            </a:r>
          </a:p>
          <a:p>
            <a:r>
              <a:rPr lang="en-US" b="0" dirty="0"/>
              <a:t>Forward pass → model predicts outputs</a:t>
            </a:r>
          </a:p>
          <a:p>
            <a:r>
              <a:rPr lang="en-US" b="0" dirty="0"/>
              <a:t>Compute loss → measure prediction error</a:t>
            </a:r>
          </a:p>
          <a:p>
            <a:r>
              <a:rPr lang="en-US" b="0" dirty="0"/>
              <a:t>Backpropagation → compute gradients</a:t>
            </a:r>
          </a:p>
          <a:p>
            <a:r>
              <a:rPr lang="en-US" b="0" dirty="0"/>
              <a:t>Optimizer update → adjust model weights</a:t>
            </a:r>
          </a:p>
          <a:p>
            <a:r>
              <a:rPr lang="en-US" b="0" dirty="0"/>
              <a:t>Store and print loss</a:t>
            </a:r>
          </a:p>
          <a:p>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B8D95748-4980-44D0-EA7D-81671828E4A0}"/>
              </a:ext>
            </a:extLst>
          </p:cNvPr>
          <p:cNvSpPr>
            <a:spLocks noGrp="1"/>
          </p:cNvSpPr>
          <p:nvPr>
            <p:ph type="sldNum" sz="quarter" idx="5"/>
          </p:nvPr>
        </p:nvSpPr>
        <p:spPr/>
        <p:txBody>
          <a:bodyPr/>
          <a:lstStyle/>
          <a:p>
            <a:fld id="{725CEE3F-E9BC-9F42-9FEE-5AAD149E4BE7}" type="slidenum">
              <a:rPr lang="en-US" smtClean="0"/>
              <a:t>22</a:t>
            </a:fld>
            <a:endParaRPr lang="en-US"/>
          </a:p>
        </p:txBody>
      </p:sp>
    </p:spTree>
    <p:extLst>
      <p:ext uri="{BB962C8B-B14F-4D97-AF65-F5344CB8AC3E}">
        <p14:creationId xmlns:p14="http://schemas.microsoft.com/office/powerpoint/2010/main" val="347399348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95B4D7-CCCA-CD05-6158-A1F6900925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6C2905-EFC0-7C89-2CBD-E4D0868DE4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E20110-F629-297F-DD25-EB5103A8E329}"/>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t>Training loss decreases steadily across epochs, showing the model is learning.</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D5AB1FEC-985B-05D2-B7BB-E663574E8588}"/>
              </a:ext>
            </a:extLst>
          </p:cNvPr>
          <p:cNvSpPr>
            <a:spLocks noGrp="1"/>
          </p:cNvSpPr>
          <p:nvPr>
            <p:ph type="sldNum" sz="quarter" idx="5"/>
          </p:nvPr>
        </p:nvSpPr>
        <p:spPr/>
        <p:txBody>
          <a:bodyPr/>
          <a:lstStyle/>
          <a:p>
            <a:fld id="{725CEE3F-E9BC-9F42-9FEE-5AAD149E4BE7}" type="slidenum">
              <a:rPr lang="en-US" smtClean="0"/>
              <a:t>23</a:t>
            </a:fld>
            <a:endParaRPr lang="en-US"/>
          </a:p>
        </p:txBody>
      </p:sp>
    </p:spTree>
    <p:extLst>
      <p:ext uri="{BB962C8B-B14F-4D97-AF65-F5344CB8AC3E}">
        <p14:creationId xmlns:p14="http://schemas.microsoft.com/office/powerpoint/2010/main" val="254911778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0C6231-4388-7C1C-850B-0E2435D03F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1A0842D-883F-FA83-2488-A6433400961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05F353-06D4-E828-076D-93A6D703E9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By combining information from different sources, multimodal models can </a:t>
            </a:r>
            <a:r>
              <a:rPr lang="en-US" b="1" dirty="0"/>
              <a:t>capture richer patterns and context</a:t>
            </a:r>
            <a:r>
              <a:rPr lang="en-US" dirty="0"/>
              <a:t> than models trained on a single data type.</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For this tutorial, we have used structured data with features like Age, Gender, Length of Stay, Admission Type, Admission Location, Heart Rate, Respiratory Rate, Blood Pressure, Creatinine, BUN, WBC, Hemoglobin, Platelets, Sodium, Potassium combined with unstructured data from clinical notes in Nursing, Physician and Radiology category.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C9C45AE2-664A-CCAF-ED27-43AC0828D4A7}"/>
              </a:ext>
            </a:extLst>
          </p:cNvPr>
          <p:cNvSpPr>
            <a:spLocks noGrp="1"/>
          </p:cNvSpPr>
          <p:nvPr>
            <p:ph type="sldNum" sz="quarter" idx="5"/>
          </p:nvPr>
        </p:nvSpPr>
        <p:spPr/>
        <p:txBody>
          <a:bodyPr/>
          <a:lstStyle/>
          <a:p>
            <a:fld id="{725CEE3F-E9BC-9F42-9FEE-5AAD149E4BE7}" type="slidenum">
              <a:rPr lang="en-US" smtClean="0"/>
              <a:t>24</a:t>
            </a:fld>
            <a:endParaRPr lang="en-US"/>
          </a:p>
        </p:txBody>
      </p:sp>
    </p:spTree>
    <p:extLst>
      <p:ext uri="{BB962C8B-B14F-4D97-AF65-F5344CB8AC3E}">
        <p14:creationId xmlns:p14="http://schemas.microsoft.com/office/powerpoint/2010/main" val="3677286738"/>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792A1E-7E2C-54AE-6A4C-EC312B7AB3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9BAD4C-5B0A-4ECA-AEA5-90DF980002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5EF8E-7BA3-AE2C-EFAB-EE1AAFFC852F}"/>
              </a:ext>
            </a:extLst>
          </p:cNvPr>
          <p:cNvSpPr>
            <a:spLocks noGrp="1"/>
          </p:cNvSpPr>
          <p:nvPr>
            <p:ph type="body" idx="1"/>
          </p:nvPr>
        </p:nvSpPr>
        <p:spPr/>
        <p:txBody>
          <a:bodyPr/>
          <a:lstStyle/>
          <a:p>
            <a:r>
              <a:rPr lang="en-US" dirty="0"/>
              <a:t>The full NLP vectorizer used:</a:t>
            </a:r>
          </a:p>
          <a:p>
            <a:endParaRPr lang="en-US" dirty="0"/>
          </a:p>
          <a:p>
            <a:r>
              <a:rPr lang="en-US" dirty="0"/>
              <a:t>5000 features</a:t>
            </a:r>
          </a:p>
          <a:p>
            <a:r>
              <a:rPr lang="en-US" dirty="0"/>
              <a:t>bigrams</a:t>
            </a:r>
          </a:p>
          <a:p>
            <a:r>
              <a:rPr lang="en-US" dirty="0"/>
              <a:t>stop word filtering</a:t>
            </a:r>
          </a:p>
          <a:p>
            <a:r>
              <a:rPr lang="en-US" dirty="0"/>
              <a:t>document frequency constraints</a:t>
            </a:r>
          </a:p>
          <a:p>
            <a:r>
              <a:rPr lang="en-US" dirty="0"/>
              <a:t>This produces </a:t>
            </a:r>
            <a:r>
              <a:rPr lang="en-US" b="1" dirty="0"/>
              <a:t>many more text features</a:t>
            </a:r>
            <a:r>
              <a:rPr lang="en-US" dirty="0"/>
              <a:t>.</a:t>
            </a:r>
          </a:p>
          <a:p>
            <a:endParaRPr lang="en-US" dirty="0"/>
          </a:p>
          <a:p>
            <a:r>
              <a:rPr lang="en-US" dirty="0"/>
              <a:t>If we used this in the multimodal model, the dataset would become extremely high dimensional.</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791D0F9-C7F9-F0C8-1A54-AE772C309D42}"/>
              </a:ext>
            </a:extLst>
          </p:cNvPr>
          <p:cNvSpPr>
            <a:spLocks noGrp="1"/>
          </p:cNvSpPr>
          <p:nvPr>
            <p:ph type="sldNum" sz="quarter" idx="5"/>
          </p:nvPr>
        </p:nvSpPr>
        <p:spPr/>
        <p:txBody>
          <a:bodyPr/>
          <a:lstStyle/>
          <a:p>
            <a:fld id="{725CEE3F-E9BC-9F42-9FEE-5AAD149E4BE7}" type="slidenum">
              <a:rPr lang="en-US" smtClean="0"/>
              <a:t>25</a:t>
            </a:fld>
            <a:endParaRPr lang="en-US"/>
          </a:p>
        </p:txBody>
      </p:sp>
    </p:spTree>
    <p:extLst>
      <p:ext uri="{BB962C8B-B14F-4D97-AF65-F5344CB8AC3E}">
        <p14:creationId xmlns:p14="http://schemas.microsoft.com/office/powerpoint/2010/main" val="32970810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0A4B5C-208B-6038-4A33-B0D9B32D68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C7E410-DA2E-E8B8-068A-48A53AFDAC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7EA20A-8232-0D77-637F-42AF0F61299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Random Forest Handles Simpler Feature Spaces Better</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E056DB7-1187-B628-ED9A-1B46E0E6DDAB}"/>
              </a:ext>
            </a:extLst>
          </p:cNvPr>
          <p:cNvSpPr>
            <a:spLocks noGrp="1"/>
          </p:cNvSpPr>
          <p:nvPr>
            <p:ph type="sldNum" sz="quarter" idx="5"/>
          </p:nvPr>
        </p:nvSpPr>
        <p:spPr/>
        <p:txBody>
          <a:bodyPr/>
          <a:lstStyle/>
          <a:p>
            <a:fld id="{725CEE3F-E9BC-9F42-9FEE-5AAD149E4BE7}" type="slidenum">
              <a:rPr lang="en-US" smtClean="0"/>
              <a:t>26</a:t>
            </a:fld>
            <a:endParaRPr lang="en-US"/>
          </a:p>
        </p:txBody>
      </p:sp>
    </p:spTree>
    <p:extLst>
      <p:ext uri="{BB962C8B-B14F-4D97-AF65-F5344CB8AC3E}">
        <p14:creationId xmlns:p14="http://schemas.microsoft.com/office/powerpoint/2010/main" val="228856815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2AFD9E-79FB-6A4D-A9CE-884CBD3208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78B66-EA89-E15D-0131-AA51429B8B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7525FE-F12A-8FDB-7CC6-0368251B15B0}"/>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rPr>
              <a:t>Refer to </a:t>
            </a:r>
            <a:r>
              <a:rPr lang="en-US" sz="1200" dirty="0" err="1">
                <a:solidFill>
                  <a:srgbClr val="FFFFFF"/>
                </a:solidFill>
              </a:rPr>
              <a:t>Jupyter</a:t>
            </a:r>
            <a:r>
              <a:rPr lang="en-US" sz="1200" dirty="0">
                <a:solidFill>
                  <a:srgbClr val="FFFFFF"/>
                </a:solidFill>
              </a:rPr>
              <a:t> Notebook for code</a:t>
            </a:r>
            <a:endParaRPr lang="en-US" dirty="0"/>
          </a:p>
        </p:txBody>
      </p:sp>
      <p:sp>
        <p:nvSpPr>
          <p:cNvPr id="4" name="Slide Number Placeholder 3">
            <a:extLst>
              <a:ext uri="{FF2B5EF4-FFF2-40B4-BE49-F238E27FC236}">
                <a16:creationId xmlns:a16="http://schemas.microsoft.com/office/drawing/2014/main" id="{F1264580-2C9D-40E7-8222-6875C400843E}"/>
              </a:ext>
            </a:extLst>
          </p:cNvPr>
          <p:cNvSpPr>
            <a:spLocks noGrp="1"/>
          </p:cNvSpPr>
          <p:nvPr>
            <p:ph type="sldNum" sz="quarter" idx="5"/>
          </p:nvPr>
        </p:nvSpPr>
        <p:spPr/>
        <p:txBody>
          <a:bodyPr/>
          <a:lstStyle/>
          <a:p>
            <a:fld id="{725CEE3F-E9BC-9F42-9FEE-5AAD149E4BE7}" type="slidenum">
              <a:rPr lang="en-US" smtClean="0"/>
              <a:t>27</a:t>
            </a:fld>
            <a:endParaRPr lang="en-US"/>
          </a:p>
        </p:txBody>
      </p:sp>
    </p:spTree>
    <p:extLst>
      <p:ext uri="{BB962C8B-B14F-4D97-AF65-F5344CB8AC3E}">
        <p14:creationId xmlns:p14="http://schemas.microsoft.com/office/powerpoint/2010/main" val="5513718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B9FA4A-E2D4-35E6-DC3A-C4B5F48F59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01A1D8-C920-F83D-4E1A-4FF9747EDE2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AC1C0B6-F989-BAB4-3C84-7B8F815ABCA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FFFFFF"/>
                </a:solidFill>
              </a:rPr>
              <a:t>Refer to </a:t>
            </a:r>
            <a:r>
              <a:rPr lang="en-US" sz="1200" dirty="0" err="1">
                <a:solidFill>
                  <a:srgbClr val="FFFFFF"/>
                </a:solidFill>
              </a:rPr>
              <a:t>Jupyter</a:t>
            </a:r>
            <a:r>
              <a:rPr lang="en-US" sz="1200" dirty="0">
                <a:solidFill>
                  <a:srgbClr val="FFFFFF"/>
                </a:solidFill>
              </a:rPr>
              <a:t> Notebook for code</a:t>
            </a: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77BD61BB-033E-0705-F68E-8DBA5FB9450B}"/>
              </a:ext>
            </a:extLst>
          </p:cNvPr>
          <p:cNvSpPr>
            <a:spLocks noGrp="1"/>
          </p:cNvSpPr>
          <p:nvPr>
            <p:ph type="sldNum" sz="quarter" idx="5"/>
          </p:nvPr>
        </p:nvSpPr>
        <p:spPr/>
        <p:txBody>
          <a:bodyPr/>
          <a:lstStyle/>
          <a:p>
            <a:fld id="{725CEE3F-E9BC-9F42-9FEE-5AAD149E4BE7}" type="slidenum">
              <a:rPr lang="en-US" smtClean="0"/>
              <a:t>28</a:t>
            </a:fld>
            <a:endParaRPr lang="en-US"/>
          </a:p>
        </p:txBody>
      </p:sp>
    </p:spTree>
    <p:extLst>
      <p:ext uri="{BB962C8B-B14F-4D97-AF65-F5344CB8AC3E}">
        <p14:creationId xmlns:p14="http://schemas.microsoft.com/office/powerpoint/2010/main" val="20164869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4A64AF-07D8-5A4A-BFE3-CC8A17B848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4C1E8-D813-A74F-9D74-7E86558E02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4FFE6D9-9F31-2864-899F-C7727DAECB5C}"/>
              </a:ext>
            </a:extLst>
          </p:cNvPr>
          <p:cNvSpPr>
            <a:spLocks noGrp="1"/>
          </p:cNvSpPr>
          <p:nvPr>
            <p:ph type="body" idx="1"/>
          </p:nvPr>
        </p:nvSpPr>
        <p:spPr/>
        <p:txBody>
          <a:bodyPr/>
          <a:lstStyle/>
          <a:p>
            <a:r>
              <a:rPr lang="en-US" dirty="0"/>
              <a:t>These terms often appear in critically ill patients.</a:t>
            </a:r>
          </a:p>
          <a:p>
            <a:r>
              <a:rPr lang="en-US" dirty="0"/>
              <a:t>The notebook extracts top words using logistic regression coefficients.</a:t>
            </a:r>
          </a:p>
        </p:txBody>
      </p:sp>
      <p:sp>
        <p:nvSpPr>
          <p:cNvPr id="4" name="Slide Number Placeholder 3">
            <a:extLst>
              <a:ext uri="{FF2B5EF4-FFF2-40B4-BE49-F238E27FC236}">
                <a16:creationId xmlns:a16="http://schemas.microsoft.com/office/drawing/2014/main" id="{F83AE4FD-7C8C-3A77-C592-B7768A5DB759}"/>
              </a:ext>
            </a:extLst>
          </p:cNvPr>
          <p:cNvSpPr>
            <a:spLocks noGrp="1"/>
          </p:cNvSpPr>
          <p:nvPr>
            <p:ph type="sldNum" sz="quarter" idx="5"/>
          </p:nvPr>
        </p:nvSpPr>
        <p:spPr/>
        <p:txBody>
          <a:bodyPr/>
          <a:lstStyle/>
          <a:p>
            <a:fld id="{725CEE3F-E9BC-9F42-9FEE-5AAD149E4BE7}" type="slidenum">
              <a:rPr lang="en-US" smtClean="0"/>
              <a:t>29</a:t>
            </a:fld>
            <a:endParaRPr lang="en-US"/>
          </a:p>
        </p:txBody>
      </p:sp>
    </p:spTree>
    <p:extLst>
      <p:ext uri="{BB962C8B-B14F-4D97-AF65-F5344CB8AC3E}">
        <p14:creationId xmlns:p14="http://schemas.microsoft.com/office/powerpoint/2010/main" val="302186667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D0428-4046-6296-A7EB-8ABA3377A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863278-EC18-40AB-63BD-5A2DFA3003C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17644A-5A80-0898-A3BD-DEC059B3DF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E28C67B-B259-CE93-12E7-9310C0303708}"/>
              </a:ext>
            </a:extLst>
          </p:cNvPr>
          <p:cNvSpPr>
            <a:spLocks noGrp="1"/>
          </p:cNvSpPr>
          <p:nvPr>
            <p:ph type="sldNum" sz="quarter" idx="5"/>
          </p:nvPr>
        </p:nvSpPr>
        <p:spPr/>
        <p:txBody>
          <a:bodyPr/>
          <a:lstStyle/>
          <a:p>
            <a:fld id="{725CEE3F-E9BC-9F42-9FEE-5AAD149E4BE7}" type="slidenum">
              <a:rPr lang="en-US" smtClean="0"/>
              <a:t>30</a:t>
            </a:fld>
            <a:endParaRPr lang="en-US"/>
          </a:p>
        </p:txBody>
      </p:sp>
    </p:spTree>
    <p:extLst>
      <p:ext uri="{BB962C8B-B14F-4D97-AF65-F5344CB8AC3E}">
        <p14:creationId xmlns:p14="http://schemas.microsoft.com/office/powerpoint/2010/main" val="373483082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B5E78-2980-E107-7955-FE0FB94351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13F68-37C3-5345-1388-F8ECDB78C6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02A8FB-9728-0956-FBEC-F8B319B997A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C8771AB-D6A7-839E-62BF-74ED7F1674E3}"/>
              </a:ext>
            </a:extLst>
          </p:cNvPr>
          <p:cNvSpPr>
            <a:spLocks noGrp="1"/>
          </p:cNvSpPr>
          <p:nvPr>
            <p:ph type="sldNum" sz="quarter" idx="5"/>
          </p:nvPr>
        </p:nvSpPr>
        <p:spPr/>
        <p:txBody>
          <a:bodyPr/>
          <a:lstStyle/>
          <a:p>
            <a:fld id="{725CEE3F-E9BC-9F42-9FEE-5AAD149E4BE7}" type="slidenum">
              <a:rPr lang="en-US" smtClean="0"/>
              <a:t>31</a:t>
            </a:fld>
            <a:endParaRPr lang="en-US"/>
          </a:p>
        </p:txBody>
      </p:sp>
    </p:spTree>
    <p:extLst>
      <p:ext uri="{BB962C8B-B14F-4D97-AF65-F5344CB8AC3E}">
        <p14:creationId xmlns:p14="http://schemas.microsoft.com/office/powerpoint/2010/main" val="107212436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F74B1-4FA7-6102-B6FD-45519DD54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BD74ED-1A4F-A170-01CB-2FB2E2F81B0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3EDF68-15D6-EC13-F90C-1C0F260821FB}"/>
              </a:ext>
            </a:extLst>
          </p:cNvPr>
          <p:cNvSpPr>
            <a:spLocks noGrp="1"/>
          </p:cNvSpPr>
          <p:nvPr>
            <p:ph type="body" idx="1"/>
          </p:nvPr>
        </p:nvSpPr>
        <p:spPr/>
        <p:txBody>
          <a:bodyPr/>
          <a:lstStyle/>
          <a:p>
            <a:r>
              <a:rPr lang="en-US" dirty="0"/>
              <a:t>Across models, </a:t>
            </a:r>
            <a:r>
              <a:rPr lang="en-US" b="1" dirty="0"/>
              <a:t>mortality prediction was primarily driven by indicators of physiological instability and organ dysfunction</a:t>
            </a:r>
            <a:r>
              <a:rPr lang="en-US" dirty="0"/>
              <a:t>, including:</a:t>
            </a:r>
          </a:p>
          <a:p>
            <a:r>
              <a:rPr lang="en-US" dirty="0"/>
              <a:t>infection/inflammation markers</a:t>
            </a:r>
          </a:p>
          <a:p>
            <a:r>
              <a:rPr lang="en-US" dirty="0"/>
              <a:t>kidney function indicators</a:t>
            </a:r>
          </a:p>
          <a:p>
            <a:r>
              <a:rPr lang="en-US" dirty="0"/>
              <a:t>electrolyte abnormalities</a:t>
            </a:r>
          </a:p>
          <a:p>
            <a:r>
              <a:rPr lang="en-US" dirty="0"/>
              <a:t>abnormal vital signs</a:t>
            </a:r>
          </a:p>
          <a:p>
            <a:r>
              <a:rPr lang="en-US" dirty="0"/>
              <a:t>critical care interventions described in clinical notes</a:t>
            </a:r>
          </a:p>
          <a:p>
            <a:endParaRPr lang="en-US" dirty="0"/>
          </a:p>
        </p:txBody>
      </p:sp>
      <p:sp>
        <p:nvSpPr>
          <p:cNvPr id="4" name="Slide Number Placeholder 3">
            <a:extLst>
              <a:ext uri="{FF2B5EF4-FFF2-40B4-BE49-F238E27FC236}">
                <a16:creationId xmlns:a16="http://schemas.microsoft.com/office/drawing/2014/main" id="{1099C259-BE70-6002-FCC6-E36CB9155FFC}"/>
              </a:ext>
            </a:extLst>
          </p:cNvPr>
          <p:cNvSpPr>
            <a:spLocks noGrp="1"/>
          </p:cNvSpPr>
          <p:nvPr>
            <p:ph type="sldNum" sz="quarter" idx="5"/>
          </p:nvPr>
        </p:nvSpPr>
        <p:spPr/>
        <p:txBody>
          <a:bodyPr/>
          <a:lstStyle/>
          <a:p>
            <a:fld id="{725CEE3F-E9BC-9F42-9FEE-5AAD149E4BE7}" type="slidenum">
              <a:rPr lang="en-US" smtClean="0"/>
              <a:t>32</a:t>
            </a:fld>
            <a:endParaRPr lang="en-US"/>
          </a:p>
        </p:txBody>
      </p:sp>
    </p:spTree>
    <p:extLst>
      <p:ext uri="{BB962C8B-B14F-4D97-AF65-F5344CB8AC3E}">
        <p14:creationId xmlns:p14="http://schemas.microsoft.com/office/powerpoint/2010/main" val="399023379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A4E393-6DA7-3C72-D0FF-4840604F36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7009D3C-4086-7C8A-A3D8-336F22BE04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7123F1A-51B4-B43F-52DD-EF27B63DBB4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34C314-DB8B-27BA-48ED-EA508B259B6E}"/>
              </a:ext>
            </a:extLst>
          </p:cNvPr>
          <p:cNvSpPr>
            <a:spLocks noGrp="1"/>
          </p:cNvSpPr>
          <p:nvPr>
            <p:ph type="sldNum" sz="quarter" idx="5"/>
          </p:nvPr>
        </p:nvSpPr>
        <p:spPr/>
        <p:txBody>
          <a:bodyPr/>
          <a:lstStyle/>
          <a:p>
            <a:fld id="{725CEE3F-E9BC-9F42-9FEE-5AAD149E4BE7}" type="slidenum">
              <a:rPr lang="en-US" smtClean="0"/>
              <a:t>33</a:t>
            </a:fld>
            <a:endParaRPr lang="en-US"/>
          </a:p>
        </p:txBody>
      </p:sp>
    </p:spTree>
    <p:extLst>
      <p:ext uri="{BB962C8B-B14F-4D97-AF65-F5344CB8AC3E}">
        <p14:creationId xmlns:p14="http://schemas.microsoft.com/office/powerpoint/2010/main" val="224952926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8EEBD-189A-87FE-0A6A-90539BA0BB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8A19D-CB7C-1D5F-8389-2E3757CC77C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83021D8-A15C-1412-8354-4B8A30230D63}"/>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These terms often appear in notes describing critical care situations.</a:t>
            </a:r>
          </a:p>
          <a:p>
            <a:endParaRPr lang="en-US" dirty="0"/>
          </a:p>
        </p:txBody>
      </p:sp>
      <p:sp>
        <p:nvSpPr>
          <p:cNvPr id="4" name="Slide Number Placeholder 3">
            <a:extLst>
              <a:ext uri="{FF2B5EF4-FFF2-40B4-BE49-F238E27FC236}">
                <a16:creationId xmlns:a16="http://schemas.microsoft.com/office/drawing/2014/main" id="{20FD1293-DD41-0270-DBC6-41D91125256B}"/>
              </a:ext>
            </a:extLst>
          </p:cNvPr>
          <p:cNvSpPr>
            <a:spLocks noGrp="1"/>
          </p:cNvSpPr>
          <p:nvPr>
            <p:ph type="sldNum" sz="quarter" idx="5"/>
          </p:nvPr>
        </p:nvSpPr>
        <p:spPr/>
        <p:txBody>
          <a:bodyPr/>
          <a:lstStyle/>
          <a:p>
            <a:fld id="{725CEE3F-E9BC-9F42-9FEE-5AAD149E4BE7}" type="slidenum">
              <a:rPr lang="en-US" smtClean="0"/>
              <a:t>34</a:t>
            </a:fld>
            <a:endParaRPr lang="en-US"/>
          </a:p>
        </p:txBody>
      </p:sp>
    </p:spTree>
    <p:extLst>
      <p:ext uri="{BB962C8B-B14F-4D97-AF65-F5344CB8AC3E}">
        <p14:creationId xmlns:p14="http://schemas.microsoft.com/office/powerpoint/2010/main" val="225039655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4A7CE-07B0-88C9-DB4D-F60A5A3973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E8572F-8FD3-E7D3-0101-F991D1ACDB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6ECB54-3A4C-4A38-346C-DB64CD5498E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NLP model captured contextual clinical signals, while structured features reflected measurable patient health status, demonstrating the value of combining both in multimodal learning.</a:t>
            </a:r>
          </a:p>
          <a:p>
            <a:endParaRPr lang="en-US" b="0" dirty="0"/>
          </a:p>
        </p:txBody>
      </p:sp>
      <p:sp>
        <p:nvSpPr>
          <p:cNvPr id="4" name="Slide Number Placeholder 3">
            <a:extLst>
              <a:ext uri="{FF2B5EF4-FFF2-40B4-BE49-F238E27FC236}">
                <a16:creationId xmlns:a16="http://schemas.microsoft.com/office/drawing/2014/main" id="{2552FFD5-1CBF-7F01-8B2C-F9432EF2D7E8}"/>
              </a:ext>
            </a:extLst>
          </p:cNvPr>
          <p:cNvSpPr>
            <a:spLocks noGrp="1"/>
          </p:cNvSpPr>
          <p:nvPr>
            <p:ph type="sldNum" sz="quarter" idx="5"/>
          </p:nvPr>
        </p:nvSpPr>
        <p:spPr/>
        <p:txBody>
          <a:bodyPr/>
          <a:lstStyle/>
          <a:p>
            <a:fld id="{725CEE3F-E9BC-9F42-9FEE-5AAD149E4BE7}" type="slidenum">
              <a:rPr lang="en-US" smtClean="0"/>
              <a:t>35</a:t>
            </a:fld>
            <a:endParaRPr lang="en-US"/>
          </a:p>
        </p:txBody>
      </p:sp>
    </p:spTree>
    <p:extLst>
      <p:ext uri="{BB962C8B-B14F-4D97-AF65-F5344CB8AC3E}">
        <p14:creationId xmlns:p14="http://schemas.microsoft.com/office/powerpoint/2010/main" val="332999054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A06A36-207D-3B5E-6B47-62320C7823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999F4F5-2811-EE41-99E3-883B8225CBE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2B1C4A-26CB-7775-AA88-FA3033F5FE6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t>The ROC curve was used to evaluate how well the trained models could </a:t>
            </a:r>
            <a:r>
              <a:rPr lang="en-US" sz="1200" b="1" dirty="0"/>
              <a:t>distinguish between patients who died and those who survived</a:t>
            </a:r>
            <a:r>
              <a:rPr lang="en-US" sz="1200" dirty="0"/>
              <a:t>.</a:t>
            </a:r>
            <a:endParaRPr lang="en-US" dirty="0"/>
          </a:p>
        </p:txBody>
      </p:sp>
      <p:sp>
        <p:nvSpPr>
          <p:cNvPr id="4" name="Slide Number Placeholder 3">
            <a:extLst>
              <a:ext uri="{FF2B5EF4-FFF2-40B4-BE49-F238E27FC236}">
                <a16:creationId xmlns:a16="http://schemas.microsoft.com/office/drawing/2014/main" id="{A7372B73-CFF1-A293-4032-5D11F8C51627}"/>
              </a:ext>
            </a:extLst>
          </p:cNvPr>
          <p:cNvSpPr>
            <a:spLocks noGrp="1"/>
          </p:cNvSpPr>
          <p:nvPr>
            <p:ph type="sldNum" sz="quarter" idx="5"/>
          </p:nvPr>
        </p:nvSpPr>
        <p:spPr/>
        <p:txBody>
          <a:bodyPr/>
          <a:lstStyle/>
          <a:p>
            <a:fld id="{725CEE3F-E9BC-9F42-9FEE-5AAD149E4BE7}" type="slidenum">
              <a:rPr lang="en-US" smtClean="0"/>
              <a:t>36</a:t>
            </a:fld>
            <a:endParaRPr lang="en-US"/>
          </a:p>
        </p:txBody>
      </p:sp>
    </p:spTree>
    <p:extLst>
      <p:ext uri="{BB962C8B-B14F-4D97-AF65-F5344CB8AC3E}">
        <p14:creationId xmlns:p14="http://schemas.microsoft.com/office/powerpoint/2010/main" val="8269827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C8CB15-24E9-D9AA-5412-E9EB904E15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E929398-2A97-D69C-D6A4-64F5131790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9CA612-4775-885B-ABA7-22DF264E6D9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5E6C1FB-7E4E-758D-4BB0-162BCF2A209C}"/>
              </a:ext>
            </a:extLst>
          </p:cNvPr>
          <p:cNvSpPr>
            <a:spLocks noGrp="1"/>
          </p:cNvSpPr>
          <p:nvPr>
            <p:ph type="sldNum" sz="quarter" idx="5"/>
          </p:nvPr>
        </p:nvSpPr>
        <p:spPr/>
        <p:txBody>
          <a:bodyPr/>
          <a:lstStyle/>
          <a:p>
            <a:fld id="{725CEE3F-E9BC-9F42-9FEE-5AAD149E4BE7}" type="slidenum">
              <a:rPr lang="en-US" smtClean="0"/>
              <a:t>37</a:t>
            </a:fld>
            <a:endParaRPr lang="en-US"/>
          </a:p>
        </p:txBody>
      </p:sp>
    </p:spTree>
    <p:extLst>
      <p:ext uri="{BB962C8B-B14F-4D97-AF65-F5344CB8AC3E}">
        <p14:creationId xmlns:p14="http://schemas.microsoft.com/office/powerpoint/2010/main" val="245554993"/>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0904D3-5521-0AB2-15CE-B4BE6744A1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859C951-EB27-3B2C-D07C-94E4555467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8771997-7666-BE94-D566-84FA2AB2070D}"/>
              </a:ext>
            </a:extLst>
          </p:cNvPr>
          <p:cNvSpPr>
            <a:spLocks noGrp="1"/>
          </p:cNvSpPr>
          <p:nvPr>
            <p:ph type="body" idx="1"/>
          </p:nvPr>
        </p:nvSpPr>
        <p:spPr/>
        <p:txBody>
          <a:bodyPr/>
          <a:lstStyle/>
          <a:p>
            <a:r>
              <a:rPr lang="en-US" b="0" dirty="0"/>
              <a:t>The diagonal dashed line represents random guessing (AUC = 0.5).</a:t>
            </a:r>
          </a:p>
          <a:p>
            <a:endParaRPr lang="en-US" b="0" dirty="0"/>
          </a:p>
          <a:p>
            <a:r>
              <a:rPr lang="en-US" b="0" dirty="0"/>
              <a:t>All models perform better than random, but their effectiveness varies.</a:t>
            </a:r>
          </a:p>
          <a:p>
            <a:r>
              <a:rPr lang="en-US" b="0" dirty="0"/>
              <a:t>Curves closer to the top-left corner indicate better discrimination ability.</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3532F1F3-02CC-2062-D314-007363B6D3D8}"/>
              </a:ext>
            </a:extLst>
          </p:cNvPr>
          <p:cNvSpPr>
            <a:spLocks noGrp="1"/>
          </p:cNvSpPr>
          <p:nvPr>
            <p:ph type="sldNum" sz="quarter" idx="5"/>
          </p:nvPr>
        </p:nvSpPr>
        <p:spPr/>
        <p:txBody>
          <a:bodyPr/>
          <a:lstStyle/>
          <a:p>
            <a:fld id="{725CEE3F-E9BC-9F42-9FEE-5AAD149E4BE7}" type="slidenum">
              <a:rPr lang="en-US" smtClean="0"/>
              <a:t>38</a:t>
            </a:fld>
            <a:endParaRPr lang="en-US"/>
          </a:p>
        </p:txBody>
      </p:sp>
    </p:spTree>
    <p:extLst>
      <p:ext uri="{BB962C8B-B14F-4D97-AF65-F5344CB8AC3E}">
        <p14:creationId xmlns:p14="http://schemas.microsoft.com/office/powerpoint/2010/main" val="324284017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B5795-7A8C-8669-3A5D-C17605D770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1F53E5-8ADC-06A1-D0E9-BD4737B4FC3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7144114-46A1-C16B-ED41-88C43F6BE63D}"/>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dirty="0"/>
              <a:t>The NLP model performs best because clinical language provides strong predictive signals for mortality risk.</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Random Forest is an </a:t>
            </a:r>
            <a:r>
              <a:rPr lang="en-US" b="0" dirty="0"/>
              <a:t>ensemble method </a:t>
            </a:r>
            <a:r>
              <a:rPr lang="en-US" dirty="0"/>
              <a:t>that combines many decision trees.</a:t>
            </a:r>
            <a:endParaRPr lang="en-US" b="0"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a:extLst>
              <a:ext uri="{FF2B5EF4-FFF2-40B4-BE49-F238E27FC236}">
                <a16:creationId xmlns:a16="http://schemas.microsoft.com/office/drawing/2014/main" id="{F727920B-60D9-96EC-932B-4A65BA3DA63E}"/>
              </a:ext>
            </a:extLst>
          </p:cNvPr>
          <p:cNvSpPr>
            <a:spLocks noGrp="1"/>
          </p:cNvSpPr>
          <p:nvPr>
            <p:ph type="sldNum" sz="quarter" idx="5"/>
          </p:nvPr>
        </p:nvSpPr>
        <p:spPr/>
        <p:txBody>
          <a:bodyPr/>
          <a:lstStyle/>
          <a:p>
            <a:fld id="{725CEE3F-E9BC-9F42-9FEE-5AAD149E4BE7}" type="slidenum">
              <a:rPr lang="en-US" smtClean="0"/>
              <a:t>39</a:t>
            </a:fld>
            <a:endParaRPr lang="en-US"/>
          </a:p>
        </p:txBody>
      </p:sp>
    </p:spTree>
    <p:extLst>
      <p:ext uri="{BB962C8B-B14F-4D97-AF65-F5344CB8AC3E}">
        <p14:creationId xmlns:p14="http://schemas.microsoft.com/office/powerpoint/2010/main" val="30938280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97AD2-9E1C-F2DE-B22C-4F5CFBCEB2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2531A21-7A70-A975-6383-F1D2A57356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4EF518-EE6A-E73E-F05E-8C652269C7F5}"/>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a:extLst>
              <a:ext uri="{FF2B5EF4-FFF2-40B4-BE49-F238E27FC236}">
                <a16:creationId xmlns:a16="http://schemas.microsoft.com/office/drawing/2014/main" id="{476B51B3-2B30-A74A-38DE-4187D67FD242}"/>
              </a:ext>
            </a:extLst>
          </p:cNvPr>
          <p:cNvSpPr>
            <a:spLocks noGrp="1"/>
          </p:cNvSpPr>
          <p:nvPr>
            <p:ph type="sldNum" sz="quarter" idx="5"/>
          </p:nvPr>
        </p:nvSpPr>
        <p:spPr/>
        <p:txBody>
          <a:bodyPr/>
          <a:lstStyle/>
          <a:p>
            <a:fld id="{725CEE3F-E9BC-9F42-9FEE-5AAD149E4BE7}" type="slidenum">
              <a:rPr lang="en-US" smtClean="0"/>
              <a:t>40</a:t>
            </a:fld>
            <a:endParaRPr lang="en-US"/>
          </a:p>
        </p:txBody>
      </p:sp>
    </p:spTree>
    <p:extLst>
      <p:ext uri="{BB962C8B-B14F-4D97-AF65-F5344CB8AC3E}">
        <p14:creationId xmlns:p14="http://schemas.microsoft.com/office/powerpoint/2010/main" val="347767629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32827-9229-D0E1-1597-424693A4A4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C7205A-0234-1309-695C-A627E4A445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11D4857-BED5-6B5A-72AA-5CC981DE343A}"/>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b="0" dirty="0"/>
          </a:p>
        </p:txBody>
      </p:sp>
      <p:sp>
        <p:nvSpPr>
          <p:cNvPr id="4" name="Slide Number Placeholder 3">
            <a:extLst>
              <a:ext uri="{FF2B5EF4-FFF2-40B4-BE49-F238E27FC236}">
                <a16:creationId xmlns:a16="http://schemas.microsoft.com/office/drawing/2014/main" id="{CE864826-0202-6864-52B2-E70256285B25}"/>
              </a:ext>
            </a:extLst>
          </p:cNvPr>
          <p:cNvSpPr>
            <a:spLocks noGrp="1"/>
          </p:cNvSpPr>
          <p:nvPr>
            <p:ph type="sldNum" sz="quarter" idx="5"/>
          </p:nvPr>
        </p:nvSpPr>
        <p:spPr/>
        <p:txBody>
          <a:bodyPr/>
          <a:lstStyle/>
          <a:p>
            <a:fld id="{725CEE3F-E9BC-9F42-9FEE-5AAD149E4BE7}" type="slidenum">
              <a:rPr lang="en-US" smtClean="0"/>
              <a:t>41</a:t>
            </a:fld>
            <a:endParaRPr lang="en-US"/>
          </a:p>
        </p:txBody>
      </p:sp>
    </p:spTree>
    <p:extLst>
      <p:ext uri="{BB962C8B-B14F-4D97-AF65-F5344CB8AC3E}">
        <p14:creationId xmlns:p14="http://schemas.microsoft.com/office/powerpoint/2010/main" val="16729417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165E72-43E0-7A25-CAF5-76C1E8552C8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5EC38C8D-D7BA-9B15-4B2B-0F179E6C15C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F164882-618E-9052-4C44-1EC62DCA6419}"/>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5FE8306A-D467-BCE2-EEF9-A2222FE2616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1519327-F407-C5CA-B8DB-447E18F06CF7}"/>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7059738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068AD-B1F9-1B9A-4ED9-4632641E039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F69EFC9-4FAD-5498-9871-3D83EFAFAD9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7C22D7-F804-F333-4951-80ACEF3478FC}"/>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75E689C6-21F2-4255-3679-E4E1591EF1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F0C0881-33F0-257C-61F4-5EA9455B0DF4}"/>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14814049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C1C30E-C050-6E8A-740F-6E6DF166094A}"/>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D1B4C0-AF24-F9AB-3A7E-7192481CD72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0560E5-F6A7-3FF1-AB08-65CDA33C340B}"/>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224D9C38-86F6-C501-AC46-6F402E9FD08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D170D3C-6D2D-70CC-0987-40B28CE6F35B}"/>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1749590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D3A3A1-2474-1E68-4F56-956BDC9051E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B322B89-2447-55E5-F090-1FEC3348DE9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94E466ED-D345-4624-25E2-4703A5276CB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6F9FCCF-FD9B-725B-DC14-19EFBCCA3370}"/>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6" name="Footer Placeholder 5">
            <a:extLst>
              <a:ext uri="{FF2B5EF4-FFF2-40B4-BE49-F238E27FC236}">
                <a16:creationId xmlns:a16="http://schemas.microsoft.com/office/drawing/2014/main" id="{F9D1CC7C-6422-FCD1-1100-69BA29FACF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8CB50C3-A7BB-E604-BD2D-02E12CA11B58}"/>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034206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DB6891-E726-49F2-D576-C61F75AF4C37}"/>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ADFFB4B-3E4B-6551-61F9-31968558CBB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5C8A37C-CF2E-EC21-0911-3B5176967D2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C6D9F1D-E4F4-93D7-518E-5E596B36BA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1005E13-8544-E8AF-7E70-3D09506860A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A5FDC9D-5A2C-0B76-5D68-27693F901110}"/>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8" name="Footer Placeholder 7">
            <a:extLst>
              <a:ext uri="{FF2B5EF4-FFF2-40B4-BE49-F238E27FC236}">
                <a16:creationId xmlns:a16="http://schemas.microsoft.com/office/drawing/2014/main" id="{D5DC28FF-CC40-3B7B-BE22-B5EF80CD74E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3FD59EE4-5EC3-F9AC-FB25-B2DE92902E92}"/>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13219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6B98C6-F0B7-C86D-1721-0FC597819A2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32998E-D2F9-D56A-CAD9-C9BD7555F048}"/>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4" name="Footer Placeholder 3">
            <a:extLst>
              <a:ext uri="{FF2B5EF4-FFF2-40B4-BE49-F238E27FC236}">
                <a16:creationId xmlns:a16="http://schemas.microsoft.com/office/drawing/2014/main" id="{1F34034E-2FDE-62D3-F507-AB420C2A05D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DF1EE3-A8C1-B656-FFB0-934ABFE9EF55}"/>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12000002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60E2A1A-1F4C-7F2C-616F-C13C8C5C9E81}"/>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3" name="Footer Placeholder 2">
            <a:extLst>
              <a:ext uri="{FF2B5EF4-FFF2-40B4-BE49-F238E27FC236}">
                <a16:creationId xmlns:a16="http://schemas.microsoft.com/office/drawing/2014/main" id="{3C29EECE-2212-1607-3033-77141290063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78F9442-1EB7-CA66-3EDE-60DE848D7546}"/>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9266651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89135-FAEC-EF28-8FF6-088927DE80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06604E7-3AC3-FD92-4056-157806353BA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44ADD9E5-3AFB-DBF3-21AD-3F329D0450F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88BC250-AA18-E4AC-8D61-C1C8AE73D330}"/>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6" name="Footer Placeholder 5">
            <a:extLst>
              <a:ext uri="{FF2B5EF4-FFF2-40B4-BE49-F238E27FC236}">
                <a16:creationId xmlns:a16="http://schemas.microsoft.com/office/drawing/2014/main" id="{42F3DF98-1E17-F917-3DC8-2C83584E088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AFDCE39-1AA0-0593-0434-2F05A38858EB}"/>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4992236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D57213-427F-488B-A3E5-D0FD241F15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715EBD-7829-A0DE-F71D-50AF640436B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0CFBC846-9334-E7F9-80EE-F3309D6C6AD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96DA7C4-8D02-72AE-5D3F-A70DBEE4B7C6}"/>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6" name="Footer Placeholder 5">
            <a:extLst>
              <a:ext uri="{FF2B5EF4-FFF2-40B4-BE49-F238E27FC236}">
                <a16:creationId xmlns:a16="http://schemas.microsoft.com/office/drawing/2014/main" id="{0DB74D1C-EC05-9A0A-103F-099CFE0E74C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B34777C-52BE-5338-F390-A6EE76C4577A}"/>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32202305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CAC088-E67B-31A8-6D2E-DD937934C076}"/>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8D5822BB-5C29-07A9-F3EE-676A529806D3}"/>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99856B-DE69-6617-DCE6-537C1448E5D7}"/>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31506FFE-F441-C2C4-12C9-FBB46CA251B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B4E3314-04E6-0E09-C180-AA5CEB88408E}"/>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566585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1AB0666-8F9C-EB96-C958-C11DEB745419}"/>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C506DF-4395-4F72-087E-20F9C0D888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796A471-A309-9B62-5F2C-C9ADA7203118}"/>
              </a:ext>
            </a:extLst>
          </p:cNvPr>
          <p:cNvSpPr>
            <a:spLocks noGrp="1"/>
          </p:cNvSpPr>
          <p:nvPr>
            <p:ph type="dt" sz="half" idx="10"/>
          </p:nvPr>
        </p:nvSpPr>
        <p:spPr/>
        <p:txBody>
          <a:body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6ADEA2FC-243F-9703-BC94-7A39462CBA4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0E1A0A8-08F2-CEC5-8C93-13387986FF19}"/>
              </a:ext>
            </a:extLst>
          </p:cNvPr>
          <p:cNvSpPr>
            <a:spLocks noGrp="1"/>
          </p:cNvSpPr>
          <p:nvPr>
            <p:ph type="sldNum" sz="quarter" idx="12"/>
          </p:nvPr>
        </p:nvSpPr>
        <p:spPr/>
        <p:txBody>
          <a:bodyPr/>
          <a:lstStyle/>
          <a:p>
            <a:fld id="{75C15CDA-9A00-F640-BEC4-12025F7E63F7}" type="slidenum">
              <a:rPr lang="en-US" smtClean="0"/>
              <a:t>‹#›</a:t>
            </a:fld>
            <a:endParaRPr lang="en-US"/>
          </a:p>
        </p:txBody>
      </p:sp>
    </p:spTree>
    <p:extLst>
      <p:ext uri="{BB962C8B-B14F-4D97-AF65-F5344CB8AC3E}">
        <p14:creationId xmlns:p14="http://schemas.microsoft.com/office/powerpoint/2010/main" val="24653729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C53E8CF-2B70-D402-3E72-59A29FC86AC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1273928-6FCE-02F4-24FF-F005714346B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BC1201-4FFE-88D2-548C-9181811CAD7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2DDA70C-32A2-E540-8569-3129A4615290}" type="datetimeFigureOut">
              <a:rPr lang="en-US" smtClean="0"/>
              <a:t>3/13/26</a:t>
            </a:fld>
            <a:endParaRPr lang="en-US"/>
          </a:p>
        </p:txBody>
      </p:sp>
      <p:sp>
        <p:nvSpPr>
          <p:cNvPr id="5" name="Footer Placeholder 4">
            <a:extLst>
              <a:ext uri="{FF2B5EF4-FFF2-40B4-BE49-F238E27FC236}">
                <a16:creationId xmlns:a16="http://schemas.microsoft.com/office/drawing/2014/main" id="{94E2083B-BA58-9D4B-4495-C098B6AD629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59771FC-7E6D-E840-504E-DDD83550548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C15CDA-9A00-F640-BEC4-12025F7E63F7}" type="slidenum">
              <a:rPr lang="en-US" smtClean="0"/>
              <a:t>‹#›</a:t>
            </a:fld>
            <a:endParaRPr lang="en-US"/>
          </a:p>
        </p:txBody>
      </p:sp>
    </p:spTree>
    <p:extLst>
      <p:ext uri="{BB962C8B-B14F-4D97-AF65-F5344CB8AC3E}">
        <p14:creationId xmlns:p14="http://schemas.microsoft.com/office/powerpoint/2010/main" val="32459351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hyperlink" Target="https://github.com/sritama/ai-in-healthcare/tree/main/ML_DL_tutorial" TargetMode="External"/><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6E9A7D5B-BB93-00A9-9B8A-970DB87A9B3E}"/>
              </a:ext>
            </a:extLst>
          </p:cNvPr>
          <p:cNvSpPr>
            <a:spLocks noGrp="1"/>
          </p:cNvSpPr>
          <p:nvPr>
            <p:ph type="ctrTitle"/>
          </p:nvPr>
        </p:nvSpPr>
        <p:spPr>
          <a:xfrm>
            <a:off x="1314824" y="735106"/>
            <a:ext cx="10053763" cy="2928470"/>
          </a:xfrm>
        </p:spPr>
        <p:txBody>
          <a:bodyPr anchor="b">
            <a:normAutofit/>
          </a:bodyPr>
          <a:lstStyle/>
          <a:p>
            <a:pPr algn="l"/>
            <a:r>
              <a:rPr lang="en-US" sz="4800" dirty="0">
                <a:solidFill>
                  <a:srgbClr val="FFFFFF"/>
                </a:solidFill>
              </a:rPr>
              <a:t>Predicting Hospital Mortality Using Machine Learning, Deep Learning and Natural Language Processing</a:t>
            </a:r>
          </a:p>
        </p:txBody>
      </p:sp>
      <p:sp>
        <p:nvSpPr>
          <p:cNvPr id="3" name="Subtitle 2">
            <a:extLst>
              <a:ext uri="{FF2B5EF4-FFF2-40B4-BE49-F238E27FC236}">
                <a16:creationId xmlns:a16="http://schemas.microsoft.com/office/drawing/2014/main" id="{914886D0-50AE-ABEC-C684-4D0858CFB057}"/>
              </a:ext>
            </a:extLst>
          </p:cNvPr>
          <p:cNvSpPr>
            <a:spLocks noGrp="1"/>
          </p:cNvSpPr>
          <p:nvPr>
            <p:ph type="subTitle" idx="1"/>
          </p:nvPr>
        </p:nvSpPr>
        <p:spPr>
          <a:xfrm>
            <a:off x="1350682" y="4620127"/>
            <a:ext cx="10005951" cy="1925052"/>
          </a:xfrm>
        </p:spPr>
        <p:txBody>
          <a:bodyPr anchor="ctr">
            <a:normAutofit/>
          </a:bodyPr>
          <a:lstStyle/>
          <a:p>
            <a:pPr algn="l"/>
            <a:r>
              <a:rPr lang="en-US" sz="1700" dirty="0"/>
              <a:t>By</a:t>
            </a:r>
          </a:p>
          <a:p>
            <a:pPr algn="l"/>
            <a:r>
              <a:rPr lang="en-US" sz="1700" dirty="0"/>
              <a:t>Sritama Paul</a:t>
            </a:r>
          </a:p>
          <a:p>
            <a:pPr algn="l"/>
            <a:r>
              <a:rPr lang="en-US" sz="1700" dirty="0"/>
              <a:t>AI 395T | AI In Healthcare </a:t>
            </a:r>
          </a:p>
          <a:p>
            <a:pPr algn="l"/>
            <a:r>
              <a:rPr lang="en-US" sz="1700" dirty="0"/>
              <a:t>University of Texas at Austin</a:t>
            </a:r>
          </a:p>
          <a:p>
            <a:pPr algn="l"/>
            <a:r>
              <a:rPr lang="en-US" sz="1700" dirty="0"/>
              <a:t>Spring 2026</a:t>
            </a:r>
          </a:p>
        </p:txBody>
      </p:sp>
    </p:spTree>
    <p:extLst>
      <p:ext uri="{BB962C8B-B14F-4D97-AF65-F5344CB8AC3E}">
        <p14:creationId xmlns:p14="http://schemas.microsoft.com/office/powerpoint/2010/main" val="133836437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256B2C21-A230-48C0-8DF1-C46611373C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3847E18C-932D-4C95-AABA-FEC7C9499A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150CB11-0C61-439E-910F-5787759E72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43F8A58B-5155-44CE-A5FF-7647B47D0A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443F2ACA-E6D6-4028-82DD-F03C262D5D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5" y="1410079"/>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49C819-2F8E-0CA2-24C1-895EF5162F22}"/>
              </a:ext>
            </a:extLst>
          </p:cNvPr>
          <p:cNvSpPr>
            <a:spLocks noGrp="1"/>
          </p:cNvSpPr>
          <p:nvPr>
            <p:ph type="title"/>
          </p:nvPr>
        </p:nvSpPr>
        <p:spPr>
          <a:xfrm>
            <a:off x="586478" y="1683756"/>
            <a:ext cx="3115265" cy="2396359"/>
          </a:xfrm>
        </p:spPr>
        <p:txBody>
          <a:bodyPr anchor="b">
            <a:normAutofit/>
          </a:bodyPr>
          <a:lstStyle/>
          <a:p>
            <a:pPr algn="r"/>
            <a:r>
              <a:rPr lang="en-US" sz="4000" dirty="0">
                <a:solidFill>
                  <a:srgbClr val="FFFFFF"/>
                </a:solidFill>
              </a:rPr>
              <a:t>What we will learn </a:t>
            </a:r>
          </a:p>
        </p:txBody>
      </p:sp>
      <p:graphicFrame>
        <p:nvGraphicFramePr>
          <p:cNvPr id="5" name="Content Placeholder 4">
            <a:extLst>
              <a:ext uri="{FF2B5EF4-FFF2-40B4-BE49-F238E27FC236}">
                <a16:creationId xmlns:a16="http://schemas.microsoft.com/office/drawing/2014/main" id="{EFEA7F76-B9D4-B35D-8B50-05006F08381E}"/>
              </a:ext>
            </a:extLst>
          </p:cNvPr>
          <p:cNvGraphicFramePr>
            <a:graphicFrameLocks noGrp="1"/>
          </p:cNvGraphicFramePr>
          <p:nvPr>
            <p:ph idx="1"/>
            <p:extLst>
              <p:ext uri="{D42A27DB-BD31-4B8C-83A1-F6EECF244321}">
                <p14:modId xmlns:p14="http://schemas.microsoft.com/office/powerpoint/2010/main" val="4145678356"/>
              </p:ext>
              <p:ext uri="{E7BDC344-281C-4309-B0C6-D0EE65EED2A8}">
                <p202:designPr xmlns:p202="http://schemas.microsoft.com/office/powerpoint/2020/02/main">
                  <p202:designTagLst>
                    <p202:designTag name="ARCH:1:CLS" val="StackedSequentialRowTable"/>
                  </p202:designTagLst>
                </p202:designPr>
              </p:ext>
            </p:extLst>
          </p:nvPr>
        </p:nvGraphicFramePr>
        <p:xfrm>
          <a:off x="4539112" y="556775"/>
          <a:ext cx="7066410" cy="5731731"/>
        </p:xfrm>
        <a:graphic>
          <a:graphicData uri="http://schemas.openxmlformats.org/drawingml/2006/table">
            <a:tbl>
              <a:tblPr bandRow="1">
                <a:noFill/>
                <a:tableStyleId>{5C22544A-7EE6-4342-B048-85BDC9FD1C3A}</a:tableStyleId>
              </a:tblPr>
              <a:tblGrid>
                <a:gridCol w="1272044">
                  <a:extLst>
                    <a:ext uri="{9D8B030D-6E8A-4147-A177-3AD203B41FA5}">
                      <a16:colId xmlns:a16="http://schemas.microsoft.com/office/drawing/2014/main" val="799075573"/>
                    </a:ext>
                  </a:extLst>
                </a:gridCol>
                <a:gridCol w="5794366">
                  <a:extLst>
                    <a:ext uri="{9D8B030D-6E8A-4147-A177-3AD203B41FA5}">
                      <a16:colId xmlns:a16="http://schemas.microsoft.com/office/drawing/2014/main" val="111629342"/>
                    </a:ext>
                  </a:extLst>
                </a:gridCol>
              </a:tblGrid>
              <a:tr h="1054500">
                <a:tc>
                  <a:txBody>
                    <a:bodyPr/>
                    <a:lstStyle/>
                    <a:p>
                      <a:pPr>
                        <a:buNone/>
                      </a:pPr>
                      <a:r>
                        <a:rPr lang="en-US" sz="3300" b="1" cap="none" spc="0">
                          <a:solidFill>
                            <a:schemeClr val="tx1"/>
                          </a:solidFill>
                        </a:rPr>
                        <a:t>01</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How to extract structured features from clinical data</a:t>
                      </a:r>
                    </a:p>
                  </a:txBody>
                  <a:tcPr marL="141446" marR="141446" marT="141446" marB="141446" anchor="ctr">
                    <a:lnL w="12700" cmpd="sng">
                      <a:noFill/>
                      <a:prstDash val="solid"/>
                    </a:lnL>
                    <a:lnR w="12700" cmpd="sng">
                      <a:noFill/>
                      <a:prstDash val="solid"/>
                    </a:lnR>
                    <a:lnT w="6350" cap="flat" cmpd="sng" algn="ctr">
                      <a:noFill/>
                      <a:prstDash val="solid"/>
                    </a:lnT>
                    <a:lnB w="6350" cap="flat" cmpd="sng" algn="ctr">
                      <a:solidFill>
                        <a:schemeClr val="tx1"/>
                      </a:solidFill>
                      <a:prstDash val="solid"/>
                    </a:lnB>
                    <a:noFill/>
                  </a:tcPr>
                </a:tc>
                <a:extLst>
                  <a:ext uri="{0D108BD9-81ED-4DB2-BD59-A6C34878D82A}">
                    <a16:rowId xmlns:a16="http://schemas.microsoft.com/office/drawing/2014/main" val="1279419680"/>
                  </a:ext>
                </a:extLst>
              </a:tr>
              <a:tr h="856077">
                <a:tc>
                  <a:txBody>
                    <a:bodyPr/>
                    <a:lstStyle/>
                    <a:p>
                      <a:pPr>
                        <a:buNone/>
                      </a:pPr>
                      <a:r>
                        <a:rPr lang="en-US" sz="3300" b="1" cap="none" spc="0">
                          <a:solidFill>
                            <a:schemeClr val="tx1"/>
                          </a:solidFill>
                        </a:rPr>
                        <a:t>02</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algn="l">
                        <a:buNone/>
                      </a:pPr>
                      <a:r>
                        <a:rPr lang="en-US" sz="2400" dirty="0"/>
                        <a:t>How to build Machine Learning models</a:t>
                      </a:r>
                      <a:endParaRPr lang="en-US" sz="2100" b="0" cap="none" spc="0" dirty="0">
                        <a:solidFill>
                          <a:schemeClr val="tx1"/>
                        </a:solidFill>
                      </a:endParaRP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3122404483"/>
                  </a:ext>
                </a:extLst>
              </a:tr>
              <a:tr h="856077">
                <a:tc>
                  <a:txBody>
                    <a:bodyPr/>
                    <a:lstStyle/>
                    <a:p>
                      <a:pPr>
                        <a:buNone/>
                      </a:pPr>
                      <a:r>
                        <a:rPr lang="en-US" sz="3300" b="1" cap="none" spc="0">
                          <a:solidFill>
                            <a:schemeClr val="tx1"/>
                          </a:solidFill>
                        </a:rPr>
                        <a:t>03</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How to analyze clinical notes using NLP</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2882144648"/>
                  </a:ext>
                </a:extLst>
              </a:tr>
              <a:tr h="1054500">
                <a:tc>
                  <a:txBody>
                    <a:bodyPr/>
                    <a:lstStyle/>
                    <a:p>
                      <a:pPr>
                        <a:buNone/>
                      </a:pPr>
                      <a:r>
                        <a:rPr lang="en-US" sz="3300" b="1" cap="none" spc="0">
                          <a:solidFill>
                            <a:schemeClr val="tx1"/>
                          </a:solidFill>
                        </a:rPr>
                        <a:t>04</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How to train a Deep Learning neural network</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lnB>
                    <a:noFill/>
                  </a:tcPr>
                </a:tc>
                <a:extLst>
                  <a:ext uri="{0D108BD9-81ED-4DB2-BD59-A6C34878D82A}">
                    <a16:rowId xmlns:a16="http://schemas.microsoft.com/office/drawing/2014/main" val="1449302216"/>
                  </a:ext>
                </a:extLst>
              </a:tr>
              <a:tr h="1054500">
                <a:tc>
                  <a:txBody>
                    <a:bodyPr/>
                    <a:lstStyle/>
                    <a:p>
                      <a:pPr>
                        <a:buNone/>
                      </a:pPr>
                      <a:r>
                        <a:rPr lang="en-US" sz="3300" b="1" cap="none" spc="0">
                          <a:solidFill>
                            <a:schemeClr val="tx1"/>
                          </a:solidFill>
                        </a:rPr>
                        <a:t>05</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How to combine structured data and text features</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9924806"/>
                  </a:ext>
                </a:extLst>
              </a:tr>
              <a:tr h="856077">
                <a:tc>
                  <a:txBody>
                    <a:bodyPr/>
                    <a:lstStyle/>
                    <a:p>
                      <a:pPr>
                        <a:buNone/>
                      </a:pPr>
                      <a:r>
                        <a:rPr lang="en-US" sz="3300" b="1" cap="none" spc="0" dirty="0">
                          <a:solidFill>
                            <a:schemeClr val="tx1"/>
                          </a:solidFill>
                        </a:rPr>
                        <a:t>06</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t>How to compare model performance</a:t>
                      </a:r>
                    </a:p>
                  </a:txBody>
                  <a:tcPr marL="141446" marR="141446" marT="141446" marB="141446" anchor="ctr">
                    <a:lnL w="12700" cmpd="sng">
                      <a:noFill/>
                      <a:prstDash val="solid"/>
                    </a:lnL>
                    <a:lnR w="12700" cmpd="sng">
                      <a:noFill/>
                      <a:prstDash val="solid"/>
                    </a:lnR>
                    <a:lnT w="6350" cap="flat" cmpd="sng" algn="ctr">
                      <a:solidFill>
                        <a:schemeClr val="tx1"/>
                      </a:solidFill>
                      <a:prstDash val="soli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281217150"/>
                  </a:ext>
                </a:extLst>
              </a:tr>
            </a:tbl>
          </a:graphicData>
        </a:graphic>
      </p:graphicFrame>
    </p:spTree>
    <p:extLst>
      <p:ext uri="{BB962C8B-B14F-4D97-AF65-F5344CB8AC3E}">
        <p14:creationId xmlns:p14="http://schemas.microsoft.com/office/powerpoint/2010/main" val="117054218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09588DA8-065E-4F6F-8EFD-43104AB2E0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C4285719-470E-454C-AF62-8323075F1F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D9FE4EF-C4D8-49A0-B2FF-81D8DB7D8A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4300840D-0A0B-4512-BACA-B439D5B9C5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B78728-A580-49A7-84F9-6EF6F583A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8FAA1A1-D861-433F-88FA-1E9D6FD3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8D71EDA1-87BF-4D5D-AB79-F346FD1927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7677576-8A0E-E6B1-4481-0C3EE085FE99}"/>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Dataset Used </a:t>
            </a:r>
          </a:p>
        </p:txBody>
      </p:sp>
      <p:sp>
        <p:nvSpPr>
          <p:cNvPr id="3" name="Content Placeholder 2">
            <a:extLst>
              <a:ext uri="{FF2B5EF4-FFF2-40B4-BE49-F238E27FC236}">
                <a16:creationId xmlns:a16="http://schemas.microsoft.com/office/drawing/2014/main" id="{FBB4FA80-2849-8BF6-2624-351FB26116C2}"/>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504549" y="300038"/>
            <a:ext cx="7111190" cy="6072187"/>
          </a:xfrm>
        </p:spPr>
        <p:txBody>
          <a:bodyPr>
            <a:normAutofit fontScale="62500" lnSpcReduction="20000"/>
          </a:bodyPr>
          <a:lstStyle/>
          <a:p>
            <a:pPr marL="0" indent="0">
              <a:lnSpc>
                <a:spcPct val="150000"/>
              </a:lnSpc>
              <a:buNone/>
            </a:pPr>
            <a:r>
              <a:rPr lang="en-US" sz="2900" dirty="0"/>
              <a:t>We will be using MIMIC-III Clinical dataset in this tutorial which contains ICU patient records including:</a:t>
            </a:r>
          </a:p>
          <a:p>
            <a:pPr lvl="1">
              <a:lnSpc>
                <a:spcPct val="150000"/>
              </a:lnSpc>
            </a:pPr>
            <a:r>
              <a:rPr lang="en-US" sz="2900" dirty="0"/>
              <a:t>Demographics</a:t>
            </a:r>
          </a:p>
          <a:p>
            <a:pPr lvl="1">
              <a:lnSpc>
                <a:spcPct val="150000"/>
              </a:lnSpc>
            </a:pPr>
            <a:r>
              <a:rPr lang="en-US" sz="2900" dirty="0"/>
              <a:t>Admissions</a:t>
            </a:r>
          </a:p>
          <a:p>
            <a:pPr lvl="1">
              <a:lnSpc>
                <a:spcPct val="150000"/>
              </a:lnSpc>
            </a:pPr>
            <a:r>
              <a:rPr lang="en-US" sz="2900" dirty="0"/>
              <a:t>Vital signs</a:t>
            </a:r>
          </a:p>
          <a:p>
            <a:pPr lvl="1">
              <a:lnSpc>
                <a:spcPct val="150000"/>
              </a:lnSpc>
            </a:pPr>
            <a:r>
              <a:rPr lang="en-US" sz="2900" dirty="0"/>
              <a:t>Lab results</a:t>
            </a:r>
          </a:p>
          <a:p>
            <a:pPr lvl="1">
              <a:lnSpc>
                <a:spcPct val="150000"/>
              </a:lnSpc>
            </a:pPr>
            <a:r>
              <a:rPr lang="en-US" sz="2900" dirty="0"/>
              <a:t>Clinical notes</a:t>
            </a:r>
          </a:p>
          <a:p>
            <a:pPr marL="0" indent="0">
              <a:lnSpc>
                <a:spcPct val="150000"/>
              </a:lnSpc>
              <a:buNone/>
            </a:pPr>
            <a:r>
              <a:rPr lang="en-US" sz="2900" dirty="0"/>
              <a:t>Key tables used:</a:t>
            </a:r>
          </a:p>
          <a:p>
            <a:pPr lvl="1">
              <a:lnSpc>
                <a:spcPct val="150000"/>
              </a:lnSpc>
            </a:pPr>
            <a:r>
              <a:rPr lang="en-US" sz="2900" dirty="0"/>
              <a:t>PATIENTS</a:t>
            </a:r>
          </a:p>
          <a:p>
            <a:pPr lvl="1">
              <a:lnSpc>
                <a:spcPct val="150000"/>
              </a:lnSpc>
            </a:pPr>
            <a:r>
              <a:rPr lang="en-US" sz="2900" dirty="0"/>
              <a:t>ADMISSIONS</a:t>
            </a:r>
          </a:p>
          <a:p>
            <a:pPr lvl="1">
              <a:lnSpc>
                <a:spcPct val="150000"/>
              </a:lnSpc>
            </a:pPr>
            <a:r>
              <a:rPr lang="en-US" sz="2900" dirty="0"/>
              <a:t>ICUSTAYS</a:t>
            </a:r>
          </a:p>
          <a:p>
            <a:pPr lvl="1">
              <a:lnSpc>
                <a:spcPct val="150000"/>
              </a:lnSpc>
            </a:pPr>
            <a:r>
              <a:rPr lang="en-US" sz="2900" dirty="0"/>
              <a:t>CHARTEVENTS</a:t>
            </a:r>
          </a:p>
          <a:p>
            <a:pPr lvl="1">
              <a:lnSpc>
                <a:spcPct val="150000"/>
              </a:lnSpc>
            </a:pPr>
            <a:r>
              <a:rPr lang="en-US" sz="2900" dirty="0"/>
              <a:t>LABEVENTS</a:t>
            </a:r>
          </a:p>
          <a:p>
            <a:pPr lvl="1">
              <a:lnSpc>
                <a:spcPct val="150000"/>
              </a:lnSpc>
            </a:pPr>
            <a:r>
              <a:rPr lang="en-US" sz="2900" dirty="0"/>
              <a:t>NOTEEVENTS</a:t>
            </a:r>
          </a:p>
          <a:p>
            <a:pPr marL="0" indent="0">
              <a:spcBef>
                <a:spcPts val="2500"/>
              </a:spcBef>
              <a:buNone/>
            </a:pPr>
            <a:endParaRPr lang="en-US" sz="1600" b="1" dirty="0"/>
          </a:p>
        </p:txBody>
      </p:sp>
    </p:spTree>
    <p:extLst>
      <p:ext uri="{BB962C8B-B14F-4D97-AF65-F5344CB8AC3E}">
        <p14:creationId xmlns:p14="http://schemas.microsoft.com/office/powerpoint/2010/main" val="341282355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6BD15FA-7694-ECD9-6C4F-F15DD425387B}"/>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FBE3493A-B6A7-7F99-CBC5-E598C201E5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D405B8C8-98D6-F812-5CBC-825B97E0F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8EA490F-3597-C80A-E0D6-7C7BA14EF6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2133F60-A072-2CA3-F31C-85BD319BD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13C2F4B2-C66C-1A44-F474-F9E1A14FF1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BEEA4C3E-FD1C-C2C2-2721-D0989B9459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9943E022-1853-E2CB-C810-88A87A2353F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6EB88F4-F2AF-94FA-E994-4426F6B1EDAE}"/>
              </a:ext>
            </a:extLst>
          </p:cNvPr>
          <p:cNvSpPr>
            <a:spLocks noGrp="1"/>
          </p:cNvSpPr>
          <p:nvPr>
            <p:ph type="title"/>
          </p:nvPr>
        </p:nvSpPr>
        <p:spPr>
          <a:xfrm>
            <a:off x="466722" y="586855"/>
            <a:ext cx="3201366" cy="3387497"/>
          </a:xfrm>
        </p:spPr>
        <p:txBody>
          <a:bodyPr anchor="b">
            <a:normAutofit/>
          </a:bodyPr>
          <a:lstStyle/>
          <a:p>
            <a:pPr algn="r"/>
            <a:r>
              <a:rPr lang="en-US" sz="4000" dirty="0">
                <a:solidFill>
                  <a:srgbClr val="FFFFFF"/>
                </a:solidFill>
              </a:rPr>
              <a:t>Outline</a:t>
            </a:r>
          </a:p>
        </p:txBody>
      </p:sp>
      <p:sp>
        <p:nvSpPr>
          <p:cNvPr id="3" name="Content Placeholder 2">
            <a:extLst>
              <a:ext uri="{FF2B5EF4-FFF2-40B4-BE49-F238E27FC236}">
                <a16:creationId xmlns:a16="http://schemas.microsoft.com/office/drawing/2014/main" id="{34D2D915-0E82-FC98-E607-B4EEA0FE7034}"/>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810259" y="511388"/>
            <a:ext cx="6555347" cy="5684139"/>
          </a:xfrm>
        </p:spPr>
        <p:txBody>
          <a:bodyPr>
            <a:normAutofit fontScale="92500" lnSpcReduction="20000"/>
          </a:bodyPr>
          <a:lstStyle/>
          <a:p>
            <a:pPr marL="0" indent="0" algn="ctr">
              <a:buNone/>
            </a:pPr>
            <a:r>
              <a:rPr lang="en-US" dirty="0"/>
              <a:t>Load Clinical Data</a:t>
            </a:r>
          </a:p>
          <a:p>
            <a:pPr marL="0" indent="0" algn="ctr">
              <a:buNone/>
            </a:pPr>
            <a:r>
              <a:rPr lang="en-US" dirty="0"/>
              <a:t>        ↓</a:t>
            </a:r>
          </a:p>
          <a:p>
            <a:pPr marL="0" indent="0" algn="ctr">
              <a:buNone/>
            </a:pPr>
            <a:r>
              <a:rPr lang="en-US" dirty="0"/>
              <a:t>Feature Engineering</a:t>
            </a:r>
          </a:p>
          <a:p>
            <a:pPr marL="0" indent="0" algn="ctr">
              <a:buNone/>
            </a:pPr>
            <a:r>
              <a:rPr lang="en-US" dirty="0"/>
              <a:t>        ↓</a:t>
            </a:r>
          </a:p>
          <a:p>
            <a:pPr marL="0" indent="0" algn="ctr">
              <a:buNone/>
            </a:pPr>
            <a:r>
              <a:rPr lang="en-US" dirty="0"/>
              <a:t>Machine Learning Models</a:t>
            </a:r>
          </a:p>
          <a:p>
            <a:pPr marL="0" indent="0" algn="ctr">
              <a:buNone/>
            </a:pPr>
            <a:r>
              <a:rPr lang="en-US" dirty="0"/>
              <a:t>        ↓</a:t>
            </a:r>
          </a:p>
          <a:p>
            <a:pPr marL="0" indent="0" algn="ctr">
              <a:buNone/>
            </a:pPr>
            <a:r>
              <a:rPr lang="en-US" dirty="0"/>
              <a:t>NLP Model from Clinical Notes</a:t>
            </a:r>
          </a:p>
          <a:p>
            <a:pPr marL="0" indent="0" algn="ctr">
              <a:buNone/>
            </a:pPr>
            <a:r>
              <a:rPr lang="en-US" dirty="0"/>
              <a:t>        ↓</a:t>
            </a:r>
          </a:p>
          <a:p>
            <a:pPr marL="0" indent="0" algn="ctr">
              <a:buNone/>
            </a:pPr>
            <a:r>
              <a:rPr lang="en-US" dirty="0"/>
              <a:t>Deep Learning Neural Network</a:t>
            </a:r>
          </a:p>
          <a:p>
            <a:pPr marL="0" indent="0" algn="ctr">
              <a:buNone/>
            </a:pPr>
            <a:r>
              <a:rPr lang="en-US" dirty="0"/>
              <a:t>        ↓</a:t>
            </a:r>
          </a:p>
          <a:p>
            <a:pPr marL="0" indent="0" algn="ctr">
              <a:buNone/>
            </a:pPr>
            <a:r>
              <a:rPr lang="en-US" dirty="0"/>
              <a:t>Multimodal Model</a:t>
            </a:r>
          </a:p>
          <a:p>
            <a:pPr marL="0" indent="0" algn="ctr">
              <a:buNone/>
            </a:pPr>
            <a:r>
              <a:rPr lang="en-US" dirty="0"/>
              <a:t>        ↓</a:t>
            </a:r>
          </a:p>
          <a:p>
            <a:pPr marL="0" indent="0" algn="ctr">
              <a:buNone/>
            </a:pPr>
            <a:r>
              <a:rPr lang="en-US" dirty="0"/>
              <a:t>Performance Comparison</a:t>
            </a:r>
          </a:p>
          <a:p>
            <a:pPr marL="0" indent="0">
              <a:spcBef>
                <a:spcPts val="2500"/>
              </a:spcBef>
              <a:buNone/>
            </a:pPr>
            <a:endParaRPr lang="en-US" sz="1600" b="1" dirty="0"/>
          </a:p>
        </p:txBody>
      </p:sp>
    </p:spTree>
    <p:extLst>
      <p:ext uri="{BB962C8B-B14F-4D97-AF65-F5344CB8AC3E}">
        <p14:creationId xmlns:p14="http://schemas.microsoft.com/office/powerpoint/2010/main" val="300848927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C0092E1-294F-CD28-39A4-2C38F0D9E255}"/>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E575C873-ABE0-E7AA-DD16-EBB51A6795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EEA28A6C-0E55-DFE3-9D46-2ABA0D4E38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0776CEE-63E0-69DD-A1A0-3849DCC45D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782C0260-D831-3C83-FEC1-ECB11DD6D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D2438447-6A46-E9A3-977C-40257D93FF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37BC2054-6AE3-4460-E308-7BF1278582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7D826E1A-8F4A-3FF6-4A0E-E9BB7DCABB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C5219FC-FE19-C6D6-8E9C-3665FA712FEB}"/>
              </a:ext>
            </a:extLst>
          </p:cNvPr>
          <p:cNvSpPr>
            <a:spLocks noGrp="1"/>
          </p:cNvSpPr>
          <p:nvPr>
            <p:ph type="title"/>
          </p:nvPr>
        </p:nvSpPr>
        <p:spPr>
          <a:xfrm>
            <a:off x="466722" y="586855"/>
            <a:ext cx="3201366" cy="3387497"/>
          </a:xfrm>
        </p:spPr>
        <p:txBody>
          <a:bodyPr anchor="b">
            <a:normAutofit/>
          </a:bodyPr>
          <a:lstStyle/>
          <a:p>
            <a:pPr algn="r"/>
            <a:r>
              <a:rPr lang="en-US" sz="4000">
                <a:solidFill>
                  <a:srgbClr val="FFFFFF"/>
                </a:solidFill>
              </a:rPr>
              <a:t>Import Libraries </a:t>
            </a:r>
            <a:endParaRPr lang="en-US" sz="4000" dirty="0">
              <a:solidFill>
                <a:srgbClr val="FFFFFF"/>
              </a:solidFill>
            </a:endParaRPr>
          </a:p>
        </p:txBody>
      </p:sp>
      <p:sp>
        <p:nvSpPr>
          <p:cNvPr id="3" name="Content Placeholder 2">
            <a:extLst>
              <a:ext uri="{FF2B5EF4-FFF2-40B4-BE49-F238E27FC236}">
                <a16:creationId xmlns:a16="http://schemas.microsoft.com/office/drawing/2014/main" id="{0498480D-5263-15EE-7AB7-B95348DA4B73}"/>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367695" y="300038"/>
            <a:ext cx="7533793" cy="6386512"/>
          </a:xfrm>
        </p:spPr>
        <p:txBody>
          <a:bodyPr>
            <a:normAutofit fontScale="55000" lnSpcReduction="20000"/>
          </a:bodyPr>
          <a:lstStyle/>
          <a:p>
            <a:pPr marL="0" indent="0">
              <a:buNone/>
            </a:pPr>
            <a:r>
              <a:rPr lang="en-US" dirty="0"/>
              <a:t>import pandas as pd</a:t>
            </a:r>
          </a:p>
          <a:p>
            <a:pPr marL="0" indent="0">
              <a:buNone/>
            </a:pPr>
            <a:r>
              <a:rPr lang="en-US" dirty="0"/>
              <a:t>import </a:t>
            </a:r>
            <a:r>
              <a:rPr lang="en-US" dirty="0" err="1"/>
              <a:t>numpy</a:t>
            </a:r>
            <a:r>
              <a:rPr lang="en-US" dirty="0"/>
              <a:t> as np</a:t>
            </a:r>
            <a:br>
              <a:rPr lang="en-US" dirty="0"/>
            </a:br>
            <a:endParaRPr lang="en-US" dirty="0"/>
          </a:p>
          <a:p>
            <a:pPr marL="0" indent="0">
              <a:buNone/>
            </a:pPr>
            <a:r>
              <a:rPr lang="en-US" dirty="0"/>
              <a:t>import </a:t>
            </a:r>
            <a:r>
              <a:rPr lang="en-US" dirty="0" err="1"/>
              <a:t>matplotlib.pyplot</a:t>
            </a:r>
            <a:r>
              <a:rPr lang="en-US" dirty="0"/>
              <a:t> as </a:t>
            </a:r>
            <a:r>
              <a:rPr lang="en-US" dirty="0" err="1"/>
              <a:t>plt</a:t>
            </a:r>
            <a:endParaRPr lang="en-US" dirty="0"/>
          </a:p>
          <a:p>
            <a:pPr marL="0" indent="0">
              <a:buNone/>
            </a:pPr>
            <a:r>
              <a:rPr lang="en-US" dirty="0"/>
              <a:t>import seaborn as </a:t>
            </a:r>
            <a:r>
              <a:rPr lang="en-US" dirty="0" err="1"/>
              <a:t>sns</a:t>
            </a:r>
            <a:endParaRPr lang="en-US" dirty="0"/>
          </a:p>
          <a:p>
            <a:pPr marL="0" indent="0">
              <a:buNone/>
            </a:pPr>
            <a:r>
              <a:rPr lang="en-US" dirty="0"/>
              <a:t>from </a:t>
            </a:r>
            <a:r>
              <a:rPr lang="en-US" dirty="0" err="1"/>
              <a:t>sklearn.manifold</a:t>
            </a:r>
            <a:r>
              <a:rPr lang="en-US" dirty="0"/>
              <a:t> import TSNE</a:t>
            </a:r>
            <a:br>
              <a:rPr lang="en-US" dirty="0"/>
            </a:br>
            <a:endParaRPr lang="en-US" dirty="0"/>
          </a:p>
          <a:p>
            <a:pPr marL="0" indent="0">
              <a:buNone/>
            </a:pPr>
            <a:r>
              <a:rPr lang="en-US" dirty="0"/>
              <a:t>from </a:t>
            </a:r>
            <a:r>
              <a:rPr lang="en-US" dirty="0" err="1"/>
              <a:t>sklearn.model_selection</a:t>
            </a:r>
            <a:r>
              <a:rPr lang="en-US" dirty="0"/>
              <a:t> import </a:t>
            </a:r>
            <a:r>
              <a:rPr lang="en-US" dirty="0" err="1"/>
              <a:t>train_test_split</a:t>
            </a:r>
            <a:endParaRPr lang="en-US" dirty="0"/>
          </a:p>
          <a:p>
            <a:pPr marL="0" indent="0">
              <a:buNone/>
            </a:pPr>
            <a:r>
              <a:rPr lang="en-US" dirty="0"/>
              <a:t>from </a:t>
            </a:r>
            <a:r>
              <a:rPr lang="en-US" dirty="0" err="1"/>
              <a:t>sklearn.preprocessing</a:t>
            </a:r>
            <a:r>
              <a:rPr lang="en-US" dirty="0"/>
              <a:t> import </a:t>
            </a:r>
            <a:r>
              <a:rPr lang="en-US" dirty="0" err="1"/>
              <a:t>StandardScaler</a:t>
            </a:r>
            <a:endParaRPr lang="en-US" dirty="0"/>
          </a:p>
          <a:p>
            <a:pPr marL="0" indent="0">
              <a:buNone/>
            </a:pPr>
            <a:r>
              <a:rPr lang="en-US" dirty="0"/>
              <a:t>from </a:t>
            </a:r>
            <a:r>
              <a:rPr lang="en-US" dirty="0" err="1"/>
              <a:t>sklearn.metrics</a:t>
            </a:r>
            <a:r>
              <a:rPr lang="en-US" dirty="0"/>
              <a:t> import </a:t>
            </a:r>
            <a:r>
              <a:rPr lang="en-US" dirty="0" err="1"/>
              <a:t>roc_auc_score</a:t>
            </a:r>
            <a:r>
              <a:rPr lang="en-US" dirty="0"/>
              <a:t>, </a:t>
            </a:r>
            <a:r>
              <a:rPr lang="en-US" dirty="0" err="1"/>
              <a:t>roc_curve</a:t>
            </a:r>
            <a:endParaRPr lang="en-US" dirty="0"/>
          </a:p>
          <a:p>
            <a:pPr marL="0" indent="0">
              <a:buNone/>
            </a:pPr>
            <a:br>
              <a:rPr lang="en-US" dirty="0"/>
            </a:br>
            <a:endParaRPr lang="en-US" dirty="0"/>
          </a:p>
          <a:p>
            <a:pPr marL="0" indent="0">
              <a:buNone/>
            </a:pPr>
            <a:r>
              <a:rPr lang="en-US" dirty="0"/>
              <a:t>from </a:t>
            </a:r>
            <a:r>
              <a:rPr lang="en-US" dirty="0" err="1"/>
              <a:t>sklearn.ensemble</a:t>
            </a:r>
            <a:r>
              <a:rPr lang="en-US" dirty="0"/>
              <a:t> import </a:t>
            </a:r>
            <a:r>
              <a:rPr lang="en-US" dirty="0" err="1"/>
              <a:t>RandomForestClassifier</a:t>
            </a:r>
            <a:endParaRPr lang="en-US" dirty="0"/>
          </a:p>
          <a:p>
            <a:pPr marL="0" indent="0">
              <a:buNone/>
            </a:pPr>
            <a:r>
              <a:rPr lang="en-US" dirty="0"/>
              <a:t>from </a:t>
            </a:r>
            <a:r>
              <a:rPr lang="en-US" dirty="0" err="1"/>
              <a:t>sklearn.linear_model</a:t>
            </a:r>
            <a:r>
              <a:rPr lang="en-US" dirty="0"/>
              <a:t> import </a:t>
            </a:r>
            <a:r>
              <a:rPr lang="en-US" dirty="0" err="1"/>
              <a:t>LogisticRegression</a:t>
            </a:r>
            <a:endParaRPr lang="en-US" dirty="0"/>
          </a:p>
          <a:p>
            <a:pPr marL="0" indent="0">
              <a:buNone/>
            </a:pPr>
            <a:r>
              <a:rPr lang="en-US" dirty="0"/>
              <a:t>from </a:t>
            </a:r>
            <a:r>
              <a:rPr lang="en-US" dirty="0" err="1"/>
              <a:t>sklearn.feature_extraction.text</a:t>
            </a:r>
            <a:r>
              <a:rPr lang="en-US" dirty="0"/>
              <a:t> import </a:t>
            </a:r>
            <a:r>
              <a:rPr lang="en-US" dirty="0" err="1"/>
              <a:t>TfidfVectorizer</a:t>
            </a:r>
            <a:endParaRPr lang="en-US" dirty="0"/>
          </a:p>
          <a:p>
            <a:pPr marL="0" indent="0">
              <a:buNone/>
            </a:pPr>
            <a:r>
              <a:rPr lang="en-US" dirty="0"/>
              <a:t>from </a:t>
            </a:r>
            <a:r>
              <a:rPr lang="en-US" dirty="0" err="1"/>
              <a:t>sklearn.feature_extraction.text</a:t>
            </a:r>
            <a:r>
              <a:rPr lang="en-US" dirty="0"/>
              <a:t> import ENGLISH_STOP_WORDS</a:t>
            </a:r>
          </a:p>
          <a:p>
            <a:pPr marL="0" indent="0">
              <a:buNone/>
            </a:pPr>
            <a:endParaRPr lang="en-US" dirty="0"/>
          </a:p>
          <a:p>
            <a:pPr marL="0" indent="0">
              <a:buNone/>
            </a:pPr>
            <a:r>
              <a:rPr lang="en-US" dirty="0"/>
              <a:t>import torch</a:t>
            </a:r>
          </a:p>
          <a:p>
            <a:pPr marL="0" indent="0">
              <a:buNone/>
            </a:pPr>
            <a:r>
              <a:rPr lang="en-US" dirty="0"/>
              <a:t>import </a:t>
            </a:r>
            <a:r>
              <a:rPr lang="en-US" dirty="0" err="1"/>
              <a:t>torch.nn</a:t>
            </a:r>
            <a:r>
              <a:rPr lang="en-US" dirty="0"/>
              <a:t> as </a:t>
            </a:r>
            <a:r>
              <a:rPr lang="en-US" dirty="0" err="1"/>
              <a:t>nn</a:t>
            </a:r>
            <a:endParaRPr lang="en-US" dirty="0"/>
          </a:p>
          <a:p>
            <a:pPr marL="0" indent="0">
              <a:buNone/>
            </a:pPr>
            <a:r>
              <a:rPr lang="en-US" dirty="0"/>
              <a:t>import </a:t>
            </a:r>
            <a:r>
              <a:rPr lang="en-US" dirty="0" err="1"/>
              <a:t>torch.optim</a:t>
            </a:r>
            <a:r>
              <a:rPr lang="en-US" dirty="0"/>
              <a:t> as </a:t>
            </a:r>
            <a:r>
              <a:rPr lang="en-US" dirty="0" err="1"/>
              <a:t>optim</a:t>
            </a:r>
            <a:endParaRPr lang="en-US" dirty="0"/>
          </a:p>
          <a:p>
            <a:pPr marL="0" indent="0">
              <a:buNone/>
            </a:pPr>
            <a:endParaRPr lang="en-US" dirty="0"/>
          </a:p>
          <a:p>
            <a:pPr marL="0" indent="0">
              <a:buNone/>
            </a:pPr>
            <a:r>
              <a:rPr lang="en-US" dirty="0"/>
              <a:t>from </a:t>
            </a:r>
            <a:r>
              <a:rPr lang="en-US" dirty="0" err="1"/>
              <a:t>sklearn.metrics</a:t>
            </a:r>
            <a:r>
              <a:rPr lang="en-US" dirty="0"/>
              <a:t> import </a:t>
            </a:r>
            <a:r>
              <a:rPr lang="en-US" dirty="0" err="1"/>
              <a:t>accuracy_score</a:t>
            </a:r>
            <a:endParaRPr lang="en-US" dirty="0"/>
          </a:p>
          <a:p>
            <a:pPr marL="0" indent="0">
              <a:buNone/>
            </a:pPr>
            <a:r>
              <a:rPr lang="en-US" dirty="0"/>
              <a:t>rom </a:t>
            </a:r>
            <a:r>
              <a:rPr lang="en-US" dirty="0" err="1"/>
              <a:t>sklearn.metrics</a:t>
            </a:r>
            <a:r>
              <a:rPr lang="en-US" dirty="0"/>
              <a:t> import </a:t>
            </a:r>
            <a:r>
              <a:rPr lang="en-US" dirty="0" err="1"/>
              <a:t>precision_recall_curve</a:t>
            </a:r>
            <a:r>
              <a:rPr lang="en-US" dirty="0"/>
              <a:t>, </a:t>
            </a:r>
            <a:r>
              <a:rPr lang="en-US" dirty="0" err="1"/>
              <a:t>average_precision_score</a:t>
            </a:r>
            <a:endParaRPr lang="en-US" dirty="0"/>
          </a:p>
          <a:p>
            <a:pPr marL="0" indent="0">
              <a:spcBef>
                <a:spcPts val="2500"/>
              </a:spcBef>
              <a:buNone/>
            </a:pPr>
            <a:endParaRPr lang="en-US" sz="1600" b="1" dirty="0"/>
          </a:p>
        </p:txBody>
      </p:sp>
    </p:spTree>
    <p:extLst>
      <p:ext uri="{BB962C8B-B14F-4D97-AF65-F5344CB8AC3E}">
        <p14:creationId xmlns:p14="http://schemas.microsoft.com/office/powerpoint/2010/main" val="27276778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0809D0-7E0B-DB4D-EC08-A6542009EF60}"/>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F12BCED-3031-D7B8-75C3-4608714455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8F9C64F0-4968-6162-3A24-8C5B68BE77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C100ED67-6DB7-882E-56D2-8DD3AD1F51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AB24C118-5230-8644-AA47-B1E9C80307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5125570-D7E3-9AAA-3B17-6E9DDD2F0F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DCF497B2-818E-7234-D91D-6238CABBA3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D094C222-D55A-EE99-E4FF-69A1BCD623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F71E46F-E2A2-C467-ACA8-DE5BE946C801}"/>
              </a:ext>
            </a:extLst>
          </p:cNvPr>
          <p:cNvSpPr>
            <a:spLocks noGrp="1"/>
          </p:cNvSpPr>
          <p:nvPr>
            <p:ph type="title"/>
          </p:nvPr>
        </p:nvSpPr>
        <p:spPr>
          <a:xfrm>
            <a:off x="466722" y="586855"/>
            <a:ext cx="3201366" cy="5325214"/>
          </a:xfrm>
        </p:spPr>
        <p:txBody>
          <a:bodyPr anchor="b">
            <a:normAutofit/>
          </a:bodyPr>
          <a:lstStyle/>
          <a:p>
            <a:pPr algn="r"/>
            <a:r>
              <a:rPr lang="en-US" sz="4000" dirty="0">
                <a:solidFill>
                  <a:srgbClr val="FFFFFF"/>
                </a:solidFill>
              </a:rPr>
              <a:t>Load Clinical Data -</a:t>
            </a:r>
            <a:br>
              <a:rPr lang="en-US" sz="4000" dirty="0">
                <a:solidFill>
                  <a:srgbClr val="FFFFFF"/>
                </a:solidFill>
              </a:rPr>
            </a:br>
            <a:r>
              <a:rPr lang="en-US" sz="4000" dirty="0">
                <a:solidFill>
                  <a:srgbClr val="FFFFFF"/>
                </a:solidFill>
              </a:rPr>
              <a:t> </a:t>
            </a:r>
            <a:br>
              <a:rPr lang="en-US" sz="4000" dirty="0">
                <a:solidFill>
                  <a:srgbClr val="FFFFFF"/>
                </a:solidFill>
              </a:rPr>
            </a:br>
            <a:r>
              <a:rPr lang="en-US" sz="4000" dirty="0">
                <a:solidFill>
                  <a:srgbClr val="FFFFFF"/>
                </a:solidFill>
              </a:rPr>
              <a:t>Patients</a:t>
            </a:r>
            <a:br>
              <a:rPr lang="en-US" sz="4000" dirty="0">
                <a:solidFill>
                  <a:srgbClr val="FFFFFF"/>
                </a:solidFill>
              </a:rPr>
            </a:br>
            <a:r>
              <a:rPr lang="en-US" sz="4000" dirty="0">
                <a:solidFill>
                  <a:srgbClr val="FFFFFF"/>
                </a:solidFill>
              </a:rPr>
              <a:t>Admissions</a:t>
            </a:r>
            <a:br>
              <a:rPr lang="en-US" sz="4000" dirty="0">
                <a:solidFill>
                  <a:srgbClr val="FFFFFF"/>
                </a:solidFill>
              </a:rPr>
            </a:br>
            <a:r>
              <a:rPr lang="en-US" sz="4000" dirty="0">
                <a:solidFill>
                  <a:srgbClr val="FFFFFF"/>
                </a:solidFill>
              </a:rPr>
              <a:t>ICU Stays</a:t>
            </a:r>
            <a:br>
              <a:rPr lang="en-US" sz="4000" dirty="0">
                <a:solidFill>
                  <a:srgbClr val="FFFFFF"/>
                </a:solidFill>
              </a:rPr>
            </a:br>
            <a:r>
              <a:rPr lang="en-US" sz="4000" dirty="0">
                <a:solidFill>
                  <a:srgbClr val="FFFFFF"/>
                </a:solidFill>
              </a:rPr>
              <a:t>Clinical Notes</a:t>
            </a:r>
            <a:br>
              <a:rPr lang="en-US" sz="4000" dirty="0">
                <a:solidFill>
                  <a:srgbClr val="FFFFFF"/>
                </a:solidFill>
              </a:rPr>
            </a:br>
            <a:r>
              <a:rPr lang="en-US" sz="4000" dirty="0">
                <a:solidFill>
                  <a:srgbClr val="FFFFFF"/>
                </a:solidFill>
              </a:rPr>
              <a:t> </a:t>
            </a:r>
          </a:p>
        </p:txBody>
      </p:sp>
      <p:sp>
        <p:nvSpPr>
          <p:cNvPr id="3" name="Content Placeholder 2">
            <a:extLst>
              <a:ext uri="{FF2B5EF4-FFF2-40B4-BE49-F238E27FC236}">
                <a16:creationId xmlns:a16="http://schemas.microsoft.com/office/drawing/2014/main" id="{D68A340F-68EB-D354-CD9D-A62F23343346}"/>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367695" y="300038"/>
            <a:ext cx="7533793" cy="6386512"/>
          </a:xfrm>
        </p:spPr>
        <p:txBody>
          <a:bodyPr>
            <a:noAutofit/>
          </a:bodyPr>
          <a:lstStyle/>
          <a:p>
            <a:pPr marL="0" indent="0">
              <a:buNone/>
            </a:pPr>
            <a:r>
              <a:rPr lang="en-US" sz="1400" dirty="0"/>
              <a:t>patients = </a:t>
            </a:r>
            <a:r>
              <a:rPr lang="en-US" sz="1400" dirty="0" err="1"/>
              <a:t>pd.read_csv</a:t>
            </a:r>
            <a:r>
              <a:rPr lang="en-US" sz="1400" dirty="0"/>
              <a:t>(</a:t>
            </a:r>
            <a:r>
              <a:rPr lang="en-US" sz="1400" dirty="0" err="1"/>
              <a:t>data_location</a:t>
            </a:r>
            <a:r>
              <a:rPr lang="en-US" sz="1400" dirty="0"/>
              <a:t> + "</a:t>
            </a:r>
            <a:r>
              <a:rPr lang="en-US" sz="1400" dirty="0" err="1"/>
              <a:t>PATIENTS.csv.gz</a:t>
            </a:r>
            <a:r>
              <a:rPr lang="en-US" sz="1400" dirty="0"/>
              <a:t>")</a:t>
            </a:r>
          </a:p>
          <a:p>
            <a:pPr marL="0" indent="0">
              <a:buNone/>
            </a:pPr>
            <a:r>
              <a:rPr lang="en-US" sz="1400" dirty="0"/>
              <a:t>admissions = </a:t>
            </a:r>
            <a:r>
              <a:rPr lang="en-US" sz="1400" dirty="0" err="1"/>
              <a:t>pd.read_csv</a:t>
            </a:r>
            <a:r>
              <a:rPr lang="en-US" sz="1400" dirty="0"/>
              <a:t>(</a:t>
            </a:r>
            <a:r>
              <a:rPr lang="en-US" sz="1400" dirty="0" err="1"/>
              <a:t>data_location</a:t>
            </a:r>
            <a:r>
              <a:rPr lang="en-US" sz="1400" dirty="0"/>
              <a:t> + "</a:t>
            </a:r>
            <a:r>
              <a:rPr lang="en-US" sz="1400" dirty="0" err="1"/>
              <a:t>ADMISSIONS.csv.gz</a:t>
            </a:r>
            <a:r>
              <a:rPr lang="en-US" sz="1400" dirty="0"/>
              <a:t>")</a:t>
            </a:r>
          </a:p>
          <a:p>
            <a:pPr marL="0" indent="0">
              <a:buNone/>
            </a:pPr>
            <a:r>
              <a:rPr lang="en-US" sz="1400" dirty="0" err="1"/>
              <a:t>icustays</a:t>
            </a:r>
            <a:r>
              <a:rPr lang="en-US" sz="1400" dirty="0"/>
              <a:t> = </a:t>
            </a:r>
            <a:r>
              <a:rPr lang="en-US" sz="1400" dirty="0" err="1"/>
              <a:t>pd.read_csv</a:t>
            </a:r>
            <a:r>
              <a:rPr lang="en-US" sz="1400" dirty="0"/>
              <a:t>(</a:t>
            </a:r>
            <a:r>
              <a:rPr lang="en-US" sz="1400" dirty="0" err="1"/>
              <a:t>data_location</a:t>
            </a:r>
            <a:r>
              <a:rPr lang="en-US" sz="1400" dirty="0"/>
              <a:t> + "</a:t>
            </a:r>
            <a:r>
              <a:rPr lang="en-US" sz="1400" dirty="0" err="1"/>
              <a:t>ICUSTAYS.csv.gz</a:t>
            </a:r>
            <a:r>
              <a:rPr lang="en-US" sz="1400" dirty="0"/>
              <a:t>")</a:t>
            </a:r>
            <a:endParaRPr lang="en-US" sz="1400" b="1" dirty="0"/>
          </a:p>
          <a:p>
            <a:pPr marL="0" indent="0">
              <a:lnSpc>
                <a:spcPct val="100000"/>
              </a:lnSpc>
              <a:spcBef>
                <a:spcPts val="2500"/>
              </a:spcBef>
              <a:buNone/>
            </a:pPr>
            <a:r>
              <a:rPr lang="en-US" sz="1400" dirty="0"/>
              <a:t>notes = </a:t>
            </a:r>
            <a:r>
              <a:rPr lang="en-US" sz="1400" dirty="0" err="1"/>
              <a:t>pd.read_csv</a:t>
            </a:r>
            <a:r>
              <a:rPr lang="en-US" sz="1400" dirty="0"/>
              <a:t>(</a:t>
            </a:r>
            <a:r>
              <a:rPr lang="en-US" sz="1400" dirty="0" err="1"/>
              <a:t>data_location</a:t>
            </a:r>
            <a:r>
              <a:rPr lang="en-US" sz="1400" dirty="0"/>
              <a:t> + "NOTEEVENTS.csv.</a:t>
            </a:r>
            <a:r>
              <a:rPr lang="en-US" sz="1400" dirty="0" err="1"/>
              <a:t>gz</a:t>
            </a:r>
            <a:r>
              <a:rPr lang="en-US" sz="1400" dirty="0"/>
              <a:t>",compression='</a:t>
            </a:r>
            <a:r>
              <a:rPr lang="en-US" sz="1400" dirty="0" err="1"/>
              <a:t>gzip</a:t>
            </a:r>
            <a:r>
              <a:rPr lang="en-US" sz="1400" dirty="0"/>
              <a:t>',</a:t>
            </a:r>
          </a:p>
          <a:p>
            <a:pPr marL="0" indent="0">
              <a:lnSpc>
                <a:spcPct val="100000"/>
              </a:lnSpc>
              <a:spcBef>
                <a:spcPts val="2500"/>
              </a:spcBef>
              <a:buNone/>
            </a:pPr>
            <a:r>
              <a:rPr lang="en-US" sz="1400" dirty="0"/>
              <a:t>    </a:t>
            </a:r>
            <a:r>
              <a:rPr lang="en-US" sz="1400" dirty="0" err="1"/>
              <a:t>dtype</a:t>
            </a:r>
            <a:r>
              <a:rPr lang="en-US" sz="1400" dirty="0"/>
              <a:t>={</a:t>
            </a:r>
          </a:p>
          <a:p>
            <a:pPr marL="0" indent="0">
              <a:lnSpc>
                <a:spcPct val="100000"/>
              </a:lnSpc>
              <a:spcBef>
                <a:spcPts val="2500"/>
              </a:spcBef>
              <a:buNone/>
            </a:pPr>
            <a:r>
              <a:rPr lang="en-US" sz="1400" dirty="0"/>
              <a:t>        'SUBJECT_ID': 'int32',</a:t>
            </a:r>
          </a:p>
          <a:p>
            <a:pPr marL="0" indent="0">
              <a:lnSpc>
                <a:spcPct val="100000"/>
              </a:lnSpc>
              <a:spcBef>
                <a:spcPts val="2500"/>
              </a:spcBef>
              <a:buNone/>
            </a:pPr>
            <a:r>
              <a:rPr lang="en-US" sz="1400" dirty="0"/>
              <a:t>        'HADM_ID': 'float32',   # some rows missing</a:t>
            </a:r>
          </a:p>
          <a:p>
            <a:pPr marL="0" indent="0">
              <a:lnSpc>
                <a:spcPct val="100000"/>
              </a:lnSpc>
              <a:spcBef>
                <a:spcPts val="2500"/>
              </a:spcBef>
              <a:buNone/>
            </a:pPr>
            <a:r>
              <a:rPr lang="en-US" sz="1400" dirty="0"/>
              <a:t>        'CATEGORY': 'category',</a:t>
            </a:r>
          </a:p>
          <a:p>
            <a:pPr marL="0" indent="0">
              <a:lnSpc>
                <a:spcPct val="100000"/>
              </a:lnSpc>
              <a:spcBef>
                <a:spcPts val="2500"/>
              </a:spcBef>
              <a:buNone/>
            </a:pPr>
            <a:r>
              <a:rPr lang="en-US" sz="1400" dirty="0"/>
              <a:t>        'DESCRIPTION': 'category'</a:t>
            </a:r>
          </a:p>
          <a:p>
            <a:pPr marL="0" indent="0">
              <a:lnSpc>
                <a:spcPct val="100000"/>
              </a:lnSpc>
              <a:spcBef>
                <a:spcPts val="2500"/>
              </a:spcBef>
              <a:buNone/>
            </a:pPr>
            <a:r>
              <a:rPr lang="en-US" sz="1400" dirty="0"/>
              <a:t>    },</a:t>
            </a:r>
          </a:p>
          <a:p>
            <a:pPr marL="0" indent="0">
              <a:lnSpc>
                <a:spcPct val="100000"/>
              </a:lnSpc>
              <a:spcBef>
                <a:spcPts val="2500"/>
              </a:spcBef>
              <a:buNone/>
            </a:pPr>
            <a:r>
              <a:rPr lang="en-US" sz="1400" dirty="0"/>
              <a:t>    </a:t>
            </a:r>
            <a:r>
              <a:rPr lang="en-US" sz="1400" dirty="0" err="1"/>
              <a:t>parse_dates</a:t>
            </a:r>
            <a:r>
              <a:rPr lang="en-US" sz="1400" dirty="0"/>
              <a:t>=['CHARTDATE', 'CHARTTIME'],</a:t>
            </a:r>
          </a:p>
          <a:p>
            <a:pPr marL="0" indent="0">
              <a:lnSpc>
                <a:spcPct val="100000"/>
              </a:lnSpc>
              <a:spcBef>
                <a:spcPts val="2500"/>
              </a:spcBef>
              <a:buNone/>
            </a:pPr>
            <a:r>
              <a:rPr lang="en-US" sz="1400" dirty="0"/>
              <a:t>    </a:t>
            </a:r>
            <a:r>
              <a:rPr lang="en-US" sz="1400" dirty="0" err="1"/>
              <a:t>low_memory</a:t>
            </a:r>
            <a:r>
              <a:rPr lang="en-US" sz="1400" dirty="0"/>
              <a:t>=False</a:t>
            </a:r>
          </a:p>
          <a:p>
            <a:pPr marL="0" indent="0">
              <a:lnSpc>
                <a:spcPct val="100000"/>
              </a:lnSpc>
              <a:spcBef>
                <a:spcPts val="2500"/>
              </a:spcBef>
              <a:buNone/>
            </a:pPr>
            <a:r>
              <a:rPr lang="en-US" sz="1400" b="1" dirty="0"/>
              <a:t>)</a:t>
            </a:r>
          </a:p>
        </p:txBody>
      </p:sp>
    </p:spTree>
    <p:extLst>
      <p:ext uri="{BB962C8B-B14F-4D97-AF65-F5344CB8AC3E}">
        <p14:creationId xmlns:p14="http://schemas.microsoft.com/office/powerpoint/2010/main" val="35661220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CB81BD-28AC-1154-A7BB-2BB4567FEA18}"/>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153F7A9-8E69-26CD-D240-C81CDCB34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9E42FF1A-3569-09F5-45FA-47B0B953D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D3E91B56-BD6A-A491-6671-C7DCA2D80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518D30D-7257-02C4-40E7-43260355E6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BC9759F-D263-0544-7DFA-E84FC0F53A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DF816C9E-CD2C-0BA6-5DF7-8CC34AA4B5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F40889AD-C702-68FA-D872-D88ACB144F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FDE11C-50C9-FA7B-4359-2086AD751AFD}"/>
              </a:ext>
            </a:extLst>
          </p:cNvPr>
          <p:cNvSpPr>
            <a:spLocks noGrp="1"/>
          </p:cNvSpPr>
          <p:nvPr>
            <p:ph type="title"/>
          </p:nvPr>
        </p:nvSpPr>
        <p:spPr>
          <a:xfrm>
            <a:off x="466722" y="586855"/>
            <a:ext cx="3201366" cy="4615766"/>
          </a:xfrm>
        </p:spPr>
        <p:txBody>
          <a:bodyPr anchor="b">
            <a:normAutofit/>
          </a:bodyPr>
          <a:lstStyle/>
          <a:p>
            <a:pPr algn="r"/>
            <a:r>
              <a:rPr lang="en-US" sz="4000" dirty="0">
                <a:solidFill>
                  <a:srgbClr val="FFFFFF"/>
                </a:solidFill>
              </a:rPr>
              <a:t>Load Clinical Data - </a:t>
            </a:r>
            <a:br>
              <a:rPr lang="en-US" sz="4000" dirty="0">
                <a:solidFill>
                  <a:srgbClr val="FFFFFF"/>
                </a:solidFill>
              </a:rPr>
            </a:br>
            <a:br>
              <a:rPr lang="en-US" sz="4000" dirty="0">
                <a:solidFill>
                  <a:srgbClr val="FFFFFF"/>
                </a:solidFill>
              </a:rPr>
            </a:br>
            <a:r>
              <a:rPr lang="en-US" sz="4000" dirty="0">
                <a:solidFill>
                  <a:srgbClr val="FFFFFF"/>
                </a:solidFill>
              </a:rPr>
              <a:t>Chart Events for few critical vital indicators   </a:t>
            </a:r>
          </a:p>
        </p:txBody>
      </p:sp>
      <p:sp>
        <p:nvSpPr>
          <p:cNvPr id="3" name="Content Placeholder 2">
            <a:extLst>
              <a:ext uri="{FF2B5EF4-FFF2-40B4-BE49-F238E27FC236}">
                <a16:creationId xmlns:a16="http://schemas.microsoft.com/office/drawing/2014/main" id="{B38BAE48-A95A-B8B7-F9DC-2E72F665D54E}"/>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367695" y="300038"/>
            <a:ext cx="7533793" cy="6386512"/>
          </a:xfrm>
        </p:spPr>
        <p:txBody>
          <a:bodyPr>
            <a:noAutofit/>
          </a:bodyPr>
          <a:lstStyle/>
          <a:p>
            <a:pPr marL="0" indent="0">
              <a:buNone/>
            </a:pPr>
            <a:r>
              <a:rPr lang="en-US" sz="1400" dirty="0"/>
              <a:t>chart = </a:t>
            </a:r>
            <a:r>
              <a:rPr lang="en-US" sz="1400" dirty="0" err="1"/>
              <a:t>pd.read_csv</a:t>
            </a:r>
            <a:r>
              <a:rPr lang="en-US" sz="1400" dirty="0"/>
              <a:t>(</a:t>
            </a:r>
          </a:p>
          <a:p>
            <a:pPr marL="0" indent="0">
              <a:buNone/>
            </a:pPr>
            <a:r>
              <a:rPr lang="en-US" sz="1400" dirty="0"/>
              <a:t>    </a:t>
            </a:r>
            <a:r>
              <a:rPr lang="en-US" sz="1400" dirty="0" err="1"/>
              <a:t>data_location</a:t>
            </a:r>
            <a:r>
              <a:rPr lang="en-US" sz="1400" dirty="0"/>
              <a:t> + "</a:t>
            </a:r>
            <a:r>
              <a:rPr lang="en-US" sz="1400" dirty="0" err="1"/>
              <a:t>CHARTEVENTS.csv.gz</a:t>
            </a:r>
            <a:r>
              <a:rPr lang="en-US" sz="1400" dirty="0"/>
              <a:t>",</a:t>
            </a:r>
          </a:p>
          <a:p>
            <a:pPr marL="0" indent="0">
              <a:buNone/>
            </a:pPr>
            <a:r>
              <a:rPr lang="en-US" sz="1400" dirty="0"/>
              <a:t>    </a:t>
            </a:r>
            <a:r>
              <a:rPr lang="en-US" sz="1400" dirty="0" err="1"/>
              <a:t>usecols</a:t>
            </a:r>
            <a:r>
              <a:rPr lang="en-US" sz="1400" dirty="0"/>
              <a:t>=["SUBJECT_ID","HADM_ID","ITEMID","VALUENUM","CHARTTIME"],</a:t>
            </a:r>
          </a:p>
          <a:p>
            <a:pPr marL="0" indent="0">
              <a:buNone/>
            </a:pPr>
            <a:r>
              <a:rPr lang="en-US" sz="1400" dirty="0"/>
              <a:t>    compression="</a:t>
            </a:r>
            <a:r>
              <a:rPr lang="en-US" sz="1400" dirty="0" err="1"/>
              <a:t>gzip</a:t>
            </a:r>
            <a:r>
              <a:rPr lang="en-US" sz="1400" dirty="0"/>
              <a:t>"</a:t>
            </a:r>
          </a:p>
          <a:p>
            <a:pPr marL="0" indent="0">
              <a:buNone/>
            </a:pPr>
            <a:r>
              <a:rPr lang="en-US" sz="1400" dirty="0"/>
              <a:t>)</a:t>
            </a:r>
          </a:p>
          <a:p>
            <a:pPr marL="0" indent="0">
              <a:buNone/>
            </a:pPr>
            <a:endParaRPr lang="en-US" sz="1400" dirty="0"/>
          </a:p>
          <a:p>
            <a:pPr marL="0" indent="0">
              <a:buNone/>
            </a:pPr>
            <a:r>
              <a:rPr lang="en-US" sz="1400" dirty="0" err="1"/>
              <a:t>vital_ids</a:t>
            </a:r>
            <a:r>
              <a:rPr lang="en-US" sz="1400" dirty="0"/>
              <a:t> = [</a:t>
            </a:r>
          </a:p>
          <a:p>
            <a:pPr marL="0" indent="0">
              <a:buNone/>
            </a:pPr>
            <a:r>
              <a:rPr lang="en-US" sz="1400" dirty="0"/>
              <a:t>211,   # Heart Rate</a:t>
            </a:r>
          </a:p>
          <a:p>
            <a:pPr marL="0" indent="0">
              <a:buNone/>
            </a:pPr>
            <a:r>
              <a:rPr lang="en-US" sz="1400" dirty="0"/>
              <a:t>220045,# Heart Rate (</a:t>
            </a:r>
            <a:r>
              <a:rPr lang="en-US" sz="1400" dirty="0" err="1"/>
              <a:t>Metavision</a:t>
            </a:r>
            <a:r>
              <a:rPr lang="en-US" sz="1400" dirty="0"/>
              <a:t>)</a:t>
            </a:r>
          </a:p>
          <a:p>
            <a:pPr marL="0" indent="0">
              <a:buNone/>
            </a:pPr>
            <a:r>
              <a:rPr lang="en-US" sz="1400" dirty="0"/>
              <a:t>220179,# Non-invasive BP systolic</a:t>
            </a:r>
          </a:p>
          <a:p>
            <a:pPr marL="0" indent="0">
              <a:buNone/>
            </a:pPr>
            <a:r>
              <a:rPr lang="en-US" sz="1400" dirty="0"/>
              <a:t>220180,# Non-invasive BP diastolic</a:t>
            </a:r>
          </a:p>
          <a:p>
            <a:pPr marL="0" indent="0">
              <a:buNone/>
            </a:pPr>
            <a:r>
              <a:rPr lang="en-US" sz="1400" dirty="0"/>
              <a:t>220210,# Respiratory Rate</a:t>
            </a:r>
          </a:p>
          <a:p>
            <a:pPr marL="0" indent="0">
              <a:buNone/>
            </a:pPr>
            <a:r>
              <a:rPr lang="en-US" sz="1400" dirty="0"/>
              <a:t>223761 # Temperature</a:t>
            </a:r>
          </a:p>
          <a:p>
            <a:pPr marL="0" indent="0">
              <a:buNone/>
            </a:pPr>
            <a:r>
              <a:rPr lang="en-US" sz="1400" dirty="0"/>
              <a:t>]</a:t>
            </a:r>
          </a:p>
          <a:p>
            <a:pPr marL="0" indent="0">
              <a:buNone/>
            </a:pPr>
            <a:endParaRPr lang="en-US" sz="1400" dirty="0"/>
          </a:p>
          <a:p>
            <a:pPr marL="0" indent="0">
              <a:buNone/>
            </a:pPr>
            <a:r>
              <a:rPr lang="en-US" sz="1400" dirty="0"/>
              <a:t>chart = chart[chart["ITEMID"].</a:t>
            </a:r>
            <a:r>
              <a:rPr lang="en-US" sz="1400" dirty="0" err="1"/>
              <a:t>isin</a:t>
            </a:r>
            <a:r>
              <a:rPr lang="en-US" sz="1400" dirty="0"/>
              <a:t>(</a:t>
            </a:r>
            <a:r>
              <a:rPr lang="en-US" sz="1400" dirty="0" err="1"/>
              <a:t>vital_ids</a:t>
            </a:r>
            <a:r>
              <a:rPr lang="en-US" sz="1400" dirty="0"/>
              <a:t>)]</a:t>
            </a:r>
          </a:p>
          <a:p>
            <a:pPr marL="0" indent="0">
              <a:buNone/>
            </a:pPr>
            <a:r>
              <a:rPr lang="en-US" sz="1400" dirty="0"/>
              <a:t>vitals = </a:t>
            </a:r>
            <a:r>
              <a:rPr lang="en-US" sz="1400" dirty="0" err="1"/>
              <a:t>chart.groupby</a:t>
            </a:r>
            <a:r>
              <a:rPr lang="en-US" sz="1400" dirty="0"/>
              <a:t>(["SUBJECT_ID","HADM_ID","ITEMID"])["VALUENUM"].mean().unstack()</a:t>
            </a:r>
          </a:p>
          <a:p>
            <a:pPr marL="0" indent="0">
              <a:buNone/>
            </a:pPr>
            <a:r>
              <a:rPr lang="en-US" sz="1400" dirty="0" err="1"/>
              <a:t>vitals.reset_index</a:t>
            </a:r>
            <a:r>
              <a:rPr lang="en-US" sz="1400" dirty="0"/>
              <a:t>(</a:t>
            </a:r>
            <a:r>
              <a:rPr lang="en-US" sz="1400" dirty="0" err="1"/>
              <a:t>inplace</a:t>
            </a:r>
            <a:r>
              <a:rPr lang="en-US" sz="1400" dirty="0"/>
              <a:t>=True)</a:t>
            </a:r>
          </a:p>
        </p:txBody>
      </p:sp>
    </p:spTree>
    <p:extLst>
      <p:ext uri="{BB962C8B-B14F-4D97-AF65-F5344CB8AC3E}">
        <p14:creationId xmlns:p14="http://schemas.microsoft.com/office/powerpoint/2010/main" val="25202148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57D28C-2BF8-5EE9-648E-3B16EC6EC7C9}"/>
            </a:ext>
          </a:extLst>
        </p:cNvPr>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4757C522-A816-B281-A59F-F0FAB296D6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5" name="Rectangle 14">
            <a:extLst>
              <a:ext uri="{FF2B5EF4-FFF2-40B4-BE49-F238E27FC236}">
                <a16:creationId xmlns:a16="http://schemas.microsoft.com/office/drawing/2014/main" id="{390C0344-0230-78F1-DFCA-BFEE3B7918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853D0FE6-CF36-5922-8B91-F3968831E3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4" y="1410082"/>
            <a:ext cx="6858000" cy="4037836"/>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E4DA8A87-5F48-A2A0-5B10-26CDFEDEAA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85" y="1420219"/>
            <a:ext cx="6857999" cy="4037839"/>
          </a:xfrm>
          <a:prstGeom prst="rect">
            <a:avLst/>
          </a:prstGeom>
          <a:gradFill>
            <a:gsLst>
              <a:gs pos="0">
                <a:srgbClr val="000000">
                  <a:alpha val="0"/>
                </a:srgbClr>
              </a:gs>
              <a:gs pos="99000">
                <a:schemeClr val="accent1">
                  <a:alpha val="46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74ABC02C-7F1F-63E6-177E-E3AD479C22B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767923" y="3588085"/>
            <a:ext cx="2501979" cy="4037841"/>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9F7774B6-8763-B136-0913-3C53BC5092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0635413">
            <a:off x="-501737" y="969718"/>
            <a:ext cx="3900357" cy="4178958"/>
          </a:xfrm>
          <a:custGeom>
            <a:avLst/>
            <a:gdLst>
              <a:gd name="connsiteX0" fmla="*/ 2432225 w 3900357"/>
              <a:gd name="connsiteY0" fmla="*/ 93939 h 4178958"/>
              <a:gd name="connsiteX1" fmla="*/ 3900357 w 3900357"/>
              <a:gd name="connsiteY1" fmla="*/ 2089479 h 4178958"/>
              <a:gd name="connsiteX2" fmla="*/ 1810878 w 3900357"/>
              <a:gd name="connsiteY2" fmla="*/ 4178958 h 4178958"/>
              <a:gd name="connsiteX3" fmla="*/ 78249 w 3900357"/>
              <a:gd name="connsiteY3" fmla="*/ 3257727 h 4178958"/>
              <a:gd name="connsiteX4" fmla="*/ 0 w 3900357"/>
              <a:gd name="connsiteY4" fmla="*/ 3128923 h 4178958"/>
              <a:gd name="connsiteX5" fmla="*/ 831324 w 3900357"/>
              <a:gd name="connsiteY5" fmla="*/ 244281 h 4178958"/>
              <a:gd name="connsiteX6" fmla="*/ 997559 w 3900357"/>
              <a:gd name="connsiteY6" fmla="*/ 164202 h 4178958"/>
              <a:gd name="connsiteX7" fmla="*/ 1810878 w 3900357"/>
              <a:gd name="connsiteY7" fmla="*/ 0 h 4178958"/>
              <a:gd name="connsiteX8" fmla="*/ 2432225 w 3900357"/>
              <a:gd name="connsiteY8" fmla="*/ 93939 h 4178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00357" h="4178958">
                <a:moveTo>
                  <a:pt x="2432225" y="93939"/>
                </a:moveTo>
                <a:cubicBezTo>
                  <a:pt x="3282786" y="358491"/>
                  <a:pt x="3900357" y="1151865"/>
                  <a:pt x="3900357" y="2089479"/>
                </a:cubicBezTo>
                <a:cubicBezTo>
                  <a:pt x="3900357" y="3243466"/>
                  <a:pt x="2964865" y="4178958"/>
                  <a:pt x="1810878" y="4178958"/>
                </a:cubicBezTo>
                <a:cubicBezTo>
                  <a:pt x="1089636" y="4178958"/>
                  <a:pt x="453744" y="3813531"/>
                  <a:pt x="78249" y="3257727"/>
                </a:cubicBezTo>
                <a:lnTo>
                  <a:pt x="0" y="3128923"/>
                </a:lnTo>
                <a:lnTo>
                  <a:pt x="831324" y="244281"/>
                </a:lnTo>
                <a:lnTo>
                  <a:pt x="997559" y="164202"/>
                </a:lnTo>
                <a:cubicBezTo>
                  <a:pt x="1247540" y="58468"/>
                  <a:pt x="1522381" y="0"/>
                  <a:pt x="1810878" y="0"/>
                </a:cubicBezTo>
                <a:cubicBezTo>
                  <a:pt x="2027251" y="0"/>
                  <a:pt x="2235942" y="32888"/>
                  <a:pt x="2432225" y="93939"/>
                </a:cubicBezTo>
                <a:close/>
              </a:path>
            </a:pathLst>
          </a:custGeom>
          <a:gradFill>
            <a:gsLst>
              <a:gs pos="29000">
                <a:srgbClr val="000000">
                  <a:alpha val="0"/>
                </a:srgbClr>
              </a:gs>
              <a:gs pos="100000">
                <a:schemeClr val="accent1">
                  <a:alpha val="4300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5" name="Rectangle 24">
            <a:extLst>
              <a:ext uri="{FF2B5EF4-FFF2-40B4-BE49-F238E27FC236}">
                <a16:creationId xmlns:a16="http://schemas.microsoft.com/office/drawing/2014/main" id="{6CDB6828-C8E0-EB39-4AF3-60E3ED3271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0093" y="1399943"/>
            <a:ext cx="6858003" cy="4037835"/>
          </a:xfrm>
          <a:prstGeom prst="rect">
            <a:avLst/>
          </a:prstGeom>
          <a:gradFill>
            <a:gsLst>
              <a:gs pos="0">
                <a:srgbClr val="000000">
                  <a:alpha val="0"/>
                </a:srgbClr>
              </a:gs>
              <a:gs pos="99000">
                <a:schemeClr val="accent1">
                  <a:lumMod val="60000"/>
                  <a:lumOff val="40000"/>
                  <a:alpha val="1100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70166D-2DB6-9ABB-6D8C-46A1C6158090}"/>
              </a:ext>
            </a:extLst>
          </p:cNvPr>
          <p:cNvSpPr>
            <a:spLocks noGrp="1"/>
          </p:cNvSpPr>
          <p:nvPr>
            <p:ph type="title"/>
          </p:nvPr>
        </p:nvSpPr>
        <p:spPr>
          <a:xfrm>
            <a:off x="418225" y="1725111"/>
            <a:ext cx="3201366" cy="3387497"/>
          </a:xfrm>
        </p:spPr>
        <p:txBody>
          <a:bodyPr anchor="b">
            <a:normAutofit/>
          </a:bodyPr>
          <a:lstStyle/>
          <a:p>
            <a:pPr algn="r"/>
            <a:r>
              <a:rPr lang="en-US" sz="4000" dirty="0">
                <a:solidFill>
                  <a:srgbClr val="FFFFFF"/>
                </a:solidFill>
              </a:rPr>
              <a:t>Load Clinical Data - </a:t>
            </a:r>
            <a:br>
              <a:rPr lang="en-US" sz="4000" dirty="0">
                <a:solidFill>
                  <a:srgbClr val="FFFFFF"/>
                </a:solidFill>
              </a:rPr>
            </a:br>
            <a:br>
              <a:rPr lang="en-US" sz="4000" dirty="0">
                <a:solidFill>
                  <a:srgbClr val="FFFFFF"/>
                </a:solidFill>
              </a:rPr>
            </a:br>
            <a:r>
              <a:rPr lang="en-US" sz="4000" dirty="0">
                <a:solidFill>
                  <a:srgbClr val="FFFFFF"/>
                </a:solidFill>
              </a:rPr>
              <a:t>Lab Events for few critical lab tests</a:t>
            </a:r>
          </a:p>
        </p:txBody>
      </p:sp>
      <p:sp>
        <p:nvSpPr>
          <p:cNvPr id="3" name="Content Placeholder 2">
            <a:extLst>
              <a:ext uri="{FF2B5EF4-FFF2-40B4-BE49-F238E27FC236}">
                <a16:creationId xmlns:a16="http://schemas.microsoft.com/office/drawing/2014/main" id="{D5298CE6-4263-8542-35CF-2AC2F59B46EB}"/>
              </a:ext>
            </a:extLst>
          </p:cNvPr>
          <p:cNvSpPr>
            <a:spLocks noGrp="1"/>
          </p:cNvSpPr>
          <p:nvPr>
            <p:ph idx="1"/>
            <p:extLst>
              <p:ext uri="{E7BDC344-281C-4309-B0C6-D0EE65EED2A8}">
                <p202:designPr xmlns:p202="http://schemas.microsoft.com/office/powerpoint/2020/02/main">
                  <p202:designTagLst>
                    <p202:designTag name="ARCH:1:VSVAR" val="TitledTextBox"/>
                    <p202:designTag name="ARCH:1:CLS" val="InformationBlock"/>
                  </p202:designTagLst>
                </p202:designPr>
              </p:ext>
            </p:extLst>
          </p:nvPr>
        </p:nvSpPr>
        <p:spPr>
          <a:xfrm>
            <a:off x="4367695" y="300038"/>
            <a:ext cx="7533793" cy="6386512"/>
          </a:xfrm>
        </p:spPr>
        <p:txBody>
          <a:bodyPr>
            <a:noAutofit/>
          </a:bodyPr>
          <a:lstStyle/>
          <a:p>
            <a:pPr marL="0" indent="0">
              <a:buNone/>
            </a:pPr>
            <a:r>
              <a:rPr lang="en-US" sz="1400" dirty="0"/>
              <a:t>labs = </a:t>
            </a:r>
            <a:r>
              <a:rPr lang="en-US" sz="1400" dirty="0" err="1"/>
              <a:t>pd.read_csv</a:t>
            </a:r>
            <a:r>
              <a:rPr lang="en-US" sz="1400" dirty="0"/>
              <a:t>(</a:t>
            </a:r>
            <a:r>
              <a:rPr lang="en-US" sz="1400" dirty="0" err="1"/>
              <a:t>data_location</a:t>
            </a:r>
            <a:r>
              <a:rPr lang="en-US" sz="1400" dirty="0"/>
              <a:t> + "</a:t>
            </a:r>
            <a:r>
              <a:rPr lang="en-US" sz="1400" dirty="0" err="1"/>
              <a:t>LABEVENTS.csv.gz</a:t>
            </a:r>
            <a:r>
              <a:rPr lang="en-US" sz="1400" dirty="0"/>
              <a:t>")</a:t>
            </a:r>
          </a:p>
          <a:p>
            <a:pPr marL="0" indent="0">
              <a:buNone/>
            </a:pPr>
            <a:endParaRPr lang="en-US" sz="1400" dirty="0"/>
          </a:p>
          <a:p>
            <a:pPr marL="0" indent="0">
              <a:buNone/>
            </a:pPr>
            <a:r>
              <a:rPr lang="en-US" sz="1400" dirty="0" err="1"/>
              <a:t>lab_ids</a:t>
            </a:r>
            <a:r>
              <a:rPr lang="en-US" sz="1400" dirty="0"/>
              <a:t> = [</a:t>
            </a:r>
          </a:p>
          <a:p>
            <a:pPr marL="0" indent="0">
              <a:buNone/>
            </a:pPr>
            <a:r>
              <a:rPr lang="en-US" sz="1400" dirty="0"/>
              <a:t>50882, # Bicarbonate for Acid-Base Balance</a:t>
            </a:r>
          </a:p>
          <a:p>
            <a:pPr marL="0" indent="0">
              <a:buNone/>
            </a:pPr>
            <a:r>
              <a:rPr lang="en-US" sz="1400" dirty="0"/>
              <a:t>50868, # Anion Gap</a:t>
            </a:r>
          </a:p>
          <a:p>
            <a:pPr marL="0" indent="0">
              <a:buNone/>
            </a:pPr>
            <a:r>
              <a:rPr lang="en-US" sz="1400" dirty="0"/>
              <a:t>50912, # Creatinine for Kidney Function</a:t>
            </a:r>
          </a:p>
          <a:p>
            <a:pPr marL="0" indent="0">
              <a:buNone/>
            </a:pPr>
            <a:r>
              <a:rPr lang="en-US" sz="1400" dirty="0"/>
              <a:t>51301, # WBC for Infection/Inflammation</a:t>
            </a:r>
          </a:p>
          <a:p>
            <a:pPr marL="0" indent="0">
              <a:buNone/>
            </a:pPr>
            <a:r>
              <a:rPr lang="en-US" sz="1400" dirty="0"/>
              <a:t>51222,  # Hemoglobin for oxygen carrying capacity</a:t>
            </a:r>
          </a:p>
          <a:p>
            <a:pPr marL="0" indent="0">
              <a:buNone/>
            </a:pPr>
            <a:r>
              <a:rPr lang="en-US" sz="1400" dirty="0"/>
              <a:t>51006,  # BUN for Kidney Function</a:t>
            </a:r>
          </a:p>
          <a:p>
            <a:pPr marL="0" indent="0">
              <a:buNone/>
            </a:pPr>
            <a:r>
              <a:rPr lang="en-US" sz="1400" dirty="0"/>
              <a:t>51265,  # Platelet Count for Clotting</a:t>
            </a:r>
          </a:p>
          <a:p>
            <a:pPr marL="0" indent="0">
              <a:buNone/>
            </a:pPr>
            <a:r>
              <a:rPr lang="en-US" sz="1400" dirty="0"/>
              <a:t>50931,  # Glucose for Diabetes</a:t>
            </a:r>
          </a:p>
          <a:p>
            <a:pPr marL="0" indent="0">
              <a:buNone/>
            </a:pPr>
            <a:r>
              <a:rPr lang="en-US" sz="1400" dirty="0"/>
              <a:t>50983,  # Sodium for Electrolyte Balance</a:t>
            </a:r>
          </a:p>
          <a:p>
            <a:pPr marL="0" indent="0">
              <a:buNone/>
            </a:pPr>
            <a:r>
              <a:rPr lang="en-US" sz="1400" dirty="0"/>
              <a:t>50971,  # Potassium for Cardiac stability</a:t>
            </a:r>
          </a:p>
          <a:p>
            <a:pPr marL="0" indent="0">
              <a:buNone/>
            </a:pPr>
            <a:r>
              <a:rPr lang="en-US" sz="1400" dirty="0"/>
              <a:t>50882  # Bicarbonate for Acid-Base Balance</a:t>
            </a:r>
          </a:p>
          <a:p>
            <a:pPr marL="0" indent="0">
              <a:buNone/>
            </a:pPr>
            <a:r>
              <a:rPr lang="en-US" sz="1400" dirty="0"/>
              <a:t>]</a:t>
            </a:r>
          </a:p>
          <a:p>
            <a:pPr marL="0" indent="0">
              <a:buNone/>
            </a:pPr>
            <a:endParaRPr lang="en-US" sz="1400" dirty="0"/>
          </a:p>
          <a:p>
            <a:pPr marL="0" indent="0">
              <a:buNone/>
            </a:pPr>
            <a:r>
              <a:rPr lang="en-US" sz="1400" dirty="0"/>
              <a:t>labs = labs[labs["ITEMID"].</a:t>
            </a:r>
            <a:r>
              <a:rPr lang="en-US" sz="1400" dirty="0" err="1"/>
              <a:t>isin</a:t>
            </a:r>
            <a:r>
              <a:rPr lang="en-US" sz="1400" dirty="0"/>
              <a:t>(</a:t>
            </a:r>
            <a:r>
              <a:rPr lang="en-US" sz="1400" dirty="0" err="1"/>
              <a:t>lab_ids</a:t>
            </a:r>
            <a:r>
              <a:rPr lang="en-US" sz="1400" dirty="0"/>
              <a:t>)]</a:t>
            </a:r>
          </a:p>
          <a:p>
            <a:pPr marL="0" indent="0">
              <a:buNone/>
            </a:pPr>
            <a:r>
              <a:rPr lang="en-US" sz="1400" dirty="0" err="1"/>
              <a:t>lab_features</a:t>
            </a:r>
            <a:r>
              <a:rPr lang="en-US" sz="1400" dirty="0"/>
              <a:t> = </a:t>
            </a:r>
            <a:r>
              <a:rPr lang="en-US" sz="1400" dirty="0" err="1"/>
              <a:t>labs.groupby</a:t>
            </a:r>
            <a:r>
              <a:rPr lang="en-US" sz="1400" dirty="0"/>
              <a:t>(["SUBJECT_ID","HADM_ID","ITEMID"])["VALUENUM"].mean().unstack()</a:t>
            </a:r>
          </a:p>
          <a:p>
            <a:pPr marL="0" indent="0">
              <a:buNone/>
            </a:pPr>
            <a:r>
              <a:rPr lang="en-US" sz="1400" dirty="0" err="1"/>
              <a:t>lab_features.reset_index</a:t>
            </a:r>
            <a:r>
              <a:rPr lang="en-US" sz="1400" dirty="0"/>
              <a:t>(</a:t>
            </a:r>
            <a:r>
              <a:rPr lang="en-US" sz="1400" dirty="0" err="1"/>
              <a:t>inplace</a:t>
            </a:r>
            <a:r>
              <a:rPr lang="en-US" sz="1400" dirty="0"/>
              <a:t>=True)</a:t>
            </a:r>
          </a:p>
        </p:txBody>
      </p:sp>
    </p:spTree>
    <p:extLst>
      <p:ext uri="{BB962C8B-B14F-4D97-AF65-F5344CB8AC3E}">
        <p14:creationId xmlns:p14="http://schemas.microsoft.com/office/powerpoint/2010/main" val="39717889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BBBB4A-E0AC-1DD8-81AD-76FA6C3D4242}"/>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60CE50-C46D-EFEA-0F90-015A55B59C83}"/>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Feature Engineering  </a:t>
            </a:r>
          </a:p>
        </p:txBody>
      </p:sp>
      <p:graphicFrame>
        <p:nvGraphicFramePr>
          <p:cNvPr id="39" name="Content Placeholder 2">
            <a:extLst>
              <a:ext uri="{FF2B5EF4-FFF2-40B4-BE49-F238E27FC236}">
                <a16:creationId xmlns:a16="http://schemas.microsoft.com/office/drawing/2014/main" id="{233DD113-0839-69BF-6F24-6ED13FDAF27A}"/>
              </a:ext>
            </a:extLst>
          </p:cNvPr>
          <p:cNvGraphicFramePr>
            <a:graphicFrameLocks noGrp="1"/>
          </p:cNvGraphicFramePr>
          <p:nvPr>
            <p:ph idx="1"/>
            <p:extLst>
              <p:ext uri="{D42A27DB-BD31-4B8C-83A1-F6EECF244321}">
                <p14:modId xmlns:p14="http://schemas.microsoft.com/office/powerpoint/2010/main" val="1784079436"/>
              </p:ext>
              <p:ext uri="{E7BDC344-281C-4309-B0C6-D0EE65EED2A8}">
                <p202:designPr xmlns:p202="http://schemas.microsoft.com/office/powerpoint/2020/02/main">
                  <p202:designTagLst>
                    <p202:designTag name="ARCH:1:VSVAR" val="TitledTextBox"/>
                    <p202:designTag name="ARCH:1:CLS" val="InformationBlock"/>
                  </p202:designTagLst>
                </p202:designPr>
              </p:ext>
            </p:extLst>
          </p:nvPr>
        </p:nvGraphicFramePr>
        <p:xfrm>
          <a:off x="709449" y="3754774"/>
          <a:ext cx="10893972" cy="26933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extBox 4">
            <a:extLst>
              <a:ext uri="{FF2B5EF4-FFF2-40B4-BE49-F238E27FC236}">
                <a16:creationId xmlns:a16="http://schemas.microsoft.com/office/drawing/2014/main" id="{0E363CD7-C695-051C-2B17-4C3380B92E5C}"/>
              </a:ext>
            </a:extLst>
          </p:cNvPr>
          <p:cNvSpPr txBox="1"/>
          <p:nvPr/>
        </p:nvSpPr>
        <p:spPr>
          <a:xfrm>
            <a:off x="459350" y="2075938"/>
            <a:ext cx="11144071" cy="1200329"/>
          </a:xfrm>
          <a:prstGeom prst="rect">
            <a:avLst/>
          </a:prstGeom>
          <a:noFill/>
        </p:spPr>
        <p:txBody>
          <a:bodyPr wrap="square" rtlCol="0">
            <a:spAutoFit/>
          </a:bodyPr>
          <a:lstStyle/>
          <a:p>
            <a:r>
              <a:rPr lang="en-US" sz="2400" dirty="0"/>
              <a:t>Using these data, build a dataset which will provide the features based on which we can predict the hospital mortality risk using various machine learning, deep learning models.</a:t>
            </a:r>
          </a:p>
        </p:txBody>
      </p:sp>
    </p:spTree>
    <p:extLst>
      <p:ext uri="{BB962C8B-B14F-4D97-AF65-F5344CB8AC3E}">
        <p14:creationId xmlns:p14="http://schemas.microsoft.com/office/powerpoint/2010/main" val="3666043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3F8F25-8CF8-B5DA-0BB6-38299CBB2E87}"/>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09095AA-A168-9DAA-3F5A-E60ADEAA8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99608E4-7AC7-200D-A790-6437582E9C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F7DCDBF-AF6B-56C3-1E14-9E26328B4A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E49D968-7E5A-3EFC-34B6-AFFEC558B6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143A487-A7C8-6D1C-92D9-136A797E1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8972813-4399-61A6-B71C-55435E662C3F}"/>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Visualization of the Dataset used  </a:t>
            </a:r>
          </a:p>
        </p:txBody>
      </p:sp>
      <p:sp>
        <p:nvSpPr>
          <p:cNvPr id="5" name="TextBox 4">
            <a:extLst>
              <a:ext uri="{FF2B5EF4-FFF2-40B4-BE49-F238E27FC236}">
                <a16:creationId xmlns:a16="http://schemas.microsoft.com/office/drawing/2014/main" id="{E32F45C6-7B08-972A-EC14-C2085C995B66}"/>
              </a:ext>
            </a:extLst>
          </p:cNvPr>
          <p:cNvSpPr txBox="1"/>
          <p:nvPr/>
        </p:nvSpPr>
        <p:spPr>
          <a:xfrm>
            <a:off x="804041" y="2002328"/>
            <a:ext cx="4225159" cy="2308324"/>
          </a:xfrm>
          <a:prstGeom prst="rect">
            <a:avLst/>
          </a:prstGeom>
          <a:noFill/>
        </p:spPr>
        <p:txBody>
          <a:bodyPr wrap="square" rtlCol="0">
            <a:spAutoFit/>
          </a:bodyPr>
          <a:lstStyle/>
          <a:p>
            <a:r>
              <a:rPr lang="en-US" sz="2400" dirty="0"/>
              <a:t>Mortality Distribution - </a:t>
            </a:r>
          </a:p>
          <a:p>
            <a:endParaRPr lang="en-US" sz="2400" dirty="0"/>
          </a:p>
          <a:p>
            <a:r>
              <a:rPr lang="en-US" sz="2400" dirty="0"/>
              <a:t>Most patients survive. The dataset is imbalanced, meaning death occurs less frequently. </a:t>
            </a:r>
          </a:p>
        </p:txBody>
      </p:sp>
      <p:pic>
        <p:nvPicPr>
          <p:cNvPr id="7" name="Content Placeholder 6" descr="A graph of a number of patients&#10;&#10;AI-generated content may be incorrect.">
            <a:extLst>
              <a:ext uri="{FF2B5EF4-FFF2-40B4-BE49-F238E27FC236}">
                <a16:creationId xmlns:a16="http://schemas.microsoft.com/office/drawing/2014/main" id="{320233F9-B942-AB4C-5608-71A21E1B8D0A}"/>
              </a:ext>
            </a:extLst>
          </p:cNvPr>
          <p:cNvPicPr>
            <a:picLocks noGrp="1" noChangeAspect="1"/>
          </p:cNvPicPr>
          <p:nvPr>
            <p:ph idx="1"/>
          </p:nvPr>
        </p:nvPicPr>
        <p:blipFill>
          <a:blip r:embed="rId3"/>
          <a:stretch>
            <a:fillRect/>
          </a:stretch>
        </p:blipFill>
        <p:spPr>
          <a:xfrm>
            <a:off x="5812018" y="2175641"/>
            <a:ext cx="5962811" cy="4182868"/>
          </a:xfrm>
          <a:prstGeom prst="rect">
            <a:avLst/>
          </a:prstGeom>
        </p:spPr>
      </p:pic>
    </p:spTree>
    <p:extLst>
      <p:ext uri="{BB962C8B-B14F-4D97-AF65-F5344CB8AC3E}">
        <p14:creationId xmlns:p14="http://schemas.microsoft.com/office/powerpoint/2010/main" val="42064632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74BA77-11C9-22A5-7CBB-515F927FED9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6BBA9CB2-B29B-027C-D448-5A61A7F68F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041F351-317A-6B02-9563-2B318E8120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48E4D1-2B0B-DDFF-C035-2AAC83D2F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7C7E421-C42E-B884-42BA-4FB16366AC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0A5D67D-C52E-F5A7-C8B0-8ADFDBF590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DC919D-D63C-B8CF-EFBA-58064D1B00AB}"/>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Training / Testing Data Split  </a:t>
            </a:r>
          </a:p>
        </p:txBody>
      </p:sp>
      <p:sp>
        <p:nvSpPr>
          <p:cNvPr id="5" name="TextBox 4">
            <a:extLst>
              <a:ext uri="{FF2B5EF4-FFF2-40B4-BE49-F238E27FC236}">
                <a16:creationId xmlns:a16="http://schemas.microsoft.com/office/drawing/2014/main" id="{FF85CA06-A2E0-FCB5-19C2-DAF686989EE5}"/>
              </a:ext>
            </a:extLst>
          </p:cNvPr>
          <p:cNvSpPr txBox="1"/>
          <p:nvPr/>
        </p:nvSpPr>
        <p:spPr>
          <a:xfrm>
            <a:off x="459349" y="2002328"/>
            <a:ext cx="4286071" cy="4585871"/>
          </a:xfrm>
          <a:prstGeom prst="rect">
            <a:avLst/>
          </a:prstGeom>
          <a:noFill/>
        </p:spPr>
        <p:txBody>
          <a:bodyPr wrap="square" rtlCol="0">
            <a:spAutoFit/>
          </a:bodyPr>
          <a:lstStyle/>
          <a:p>
            <a:r>
              <a:rPr lang="en-US" sz="2400" b="1" dirty="0"/>
              <a:t>Preparing Data - </a:t>
            </a:r>
          </a:p>
          <a:p>
            <a:endParaRPr lang="en-US" sz="2400" dirty="0"/>
          </a:p>
          <a:p>
            <a:r>
              <a:rPr lang="en-US" sz="2000" dirty="0"/>
              <a:t>X = features</a:t>
            </a:r>
            <a:br>
              <a:rPr lang="en-US" sz="2000" dirty="0"/>
            </a:br>
            <a:r>
              <a:rPr lang="en-US" sz="2000" dirty="0"/>
              <a:t>y = mortality outcome</a:t>
            </a:r>
          </a:p>
          <a:p>
            <a:endParaRPr lang="en-US" sz="2000" dirty="0"/>
          </a:p>
          <a:p>
            <a:r>
              <a:rPr lang="en-US" sz="2000" dirty="0"/>
              <a:t>We split:</a:t>
            </a:r>
          </a:p>
          <a:p>
            <a:r>
              <a:rPr lang="en-US" sz="2000" dirty="0"/>
              <a:t>80% training data</a:t>
            </a:r>
          </a:p>
          <a:p>
            <a:r>
              <a:rPr lang="en-US" sz="2000" dirty="0"/>
              <a:t>20% testing data</a:t>
            </a:r>
          </a:p>
          <a:p>
            <a:endParaRPr lang="en-US" sz="2000" dirty="0"/>
          </a:p>
          <a:p>
            <a:r>
              <a:rPr lang="en-US" sz="2000" dirty="0"/>
              <a:t>Because mortality datasets are imbalanced, we used stratification. Stratification ensures the mortality ratio remains consistent.</a:t>
            </a:r>
          </a:p>
          <a:p>
            <a:endParaRPr lang="en-US" sz="2400" dirty="0"/>
          </a:p>
        </p:txBody>
      </p:sp>
      <p:sp>
        <p:nvSpPr>
          <p:cNvPr id="4" name="Content Placeholder 3">
            <a:extLst>
              <a:ext uri="{FF2B5EF4-FFF2-40B4-BE49-F238E27FC236}">
                <a16:creationId xmlns:a16="http://schemas.microsoft.com/office/drawing/2014/main" id="{94537534-F744-6EDA-300D-9DF0F4548D8B}"/>
              </a:ext>
            </a:extLst>
          </p:cNvPr>
          <p:cNvSpPr>
            <a:spLocks noGrp="1"/>
          </p:cNvSpPr>
          <p:nvPr>
            <p:ph idx="1"/>
          </p:nvPr>
        </p:nvSpPr>
        <p:spPr>
          <a:xfrm>
            <a:off x="6095999" y="1885279"/>
            <a:ext cx="5838497" cy="4351338"/>
          </a:xfrm>
        </p:spPr>
        <p:txBody>
          <a:bodyPr>
            <a:normAutofit/>
          </a:bodyPr>
          <a:lstStyle/>
          <a:p>
            <a:pPr marL="0" indent="0">
              <a:buNone/>
            </a:pPr>
            <a:r>
              <a:rPr lang="en-US" sz="2400" b="1" dirty="0"/>
              <a:t>Python Code</a:t>
            </a:r>
          </a:p>
          <a:p>
            <a:pPr marL="0" indent="0">
              <a:buNone/>
            </a:pPr>
            <a:endParaRPr lang="en-US" sz="2400" dirty="0"/>
          </a:p>
          <a:p>
            <a:pPr marL="0" indent="0">
              <a:buNone/>
            </a:pPr>
            <a:r>
              <a:rPr lang="en-US" sz="2000" dirty="0" err="1"/>
              <a:t>X_train</a:t>
            </a:r>
            <a:r>
              <a:rPr lang="en-US" sz="2000" dirty="0"/>
              <a:t>, </a:t>
            </a:r>
            <a:r>
              <a:rPr lang="en-US" sz="2000" dirty="0" err="1"/>
              <a:t>X_test</a:t>
            </a:r>
            <a:r>
              <a:rPr lang="en-US" sz="2000" dirty="0"/>
              <a:t>, </a:t>
            </a:r>
            <a:r>
              <a:rPr lang="en-US" sz="2000" dirty="0" err="1"/>
              <a:t>y_train</a:t>
            </a:r>
            <a:r>
              <a:rPr lang="en-US" sz="2000" dirty="0"/>
              <a:t>, </a:t>
            </a:r>
            <a:r>
              <a:rPr lang="en-US" sz="2000" dirty="0" err="1"/>
              <a:t>y_test</a:t>
            </a:r>
            <a:r>
              <a:rPr lang="en-US" sz="2000" dirty="0"/>
              <a:t> = </a:t>
            </a:r>
            <a:r>
              <a:rPr lang="en-US" sz="2000" dirty="0" err="1"/>
              <a:t>train_test_split</a:t>
            </a:r>
            <a:r>
              <a:rPr lang="en-US" sz="2000" dirty="0"/>
              <a:t>(</a:t>
            </a:r>
          </a:p>
          <a:p>
            <a:pPr marL="0" indent="0">
              <a:buNone/>
            </a:pPr>
            <a:r>
              <a:rPr lang="en-US" sz="2000" dirty="0"/>
              <a:t>    X,</a:t>
            </a:r>
          </a:p>
          <a:p>
            <a:pPr marL="0" indent="0">
              <a:buNone/>
            </a:pPr>
            <a:r>
              <a:rPr lang="en-US" sz="2000" dirty="0"/>
              <a:t>    y,</a:t>
            </a:r>
          </a:p>
          <a:p>
            <a:pPr marL="0" indent="0">
              <a:buNone/>
            </a:pPr>
            <a:r>
              <a:rPr lang="en-US" sz="2000" dirty="0"/>
              <a:t>    </a:t>
            </a:r>
            <a:r>
              <a:rPr lang="en-US" sz="2000" dirty="0" err="1"/>
              <a:t>test_size</a:t>
            </a:r>
            <a:r>
              <a:rPr lang="en-US" sz="2000" dirty="0"/>
              <a:t>=0.2,</a:t>
            </a:r>
          </a:p>
          <a:p>
            <a:pPr marL="0" indent="0">
              <a:buNone/>
            </a:pPr>
            <a:r>
              <a:rPr lang="en-US" sz="2000" dirty="0"/>
              <a:t>    </a:t>
            </a:r>
            <a:r>
              <a:rPr lang="en-US" sz="2000" dirty="0" err="1"/>
              <a:t>random_state</a:t>
            </a:r>
            <a:r>
              <a:rPr lang="en-US" sz="2000" dirty="0"/>
              <a:t>=42,</a:t>
            </a:r>
          </a:p>
          <a:p>
            <a:pPr marL="0" indent="0">
              <a:buNone/>
            </a:pPr>
            <a:r>
              <a:rPr lang="en-US" sz="2000" dirty="0"/>
              <a:t>    stratify=y</a:t>
            </a:r>
          </a:p>
          <a:p>
            <a:pPr marL="0" indent="0">
              <a:buNone/>
            </a:pPr>
            <a:r>
              <a:rPr lang="en-US" sz="2000" dirty="0"/>
              <a:t>)</a:t>
            </a:r>
          </a:p>
        </p:txBody>
      </p:sp>
    </p:spTree>
    <p:extLst>
      <p:ext uri="{BB962C8B-B14F-4D97-AF65-F5344CB8AC3E}">
        <p14:creationId xmlns:p14="http://schemas.microsoft.com/office/powerpoint/2010/main" val="32090769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4B72B0-218D-2161-3C3A-B5FF9AABF13C}"/>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DBDA504-DA37-4E35-121E-6041109A46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EBED175-64A4-4667-BAB9-CEDCE538F4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38724BF-0EDC-27B1-9FBB-997E813903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523D6D1-F434-1A0A-3B21-64247941B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3DDE2BB-551B-A6A1-1E10-F92E51F704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30764F8-B2C1-CA14-A04A-9A06E931B947}"/>
              </a:ext>
            </a:extLst>
          </p:cNvPr>
          <p:cNvSpPr>
            <a:spLocks noGrp="1"/>
          </p:cNvSpPr>
          <p:nvPr>
            <p:ph type="title"/>
          </p:nvPr>
        </p:nvSpPr>
        <p:spPr>
          <a:xfrm>
            <a:off x="1481959" y="294538"/>
            <a:ext cx="9785591" cy="1033669"/>
          </a:xfrm>
        </p:spPr>
        <p:txBody>
          <a:bodyPr>
            <a:normAutofit/>
          </a:bodyPr>
          <a:lstStyle/>
          <a:p>
            <a:r>
              <a:rPr lang="en-US" sz="4000" dirty="0">
                <a:solidFill>
                  <a:srgbClr val="FFFFFF"/>
                </a:solidFill>
              </a:rPr>
              <a:t>Machine Learning - Logistic Regression Model  </a:t>
            </a:r>
          </a:p>
        </p:txBody>
      </p:sp>
      <p:sp>
        <p:nvSpPr>
          <p:cNvPr id="5" name="TextBox 4">
            <a:extLst>
              <a:ext uri="{FF2B5EF4-FFF2-40B4-BE49-F238E27FC236}">
                <a16:creationId xmlns:a16="http://schemas.microsoft.com/office/drawing/2014/main" id="{792E6942-9EF9-7F91-58C3-523518611C0E}"/>
              </a:ext>
            </a:extLst>
          </p:cNvPr>
          <p:cNvSpPr txBox="1"/>
          <p:nvPr/>
        </p:nvSpPr>
        <p:spPr>
          <a:xfrm>
            <a:off x="459349" y="2002328"/>
            <a:ext cx="5174197" cy="4493538"/>
          </a:xfrm>
          <a:prstGeom prst="rect">
            <a:avLst/>
          </a:prstGeom>
          <a:noFill/>
        </p:spPr>
        <p:txBody>
          <a:bodyPr wrap="square" rtlCol="0">
            <a:spAutoFit/>
          </a:bodyPr>
          <a:lstStyle/>
          <a:p>
            <a:r>
              <a:rPr lang="en-US" sz="2200" b="1" dirty="0"/>
              <a:t>Logistic regression</a:t>
            </a:r>
            <a:r>
              <a:rPr lang="en-US" sz="2200" dirty="0"/>
              <a:t> is a statistical and machine learning method used for classification problems, especially when the outcome has </a:t>
            </a:r>
            <a:r>
              <a:rPr lang="en-US" sz="2200" b="1" dirty="0"/>
              <a:t>two possible categories</a:t>
            </a:r>
            <a:r>
              <a:rPr lang="en-US" sz="2200" dirty="0"/>
              <a:t> (e.g., death vs. no death in hospital).</a:t>
            </a:r>
          </a:p>
          <a:p>
            <a:endParaRPr lang="en-US" sz="2200" b="1" dirty="0"/>
          </a:p>
          <a:p>
            <a:endParaRPr lang="en-US" sz="2200" b="1" dirty="0"/>
          </a:p>
          <a:p>
            <a:r>
              <a:rPr lang="en-US" sz="2200" b="1" dirty="0"/>
              <a:t>Why Logistic Regression? </a:t>
            </a:r>
          </a:p>
          <a:p>
            <a:endParaRPr lang="en-US" sz="2200" dirty="0"/>
          </a:p>
          <a:p>
            <a:r>
              <a:rPr lang="en-US" sz="2200" dirty="0"/>
              <a:t>Simple baseline model</a:t>
            </a:r>
          </a:p>
          <a:p>
            <a:r>
              <a:rPr lang="en-US" sz="2200" dirty="0"/>
              <a:t>Interpretable coefficients </a:t>
            </a:r>
          </a:p>
          <a:p>
            <a:r>
              <a:rPr lang="en-US" sz="2200" dirty="0"/>
              <a:t>Widely used in healthcare</a:t>
            </a:r>
          </a:p>
        </p:txBody>
      </p:sp>
      <p:sp>
        <p:nvSpPr>
          <p:cNvPr id="4" name="Content Placeholder 3">
            <a:extLst>
              <a:ext uri="{FF2B5EF4-FFF2-40B4-BE49-F238E27FC236}">
                <a16:creationId xmlns:a16="http://schemas.microsoft.com/office/drawing/2014/main" id="{5CF96082-9019-FA0C-9727-7823CEA6A293}"/>
              </a:ext>
            </a:extLst>
          </p:cNvPr>
          <p:cNvSpPr>
            <a:spLocks noGrp="1"/>
          </p:cNvSpPr>
          <p:nvPr>
            <p:ph idx="1"/>
          </p:nvPr>
        </p:nvSpPr>
        <p:spPr>
          <a:xfrm>
            <a:off x="6558455" y="1885279"/>
            <a:ext cx="5376041" cy="4351338"/>
          </a:xfrm>
        </p:spPr>
        <p:txBody>
          <a:bodyPr>
            <a:normAutofit fontScale="55000" lnSpcReduction="20000"/>
          </a:bodyPr>
          <a:lstStyle/>
          <a:p>
            <a:pPr marL="0" indent="0">
              <a:buNone/>
            </a:pPr>
            <a:r>
              <a:rPr lang="en-US" sz="3300" b="1" dirty="0"/>
              <a:t>Python Code</a:t>
            </a:r>
          </a:p>
          <a:p>
            <a:pPr marL="0" indent="0">
              <a:buNone/>
            </a:pPr>
            <a:endParaRPr lang="en-US" sz="3300" dirty="0"/>
          </a:p>
          <a:p>
            <a:pPr marL="0" indent="0">
              <a:buNone/>
            </a:pPr>
            <a:r>
              <a:rPr lang="en-US" sz="3300" dirty="0"/>
              <a:t>scaler = </a:t>
            </a:r>
            <a:r>
              <a:rPr lang="en-US" sz="3300" dirty="0" err="1"/>
              <a:t>StandardScaler</a:t>
            </a:r>
            <a:r>
              <a:rPr lang="en-US" sz="3300" dirty="0"/>
              <a:t>()</a:t>
            </a:r>
          </a:p>
          <a:p>
            <a:pPr marL="0" indent="0">
              <a:buNone/>
            </a:pPr>
            <a:br>
              <a:rPr lang="en-US" sz="3300" dirty="0"/>
            </a:br>
            <a:endParaRPr lang="en-US" sz="3300" dirty="0"/>
          </a:p>
          <a:p>
            <a:pPr marL="0" indent="0">
              <a:buNone/>
            </a:pPr>
            <a:r>
              <a:rPr lang="en-US" sz="3300" dirty="0" err="1"/>
              <a:t>X_train_scaled</a:t>
            </a:r>
            <a:r>
              <a:rPr lang="en-US" sz="3300" dirty="0"/>
              <a:t> = </a:t>
            </a:r>
            <a:r>
              <a:rPr lang="en-US" sz="3300" dirty="0" err="1"/>
              <a:t>scaler.fit_transform</a:t>
            </a:r>
            <a:r>
              <a:rPr lang="en-US" sz="3300" dirty="0"/>
              <a:t>(</a:t>
            </a:r>
            <a:r>
              <a:rPr lang="en-US" sz="3300" dirty="0" err="1"/>
              <a:t>X_train</a:t>
            </a:r>
            <a:r>
              <a:rPr lang="en-US" sz="3300" dirty="0"/>
              <a:t>)</a:t>
            </a:r>
          </a:p>
          <a:p>
            <a:pPr marL="0" indent="0">
              <a:buNone/>
            </a:pPr>
            <a:r>
              <a:rPr lang="en-US" sz="3300" dirty="0" err="1"/>
              <a:t>X_test_scaled</a:t>
            </a:r>
            <a:r>
              <a:rPr lang="en-US" sz="3300" dirty="0"/>
              <a:t> = </a:t>
            </a:r>
            <a:r>
              <a:rPr lang="en-US" sz="3300" dirty="0" err="1"/>
              <a:t>scaler.transform</a:t>
            </a:r>
            <a:r>
              <a:rPr lang="en-US" sz="3300" dirty="0"/>
              <a:t>(</a:t>
            </a:r>
            <a:r>
              <a:rPr lang="en-US" sz="3300" dirty="0" err="1"/>
              <a:t>X_test</a:t>
            </a:r>
            <a:r>
              <a:rPr lang="en-US" sz="3300" dirty="0"/>
              <a:t>)</a:t>
            </a:r>
          </a:p>
          <a:p>
            <a:pPr marL="0" indent="0">
              <a:buNone/>
            </a:pPr>
            <a:br>
              <a:rPr lang="en-US" sz="3300" dirty="0"/>
            </a:br>
            <a:endParaRPr lang="en-US" sz="3300" dirty="0"/>
          </a:p>
          <a:p>
            <a:pPr marL="0" indent="0">
              <a:buNone/>
            </a:pPr>
            <a:r>
              <a:rPr lang="en-US" sz="3300" dirty="0" err="1"/>
              <a:t>lr</a:t>
            </a:r>
            <a:r>
              <a:rPr lang="en-US" sz="3300" dirty="0"/>
              <a:t> = </a:t>
            </a:r>
            <a:r>
              <a:rPr lang="en-US" sz="3300" dirty="0" err="1"/>
              <a:t>LogisticRegression</a:t>
            </a:r>
            <a:r>
              <a:rPr lang="en-US" sz="3300" dirty="0"/>
              <a:t>(</a:t>
            </a:r>
            <a:r>
              <a:rPr lang="en-US" sz="3300" dirty="0" err="1"/>
              <a:t>max_iter</a:t>
            </a:r>
            <a:r>
              <a:rPr lang="en-US" sz="3300" dirty="0"/>
              <a:t>=2000)</a:t>
            </a:r>
            <a:br>
              <a:rPr lang="en-US" sz="3300" dirty="0"/>
            </a:br>
            <a:endParaRPr lang="en-US" sz="3300" dirty="0"/>
          </a:p>
          <a:p>
            <a:pPr marL="0" indent="0">
              <a:buNone/>
            </a:pPr>
            <a:r>
              <a:rPr lang="en-US" sz="3300" dirty="0" err="1"/>
              <a:t>lr.fit</a:t>
            </a:r>
            <a:r>
              <a:rPr lang="en-US" sz="3300" dirty="0"/>
              <a:t>(</a:t>
            </a:r>
            <a:r>
              <a:rPr lang="en-US" sz="3300" dirty="0" err="1"/>
              <a:t>X_train_scaled</a:t>
            </a:r>
            <a:r>
              <a:rPr lang="en-US" sz="3300" dirty="0"/>
              <a:t>, </a:t>
            </a:r>
            <a:r>
              <a:rPr lang="en-US" sz="3300" dirty="0" err="1"/>
              <a:t>y_train</a:t>
            </a:r>
            <a:r>
              <a:rPr lang="en-US" sz="3300" dirty="0"/>
              <a:t>)</a:t>
            </a:r>
          </a:p>
          <a:p>
            <a:pPr marL="0" indent="0">
              <a:buNone/>
            </a:pPr>
            <a:br>
              <a:rPr lang="en-US" sz="3300" dirty="0"/>
            </a:br>
            <a:endParaRPr lang="en-US" sz="3300" dirty="0"/>
          </a:p>
          <a:p>
            <a:pPr marL="0" indent="0">
              <a:buNone/>
            </a:pPr>
            <a:r>
              <a:rPr lang="en-US" sz="3300" dirty="0" err="1"/>
              <a:t>lr_prob</a:t>
            </a:r>
            <a:r>
              <a:rPr lang="en-US" sz="3300" dirty="0"/>
              <a:t> = </a:t>
            </a:r>
            <a:r>
              <a:rPr lang="en-US" sz="3300" dirty="0" err="1"/>
              <a:t>lr.predict_proba</a:t>
            </a:r>
            <a:r>
              <a:rPr lang="en-US" sz="3300" dirty="0"/>
              <a:t>(</a:t>
            </a:r>
            <a:r>
              <a:rPr lang="en-US" sz="3300" dirty="0" err="1"/>
              <a:t>X_test_scaled</a:t>
            </a:r>
            <a:r>
              <a:rPr lang="en-US" sz="3300" dirty="0"/>
              <a:t>)[:,1]</a:t>
            </a:r>
          </a:p>
          <a:p>
            <a:pPr marL="0" indent="0">
              <a:buNone/>
            </a:pPr>
            <a:endParaRPr lang="en-US" sz="2000" dirty="0"/>
          </a:p>
        </p:txBody>
      </p:sp>
    </p:spTree>
    <p:extLst>
      <p:ext uri="{BB962C8B-B14F-4D97-AF65-F5344CB8AC3E}">
        <p14:creationId xmlns:p14="http://schemas.microsoft.com/office/powerpoint/2010/main" val="41992069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2DE283B-3004-8118-839B-4EFF6FD3B0FD}"/>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E0A4C8E9-F29A-7DBB-F9D1-CE4C6F5A75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FB5D7257-EE11-E867-6E9B-52C2FAB2BD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7691FA5-D017-C8A7-467D-0C943AC139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DE33A4F-0EAC-F67C-1379-AB76D9FD68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592AF5F-1509-0907-3BDF-D9621925E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7ACB59-0CC5-0D1E-FE52-925A14C7ED05}"/>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Machine Learning - Random Forest Model  </a:t>
            </a:r>
          </a:p>
        </p:txBody>
      </p:sp>
      <p:sp>
        <p:nvSpPr>
          <p:cNvPr id="5" name="TextBox 4">
            <a:extLst>
              <a:ext uri="{FF2B5EF4-FFF2-40B4-BE49-F238E27FC236}">
                <a16:creationId xmlns:a16="http://schemas.microsoft.com/office/drawing/2014/main" id="{10354E6E-85C7-9F89-8F6D-4D786CE05660}"/>
              </a:ext>
            </a:extLst>
          </p:cNvPr>
          <p:cNvSpPr txBox="1"/>
          <p:nvPr/>
        </p:nvSpPr>
        <p:spPr>
          <a:xfrm>
            <a:off x="459349" y="2002328"/>
            <a:ext cx="5376041" cy="4401205"/>
          </a:xfrm>
          <a:prstGeom prst="rect">
            <a:avLst/>
          </a:prstGeom>
          <a:noFill/>
        </p:spPr>
        <p:txBody>
          <a:bodyPr wrap="square" rtlCol="0">
            <a:spAutoFit/>
          </a:bodyPr>
          <a:lstStyle/>
          <a:p>
            <a:r>
              <a:rPr lang="en-US" sz="2000" b="1" dirty="0"/>
              <a:t>Random Forest</a:t>
            </a:r>
            <a:r>
              <a:rPr lang="en-US" sz="2000" dirty="0"/>
              <a:t> is a supervised machine learning algorithm used for </a:t>
            </a:r>
            <a:r>
              <a:rPr lang="en-US" sz="2000" b="1" dirty="0"/>
              <a:t>classification and regression</a:t>
            </a:r>
            <a:r>
              <a:rPr lang="en-US" sz="2000" dirty="0"/>
              <a:t> tasks. It works by building </a:t>
            </a:r>
            <a:r>
              <a:rPr lang="en-US" sz="2000" b="1" dirty="0"/>
              <a:t>many decision trees</a:t>
            </a:r>
            <a:r>
              <a:rPr lang="en-US" sz="2000" dirty="0"/>
              <a:t> during training and combining their predictions to produce a more accurate and stable result.</a:t>
            </a:r>
          </a:p>
          <a:p>
            <a:endParaRPr lang="en-US" sz="2000" dirty="0"/>
          </a:p>
          <a:p>
            <a:endParaRPr lang="en-US" sz="2000" b="1" dirty="0"/>
          </a:p>
          <a:p>
            <a:r>
              <a:rPr lang="en-US" sz="2000" b="1" dirty="0"/>
              <a:t>Why Random Forest model? </a:t>
            </a:r>
          </a:p>
          <a:p>
            <a:endParaRPr lang="en-US" sz="2000" dirty="0"/>
          </a:p>
          <a:p>
            <a:r>
              <a:rPr lang="en-US" sz="2000" dirty="0"/>
              <a:t>Handles nonlinear relationships</a:t>
            </a:r>
          </a:p>
          <a:p>
            <a:r>
              <a:rPr lang="en-US" sz="2000" dirty="0"/>
              <a:t>Handles large datasets and many features well</a:t>
            </a:r>
          </a:p>
          <a:p>
            <a:r>
              <a:rPr lang="en-US" sz="2000" dirty="0"/>
              <a:t>Robust to noise </a:t>
            </a:r>
          </a:p>
          <a:p>
            <a:r>
              <a:rPr lang="en-US" sz="2000" dirty="0"/>
              <a:t>Provides estimates of feature importance</a:t>
            </a:r>
          </a:p>
        </p:txBody>
      </p:sp>
      <p:sp>
        <p:nvSpPr>
          <p:cNvPr id="4" name="Content Placeholder 3">
            <a:extLst>
              <a:ext uri="{FF2B5EF4-FFF2-40B4-BE49-F238E27FC236}">
                <a16:creationId xmlns:a16="http://schemas.microsoft.com/office/drawing/2014/main" id="{893B80CF-1E20-A91A-B7C4-5CCD9FF42DA0}"/>
              </a:ext>
            </a:extLst>
          </p:cNvPr>
          <p:cNvSpPr>
            <a:spLocks noGrp="1"/>
          </p:cNvSpPr>
          <p:nvPr>
            <p:ph idx="1"/>
          </p:nvPr>
        </p:nvSpPr>
        <p:spPr>
          <a:xfrm>
            <a:off x="6558455" y="1885279"/>
            <a:ext cx="5376041" cy="4351338"/>
          </a:xfrm>
        </p:spPr>
        <p:txBody>
          <a:bodyPr>
            <a:normAutofit/>
          </a:bodyPr>
          <a:lstStyle/>
          <a:p>
            <a:pPr marL="0" indent="0">
              <a:buNone/>
            </a:pPr>
            <a:r>
              <a:rPr lang="en-US" sz="3300" b="1" dirty="0"/>
              <a:t>Python Code</a:t>
            </a:r>
          </a:p>
          <a:p>
            <a:pPr marL="0" indent="0">
              <a:buNone/>
            </a:pPr>
            <a:endParaRPr lang="en-US" sz="3300" dirty="0"/>
          </a:p>
          <a:p>
            <a:pPr marL="0" indent="0">
              <a:buNone/>
            </a:pPr>
            <a:r>
              <a:rPr lang="en-US" sz="2000" dirty="0"/>
              <a:t>rf = </a:t>
            </a:r>
            <a:r>
              <a:rPr lang="en-US" sz="2000" dirty="0" err="1"/>
              <a:t>RandomForestClassifier</a:t>
            </a:r>
            <a:r>
              <a:rPr lang="en-US" sz="2000" dirty="0"/>
              <a:t>(</a:t>
            </a:r>
            <a:r>
              <a:rPr lang="en-US" sz="2000" dirty="0" err="1"/>
              <a:t>n_estimators</a:t>
            </a:r>
            <a:r>
              <a:rPr lang="en-US" sz="2000" dirty="0"/>
              <a:t>=100)</a:t>
            </a:r>
          </a:p>
          <a:p>
            <a:pPr marL="0" indent="0">
              <a:buNone/>
            </a:pPr>
            <a:endParaRPr lang="en-US" sz="2000" dirty="0"/>
          </a:p>
          <a:p>
            <a:pPr marL="0" indent="0">
              <a:buNone/>
            </a:pPr>
            <a:r>
              <a:rPr lang="en-US" sz="2000" dirty="0" err="1"/>
              <a:t>rf.fit</a:t>
            </a:r>
            <a:r>
              <a:rPr lang="en-US" sz="2000" dirty="0"/>
              <a:t>(</a:t>
            </a:r>
            <a:r>
              <a:rPr lang="en-US" sz="2000" dirty="0" err="1"/>
              <a:t>X_train</a:t>
            </a:r>
            <a:r>
              <a:rPr lang="en-US" sz="2000" dirty="0"/>
              <a:t>, </a:t>
            </a:r>
            <a:r>
              <a:rPr lang="en-US" sz="2000" dirty="0" err="1"/>
              <a:t>y_train</a:t>
            </a:r>
            <a:r>
              <a:rPr lang="en-US" sz="2000" dirty="0"/>
              <a:t>)</a:t>
            </a:r>
          </a:p>
          <a:p>
            <a:pPr marL="0" indent="0">
              <a:buNone/>
            </a:pPr>
            <a:endParaRPr lang="en-US" sz="2000" dirty="0"/>
          </a:p>
          <a:p>
            <a:pPr marL="0" indent="0">
              <a:buNone/>
            </a:pPr>
            <a:r>
              <a:rPr lang="en-US" sz="2000" dirty="0" err="1"/>
              <a:t>rf_pred_prob</a:t>
            </a:r>
            <a:r>
              <a:rPr lang="en-US" sz="2000" dirty="0"/>
              <a:t> = </a:t>
            </a:r>
            <a:r>
              <a:rPr lang="en-US" sz="2000" dirty="0" err="1"/>
              <a:t>rf.predict_proba</a:t>
            </a:r>
            <a:r>
              <a:rPr lang="en-US" sz="2000" dirty="0"/>
              <a:t>(</a:t>
            </a:r>
            <a:r>
              <a:rPr lang="en-US" sz="2000" dirty="0" err="1"/>
              <a:t>X_test</a:t>
            </a:r>
            <a:r>
              <a:rPr lang="en-US" sz="2000" dirty="0"/>
              <a:t>)[:,1]</a:t>
            </a:r>
          </a:p>
          <a:p>
            <a:pPr marL="0" indent="0">
              <a:buNone/>
            </a:pPr>
            <a:endParaRPr lang="en-US" sz="2000" dirty="0"/>
          </a:p>
        </p:txBody>
      </p:sp>
    </p:spTree>
    <p:extLst>
      <p:ext uri="{BB962C8B-B14F-4D97-AF65-F5344CB8AC3E}">
        <p14:creationId xmlns:p14="http://schemas.microsoft.com/office/powerpoint/2010/main" val="120568776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F0B277B-F871-3083-236B-16EBFD9B658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B254F68-0EF2-CDBA-79E5-5D691D4A27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D5E2F13-F691-59AD-B46B-B23ABBE6AB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34C47D8-2D9D-FD1A-697F-5FA526A280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C7F917A1-82F8-A4EE-6782-D7CD328155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1C44452-5C39-9FD7-738B-8DA35C427C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FD7F1B-2BE6-BD33-A54D-C1C19D48F869}"/>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Natural Language Processing (NLP) Model</a:t>
            </a:r>
          </a:p>
        </p:txBody>
      </p:sp>
      <p:sp>
        <p:nvSpPr>
          <p:cNvPr id="5" name="TextBox 4">
            <a:extLst>
              <a:ext uri="{FF2B5EF4-FFF2-40B4-BE49-F238E27FC236}">
                <a16:creationId xmlns:a16="http://schemas.microsoft.com/office/drawing/2014/main" id="{F09F6A8F-8327-6C03-E214-A7CFCFF30B3D}"/>
              </a:ext>
            </a:extLst>
          </p:cNvPr>
          <p:cNvSpPr txBox="1"/>
          <p:nvPr/>
        </p:nvSpPr>
        <p:spPr>
          <a:xfrm>
            <a:off x="459349" y="2002328"/>
            <a:ext cx="10808201" cy="4493538"/>
          </a:xfrm>
          <a:prstGeom prst="rect">
            <a:avLst/>
          </a:prstGeom>
          <a:noFill/>
        </p:spPr>
        <p:txBody>
          <a:bodyPr wrap="square" rtlCol="0">
            <a:spAutoFit/>
          </a:bodyPr>
          <a:lstStyle/>
          <a:p>
            <a:r>
              <a:rPr lang="en-US" sz="2200" b="1" dirty="0"/>
              <a:t>Natural Language Processing (NLP) </a:t>
            </a:r>
            <a:r>
              <a:rPr lang="en-US" sz="2200" dirty="0"/>
              <a:t>is a field of artificial intelligence that focuses on enabling computers to understand, interpret, and analyze human language in text or speech form. NLP combines techniques from linguistics, machine learning, and statistics to extract meaningful information from unstructured text data.</a:t>
            </a:r>
          </a:p>
          <a:p>
            <a:endParaRPr lang="en-US" sz="2200" dirty="0"/>
          </a:p>
          <a:p>
            <a:r>
              <a:rPr lang="en-US" sz="2200" dirty="0"/>
              <a:t>In the tutorial, textual data was converted into numerical features using </a:t>
            </a:r>
            <a:r>
              <a:rPr lang="en-US" sz="2200" b="1" dirty="0"/>
              <a:t>TF-IDF (Term Frequency–Inverse Document Frequency)</a:t>
            </a:r>
            <a:r>
              <a:rPr lang="en-US" sz="2200" dirty="0"/>
              <a:t>. Machine learning algorithms cannot directly process raw text, so TF-IDF transforms the text into a </a:t>
            </a:r>
            <a:r>
              <a:rPr lang="en-US" sz="2200" b="1" dirty="0"/>
              <a:t>vector representation</a:t>
            </a:r>
            <a:r>
              <a:rPr lang="en-US" sz="2200" dirty="0"/>
              <a:t> that reflects how important each word is within a document relative to the entire dataset.</a:t>
            </a:r>
          </a:p>
          <a:p>
            <a:endParaRPr lang="en-US" sz="2200" dirty="0"/>
          </a:p>
          <a:p>
            <a:r>
              <a:rPr lang="en-US" sz="2200" dirty="0"/>
              <a:t>For this tutorial, we have used clinical notes from Nursing, Physician and Radiology categories as text corpus which is transformed into numerical vectors using a </a:t>
            </a:r>
            <a:r>
              <a:rPr lang="en-US" sz="2200" dirty="0" err="1"/>
              <a:t>TfidfVectorizer</a:t>
            </a:r>
            <a:r>
              <a:rPr lang="en-US" sz="2200" dirty="0"/>
              <a:t> package. </a:t>
            </a:r>
          </a:p>
        </p:txBody>
      </p:sp>
    </p:spTree>
    <p:extLst>
      <p:ext uri="{BB962C8B-B14F-4D97-AF65-F5344CB8AC3E}">
        <p14:creationId xmlns:p14="http://schemas.microsoft.com/office/powerpoint/2010/main" val="1020658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69921E-1CE1-B57D-2401-B3735C7B33C0}"/>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FE39FE7-D9CB-43B0-C167-773ED901D1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096C23E-4184-529B-3D17-574433E2A3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4C63BA6-437E-A0BB-7D75-1D758552CF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B05DBBD-E344-634C-C433-1E0531434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F3A25B6-8B28-4FD0-21EA-3A147441251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B4B2909-EEE4-B77B-AB49-247C789F2A0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NLP Model - Stop Words in </a:t>
            </a:r>
            <a:r>
              <a:rPr lang="en-US" sz="4000" dirty="0" err="1">
                <a:solidFill>
                  <a:srgbClr val="FFFFFF"/>
                </a:solidFill>
              </a:rPr>
              <a:t>TfidfVectorizer</a:t>
            </a:r>
            <a:endParaRPr lang="en-US" sz="4000" dirty="0">
              <a:solidFill>
                <a:srgbClr val="FFFFFF"/>
              </a:solidFill>
            </a:endParaRPr>
          </a:p>
        </p:txBody>
      </p:sp>
      <p:sp>
        <p:nvSpPr>
          <p:cNvPr id="5" name="TextBox 4">
            <a:extLst>
              <a:ext uri="{FF2B5EF4-FFF2-40B4-BE49-F238E27FC236}">
                <a16:creationId xmlns:a16="http://schemas.microsoft.com/office/drawing/2014/main" id="{7EF6F2F4-77C7-3CC9-F7C7-C116D857535A}"/>
              </a:ext>
            </a:extLst>
          </p:cNvPr>
          <p:cNvSpPr txBox="1"/>
          <p:nvPr/>
        </p:nvSpPr>
        <p:spPr>
          <a:xfrm>
            <a:off x="459349" y="2002328"/>
            <a:ext cx="5925685" cy="4154984"/>
          </a:xfrm>
          <a:prstGeom prst="rect">
            <a:avLst/>
          </a:prstGeom>
          <a:noFill/>
        </p:spPr>
        <p:txBody>
          <a:bodyPr wrap="square" rtlCol="0">
            <a:spAutoFit/>
          </a:bodyPr>
          <a:lstStyle/>
          <a:p>
            <a:r>
              <a:rPr lang="en-US" sz="2200" b="1" dirty="0"/>
              <a:t>Stop words </a:t>
            </a:r>
            <a:r>
              <a:rPr lang="en-US" sz="2200" dirty="0"/>
              <a:t>are high-frequency, low-semantic value words (e.g., "the," "is," "and") removed during NLP pre-processing to reduce noise and enhance computational efficiency. The, typically, do not contribute meaningful information for classification tasks.</a:t>
            </a:r>
          </a:p>
          <a:p>
            <a:endParaRPr lang="en-US" sz="2200" b="1" dirty="0"/>
          </a:p>
          <a:p>
            <a:r>
              <a:rPr lang="en-US" sz="2200" dirty="0"/>
              <a:t>For this tutorial, we have customized the stop word list with commonly used clinical terms (such as capsule, doses etc.) and terms that directly indicate the expiry of the patients (such as expired, death etc.)</a:t>
            </a:r>
          </a:p>
        </p:txBody>
      </p:sp>
      <p:sp>
        <p:nvSpPr>
          <p:cNvPr id="4" name="Content Placeholder 3">
            <a:extLst>
              <a:ext uri="{FF2B5EF4-FFF2-40B4-BE49-F238E27FC236}">
                <a16:creationId xmlns:a16="http://schemas.microsoft.com/office/drawing/2014/main" id="{7D79B103-9F7A-F834-B4FE-DC5A25F20843}"/>
              </a:ext>
            </a:extLst>
          </p:cNvPr>
          <p:cNvSpPr>
            <a:spLocks noGrp="1"/>
          </p:cNvSpPr>
          <p:nvPr>
            <p:ph idx="1"/>
          </p:nvPr>
        </p:nvSpPr>
        <p:spPr>
          <a:xfrm>
            <a:off x="6858000" y="1885279"/>
            <a:ext cx="5076496" cy="4351338"/>
          </a:xfrm>
        </p:spPr>
        <p:txBody>
          <a:bodyPr>
            <a:normAutofit fontScale="77500" lnSpcReduction="20000"/>
          </a:bodyPr>
          <a:lstStyle/>
          <a:p>
            <a:pPr marL="0" indent="0">
              <a:buNone/>
            </a:pPr>
            <a:r>
              <a:rPr lang="en-US" sz="3300" b="1" dirty="0"/>
              <a:t>Python Code</a:t>
            </a:r>
          </a:p>
          <a:p>
            <a:pPr marL="0" indent="0">
              <a:buNone/>
            </a:pPr>
            <a:endParaRPr lang="en-US" sz="3300" dirty="0"/>
          </a:p>
          <a:p>
            <a:pPr marL="0" indent="0">
              <a:buNone/>
            </a:pPr>
            <a:r>
              <a:rPr lang="en-US" dirty="0"/>
              <a:t>vectorizer = </a:t>
            </a:r>
            <a:r>
              <a:rPr lang="en-US" dirty="0" err="1"/>
              <a:t>TfidfVectorizer</a:t>
            </a:r>
            <a:r>
              <a:rPr lang="en-US" dirty="0"/>
              <a:t>(</a:t>
            </a:r>
          </a:p>
          <a:p>
            <a:pPr marL="0" indent="0">
              <a:buNone/>
            </a:pPr>
            <a:r>
              <a:rPr lang="en-US" dirty="0" err="1"/>
              <a:t>max_features</a:t>
            </a:r>
            <a:r>
              <a:rPr lang="en-US" dirty="0"/>
              <a:t>=5000,</a:t>
            </a:r>
          </a:p>
          <a:p>
            <a:pPr marL="0" indent="0">
              <a:buNone/>
            </a:pPr>
            <a:r>
              <a:rPr lang="en-US" dirty="0" err="1"/>
              <a:t>stop_words</a:t>
            </a:r>
            <a:r>
              <a:rPr lang="en-US" dirty="0"/>
              <a:t>=</a:t>
            </a:r>
            <a:r>
              <a:rPr lang="en-US" dirty="0" err="1"/>
              <a:t>stop_words</a:t>
            </a:r>
            <a:r>
              <a:rPr lang="en-US" dirty="0"/>
              <a:t>,</a:t>
            </a:r>
          </a:p>
          <a:p>
            <a:pPr marL="0" indent="0">
              <a:buNone/>
            </a:pPr>
            <a:r>
              <a:rPr lang="en-US" dirty="0" err="1"/>
              <a:t>ngram_range</a:t>
            </a:r>
            <a:r>
              <a:rPr lang="en-US" dirty="0"/>
              <a:t>=(1,2),</a:t>
            </a:r>
          </a:p>
          <a:p>
            <a:pPr marL="0" indent="0">
              <a:buNone/>
            </a:pPr>
            <a:r>
              <a:rPr lang="en-US" dirty="0" err="1"/>
              <a:t>min_df</a:t>
            </a:r>
            <a:r>
              <a:rPr lang="en-US" dirty="0"/>
              <a:t>=5,</a:t>
            </a:r>
          </a:p>
          <a:p>
            <a:pPr marL="0" indent="0">
              <a:buNone/>
            </a:pPr>
            <a:r>
              <a:rPr lang="en-US" dirty="0" err="1"/>
              <a:t>max_df</a:t>
            </a:r>
            <a:r>
              <a:rPr lang="en-US" dirty="0"/>
              <a:t>=0.9</a:t>
            </a:r>
          </a:p>
          <a:p>
            <a:pPr marL="0" indent="0">
              <a:buNone/>
            </a:pPr>
            <a:r>
              <a:rPr lang="en-US" dirty="0"/>
              <a:t>)</a:t>
            </a:r>
          </a:p>
          <a:p>
            <a:pPr marL="0" indent="0">
              <a:buNone/>
            </a:pPr>
            <a:br>
              <a:rPr lang="en-US" dirty="0"/>
            </a:br>
            <a:endParaRPr lang="en-US" dirty="0"/>
          </a:p>
          <a:p>
            <a:pPr marL="0" indent="0">
              <a:buNone/>
            </a:pPr>
            <a:r>
              <a:rPr lang="en-US" dirty="0" err="1"/>
              <a:t>X_text</a:t>
            </a:r>
            <a:r>
              <a:rPr lang="en-US" dirty="0"/>
              <a:t> = </a:t>
            </a:r>
            <a:r>
              <a:rPr lang="en-US" dirty="0" err="1"/>
              <a:t>vectorizer.fit_transform</a:t>
            </a:r>
            <a:r>
              <a:rPr lang="en-US" dirty="0"/>
              <a:t>(texts)</a:t>
            </a:r>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74377956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1028BF1-483B-6BA2-944E-359B9586B2CD}"/>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A7D674A5-4E59-0061-16AE-A3CA5789BE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A50021FD-061D-1FF7-F5D2-11C8F41212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A9585D8-C280-A808-2EE2-6AE017848F0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D3F8DE1-FB0C-8384-9203-D790EAF2C3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14E233FC-4954-AA60-E529-006A73BAFA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088BC8-65D3-B604-B61A-07BBEC32FE85}"/>
              </a:ext>
            </a:extLst>
          </p:cNvPr>
          <p:cNvSpPr>
            <a:spLocks noGrp="1"/>
          </p:cNvSpPr>
          <p:nvPr>
            <p:ph type="title"/>
          </p:nvPr>
        </p:nvSpPr>
        <p:spPr>
          <a:xfrm>
            <a:off x="1261241" y="294538"/>
            <a:ext cx="10006309" cy="1033669"/>
          </a:xfrm>
        </p:spPr>
        <p:txBody>
          <a:bodyPr>
            <a:normAutofit/>
          </a:bodyPr>
          <a:lstStyle/>
          <a:p>
            <a:r>
              <a:rPr lang="en-US" sz="4000" dirty="0">
                <a:solidFill>
                  <a:srgbClr val="FFFFFF"/>
                </a:solidFill>
              </a:rPr>
              <a:t>NLP Model - Other parameters in </a:t>
            </a:r>
            <a:r>
              <a:rPr lang="en-US" sz="4000" dirty="0" err="1">
                <a:solidFill>
                  <a:srgbClr val="FFFFFF"/>
                </a:solidFill>
              </a:rPr>
              <a:t>TfidfVectorizer</a:t>
            </a:r>
            <a:endParaRPr lang="en-US" sz="4000" dirty="0">
              <a:solidFill>
                <a:srgbClr val="FFFFFF"/>
              </a:solidFill>
            </a:endParaRPr>
          </a:p>
        </p:txBody>
      </p:sp>
      <p:sp>
        <p:nvSpPr>
          <p:cNvPr id="5" name="TextBox 4">
            <a:extLst>
              <a:ext uri="{FF2B5EF4-FFF2-40B4-BE49-F238E27FC236}">
                <a16:creationId xmlns:a16="http://schemas.microsoft.com/office/drawing/2014/main" id="{B06E7948-2B29-1A58-A677-290F8E8F5825}"/>
              </a:ext>
            </a:extLst>
          </p:cNvPr>
          <p:cNvSpPr txBox="1"/>
          <p:nvPr/>
        </p:nvSpPr>
        <p:spPr>
          <a:xfrm>
            <a:off x="459349" y="2002328"/>
            <a:ext cx="11317492" cy="4154984"/>
          </a:xfrm>
          <a:prstGeom prst="rect">
            <a:avLst/>
          </a:prstGeom>
          <a:noFill/>
        </p:spPr>
        <p:txBody>
          <a:bodyPr wrap="square" rtlCol="0">
            <a:spAutoFit/>
          </a:bodyPr>
          <a:lstStyle/>
          <a:p>
            <a:r>
              <a:rPr lang="en-US" sz="2200" b="1" dirty="0" err="1"/>
              <a:t>ngram_range</a:t>
            </a:r>
            <a:r>
              <a:rPr lang="en-US" sz="2200" dirty="0"/>
              <a:t>: Determines whether the model considers single words (unigrams) or combinations of words such as bigrams (e.g., “chest pain”). This helps capture meaningful phrases.</a:t>
            </a:r>
          </a:p>
          <a:p>
            <a:endParaRPr lang="en-US" sz="2200" dirty="0"/>
          </a:p>
          <a:p>
            <a:r>
              <a:rPr lang="en-US" sz="2200" b="1" dirty="0" err="1"/>
              <a:t>max_df</a:t>
            </a:r>
            <a:r>
              <a:rPr lang="en-US" sz="2200" dirty="0"/>
              <a:t>: Removes words that appear in a very large proportion of documents. These words behave similarly to stop words and may not help differentiate documents.</a:t>
            </a:r>
          </a:p>
          <a:p>
            <a:endParaRPr lang="en-US" sz="2200" dirty="0"/>
          </a:p>
          <a:p>
            <a:r>
              <a:rPr lang="en-US" sz="2200" b="1" dirty="0" err="1"/>
              <a:t>min_df</a:t>
            </a:r>
            <a:r>
              <a:rPr lang="en-US" sz="2200" b="1" dirty="0"/>
              <a:t>: </a:t>
            </a:r>
            <a:r>
              <a:rPr lang="en-US" sz="2200" dirty="0"/>
              <a:t>Removes very rare words that appear in only a few documents, which helps reduce noise and dimensionality.</a:t>
            </a:r>
          </a:p>
          <a:p>
            <a:endParaRPr lang="en-US" sz="2200" dirty="0"/>
          </a:p>
          <a:p>
            <a:r>
              <a:rPr lang="en-US" sz="2200" b="1" dirty="0" err="1"/>
              <a:t>max_features</a:t>
            </a:r>
            <a:r>
              <a:rPr lang="en-US" sz="2200" b="1" dirty="0"/>
              <a:t>: </a:t>
            </a:r>
            <a:r>
              <a:rPr lang="en-US" sz="2200" dirty="0"/>
              <a:t>Limits the number of features (vocabulary size), helping control model complexity and computational cost.</a:t>
            </a:r>
          </a:p>
        </p:txBody>
      </p:sp>
    </p:spTree>
    <p:extLst>
      <p:ext uri="{BB962C8B-B14F-4D97-AF65-F5344CB8AC3E}">
        <p14:creationId xmlns:p14="http://schemas.microsoft.com/office/powerpoint/2010/main" val="94020105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834ABFA-69B2-AC67-DF24-18BFA4D749EF}"/>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B07406F-38BD-4C1C-E3EF-7228C663B0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1A575330-6B14-AD81-CEBF-BD409F2F9C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0530662-2F6B-5C3B-CFD2-2C75C8ADCE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2E32EEC-BBE6-882F-4FE8-6403B6F1A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2BE5412-7BBA-019F-9970-F1638CC6E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193047-A326-B746-86E8-9B1079D65C64}"/>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NLP Model - TF-IDF + Logistic Regression</a:t>
            </a:r>
          </a:p>
        </p:txBody>
      </p:sp>
      <p:sp>
        <p:nvSpPr>
          <p:cNvPr id="5" name="TextBox 4">
            <a:extLst>
              <a:ext uri="{FF2B5EF4-FFF2-40B4-BE49-F238E27FC236}">
                <a16:creationId xmlns:a16="http://schemas.microsoft.com/office/drawing/2014/main" id="{6F298C15-8A14-6802-640F-FA7263CDAEF1}"/>
              </a:ext>
            </a:extLst>
          </p:cNvPr>
          <p:cNvSpPr txBox="1"/>
          <p:nvPr/>
        </p:nvSpPr>
        <p:spPr>
          <a:xfrm>
            <a:off x="257505" y="1885279"/>
            <a:ext cx="6032936" cy="4832092"/>
          </a:xfrm>
          <a:prstGeom prst="rect">
            <a:avLst/>
          </a:prstGeom>
          <a:noFill/>
        </p:spPr>
        <p:txBody>
          <a:bodyPr wrap="square" rtlCol="0">
            <a:spAutoFit/>
          </a:bodyPr>
          <a:lstStyle/>
          <a:p>
            <a:r>
              <a:rPr lang="en-US" sz="2200" dirty="0"/>
              <a:t>After vectorization of the corpus, </a:t>
            </a:r>
            <a:r>
              <a:rPr lang="en-US" sz="2200" b="1" dirty="0"/>
              <a:t>Logistic Regression model </a:t>
            </a:r>
            <a:r>
              <a:rPr lang="en-US" sz="2200" dirty="0"/>
              <a:t>is used to train the training dataset for NLP.</a:t>
            </a:r>
          </a:p>
          <a:p>
            <a:endParaRPr lang="en-US" sz="2200" dirty="0"/>
          </a:p>
          <a:p>
            <a:r>
              <a:rPr lang="en-US" sz="2200" b="1" dirty="0"/>
              <a:t>Why Logistic Regression?</a:t>
            </a:r>
          </a:p>
          <a:p>
            <a:endParaRPr lang="en-US" sz="2200" dirty="0"/>
          </a:p>
          <a:p>
            <a:r>
              <a:rPr lang="en-US" sz="2200" dirty="0"/>
              <a:t>Simple, efficient, and highly effective algorithm for text classification tasks.</a:t>
            </a:r>
          </a:p>
          <a:p>
            <a:endParaRPr lang="en-US" sz="2200" dirty="0"/>
          </a:p>
          <a:p>
            <a:r>
              <a:rPr lang="en-US" sz="2200" dirty="0"/>
              <a:t>Works well with high-dimensional sparse data, which is typical in TF-IDF representations.</a:t>
            </a:r>
          </a:p>
          <a:p>
            <a:endParaRPr lang="en-US" sz="2200" dirty="0"/>
          </a:p>
          <a:p>
            <a:r>
              <a:rPr lang="en-US" sz="2200" dirty="0"/>
              <a:t>Fast training and prediction, making it suitable for large text datasets.</a:t>
            </a:r>
          </a:p>
        </p:txBody>
      </p:sp>
      <p:sp>
        <p:nvSpPr>
          <p:cNvPr id="4" name="Content Placeholder 3">
            <a:extLst>
              <a:ext uri="{FF2B5EF4-FFF2-40B4-BE49-F238E27FC236}">
                <a16:creationId xmlns:a16="http://schemas.microsoft.com/office/drawing/2014/main" id="{9D4FD64B-7816-D869-8B8E-4A6C3652325D}"/>
              </a:ext>
            </a:extLst>
          </p:cNvPr>
          <p:cNvSpPr>
            <a:spLocks noGrp="1"/>
          </p:cNvSpPr>
          <p:nvPr>
            <p:ph idx="1"/>
          </p:nvPr>
        </p:nvSpPr>
        <p:spPr>
          <a:xfrm>
            <a:off x="6700345" y="1885279"/>
            <a:ext cx="5234151" cy="4351338"/>
          </a:xfrm>
        </p:spPr>
        <p:txBody>
          <a:bodyPr>
            <a:normAutofit fontScale="92500" lnSpcReduction="10000"/>
          </a:bodyPr>
          <a:lstStyle/>
          <a:p>
            <a:pPr marL="0" indent="0">
              <a:buNone/>
            </a:pPr>
            <a:r>
              <a:rPr lang="en-US" sz="3300" b="1" dirty="0"/>
              <a:t>Python Code</a:t>
            </a:r>
          </a:p>
          <a:p>
            <a:pPr marL="0" indent="0">
              <a:buNone/>
            </a:pPr>
            <a:endParaRPr lang="en-US" sz="3300" dirty="0"/>
          </a:p>
          <a:p>
            <a:pPr marL="0" indent="0">
              <a:buNone/>
            </a:pPr>
            <a:r>
              <a:rPr lang="en-US" sz="2600" dirty="0" err="1"/>
              <a:t>nlp_model</a:t>
            </a:r>
            <a:r>
              <a:rPr lang="en-US" sz="2600" dirty="0"/>
              <a:t> = </a:t>
            </a:r>
            <a:r>
              <a:rPr lang="en-US" sz="2600" dirty="0" err="1"/>
              <a:t>LogisticRegression</a:t>
            </a:r>
            <a:r>
              <a:rPr lang="en-US" sz="2600" dirty="0"/>
              <a:t>(</a:t>
            </a:r>
            <a:r>
              <a:rPr lang="en-US" sz="2600" dirty="0" err="1"/>
              <a:t>max_iter</a:t>
            </a:r>
            <a:r>
              <a:rPr lang="en-US" sz="2600" dirty="0"/>
              <a:t>=2000)</a:t>
            </a:r>
          </a:p>
          <a:p>
            <a:pPr marL="0" indent="0">
              <a:buNone/>
            </a:pPr>
            <a:endParaRPr lang="en-US" sz="2600" dirty="0"/>
          </a:p>
          <a:p>
            <a:pPr marL="0" indent="0">
              <a:buNone/>
            </a:pPr>
            <a:r>
              <a:rPr lang="en-US" sz="2600" dirty="0" err="1"/>
              <a:t>nlp_model.fit</a:t>
            </a:r>
            <a:r>
              <a:rPr lang="en-US" sz="2600" dirty="0"/>
              <a:t>(</a:t>
            </a:r>
            <a:r>
              <a:rPr lang="en-US" sz="2600" dirty="0" err="1"/>
              <a:t>X_train_tfidf</a:t>
            </a:r>
            <a:r>
              <a:rPr lang="en-US" sz="2600" dirty="0"/>
              <a:t>, </a:t>
            </a:r>
            <a:r>
              <a:rPr lang="en-US" sz="2600" dirty="0" err="1"/>
              <a:t>y_train_text</a:t>
            </a:r>
            <a:r>
              <a:rPr lang="en-US" sz="2600" dirty="0"/>
              <a:t>)</a:t>
            </a:r>
          </a:p>
          <a:p>
            <a:pPr marL="0" indent="0">
              <a:buNone/>
            </a:pPr>
            <a:endParaRPr lang="en-US" sz="2600" dirty="0"/>
          </a:p>
          <a:p>
            <a:pPr marL="0" indent="0">
              <a:buNone/>
            </a:pPr>
            <a:r>
              <a:rPr lang="en-US" sz="2600" dirty="0" err="1"/>
              <a:t>nlp_prob</a:t>
            </a:r>
            <a:r>
              <a:rPr lang="en-US" sz="2600" dirty="0"/>
              <a:t> = </a:t>
            </a:r>
            <a:r>
              <a:rPr lang="en-US" sz="2600" dirty="0" err="1"/>
              <a:t>nlp_model.predict_proba</a:t>
            </a:r>
            <a:r>
              <a:rPr lang="en-US" sz="2600" dirty="0"/>
              <a:t>(</a:t>
            </a:r>
            <a:r>
              <a:rPr lang="en-US" sz="2600" dirty="0" err="1"/>
              <a:t>X_test_tfidf</a:t>
            </a:r>
            <a:r>
              <a:rPr lang="en-US" sz="2600" dirty="0"/>
              <a:t>)[:,1]</a:t>
            </a:r>
          </a:p>
          <a:p>
            <a:pPr marL="0" indent="0">
              <a:buNone/>
            </a:pPr>
            <a:endParaRPr lang="en-US" dirty="0"/>
          </a:p>
          <a:p>
            <a:pPr marL="0" indent="0">
              <a:buNone/>
            </a:pPr>
            <a:endParaRPr lang="en-US" sz="2000" dirty="0"/>
          </a:p>
          <a:p>
            <a:pPr marL="0" indent="0">
              <a:buNone/>
            </a:pPr>
            <a:endParaRPr lang="en-US" sz="2000" dirty="0"/>
          </a:p>
        </p:txBody>
      </p:sp>
    </p:spTree>
    <p:extLst>
      <p:ext uri="{BB962C8B-B14F-4D97-AF65-F5344CB8AC3E}">
        <p14:creationId xmlns:p14="http://schemas.microsoft.com/office/powerpoint/2010/main" val="330965988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73F14EB-144D-A84C-B9F8-96863FDAEE71}"/>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F3A9CF38-086A-1D05-ED81-9C7F67A66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B3875C2-5557-6B76-FBE4-FA6C1EC726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5B5A3BE-96FC-2AA9-5AFB-785F649500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CCDE6D3-6B8C-DAA2-5529-C23ACC2496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7135FC23-18C9-734F-BF34-EE52E9776D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47991A-70CE-4B00-1E95-4BBE8CC8B8CC}"/>
              </a:ext>
            </a:extLst>
          </p:cNvPr>
          <p:cNvSpPr>
            <a:spLocks noGrp="1"/>
          </p:cNvSpPr>
          <p:nvPr>
            <p:ph type="title"/>
          </p:nvPr>
        </p:nvSpPr>
        <p:spPr>
          <a:xfrm>
            <a:off x="1671145" y="294538"/>
            <a:ext cx="9596406" cy="1033669"/>
          </a:xfrm>
        </p:spPr>
        <p:txBody>
          <a:bodyPr>
            <a:normAutofit/>
          </a:bodyPr>
          <a:lstStyle/>
          <a:p>
            <a:r>
              <a:rPr lang="en-US" sz="4000" dirty="0">
                <a:solidFill>
                  <a:srgbClr val="FFFFFF"/>
                </a:solidFill>
              </a:rPr>
              <a:t>Deep Learning (Neural Network Model)</a:t>
            </a:r>
          </a:p>
        </p:txBody>
      </p:sp>
      <p:sp>
        <p:nvSpPr>
          <p:cNvPr id="4" name="Content Placeholder 3">
            <a:extLst>
              <a:ext uri="{FF2B5EF4-FFF2-40B4-BE49-F238E27FC236}">
                <a16:creationId xmlns:a16="http://schemas.microsoft.com/office/drawing/2014/main" id="{03530903-0D06-2D8C-C13B-10DD35E90A29}"/>
              </a:ext>
            </a:extLst>
          </p:cNvPr>
          <p:cNvSpPr>
            <a:spLocks noGrp="1"/>
          </p:cNvSpPr>
          <p:nvPr>
            <p:ph idx="1"/>
          </p:nvPr>
        </p:nvSpPr>
        <p:spPr>
          <a:xfrm>
            <a:off x="8261131" y="1885279"/>
            <a:ext cx="3673365" cy="4351338"/>
          </a:xfrm>
        </p:spPr>
        <p:txBody>
          <a:bodyPr>
            <a:normAutofit fontScale="85000" lnSpcReduction="20000"/>
          </a:bodyPr>
          <a:lstStyle/>
          <a:p>
            <a:pPr marL="0" indent="0">
              <a:buNone/>
            </a:pPr>
            <a:endParaRPr lang="en-US" sz="2600" dirty="0"/>
          </a:p>
          <a:p>
            <a:pPr marL="0" indent="0">
              <a:buNone/>
            </a:pPr>
            <a:r>
              <a:rPr lang="en-US" sz="2600" dirty="0"/>
              <a:t>Neural Network Architecture</a:t>
            </a:r>
          </a:p>
          <a:p>
            <a:pPr marL="0" indent="0">
              <a:buNone/>
            </a:pPr>
            <a:endParaRPr lang="en-US" dirty="0"/>
          </a:p>
          <a:p>
            <a:pPr marL="0" indent="0">
              <a:buNone/>
            </a:pPr>
            <a:endParaRPr lang="en-US" sz="2000" dirty="0"/>
          </a:p>
          <a:p>
            <a:pPr marL="0" indent="0" algn="ctr">
              <a:buNone/>
            </a:pPr>
            <a:r>
              <a:rPr lang="en-US" sz="2000" dirty="0"/>
              <a:t>Input Layer</a:t>
            </a:r>
          </a:p>
          <a:p>
            <a:pPr marL="0" indent="0" algn="ctr">
              <a:buNone/>
            </a:pPr>
            <a:r>
              <a:rPr lang="en-US" sz="2000" dirty="0"/>
              <a:t>   ↓</a:t>
            </a:r>
          </a:p>
          <a:p>
            <a:pPr marL="0" indent="0" algn="ctr">
              <a:buNone/>
            </a:pPr>
            <a:r>
              <a:rPr lang="en-US" sz="2000" dirty="0"/>
              <a:t>Dense Layer (32 neurons)</a:t>
            </a:r>
          </a:p>
          <a:p>
            <a:pPr marL="0" indent="0" algn="ctr">
              <a:buNone/>
            </a:pPr>
            <a:r>
              <a:rPr lang="en-US" sz="2000" dirty="0"/>
              <a:t>   ↓</a:t>
            </a:r>
          </a:p>
          <a:p>
            <a:pPr marL="0" indent="0" algn="ctr">
              <a:buNone/>
            </a:pPr>
            <a:r>
              <a:rPr lang="en-US" sz="2000" dirty="0" err="1"/>
              <a:t>ReLU</a:t>
            </a:r>
            <a:r>
              <a:rPr lang="en-US" sz="2000" dirty="0"/>
              <a:t> Activation</a:t>
            </a:r>
          </a:p>
          <a:p>
            <a:pPr marL="0" indent="0" algn="ctr">
              <a:buNone/>
            </a:pPr>
            <a:r>
              <a:rPr lang="en-US" sz="2000" dirty="0"/>
              <a:t>   ↓</a:t>
            </a:r>
          </a:p>
          <a:p>
            <a:pPr marL="0" indent="0" algn="ctr">
              <a:buNone/>
            </a:pPr>
            <a:r>
              <a:rPr lang="en-US" sz="2000" dirty="0"/>
              <a:t>Dropout (0.3)</a:t>
            </a:r>
          </a:p>
          <a:p>
            <a:pPr marL="0" indent="0" algn="ctr">
              <a:buNone/>
            </a:pPr>
            <a:r>
              <a:rPr lang="en-US" sz="2000" dirty="0"/>
              <a:t>   ↓</a:t>
            </a:r>
          </a:p>
          <a:p>
            <a:pPr marL="0" indent="0" algn="ctr">
              <a:buNone/>
            </a:pPr>
            <a:r>
              <a:rPr lang="en-US" sz="2000" dirty="0"/>
              <a:t>Output Layer</a:t>
            </a:r>
          </a:p>
          <a:p>
            <a:pPr marL="0" indent="0">
              <a:buNone/>
            </a:pPr>
            <a:endParaRPr lang="en-US" sz="2000" dirty="0"/>
          </a:p>
        </p:txBody>
      </p:sp>
      <p:sp>
        <p:nvSpPr>
          <p:cNvPr id="3" name="TextBox 2">
            <a:extLst>
              <a:ext uri="{FF2B5EF4-FFF2-40B4-BE49-F238E27FC236}">
                <a16:creationId xmlns:a16="http://schemas.microsoft.com/office/drawing/2014/main" id="{A129E13D-0156-963C-E0E7-756266E5AFD6}"/>
              </a:ext>
            </a:extLst>
          </p:cNvPr>
          <p:cNvSpPr txBox="1"/>
          <p:nvPr/>
        </p:nvSpPr>
        <p:spPr>
          <a:xfrm>
            <a:off x="257504" y="1891970"/>
            <a:ext cx="7351609" cy="4708981"/>
          </a:xfrm>
          <a:prstGeom prst="rect">
            <a:avLst/>
          </a:prstGeom>
          <a:noFill/>
        </p:spPr>
        <p:txBody>
          <a:bodyPr wrap="square" rtlCol="0">
            <a:spAutoFit/>
          </a:bodyPr>
          <a:lstStyle/>
          <a:p>
            <a:r>
              <a:rPr lang="en-US" sz="2000" b="1" dirty="0"/>
              <a:t>Deep learning</a:t>
            </a:r>
            <a:r>
              <a:rPr lang="en-US" sz="2000" dirty="0"/>
              <a:t> is a subset of machine learning that uses </a:t>
            </a:r>
            <a:r>
              <a:rPr lang="en-US" sz="2000" b="1" dirty="0"/>
              <a:t>multi-layered neural networks</a:t>
            </a:r>
            <a:r>
              <a:rPr lang="en-US" sz="2000" dirty="0"/>
              <a:t> to automatically learn complex patterns and representations from large amounts of data. It is particularly effective for tasks such as </a:t>
            </a:r>
            <a:r>
              <a:rPr lang="en-US" sz="2000" b="1" dirty="0"/>
              <a:t>image recognition, natural language processing, and speech recognition</a:t>
            </a:r>
            <a:r>
              <a:rPr lang="en-US" sz="2000" dirty="0"/>
              <a:t>, where traditional machine learning methods may struggle to capture complex relationships.</a:t>
            </a:r>
          </a:p>
          <a:p>
            <a:endParaRPr lang="en-US" sz="2000" dirty="0"/>
          </a:p>
          <a:p>
            <a:r>
              <a:rPr lang="en-US" sz="2000" dirty="0"/>
              <a:t>A </a:t>
            </a:r>
            <a:r>
              <a:rPr lang="en-US" sz="2000" b="1" dirty="0"/>
              <a:t>neural network</a:t>
            </a:r>
            <a:r>
              <a:rPr lang="en-US" sz="2000" dirty="0"/>
              <a:t> is a computational model inspired by the structure of the human brain. It consists of </a:t>
            </a:r>
            <a:r>
              <a:rPr lang="en-US" sz="2000" b="1" dirty="0"/>
              <a:t>interconnected layers of nodes (neurons)</a:t>
            </a:r>
            <a:r>
              <a:rPr lang="en-US" sz="2000" dirty="0"/>
              <a:t>—typically an </a:t>
            </a:r>
            <a:r>
              <a:rPr lang="en-US" sz="2000" b="1" dirty="0"/>
              <a:t>input layer, one or more hidden layers, and an output layer</a:t>
            </a:r>
            <a:r>
              <a:rPr lang="en-US" sz="2000" dirty="0"/>
              <a:t>. Each neuron processes input signals, applies a mathematical transformation, and passes the result to the next layer, allowing the network to </a:t>
            </a:r>
            <a:r>
              <a:rPr lang="en-US" sz="2000" b="1" dirty="0"/>
              <a:t>learn patterns and make predictions from data</a:t>
            </a:r>
            <a:r>
              <a:rPr lang="en-US" sz="2000" dirty="0"/>
              <a:t>.</a:t>
            </a:r>
            <a:endParaRPr lang="en-US" dirty="0"/>
          </a:p>
        </p:txBody>
      </p:sp>
    </p:spTree>
    <p:extLst>
      <p:ext uri="{BB962C8B-B14F-4D97-AF65-F5344CB8AC3E}">
        <p14:creationId xmlns:p14="http://schemas.microsoft.com/office/powerpoint/2010/main" val="2221333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EDA357-A35B-557B-0766-C1EE6CF2C370}"/>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473AED31-2866-8D7C-A227-08CCA1D8F0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5955B1A-B404-2875-D511-0F80F26578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376D1320-84BC-CF23-A7A9-8D4DFF714E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F0913EBA-83A1-AAF6-DB0A-BA42AA4202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410D6281-CB1C-0AD7-7D6E-26A76BB5DF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7E1D6C-F4D5-D749-3FD6-120209FFDCD6}"/>
              </a:ext>
            </a:extLst>
          </p:cNvPr>
          <p:cNvSpPr>
            <a:spLocks noGrp="1"/>
          </p:cNvSpPr>
          <p:nvPr>
            <p:ph type="title"/>
          </p:nvPr>
        </p:nvSpPr>
        <p:spPr>
          <a:xfrm>
            <a:off x="257505" y="294538"/>
            <a:ext cx="11732646" cy="1033669"/>
          </a:xfrm>
        </p:spPr>
        <p:txBody>
          <a:bodyPr>
            <a:normAutofit fontScale="90000"/>
          </a:bodyPr>
          <a:lstStyle/>
          <a:p>
            <a:pPr algn="ctr"/>
            <a:r>
              <a:rPr lang="en-US" sz="4000" dirty="0">
                <a:solidFill>
                  <a:srgbClr val="FFFFFF"/>
                </a:solidFill>
              </a:rPr>
              <a:t>Deep Learning - Python Code for Neural Network Training Model</a:t>
            </a:r>
          </a:p>
        </p:txBody>
      </p:sp>
      <p:sp>
        <p:nvSpPr>
          <p:cNvPr id="3" name="TextBox 2">
            <a:extLst>
              <a:ext uri="{FF2B5EF4-FFF2-40B4-BE49-F238E27FC236}">
                <a16:creationId xmlns:a16="http://schemas.microsoft.com/office/drawing/2014/main" id="{BA4ACC37-2C4F-59A0-8568-586E74EC6A05}"/>
              </a:ext>
            </a:extLst>
          </p:cNvPr>
          <p:cNvSpPr txBox="1"/>
          <p:nvPr/>
        </p:nvSpPr>
        <p:spPr>
          <a:xfrm>
            <a:off x="257505" y="2096813"/>
            <a:ext cx="11732646" cy="4524315"/>
          </a:xfrm>
          <a:prstGeom prst="rect">
            <a:avLst/>
          </a:prstGeom>
          <a:noFill/>
        </p:spPr>
        <p:txBody>
          <a:bodyPr wrap="square" rtlCol="0">
            <a:spAutoFit/>
          </a:bodyPr>
          <a:lstStyle/>
          <a:p>
            <a:r>
              <a:rPr lang="en-US" dirty="0"/>
              <a:t>class </a:t>
            </a:r>
            <a:r>
              <a:rPr lang="en-US" dirty="0" err="1"/>
              <a:t>MortalityNN</a:t>
            </a:r>
            <a:r>
              <a:rPr lang="en-US" dirty="0"/>
              <a:t>(</a:t>
            </a:r>
            <a:r>
              <a:rPr lang="en-US" dirty="0" err="1"/>
              <a:t>nn.Module</a:t>
            </a:r>
            <a:r>
              <a:rPr lang="en-US" dirty="0"/>
              <a:t>):</a:t>
            </a:r>
          </a:p>
          <a:p>
            <a:endParaRPr lang="en-US" dirty="0"/>
          </a:p>
          <a:p>
            <a:r>
              <a:rPr lang="en-US" dirty="0"/>
              <a:t>    def __</a:t>
            </a:r>
            <a:r>
              <a:rPr lang="en-US" dirty="0" err="1"/>
              <a:t>init</a:t>
            </a:r>
            <a:r>
              <a:rPr lang="en-US" dirty="0"/>
              <a:t>__(</a:t>
            </a:r>
            <a:r>
              <a:rPr lang="en-US" dirty="0" err="1"/>
              <a:t>self,input_dim</a:t>
            </a:r>
            <a:r>
              <a:rPr lang="en-US" dirty="0"/>
              <a:t>):</a:t>
            </a:r>
          </a:p>
          <a:p>
            <a:r>
              <a:rPr lang="en-US" dirty="0"/>
              <a:t>        super().__</a:t>
            </a:r>
            <a:r>
              <a:rPr lang="en-US" dirty="0" err="1"/>
              <a:t>init</a:t>
            </a:r>
            <a:r>
              <a:rPr lang="en-US" dirty="0"/>
              <a:t>__()</a:t>
            </a:r>
          </a:p>
          <a:p>
            <a:endParaRPr lang="en-US" dirty="0"/>
          </a:p>
          <a:p>
            <a:r>
              <a:rPr lang="en-US" dirty="0"/>
              <a:t>        </a:t>
            </a:r>
            <a:r>
              <a:rPr lang="en-US" dirty="0" err="1"/>
              <a:t>self.net</a:t>
            </a:r>
            <a:r>
              <a:rPr lang="en-US" dirty="0"/>
              <a:t> = </a:t>
            </a:r>
            <a:r>
              <a:rPr lang="en-US" dirty="0" err="1"/>
              <a:t>nn.Sequential</a:t>
            </a:r>
            <a:r>
              <a:rPr lang="en-US" dirty="0"/>
              <a:t>(</a:t>
            </a:r>
          </a:p>
          <a:p>
            <a:r>
              <a:rPr lang="en-US" dirty="0"/>
              <a:t>            </a:t>
            </a:r>
            <a:r>
              <a:rPr lang="en-US" dirty="0" err="1"/>
              <a:t>nn.Linear</a:t>
            </a:r>
            <a:r>
              <a:rPr lang="en-US" dirty="0"/>
              <a:t>(input_dim,32),    # Linear Layer - Transforms input features into a higher dimensional representation.</a:t>
            </a:r>
          </a:p>
          <a:p>
            <a:r>
              <a:rPr lang="en-US" dirty="0"/>
              <a:t>            </a:t>
            </a:r>
            <a:r>
              <a:rPr lang="en-US" dirty="0" err="1"/>
              <a:t>nn.ReLU</a:t>
            </a:r>
            <a:r>
              <a:rPr lang="en-US" dirty="0"/>
              <a:t>(),                  # activation function that introduces non-linearity, allowing the model to learn complex patterns.</a:t>
            </a:r>
          </a:p>
          <a:p>
            <a:r>
              <a:rPr lang="en-US" dirty="0"/>
              <a:t>            </a:t>
            </a:r>
            <a:r>
              <a:rPr lang="en-US" dirty="0" err="1"/>
              <a:t>nn.Dropout</a:t>
            </a:r>
            <a:r>
              <a:rPr lang="en-US" dirty="0"/>
              <a:t>(0.3),            # Randomly drops neurons during training to prevent overfitting.</a:t>
            </a:r>
          </a:p>
          <a:p>
            <a:r>
              <a:rPr lang="en-US" dirty="0"/>
              <a:t>            </a:t>
            </a:r>
            <a:r>
              <a:rPr lang="en-US" dirty="0" err="1"/>
              <a:t>nn.Linear</a:t>
            </a:r>
            <a:r>
              <a:rPr lang="en-US" dirty="0"/>
              <a:t>(32,1)</a:t>
            </a:r>
          </a:p>
          <a:p>
            <a:r>
              <a:rPr lang="en-US" dirty="0"/>
              <a:t>        )</a:t>
            </a:r>
          </a:p>
          <a:p>
            <a:endParaRPr lang="en-US" dirty="0"/>
          </a:p>
          <a:p>
            <a:r>
              <a:rPr lang="en-US" dirty="0"/>
              <a:t>    def forward(</a:t>
            </a:r>
            <a:r>
              <a:rPr lang="en-US" dirty="0" err="1"/>
              <a:t>self,x</a:t>
            </a:r>
            <a:r>
              <a:rPr lang="en-US" dirty="0"/>
              <a:t>):       # Train network using forward pass + backpropagation</a:t>
            </a:r>
          </a:p>
          <a:p>
            <a:r>
              <a:rPr lang="en-US" dirty="0"/>
              <a:t>        return </a:t>
            </a:r>
            <a:r>
              <a:rPr lang="en-US" dirty="0" err="1"/>
              <a:t>self.net</a:t>
            </a:r>
            <a:r>
              <a:rPr lang="en-US" dirty="0"/>
              <a:t>(x)</a:t>
            </a:r>
          </a:p>
          <a:p>
            <a:endParaRPr lang="en-US" dirty="0"/>
          </a:p>
        </p:txBody>
      </p:sp>
    </p:spTree>
    <p:extLst>
      <p:ext uri="{BB962C8B-B14F-4D97-AF65-F5344CB8AC3E}">
        <p14:creationId xmlns:p14="http://schemas.microsoft.com/office/powerpoint/2010/main" val="19546620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75373F-D8E4-5EFB-855F-922857319A31}"/>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150B736-2918-60CB-84D9-3BE8D12AD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7EBAA3A-34C6-45D9-506F-AB7B54A3A2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D8EF6B2-DC55-D7F8-29E2-F562C627E9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1E9AA86-A6FA-6404-AA72-71325D28A0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AA7BFC58-934D-FAC0-64B8-8E973B7F29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56A42A-CCFC-A72B-150D-121E4ECE3666}"/>
              </a:ext>
            </a:extLst>
          </p:cNvPr>
          <p:cNvSpPr>
            <a:spLocks noGrp="1"/>
          </p:cNvSpPr>
          <p:nvPr>
            <p:ph type="title"/>
          </p:nvPr>
        </p:nvSpPr>
        <p:spPr>
          <a:xfrm>
            <a:off x="459346" y="294538"/>
            <a:ext cx="11273304" cy="1033669"/>
          </a:xfrm>
        </p:spPr>
        <p:txBody>
          <a:bodyPr>
            <a:normAutofit fontScale="90000"/>
          </a:bodyPr>
          <a:lstStyle/>
          <a:p>
            <a:pPr algn="ctr"/>
            <a:r>
              <a:rPr lang="en-US" sz="4000" dirty="0">
                <a:solidFill>
                  <a:srgbClr val="FFFFFF"/>
                </a:solidFill>
              </a:rPr>
              <a:t>Deep Learning - Python Code for Neural Network Training</a:t>
            </a:r>
          </a:p>
        </p:txBody>
      </p:sp>
      <p:sp>
        <p:nvSpPr>
          <p:cNvPr id="4" name="Content Placeholder 3">
            <a:extLst>
              <a:ext uri="{FF2B5EF4-FFF2-40B4-BE49-F238E27FC236}">
                <a16:creationId xmlns:a16="http://schemas.microsoft.com/office/drawing/2014/main" id="{CF2A113E-C328-5977-605E-D4E3E2B27726}"/>
              </a:ext>
            </a:extLst>
          </p:cNvPr>
          <p:cNvSpPr>
            <a:spLocks noGrp="1"/>
          </p:cNvSpPr>
          <p:nvPr>
            <p:ph idx="1"/>
          </p:nvPr>
        </p:nvSpPr>
        <p:spPr>
          <a:xfrm>
            <a:off x="6353506" y="1885279"/>
            <a:ext cx="5580992" cy="3029621"/>
          </a:xfrm>
        </p:spPr>
        <p:txBody>
          <a:bodyPr>
            <a:normAutofit fontScale="77500" lnSpcReduction="20000"/>
          </a:bodyPr>
          <a:lstStyle/>
          <a:p>
            <a:pPr marL="0" indent="0">
              <a:buNone/>
            </a:pPr>
            <a:endParaRPr lang="en-US" dirty="0"/>
          </a:p>
          <a:p>
            <a:pPr marL="0" indent="0">
              <a:buNone/>
            </a:pPr>
            <a:r>
              <a:rPr lang="en-US" dirty="0"/>
              <a:t># Initialize model.</a:t>
            </a:r>
          </a:p>
          <a:p>
            <a:pPr marL="0" indent="0">
              <a:buNone/>
            </a:pPr>
            <a:r>
              <a:rPr lang="en-US" dirty="0"/>
              <a:t>model = </a:t>
            </a:r>
            <a:r>
              <a:rPr lang="en-US" dirty="0" err="1"/>
              <a:t>MortalityNN</a:t>
            </a:r>
            <a:r>
              <a:rPr lang="en-US" dirty="0"/>
              <a:t>(</a:t>
            </a:r>
            <a:r>
              <a:rPr lang="en-US" dirty="0" err="1"/>
              <a:t>X_train.shape</a:t>
            </a:r>
            <a:r>
              <a:rPr lang="en-US" dirty="0"/>
              <a:t>[1])</a:t>
            </a:r>
          </a:p>
          <a:p>
            <a:pPr marL="0" indent="0">
              <a:buNone/>
            </a:pPr>
            <a:endParaRPr lang="en-US" dirty="0"/>
          </a:p>
          <a:p>
            <a:pPr marL="0" indent="0">
              <a:buNone/>
            </a:pPr>
            <a:r>
              <a:rPr lang="en-US" dirty="0"/>
              <a:t>criterion = </a:t>
            </a:r>
            <a:r>
              <a:rPr lang="en-US" dirty="0" err="1"/>
              <a:t>nn.BCEWithLogitsLoss</a:t>
            </a:r>
            <a:r>
              <a:rPr lang="en-US" dirty="0"/>
              <a:t>()</a:t>
            </a:r>
          </a:p>
          <a:p>
            <a:pPr marL="0" indent="0">
              <a:buNone/>
            </a:pPr>
            <a:endParaRPr lang="en-US" dirty="0"/>
          </a:p>
          <a:p>
            <a:pPr marL="0" indent="0">
              <a:buNone/>
            </a:pPr>
            <a:r>
              <a:rPr lang="en-US" dirty="0"/>
              <a:t>optimizer = </a:t>
            </a:r>
            <a:r>
              <a:rPr lang="en-US" dirty="0" err="1"/>
              <a:t>optim.Adam</a:t>
            </a:r>
            <a:r>
              <a:rPr lang="en-US" dirty="0"/>
              <a:t>(</a:t>
            </a:r>
            <a:r>
              <a:rPr lang="en-US" dirty="0" err="1"/>
              <a:t>model.parameters</a:t>
            </a:r>
            <a:r>
              <a:rPr lang="en-US" dirty="0"/>
              <a:t>(),</a:t>
            </a:r>
            <a:r>
              <a:rPr lang="en-US" dirty="0" err="1"/>
              <a:t>lr</a:t>
            </a:r>
            <a:r>
              <a:rPr lang="en-US" dirty="0"/>
              <a:t>=0.001)</a:t>
            </a:r>
          </a:p>
          <a:p>
            <a:pPr marL="0" indent="0">
              <a:buNone/>
            </a:pPr>
            <a:endParaRPr lang="en-US" dirty="0"/>
          </a:p>
          <a:p>
            <a:pPr marL="0" indent="0">
              <a:buNone/>
            </a:pPr>
            <a:endParaRPr lang="en-US" sz="2000" dirty="0"/>
          </a:p>
          <a:p>
            <a:pPr marL="0" indent="0">
              <a:buNone/>
            </a:pPr>
            <a:endParaRPr lang="en-US" sz="2000" dirty="0"/>
          </a:p>
        </p:txBody>
      </p:sp>
      <p:sp>
        <p:nvSpPr>
          <p:cNvPr id="3" name="TextBox 2">
            <a:extLst>
              <a:ext uri="{FF2B5EF4-FFF2-40B4-BE49-F238E27FC236}">
                <a16:creationId xmlns:a16="http://schemas.microsoft.com/office/drawing/2014/main" id="{0E6FEF14-E56A-8AF5-5723-322661B330A2}"/>
              </a:ext>
            </a:extLst>
          </p:cNvPr>
          <p:cNvSpPr txBox="1"/>
          <p:nvPr/>
        </p:nvSpPr>
        <p:spPr>
          <a:xfrm>
            <a:off x="257505" y="2096813"/>
            <a:ext cx="5838495" cy="4524315"/>
          </a:xfrm>
          <a:prstGeom prst="rect">
            <a:avLst/>
          </a:prstGeom>
          <a:noFill/>
        </p:spPr>
        <p:txBody>
          <a:bodyPr wrap="square" rtlCol="0">
            <a:spAutoFit/>
          </a:bodyPr>
          <a:lstStyle/>
          <a:p>
            <a:r>
              <a:rPr lang="en-US" dirty="0"/>
              <a:t>import torch</a:t>
            </a:r>
          </a:p>
          <a:p>
            <a:r>
              <a:rPr lang="en-US" dirty="0"/>
              <a:t>import </a:t>
            </a:r>
            <a:r>
              <a:rPr lang="en-US" dirty="0" err="1"/>
              <a:t>torch.nn</a:t>
            </a:r>
            <a:r>
              <a:rPr lang="en-US" dirty="0"/>
              <a:t> as </a:t>
            </a:r>
            <a:r>
              <a:rPr lang="en-US" dirty="0" err="1"/>
              <a:t>nn</a:t>
            </a:r>
            <a:endParaRPr lang="en-US" dirty="0"/>
          </a:p>
          <a:p>
            <a:r>
              <a:rPr lang="en-US" dirty="0"/>
              <a:t>import </a:t>
            </a:r>
            <a:r>
              <a:rPr lang="en-US" dirty="0" err="1"/>
              <a:t>torch.optim</a:t>
            </a:r>
            <a:r>
              <a:rPr lang="en-US" dirty="0"/>
              <a:t> as </a:t>
            </a:r>
            <a:r>
              <a:rPr lang="en-US" dirty="0" err="1"/>
              <a:t>optim</a:t>
            </a:r>
            <a:endParaRPr lang="en-US" dirty="0"/>
          </a:p>
          <a:p>
            <a:endParaRPr lang="en-US" dirty="0"/>
          </a:p>
          <a:p>
            <a:r>
              <a:rPr lang="en-US" dirty="0"/>
              <a:t>scaler = </a:t>
            </a:r>
            <a:r>
              <a:rPr lang="en-US" dirty="0" err="1"/>
              <a:t>StandardScaler</a:t>
            </a:r>
            <a:r>
              <a:rPr lang="en-US" dirty="0"/>
              <a:t>()</a:t>
            </a:r>
          </a:p>
          <a:p>
            <a:endParaRPr lang="en-US" dirty="0"/>
          </a:p>
          <a:p>
            <a:r>
              <a:rPr lang="en-US" dirty="0" err="1"/>
              <a:t>X_train_scaled</a:t>
            </a:r>
            <a:r>
              <a:rPr lang="en-US" dirty="0"/>
              <a:t> = </a:t>
            </a:r>
            <a:r>
              <a:rPr lang="en-US" dirty="0" err="1"/>
              <a:t>scaler.fit_transform</a:t>
            </a:r>
            <a:r>
              <a:rPr lang="en-US" dirty="0"/>
              <a:t>(</a:t>
            </a:r>
            <a:r>
              <a:rPr lang="en-US" dirty="0" err="1"/>
              <a:t>X_train</a:t>
            </a:r>
            <a:r>
              <a:rPr lang="en-US" dirty="0"/>
              <a:t>)</a:t>
            </a:r>
          </a:p>
          <a:p>
            <a:r>
              <a:rPr lang="en-US" dirty="0" err="1"/>
              <a:t>X_test_scaled</a:t>
            </a:r>
            <a:r>
              <a:rPr lang="en-US" dirty="0"/>
              <a:t> = </a:t>
            </a:r>
            <a:r>
              <a:rPr lang="en-US" dirty="0" err="1"/>
              <a:t>scaler.transform</a:t>
            </a:r>
            <a:r>
              <a:rPr lang="en-US" dirty="0"/>
              <a:t>(</a:t>
            </a:r>
            <a:r>
              <a:rPr lang="en-US" dirty="0" err="1"/>
              <a:t>X_test</a:t>
            </a:r>
            <a:r>
              <a:rPr lang="en-US" dirty="0"/>
              <a:t>)</a:t>
            </a:r>
          </a:p>
          <a:p>
            <a:endParaRPr lang="en-US" dirty="0"/>
          </a:p>
          <a:p>
            <a:r>
              <a:rPr lang="en-US" dirty="0" err="1"/>
              <a:t>X_train_tensor</a:t>
            </a:r>
            <a:r>
              <a:rPr lang="en-US" dirty="0"/>
              <a:t> = </a:t>
            </a:r>
            <a:r>
              <a:rPr lang="en-US" dirty="0" err="1"/>
              <a:t>torch.tensor</a:t>
            </a:r>
            <a:r>
              <a:rPr lang="en-US" dirty="0"/>
              <a:t>(</a:t>
            </a:r>
            <a:r>
              <a:rPr lang="en-US" dirty="0" err="1"/>
              <a:t>X_train_scaled,dtype</a:t>
            </a:r>
            <a:r>
              <a:rPr lang="en-US" dirty="0"/>
              <a:t>=torch.float32)</a:t>
            </a:r>
          </a:p>
          <a:p>
            <a:r>
              <a:rPr lang="en-US" dirty="0" err="1"/>
              <a:t>y_train_tensor</a:t>
            </a:r>
            <a:r>
              <a:rPr lang="en-US" dirty="0"/>
              <a:t> = </a:t>
            </a:r>
            <a:r>
              <a:rPr lang="en-US" dirty="0" err="1"/>
              <a:t>torch.tensor</a:t>
            </a:r>
            <a:r>
              <a:rPr lang="en-US" dirty="0"/>
              <a:t>(</a:t>
            </a:r>
          </a:p>
          <a:p>
            <a:r>
              <a:rPr lang="en-US" dirty="0"/>
              <a:t>    </a:t>
            </a:r>
            <a:r>
              <a:rPr lang="en-US" dirty="0" err="1"/>
              <a:t>y_train.values</a:t>
            </a:r>
            <a:r>
              <a:rPr lang="en-US" dirty="0"/>
              <a:t>,</a:t>
            </a:r>
          </a:p>
          <a:p>
            <a:r>
              <a:rPr lang="en-US" dirty="0"/>
              <a:t>    </a:t>
            </a:r>
            <a:r>
              <a:rPr lang="en-US" dirty="0" err="1"/>
              <a:t>dtype</a:t>
            </a:r>
            <a:r>
              <a:rPr lang="en-US" dirty="0"/>
              <a:t>=torch.float32</a:t>
            </a:r>
          </a:p>
          <a:p>
            <a:r>
              <a:rPr lang="en-US" dirty="0"/>
              <a:t>).</a:t>
            </a:r>
            <a:r>
              <a:rPr lang="en-US" dirty="0" err="1"/>
              <a:t>unsqueeze</a:t>
            </a:r>
            <a:r>
              <a:rPr lang="en-US" dirty="0"/>
              <a:t>(1)</a:t>
            </a:r>
          </a:p>
          <a:p>
            <a:endParaRPr lang="en-US" dirty="0"/>
          </a:p>
        </p:txBody>
      </p:sp>
      <p:sp>
        <p:nvSpPr>
          <p:cNvPr id="5" name="TextBox 4">
            <a:extLst>
              <a:ext uri="{FF2B5EF4-FFF2-40B4-BE49-F238E27FC236}">
                <a16:creationId xmlns:a16="http://schemas.microsoft.com/office/drawing/2014/main" id="{C973DA1F-1D63-B565-CB46-48F420ACC37A}"/>
              </a:ext>
            </a:extLst>
          </p:cNvPr>
          <p:cNvSpPr txBox="1"/>
          <p:nvPr/>
        </p:nvSpPr>
        <p:spPr>
          <a:xfrm>
            <a:off x="5141810" y="6047067"/>
            <a:ext cx="6792685" cy="461665"/>
          </a:xfrm>
          <a:prstGeom prst="rect">
            <a:avLst/>
          </a:prstGeom>
          <a:noFill/>
        </p:spPr>
        <p:txBody>
          <a:bodyPr wrap="square" rtlCol="0">
            <a:spAutoFit/>
          </a:bodyPr>
          <a:lstStyle/>
          <a:p>
            <a:r>
              <a:rPr lang="en-US" sz="2400" dirty="0"/>
              <a:t>For more details , check the  tutorial notebook.</a:t>
            </a:r>
          </a:p>
        </p:txBody>
      </p:sp>
    </p:spTree>
    <p:extLst>
      <p:ext uri="{BB962C8B-B14F-4D97-AF65-F5344CB8AC3E}">
        <p14:creationId xmlns:p14="http://schemas.microsoft.com/office/powerpoint/2010/main" val="270327066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026E2B-7227-9D8F-D782-0C6BF35925C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9ECD339-338B-6D91-AD87-3DB4AE9315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0D73120-2B9D-228B-D70C-9E44510CC9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60B86DC-51CF-4813-C47F-547CDD3B81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158736D2-BB65-A021-154B-DB59458DA7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28D3B199-2B88-4333-9460-29F85F5E8E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9D0495-7B4F-3DEB-2D72-A9711110716F}"/>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Deep Learning - Summary of Training Pipeline</a:t>
            </a:r>
          </a:p>
        </p:txBody>
      </p:sp>
      <p:sp>
        <p:nvSpPr>
          <p:cNvPr id="3" name="TextBox 2">
            <a:extLst>
              <a:ext uri="{FF2B5EF4-FFF2-40B4-BE49-F238E27FC236}">
                <a16:creationId xmlns:a16="http://schemas.microsoft.com/office/drawing/2014/main" id="{0130DC29-B385-4FC5-679B-C046105036B0}"/>
              </a:ext>
            </a:extLst>
          </p:cNvPr>
          <p:cNvSpPr txBox="1"/>
          <p:nvPr/>
        </p:nvSpPr>
        <p:spPr>
          <a:xfrm>
            <a:off x="154554" y="1656576"/>
            <a:ext cx="11732646" cy="5201424"/>
          </a:xfrm>
          <a:prstGeom prst="rect">
            <a:avLst/>
          </a:prstGeom>
          <a:noFill/>
        </p:spPr>
        <p:txBody>
          <a:bodyPr wrap="square" rtlCol="0">
            <a:spAutoFit/>
          </a:bodyPr>
          <a:lstStyle/>
          <a:p>
            <a:pPr algn="ctr"/>
            <a:r>
              <a:rPr lang="en-US" sz="2000" b="1" dirty="0"/>
              <a:t>Scale features → </a:t>
            </a:r>
            <a:r>
              <a:rPr lang="en-US" sz="2000" b="1" dirty="0" err="1"/>
              <a:t>StandardScaler</a:t>
            </a:r>
            <a:endParaRPr lang="en-US" sz="2000" b="1" dirty="0"/>
          </a:p>
          <a:p>
            <a:pPr algn="ctr"/>
            <a:r>
              <a:rPr lang="en-US" sz="2000" dirty="0"/>
              <a:t>Input features are normalized so the neural network can learn efficiently.</a:t>
            </a:r>
          </a:p>
          <a:p>
            <a:pPr algn="ctr"/>
            <a:endParaRPr lang="en-US" sz="2000" dirty="0"/>
          </a:p>
          <a:p>
            <a:pPr algn="ctr"/>
            <a:r>
              <a:rPr lang="en-US" sz="2000" b="1" dirty="0"/>
              <a:t>Convert data → </a:t>
            </a:r>
            <a:r>
              <a:rPr lang="en-US" sz="2000" b="1" dirty="0" err="1"/>
              <a:t>PyTorch</a:t>
            </a:r>
            <a:r>
              <a:rPr lang="en-US" sz="2000" b="1" dirty="0"/>
              <a:t> tensors</a:t>
            </a:r>
          </a:p>
          <a:p>
            <a:pPr algn="ctr"/>
            <a:r>
              <a:rPr lang="en-US" sz="2000" dirty="0"/>
              <a:t>The scaled data is converted into tensors so it can be used by </a:t>
            </a:r>
            <a:r>
              <a:rPr lang="en-US" sz="2000" dirty="0" err="1"/>
              <a:t>PyTorch</a:t>
            </a:r>
            <a:r>
              <a:rPr lang="en-US" sz="2000" dirty="0"/>
              <a:t>.</a:t>
            </a:r>
          </a:p>
          <a:p>
            <a:pPr algn="ctr"/>
            <a:endParaRPr lang="en-US" sz="2000" dirty="0"/>
          </a:p>
          <a:p>
            <a:pPr algn="ctr"/>
            <a:r>
              <a:rPr lang="en-US" sz="2000" b="1" dirty="0"/>
              <a:t>Build neural network → Linear + </a:t>
            </a:r>
            <a:r>
              <a:rPr lang="en-US" sz="2000" b="1" dirty="0" err="1"/>
              <a:t>ReLU</a:t>
            </a:r>
            <a:r>
              <a:rPr lang="en-US" sz="2000" b="1" dirty="0"/>
              <a:t> + Dropout</a:t>
            </a:r>
          </a:p>
          <a:p>
            <a:pPr algn="ctr"/>
            <a:r>
              <a:rPr lang="en-US" sz="2000" dirty="0"/>
              <a:t>The architecture of the neural network is defined.</a:t>
            </a:r>
          </a:p>
          <a:p>
            <a:pPr algn="ctr"/>
            <a:endParaRPr lang="en-US" sz="2000" dirty="0"/>
          </a:p>
          <a:p>
            <a:pPr algn="ctr"/>
            <a:r>
              <a:rPr lang="en-US" sz="2000" b="1" dirty="0"/>
              <a:t>Define loss → </a:t>
            </a:r>
            <a:r>
              <a:rPr lang="en-US" sz="2000" b="1" dirty="0" err="1"/>
              <a:t>BCEWithLogitsLoss</a:t>
            </a:r>
            <a:endParaRPr lang="en-US" sz="2000" b="1" dirty="0"/>
          </a:p>
          <a:p>
            <a:pPr algn="ctr"/>
            <a:r>
              <a:rPr lang="en-US" sz="2000" dirty="0"/>
              <a:t>The loss function is specified to measure how far predictions are from the true labels.</a:t>
            </a:r>
          </a:p>
          <a:p>
            <a:pPr algn="ctr"/>
            <a:endParaRPr lang="en-US" sz="2000" dirty="0"/>
          </a:p>
          <a:p>
            <a:pPr algn="ctr"/>
            <a:r>
              <a:rPr lang="en-US" sz="2000" b="1" dirty="0"/>
              <a:t>Define optimizer → Adam</a:t>
            </a:r>
          </a:p>
          <a:p>
            <a:pPr algn="ctr"/>
            <a:r>
              <a:rPr lang="en-US" sz="2000" dirty="0"/>
              <a:t>The optimizer is chosen to update the model parameters</a:t>
            </a:r>
            <a:r>
              <a:rPr lang="en-US" sz="2400" dirty="0"/>
              <a:t>.</a:t>
            </a:r>
          </a:p>
          <a:p>
            <a:pPr algn="ctr"/>
            <a:endParaRPr lang="en-US" sz="2400" b="1" dirty="0"/>
          </a:p>
          <a:p>
            <a:pPr algn="ctr"/>
            <a:r>
              <a:rPr lang="en-US" sz="2000" dirty="0"/>
              <a:t>Train network using </a:t>
            </a:r>
            <a:r>
              <a:rPr lang="en-US" sz="2000" b="1" dirty="0"/>
              <a:t>forward pass + loss computation + backpropagation + optimizer update</a:t>
            </a:r>
          </a:p>
        </p:txBody>
      </p:sp>
    </p:spTree>
    <p:extLst>
      <p:ext uri="{BB962C8B-B14F-4D97-AF65-F5344CB8AC3E}">
        <p14:creationId xmlns:p14="http://schemas.microsoft.com/office/powerpoint/2010/main" val="168876834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99DC85-4D2B-C49B-D752-241F819D6DD6}"/>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8F30D72D-7BA0-BBBA-D1E4-06CE0F5D9F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77A47B8-DA34-2AA4-D170-08F7667B04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425AB4C0-C07A-39C2-4E7E-65A5F389C7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AF073358-39D4-EF66-5FB7-495B45228E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990C2D3-7F3B-ED51-DB41-5D8CEF8A60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79D73C6-4EF4-CBC2-C9BA-693CF03558B0}"/>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Deep Learning - Loss Function</a:t>
            </a:r>
          </a:p>
        </p:txBody>
      </p:sp>
      <p:sp>
        <p:nvSpPr>
          <p:cNvPr id="3" name="TextBox 2">
            <a:extLst>
              <a:ext uri="{FF2B5EF4-FFF2-40B4-BE49-F238E27FC236}">
                <a16:creationId xmlns:a16="http://schemas.microsoft.com/office/drawing/2014/main" id="{83258363-0D0C-6C12-7E49-B8AB27DD9F17}"/>
              </a:ext>
            </a:extLst>
          </p:cNvPr>
          <p:cNvSpPr txBox="1"/>
          <p:nvPr/>
        </p:nvSpPr>
        <p:spPr>
          <a:xfrm>
            <a:off x="275177" y="1820368"/>
            <a:ext cx="5636650" cy="4524315"/>
          </a:xfrm>
          <a:prstGeom prst="rect">
            <a:avLst/>
          </a:prstGeom>
          <a:noFill/>
        </p:spPr>
        <p:txBody>
          <a:bodyPr wrap="square" rtlCol="0">
            <a:spAutoFit/>
          </a:bodyPr>
          <a:lstStyle/>
          <a:p>
            <a:r>
              <a:rPr lang="en-US" sz="2400" dirty="0"/>
              <a:t>The </a:t>
            </a:r>
            <a:r>
              <a:rPr lang="en-US" sz="2400" b="1" dirty="0"/>
              <a:t>loss function </a:t>
            </a:r>
            <a:r>
              <a:rPr lang="en-US" sz="2400" dirty="0"/>
              <a:t>evaluates how wrong the model's predictions are, and its output is used during </a:t>
            </a:r>
            <a:r>
              <a:rPr lang="en-US" sz="2400" b="1" dirty="0"/>
              <a:t>backpropagation to adjust the model weights and improve learning</a:t>
            </a:r>
            <a:r>
              <a:rPr lang="en-US" sz="2400" dirty="0"/>
              <a:t>.</a:t>
            </a:r>
          </a:p>
          <a:p>
            <a:endParaRPr lang="en-US" sz="2400" dirty="0"/>
          </a:p>
          <a:p>
            <a:r>
              <a:rPr lang="en-US" sz="2400" dirty="0"/>
              <a:t>For this tutorial, run training process for 50 epochs. An </a:t>
            </a:r>
            <a:r>
              <a:rPr lang="en-US" sz="2400" b="1" dirty="0"/>
              <a:t>epoch</a:t>
            </a:r>
            <a:r>
              <a:rPr lang="en-US" sz="2400" dirty="0"/>
              <a:t> means one full pass through the entire training dataset. Multiple epochs allow the neural network to gradually adjust its weights and improve predictions.</a:t>
            </a:r>
          </a:p>
        </p:txBody>
      </p:sp>
      <p:sp>
        <p:nvSpPr>
          <p:cNvPr id="4" name="TextBox 3">
            <a:extLst>
              <a:ext uri="{FF2B5EF4-FFF2-40B4-BE49-F238E27FC236}">
                <a16:creationId xmlns:a16="http://schemas.microsoft.com/office/drawing/2014/main" id="{B349A713-2B80-94EE-F847-D1D5EB8E2036}"/>
              </a:ext>
            </a:extLst>
          </p:cNvPr>
          <p:cNvSpPr txBox="1"/>
          <p:nvPr/>
        </p:nvSpPr>
        <p:spPr>
          <a:xfrm>
            <a:off x="6809014" y="1820368"/>
            <a:ext cx="5107809" cy="4801314"/>
          </a:xfrm>
          <a:prstGeom prst="rect">
            <a:avLst/>
          </a:prstGeom>
          <a:noFill/>
        </p:spPr>
        <p:txBody>
          <a:bodyPr wrap="none" rtlCol="0">
            <a:spAutoFit/>
          </a:bodyPr>
          <a:lstStyle/>
          <a:p>
            <a:r>
              <a:rPr lang="en-US" dirty="0"/>
              <a:t>losses = []</a:t>
            </a:r>
          </a:p>
          <a:p>
            <a:endParaRPr lang="en-US" dirty="0"/>
          </a:p>
          <a:p>
            <a:r>
              <a:rPr lang="en-US" dirty="0"/>
              <a:t>for epoch in range(50):</a:t>
            </a:r>
          </a:p>
          <a:p>
            <a:endParaRPr lang="en-US" dirty="0"/>
          </a:p>
          <a:p>
            <a:r>
              <a:rPr lang="en-US" dirty="0"/>
              <a:t>    </a:t>
            </a:r>
            <a:r>
              <a:rPr lang="en-US" dirty="0" err="1"/>
              <a:t>optimizer.zero_grad</a:t>
            </a:r>
            <a:r>
              <a:rPr lang="en-US" dirty="0"/>
              <a:t>()</a:t>
            </a:r>
          </a:p>
          <a:p>
            <a:endParaRPr lang="en-US" dirty="0"/>
          </a:p>
          <a:p>
            <a:r>
              <a:rPr lang="en-US" dirty="0"/>
              <a:t>    outputs = model(</a:t>
            </a:r>
            <a:r>
              <a:rPr lang="en-US" dirty="0" err="1"/>
              <a:t>X_train_tensor</a:t>
            </a:r>
            <a:r>
              <a:rPr lang="en-US" dirty="0"/>
              <a:t>)</a:t>
            </a:r>
          </a:p>
          <a:p>
            <a:endParaRPr lang="en-US" dirty="0"/>
          </a:p>
          <a:p>
            <a:r>
              <a:rPr lang="en-US" dirty="0"/>
              <a:t>    loss = criterion(</a:t>
            </a:r>
            <a:r>
              <a:rPr lang="en-US" dirty="0" err="1"/>
              <a:t>outputs,y_train_tensor</a:t>
            </a:r>
            <a:r>
              <a:rPr lang="en-US" dirty="0"/>
              <a:t>)</a:t>
            </a:r>
          </a:p>
          <a:p>
            <a:endParaRPr lang="en-US" dirty="0"/>
          </a:p>
          <a:p>
            <a:r>
              <a:rPr lang="en-US" dirty="0"/>
              <a:t>    </a:t>
            </a:r>
            <a:r>
              <a:rPr lang="en-US" dirty="0" err="1"/>
              <a:t>loss.backward</a:t>
            </a:r>
            <a:r>
              <a:rPr lang="en-US" dirty="0"/>
              <a:t>()</a:t>
            </a:r>
          </a:p>
          <a:p>
            <a:endParaRPr lang="en-US" dirty="0"/>
          </a:p>
          <a:p>
            <a:r>
              <a:rPr lang="en-US" dirty="0"/>
              <a:t>    </a:t>
            </a:r>
            <a:r>
              <a:rPr lang="en-US" dirty="0" err="1"/>
              <a:t>optimizer.step</a:t>
            </a:r>
            <a:r>
              <a:rPr lang="en-US" dirty="0"/>
              <a:t>()</a:t>
            </a:r>
          </a:p>
          <a:p>
            <a:endParaRPr lang="en-US" dirty="0"/>
          </a:p>
          <a:p>
            <a:r>
              <a:rPr lang="en-US" dirty="0"/>
              <a:t>    </a:t>
            </a:r>
            <a:r>
              <a:rPr lang="en-US" dirty="0" err="1"/>
              <a:t>losses.append</a:t>
            </a:r>
            <a:r>
              <a:rPr lang="en-US" dirty="0"/>
              <a:t>(</a:t>
            </a:r>
            <a:r>
              <a:rPr lang="en-US" dirty="0" err="1"/>
              <a:t>loss.item</a:t>
            </a:r>
            <a:r>
              <a:rPr lang="en-US" dirty="0"/>
              <a:t>())</a:t>
            </a:r>
          </a:p>
          <a:p>
            <a:endParaRPr lang="en-US" dirty="0"/>
          </a:p>
          <a:p>
            <a:r>
              <a:rPr lang="en-US" dirty="0"/>
              <a:t>    print(</a:t>
            </a:r>
            <a:r>
              <a:rPr lang="en-US" dirty="0" err="1"/>
              <a:t>f"Epoch</a:t>
            </a:r>
            <a:r>
              <a:rPr lang="en-US" dirty="0"/>
              <a:t> {epoch+1}, Loss: {</a:t>
            </a:r>
            <a:r>
              <a:rPr lang="en-US" dirty="0" err="1"/>
              <a:t>loss.item</a:t>
            </a:r>
            <a:r>
              <a:rPr lang="en-US" dirty="0"/>
              <a:t>():.4f}")</a:t>
            </a:r>
          </a:p>
        </p:txBody>
      </p:sp>
    </p:spTree>
    <p:extLst>
      <p:ext uri="{BB962C8B-B14F-4D97-AF65-F5344CB8AC3E}">
        <p14:creationId xmlns:p14="http://schemas.microsoft.com/office/powerpoint/2010/main" val="252349759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4FACE1-3FAC-F1BD-A277-9FF8867E7AA3}"/>
            </a:ext>
          </a:extLst>
        </p:cNvPr>
        <p:cNvGrpSpPr/>
        <p:nvPr/>
      </p:nvGrpSpPr>
      <p:grpSpPr>
        <a:xfrm>
          <a:off x="0" y="0"/>
          <a:ext cx="0" cy="0"/>
          <a:chOff x="0" y="0"/>
          <a:chExt cx="0" cy="0"/>
        </a:xfrm>
      </p:grpSpPr>
      <p:sp useBgFill="1">
        <p:nvSpPr>
          <p:cNvPr id="53" name="Rectangle 5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Rectangle 5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Rectangle 5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9" name="Rectangle 5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D25CE03F-5BF8-F803-EA9B-5EE08B62B778}"/>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Deep Learning - Loss Curve</a:t>
            </a:r>
          </a:p>
        </p:txBody>
      </p:sp>
      <p:pic>
        <p:nvPicPr>
          <p:cNvPr id="7" name="Picture 6" descr="A graph of a network training loss&#10;&#10;AI-generated content may be incorrect.">
            <a:extLst>
              <a:ext uri="{FF2B5EF4-FFF2-40B4-BE49-F238E27FC236}">
                <a16:creationId xmlns:a16="http://schemas.microsoft.com/office/drawing/2014/main" id="{E21C3438-AC44-22AA-87C2-0E1BFB31DDCB}"/>
              </a:ext>
            </a:extLst>
          </p:cNvPr>
          <p:cNvPicPr>
            <a:picLocks noChangeAspect="1"/>
          </p:cNvPicPr>
          <p:nvPr/>
        </p:nvPicPr>
        <p:blipFill>
          <a:blip r:embed="rId3"/>
          <a:stretch>
            <a:fillRect/>
          </a:stretch>
        </p:blipFill>
        <p:spPr>
          <a:xfrm>
            <a:off x="4502428" y="872890"/>
            <a:ext cx="7225748" cy="5112220"/>
          </a:xfrm>
          <a:prstGeom prst="rect">
            <a:avLst/>
          </a:prstGeom>
        </p:spPr>
      </p:pic>
    </p:spTree>
    <p:extLst>
      <p:ext uri="{BB962C8B-B14F-4D97-AF65-F5344CB8AC3E}">
        <p14:creationId xmlns:p14="http://schemas.microsoft.com/office/powerpoint/2010/main" val="30149806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99DE9F-40B7-87CD-52D9-34C50AAFF3D5}"/>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565BDBD-2C41-735C-5FD8-8AF71753C8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4FD43F36-1D75-D3A0-8D9D-634DD4728A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FC51F952-27BB-30EB-4D95-1F836438D6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D5ABAD8-44C5-3A54-2290-A0D86A2AC8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12BA405-31C2-3598-1285-088876D488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59E02D-0EB3-E576-EC4F-1AB41AEBF836}"/>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Multimodal Model </a:t>
            </a:r>
          </a:p>
        </p:txBody>
      </p:sp>
      <p:sp>
        <p:nvSpPr>
          <p:cNvPr id="3" name="TextBox 2">
            <a:extLst>
              <a:ext uri="{FF2B5EF4-FFF2-40B4-BE49-F238E27FC236}">
                <a16:creationId xmlns:a16="http://schemas.microsoft.com/office/drawing/2014/main" id="{666E6A1A-A05A-F7E9-4C4D-D43D7F040066}"/>
              </a:ext>
            </a:extLst>
          </p:cNvPr>
          <p:cNvSpPr txBox="1"/>
          <p:nvPr/>
        </p:nvSpPr>
        <p:spPr>
          <a:xfrm>
            <a:off x="269570" y="1869869"/>
            <a:ext cx="5537285" cy="4832092"/>
          </a:xfrm>
          <a:prstGeom prst="rect">
            <a:avLst/>
          </a:prstGeom>
          <a:noFill/>
        </p:spPr>
        <p:txBody>
          <a:bodyPr wrap="square" rtlCol="0">
            <a:spAutoFit/>
          </a:bodyPr>
          <a:lstStyle/>
          <a:p>
            <a:r>
              <a:rPr lang="en-US" sz="2200" b="1" dirty="0"/>
              <a:t>Multimodal learning </a:t>
            </a:r>
            <a:r>
              <a:rPr lang="en-US" sz="2200" dirty="0"/>
              <a:t>in the tutorial refers to a learning approach where multiple types of healthcare data are combined to improve prediction performance. Specifically, the model integrates structured clinical data (e.g., demographics, vitals, or lab values) with unstructured text data from clinical notes processed using NLP.</a:t>
            </a:r>
          </a:p>
          <a:p>
            <a:endParaRPr lang="en-US" sz="2200" dirty="0"/>
          </a:p>
          <a:p>
            <a:r>
              <a:rPr lang="en-US" sz="2200" dirty="0"/>
              <a:t>By learning from both structured features and text-derived features, the model can capture richer clinical information, leading to more accurate predictions of outcomes such as patient mortality.</a:t>
            </a:r>
          </a:p>
        </p:txBody>
      </p:sp>
      <p:sp>
        <p:nvSpPr>
          <p:cNvPr id="5" name="TextBox 4">
            <a:extLst>
              <a:ext uri="{FF2B5EF4-FFF2-40B4-BE49-F238E27FC236}">
                <a16:creationId xmlns:a16="http://schemas.microsoft.com/office/drawing/2014/main" id="{454EF305-CE75-B80B-9AD3-ABA667C2FAD8}"/>
              </a:ext>
            </a:extLst>
          </p:cNvPr>
          <p:cNvSpPr txBox="1"/>
          <p:nvPr/>
        </p:nvSpPr>
        <p:spPr>
          <a:xfrm>
            <a:off x="6385147" y="1869869"/>
            <a:ext cx="5537285" cy="4524315"/>
          </a:xfrm>
          <a:prstGeom prst="rect">
            <a:avLst/>
          </a:prstGeom>
          <a:noFill/>
        </p:spPr>
        <p:txBody>
          <a:bodyPr wrap="none" rtlCol="0">
            <a:spAutoFit/>
          </a:bodyPr>
          <a:lstStyle/>
          <a:p>
            <a:r>
              <a:rPr lang="en-US" dirty="0" err="1"/>
              <a:t>X_struct</a:t>
            </a:r>
            <a:r>
              <a:rPr lang="en-US" dirty="0"/>
              <a:t> = X</a:t>
            </a:r>
          </a:p>
          <a:p>
            <a:r>
              <a:rPr lang="en-US" dirty="0" err="1"/>
              <a:t>X_struct</a:t>
            </a:r>
            <a:r>
              <a:rPr lang="en-US" dirty="0"/>
              <a:t> = </a:t>
            </a:r>
            <a:r>
              <a:rPr lang="en-US" dirty="0" err="1"/>
              <a:t>pd.get_dummies</a:t>
            </a:r>
            <a:r>
              <a:rPr lang="en-US" dirty="0"/>
              <a:t>(</a:t>
            </a:r>
            <a:r>
              <a:rPr lang="en-US" dirty="0" err="1"/>
              <a:t>X_struct</a:t>
            </a:r>
            <a:r>
              <a:rPr lang="en-US" dirty="0"/>
              <a:t>, </a:t>
            </a:r>
            <a:r>
              <a:rPr lang="en-US" dirty="0" err="1"/>
              <a:t>drop_first</a:t>
            </a:r>
            <a:r>
              <a:rPr lang="en-US" dirty="0"/>
              <a:t>=True)</a:t>
            </a:r>
          </a:p>
          <a:p>
            <a:endParaRPr lang="en-US" dirty="0"/>
          </a:p>
          <a:p>
            <a:endParaRPr lang="en-US" dirty="0"/>
          </a:p>
          <a:p>
            <a:r>
              <a:rPr lang="en-US" dirty="0"/>
              <a:t># text features from NLP model</a:t>
            </a:r>
          </a:p>
          <a:p>
            <a:r>
              <a:rPr lang="en-US" dirty="0"/>
              <a:t>vectorizer = </a:t>
            </a:r>
            <a:r>
              <a:rPr lang="en-US" dirty="0" err="1"/>
              <a:t>TfidfVectorizer</a:t>
            </a:r>
            <a:r>
              <a:rPr lang="en-US" dirty="0"/>
              <a:t>(</a:t>
            </a:r>
            <a:r>
              <a:rPr lang="en-US" dirty="0" err="1"/>
              <a:t>max_features</a:t>
            </a:r>
            <a:r>
              <a:rPr lang="en-US" dirty="0"/>
              <a:t>=2000)</a:t>
            </a:r>
          </a:p>
          <a:p>
            <a:r>
              <a:rPr lang="en-US" dirty="0" err="1"/>
              <a:t>X_text</a:t>
            </a:r>
            <a:r>
              <a:rPr lang="en-US" dirty="0"/>
              <a:t> = </a:t>
            </a:r>
            <a:r>
              <a:rPr lang="en-US" dirty="0" err="1"/>
              <a:t>vectorizer.fit_transform</a:t>
            </a:r>
            <a:r>
              <a:rPr lang="en-US" dirty="0"/>
              <a:t>(texts)</a:t>
            </a:r>
          </a:p>
          <a:p>
            <a:endParaRPr lang="en-US" dirty="0"/>
          </a:p>
          <a:p>
            <a:r>
              <a:rPr lang="en-US" dirty="0"/>
              <a:t># convert text sparse matrix</a:t>
            </a:r>
          </a:p>
          <a:p>
            <a:r>
              <a:rPr lang="en-US" dirty="0" err="1"/>
              <a:t>X_text</a:t>
            </a:r>
            <a:r>
              <a:rPr lang="en-US" dirty="0"/>
              <a:t> = </a:t>
            </a:r>
            <a:r>
              <a:rPr lang="en-US" dirty="0" err="1"/>
              <a:t>pd.DataFrame</a:t>
            </a:r>
            <a:r>
              <a:rPr lang="en-US" dirty="0"/>
              <a:t>(</a:t>
            </a:r>
            <a:r>
              <a:rPr lang="en-US" dirty="0" err="1"/>
              <a:t>X_text.toarray</a:t>
            </a:r>
            <a:r>
              <a:rPr lang="en-US" dirty="0"/>
              <a:t>())</a:t>
            </a:r>
          </a:p>
          <a:p>
            <a:endParaRPr lang="en-US" dirty="0"/>
          </a:p>
          <a:p>
            <a:r>
              <a:rPr lang="en-US" dirty="0"/>
              <a:t># combine both</a:t>
            </a:r>
          </a:p>
          <a:p>
            <a:r>
              <a:rPr lang="en-US" dirty="0" err="1"/>
              <a:t>X_multi</a:t>
            </a:r>
            <a:r>
              <a:rPr lang="en-US" dirty="0"/>
              <a:t> = </a:t>
            </a:r>
            <a:r>
              <a:rPr lang="en-US" dirty="0" err="1"/>
              <a:t>pd.concat</a:t>
            </a:r>
            <a:r>
              <a:rPr lang="en-US" dirty="0"/>
              <a:t>([</a:t>
            </a:r>
            <a:r>
              <a:rPr lang="en-US" dirty="0" err="1"/>
              <a:t>X_struct.reset_index</a:t>
            </a:r>
            <a:r>
              <a:rPr lang="en-US" dirty="0"/>
              <a:t>(drop=True),</a:t>
            </a:r>
          </a:p>
          <a:p>
            <a:r>
              <a:rPr lang="en-US" dirty="0"/>
              <a:t>                     </a:t>
            </a:r>
            <a:r>
              <a:rPr lang="en-US" dirty="0" err="1"/>
              <a:t>X_text.reset_index</a:t>
            </a:r>
            <a:r>
              <a:rPr lang="en-US" dirty="0"/>
              <a:t>(drop=True)], axis=1)</a:t>
            </a:r>
          </a:p>
          <a:p>
            <a:endParaRPr lang="en-US" dirty="0"/>
          </a:p>
          <a:p>
            <a:r>
              <a:rPr lang="en-US" dirty="0" err="1"/>
              <a:t>X_multi.columns</a:t>
            </a:r>
            <a:r>
              <a:rPr lang="en-US" dirty="0"/>
              <a:t> = </a:t>
            </a:r>
            <a:r>
              <a:rPr lang="en-US" dirty="0" err="1"/>
              <a:t>X_multi.columns.astype</a:t>
            </a:r>
            <a:r>
              <a:rPr lang="en-US" dirty="0"/>
              <a:t>(str)</a:t>
            </a:r>
          </a:p>
        </p:txBody>
      </p:sp>
    </p:spTree>
    <p:extLst>
      <p:ext uri="{BB962C8B-B14F-4D97-AF65-F5344CB8AC3E}">
        <p14:creationId xmlns:p14="http://schemas.microsoft.com/office/powerpoint/2010/main" val="56480630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E3CC869-B3A8-4581-C82C-E20DEA1A9CE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DCAD629-A801-F8AF-4469-20D907F345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DA5E910-A40E-C08E-1883-964034AD5E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FB3A34D-1459-9CE5-0AA6-09502459E9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4418DF3-2F2F-49A3-E36B-EDE5D04F30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79ABD19-A641-447A-2D61-4880F3A248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B6923BD-988D-4E39-01D4-84099A8163FA}"/>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Multimodal Model - </a:t>
            </a:r>
            <a:r>
              <a:rPr lang="en-US" sz="4000" dirty="0" err="1">
                <a:solidFill>
                  <a:srgbClr val="FFFFFF"/>
                </a:solidFill>
              </a:rPr>
              <a:t>TfidfVectorizer</a:t>
            </a:r>
            <a:endParaRPr lang="en-US" sz="4000" dirty="0">
              <a:solidFill>
                <a:srgbClr val="FFFFFF"/>
              </a:solidFill>
            </a:endParaRPr>
          </a:p>
        </p:txBody>
      </p:sp>
      <p:sp>
        <p:nvSpPr>
          <p:cNvPr id="3" name="TextBox 2">
            <a:extLst>
              <a:ext uri="{FF2B5EF4-FFF2-40B4-BE49-F238E27FC236}">
                <a16:creationId xmlns:a16="http://schemas.microsoft.com/office/drawing/2014/main" id="{8BAA857F-1BF9-ACEB-84B3-32CE8100A60C}"/>
              </a:ext>
            </a:extLst>
          </p:cNvPr>
          <p:cNvSpPr txBox="1"/>
          <p:nvPr/>
        </p:nvSpPr>
        <p:spPr>
          <a:xfrm>
            <a:off x="269570" y="1869869"/>
            <a:ext cx="11496860" cy="4893647"/>
          </a:xfrm>
          <a:prstGeom prst="rect">
            <a:avLst/>
          </a:prstGeom>
          <a:noFill/>
        </p:spPr>
        <p:txBody>
          <a:bodyPr wrap="square" rtlCol="0">
            <a:spAutoFit/>
          </a:bodyPr>
          <a:lstStyle/>
          <a:p>
            <a:r>
              <a:rPr lang="en-US" sz="2400" dirty="0"/>
              <a:t>We did not use the same </a:t>
            </a:r>
            <a:r>
              <a:rPr lang="en-US" sz="2400" b="1" dirty="0"/>
              <a:t>TF-IDF vectorizer settings </a:t>
            </a:r>
            <a:r>
              <a:rPr lang="en-US" sz="2400" dirty="0"/>
              <a:t>as the standalone NLP model</a:t>
            </a:r>
            <a:r>
              <a:rPr lang="en-US" sz="2400" b="1" dirty="0"/>
              <a:t>.</a:t>
            </a:r>
            <a:endParaRPr lang="en-US" sz="2400" dirty="0"/>
          </a:p>
          <a:p>
            <a:endParaRPr lang="en-US" sz="2400" dirty="0"/>
          </a:p>
          <a:p>
            <a:r>
              <a:rPr lang="en-US" sz="2400" dirty="0"/>
              <a:t>In the multimodal setup, the structured clinical features already carried substantial predictive information. The purpose of the text component only needed to </a:t>
            </a:r>
            <a:r>
              <a:rPr lang="en-US" sz="2400" b="1" dirty="0"/>
              <a:t>augment structured data</a:t>
            </a:r>
            <a:r>
              <a:rPr lang="en-US" sz="2400" dirty="0"/>
              <a:t>, not to represent the entire dataset or fully capture linguistic patterns. Therefore, we limited the text features to keep the feature space </a:t>
            </a:r>
            <a:r>
              <a:rPr lang="en-US" sz="2400" b="1" dirty="0"/>
              <a:t>smaller and computationally efficient</a:t>
            </a:r>
            <a:r>
              <a:rPr lang="en-US" sz="2400" dirty="0"/>
              <a:t>. For the same reason, unigrams were sufficient</a:t>
            </a:r>
            <a:r>
              <a:rPr lang="en-US" sz="2400" b="1" dirty="0"/>
              <a:t> </a:t>
            </a:r>
            <a:r>
              <a:rPr lang="en-US" sz="2400" dirty="0"/>
              <a:t>and</a:t>
            </a:r>
            <a:r>
              <a:rPr lang="en-US" sz="2400" b="1" dirty="0"/>
              <a:t> </a:t>
            </a:r>
            <a:r>
              <a:rPr lang="en-US" sz="2400" dirty="0"/>
              <a:t>bigrams and aggressive filtering were not strictly necessary. </a:t>
            </a:r>
          </a:p>
          <a:p>
            <a:endParaRPr lang="en-US" sz="2400" b="1" dirty="0"/>
          </a:p>
          <a:p>
            <a:r>
              <a:rPr lang="en-US" sz="2400" dirty="0" err="1"/>
              <a:t>TfidfVectorizer</a:t>
            </a:r>
            <a:r>
              <a:rPr lang="en-US" sz="2400" dirty="0"/>
              <a:t>(</a:t>
            </a:r>
            <a:r>
              <a:rPr lang="en-US" sz="2400" dirty="0" err="1"/>
              <a:t>max_features</a:t>
            </a:r>
            <a:r>
              <a:rPr lang="en-US" sz="2400" dirty="0"/>
              <a:t>=2000) automatically selects the top 2000 terms based on importance (TF-IDF score). Since the common stop words have </a:t>
            </a:r>
            <a:r>
              <a:rPr lang="en-US" sz="2400" b="1" dirty="0"/>
              <a:t>very low TF-IDF scores</a:t>
            </a:r>
            <a:r>
              <a:rPr lang="en-US" sz="2400" dirty="0"/>
              <a:t> because they appear in almost all documents, they are </a:t>
            </a:r>
            <a:r>
              <a:rPr lang="en-US" sz="2400" b="1" dirty="0"/>
              <a:t>unlikely to be selected</a:t>
            </a:r>
            <a:r>
              <a:rPr lang="en-US" sz="2400" dirty="0"/>
              <a:t>, making explicit stop word removal less critical.</a:t>
            </a:r>
          </a:p>
        </p:txBody>
      </p:sp>
    </p:spTree>
    <p:extLst>
      <p:ext uri="{BB962C8B-B14F-4D97-AF65-F5344CB8AC3E}">
        <p14:creationId xmlns:p14="http://schemas.microsoft.com/office/powerpoint/2010/main" val="125383134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D3A16D-6AC7-429F-4266-76B7D591E31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6A445E5-F4AE-32A5-5482-D6A092FA79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E6274FC-0BED-0FFB-D0BB-6EFF5A155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728BE330-1229-E863-5365-6A7CCA4D67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09FB529-A783-80D0-FF90-6C28743890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9D43CF4-1569-5559-1F58-83AE4D967C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1EACB50-7907-2352-0462-649841C10969}"/>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Multimodal Model - TF-IDF +  Random Forest</a:t>
            </a:r>
          </a:p>
        </p:txBody>
      </p:sp>
      <p:sp>
        <p:nvSpPr>
          <p:cNvPr id="3" name="TextBox 2">
            <a:extLst>
              <a:ext uri="{FF2B5EF4-FFF2-40B4-BE49-F238E27FC236}">
                <a16:creationId xmlns:a16="http://schemas.microsoft.com/office/drawing/2014/main" id="{0E630E47-EFAB-52F7-6D25-4967C87AF6B8}"/>
              </a:ext>
            </a:extLst>
          </p:cNvPr>
          <p:cNvSpPr txBox="1"/>
          <p:nvPr/>
        </p:nvSpPr>
        <p:spPr>
          <a:xfrm>
            <a:off x="269570" y="1869869"/>
            <a:ext cx="5826430" cy="4524315"/>
          </a:xfrm>
          <a:prstGeom prst="rect">
            <a:avLst/>
          </a:prstGeom>
          <a:noFill/>
        </p:spPr>
        <p:txBody>
          <a:bodyPr wrap="square" rtlCol="0">
            <a:spAutoFit/>
          </a:bodyPr>
          <a:lstStyle/>
          <a:p>
            <a:r>
              <a:rPr lang="en-US" sz="2400" dirty="0"/>
              <a:t>After building the dataset for multimodal model, Random Forest classifier is used to train the training dataset</a:t>
            </a:r>
            <a:r>
              <a:rPr lang="en-US" sz="2400" b="1" dirty="0"/>
              <a:t>.</a:t>
            </a:r>
          </a:p>
          <a:p>
            <a:endParaRPr lang="en-US" sz="2400" b="1" dirty="0"/>
          </a:p>
          <a:p>
            <a:r>
              <a:rPr lang="en-US" sz="2400" b="1" dirty="0"/>
              <a:t>Why Random Forest classifier?</a:t>
            </a:r>
          </a:p>
          <a:p>
            <a:endParaRPr lang="en-US" sz="2400" dirty="0"/>
          </a:p>
          <a:p>
            <a:r>
              <a:rPr lang="en-US" sz="2400" dirty="0"/>
              <a:t>Random Forest classifiers perform well when the feature space is informative but not excessively sparse.</a:t>
            </a:r>
          </a:p>
          <a:p>
            <a:endParaRPr lang="en-US" sz="2400" dirty="0"/>
          </a:p>
          <a:p>
            <a:r>
              <a:rPr lang="en-US" sz="2400" dirty="0"/>
              <a:t>Besides, we already used Logistic Regression classifier in the NLP model. </a:t>
            </a:r>
          </a:p>
        </p:txBody>
      </p:sp>
      <p:sp>
        <p:nvSpPr>
          <p:cNvPr id="4" name="TextBox 3">
            <a:extLst>
              <a:ext uri="{FF2B5EF4-FFF2-40B4-BE49-F238E27FC236}">
                <a16:creationId xmlns:a16="http://schemas.microsoft.com/office/drawing/2014/main" id="{E73CFC13-83E2-7A60-00E1-BC24C3B88B9B}"/>
              </a:ext>
            </a:extLst>
          </p:cNvPr>
          <p:cNvSpPr txBox="1"/>
          <p:nvPr/>
        </p:nvSpPr>
        <p:spPr>
          <a:xfrm>
            <a:off x="6521978" y="1900382"/>
            <a:ext cx="5400452" cy="4493538"/>
          </a:xfrm>
          <a:prstGeom prst="rect">
            <a:avLst/>
          </a:prstGeom>
          <a:noFill/>
        </p:spPr>
        <p:txBody>
          <a:bodyPr wrap="square" rtlCol="0">
            <a:spAutoFit/>
          </a:bodyPr>
          <a:lstStyle/>
          <a:p>
            <a:r>
              <a:rPr lang="en-US" sz="2200" dirty="0" err="1"/>
              <a:t>X_multi_train</a:t>
            </a:r>
            <a:r>
              <a:rPr lang="en-US" sz="2200" dirty="0"/>
              <a:t>, </a:t>
            </a:r>
            <a:r>
              <a:rPr lang="en-US" sz="2200" dirty="0" err="1"/>
              <a:t>X_multi_test</a:t>
            </a:r>
            <a:r>
              <a:rPr lang="en-US" sz="2200" dirty="0"/>
              <a:t>, </a:t>
            </a:r>
            <a:r>
              <a:rPr lang="en-US" sz="2200" dirty="0" err="1"/>
              <a:t>y_train</a:t>
            </a:r>
            <a:r>
              <a:rPr lang="en-US" sz="2200" dirty="0"/>
              <a:t>, </a:t>
            </a:r>
            <a:r>
              <a:rPr lang="en-US" sz="2200" dirty="0" err="1"/>
              <a:t>y_test</a:t>
            </a:r>
            <a:r>
              <a:rPr lang="en-US" sz="2200" dirty="0"/>
              <a:t> = </a:t>
            </a:r>
            <a:r>
              <a:rPr lang="en-US" sz="2200" dirty="0" err="1"/>
              <a:t>train_test_split</a:t>
            </a:r>
            <a:r>
              <a:rPr lang="en-US" sz="2200" dirty="0"/>
              <a:t>(</a:t>
            </a:r>
          </a:p>
          <a:p>
            <a:r>
              <a:rPr lang="en-US" sz="2200" dirty="0"/>
              <a:t>    </a:t>
            </a:r>
            <a:r>
              <a:rPr lang="en-US" sz="2200" dirty="0" err="1"/>
              <a:t>X_multi</a:t>
            </a:r>
            <a:r>
              <a:rPr lang="en-US" sz="2200" dirty="0"/>
              <a:t>,</a:t>
            </a:r>
          </a:p>
          <a:p>
            <a:r>
              <a:rPr lang="en-US" sz="2200" dirty="0"/>
              <a:t>    y,</a:t>
            </a:r>
          </a:p>
          <a:p>
            <a:r>
              <a:rPr lang="en-US" sz="2200" dirty="0"/>
              <a:t>    </a:t>
            </a:r>
            <a:r>
              <a:rPr lang="en-US" sz="2200" dirty="0" err="1"/>
              <a:t>test_size</a:t>
            </a:r>
            <a:r>
              <a:rPr lang="en-US" sz="2200" dirty="0"/>
              <a:t>=0.2,</a:t>
            </a:r>
          </a:p>
          <a:p>
            <a:r>
              <a:rPr lang="en-US" sz="2200" dirty="0"/>
              <a:t>    </a:t>
            </a:r>
            <a:r>
              <a:rPr lang="en-US" sz="2200" dirty="0" err="1"/>
              <a:t>random_state</a:t>
            </a:r>
            <a:r>
              <a:rPr lang="en-US" sz="2200" dirty="0"/>
              <a:t>=42</a:t>
            </a:r>
          </a:p>
          <a:p>
            <a:r>
              <a:rPr lang="en-US" sz="2200" dirty="0"/>
              <a:t>)</a:t>
            </a:r>
          </a:p>
          <a:p>
            <a:endParaRPr lang="en-US" sz="2200" dirty="0"/>
          </a:p>
          <a:p>
            <a:r>
              <a:rPr lang="en-US" sz="2200" dirty="0" err="1"/>
              <a:t>rf_multi</a:t>
            </a:r>
            <a:r>
              <a:rPr lang="en-US" sz="2200" dirty="0"/>
              <a:t> = </a:t>
            </a:r>
            <a:r>
              <a:rPr lang="en-US" sz="2200" dirty="0" err="1"/>
              <a:t>RandomForestClassifier</a:t>
            </a:r>
            <a:r>
              <a:rPr lang="en-US" sz="2200" dirty="0"/>
              <a:t>(</a:t>
            </a:r>
            <a:r>
              <a:rPr lang="en-US" sz="2200" dirty="0" err="1"/>
              <a:t>n_estimators</a:t>
            </a:r>
            <a:r>
              <a:rPr lang="en-US" sz="2200" dirty="0"/>
              <a:t>=100)</a:t>
            </a:r>
          </a:p>
          <a:p>
            <a:endParaRPr lang="en-US" sz="2200" dirty="0"/>
          </a:p>
          <a:p>
            <a:r>
              <a:rPr lang="en-US" sz="2200" dirty="0" err="1"/>
              <a:t>rf_multi.fit</a:t>
            </a:r>
            <a:r>
              <a:rPr lang="en-US" sz="2200" dirty="0"/>
              <a:t>(</a:t>
            </a:r>
            <a:r>
              <a:rPr lang="en-US" sz="2200" dirty="0" err="1"/>
              <a:t>X_multi_train</a:t>
            </a:r>
            <a:r>
              <a:rPr lang="en-US" sz="2200" dirty="0"/>
              <a:t>, </a:t>
            </a:r>
            <a:r>
              <a:rPr lang="en-US" sz="2200" dirty="0" err="1"/>
              <a:t>y_train</a:t>
            </a:r>
            <a:r>
              <a:rPr lang="en-US" sz="2200" dirty="0"/>
              <a:t>)</a:t>
            </a:r>
          </a:p>
        </p:txBody>
      </p:sp>
    </p:spTree>
    <p:extLst>
      <p:ext uri="{BB962C8B-B14F-4D97-AF65-F5344CB8AC3E}">
        <p14:creationId xmlns:p14="http://schemas.microsoft.com/office/powerpoint/2010/main" val="27311033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56E65B-5E29-67A4-79F0-8384B1AA9BD9}"/>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238A6E4D-CBBF-27EA-6721-07EDB734C2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8C67577-946A-66E1-21DC-B62662DAB4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810A5A0D-8C31-B0A3-861D-282DFA7113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F2B4352-4C24-F7E2-0BC7-35ABD52878F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D0719E8-E7A0-E7B2-2E0B-1D89D738D2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032233-1A1D-3B3D-0C40-30DAA07BD439}"/>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Top Features In Models - Logistic Regression</a:t>
            </a:r>
          </a:p>
        </p:txBody>
      </p:sp>
      <p:pic>
        <p:nvPicPr>
          <p:cNvPr id="6" name="Picture 5" descr="A graph of a number of people&#10;&#10;AI-generated content may be incorrect.">
            <a:extLst>
              <a:ext uri="{FF2B5EF4-FFF2-40B4-BE49-F238E27FC236}">
                <a16:creationId xmlns:a16="http://schemas.microsoft.com/office/drawing/2014/main" id="{6797A9B1-0D81-793E-B7A7-5D24B5486693}"/>
              </a:ext>
            </a:extLst>
          </p:cNvPr>
          <p:cNvPicPr>
            <a:picLocks noChangeAspect="1"/>
          </p:cNvPicPr>
          <p:nvPr/>
        </p:nvPicPr>
        <p:blipFill>
          <a:blip r:embed="rId3"/>
          <a:stretch>
            <a:fillRect/>
          </a:stretch>
        </p:blipFill>
        <p:spPr>
          <a:xfrm>
            <a:off x="1464733" y="2100504"/>
            <a:ext cx="8983133" cy="4462958"/>
          </a:xfrm>
          <a:prstGeom prst="rect">
            <a:avLst/>
          </a:prstGeom>
        </p:spPr>
      </p:pic>
    </p:spTree>
    <p:extLst>
      <p:ext uri="{BB962C8B-B14F-4D97-AF65-F5344CB8AC3E}">
        <p14:creationId xmlns:p14="http://schemas.microsoft.com/office/powerpoint/2010/main" val="11709142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AD0402-09DC-E82C-F03A-84E9B667843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1EA110C-7EDE-11A5-4964-6F1ED08929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CB53D45-2B66-8F72-3EE7-12F2C2A9DF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D3C5FB9-EB90-2BEC-29FF-2675FED04E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4E734A60-FDDC-57A9-9C02-26E9239144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BE389B2-1F22-7467-E6B9-E99218F3F0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07B2E5C-96D8-461B-73AA-59DF835F39F2}"/>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Top Features In Models - Random Forest</a:t>
            </a:r>
          </a:p>
        </p:txBody>
      </p:sp>
      <p:pic>
        <p:nvPicPr>
          <p:cNvPr id="4" name="Picture 3" descr="A graph of different types of forest feature&#10;&#10;AI-generated content may be incorrect.">
            <a:extLst>
              <a:ext uri="{FF2B5EF4-FFF2-40B4-BE49-F238E27FC236}">
                <a16:creationId xmlns:a16="http://schemas.microsoft.com/office/drawing/2014/main" id="{2BE04989-9CF3-B083-150F-FD4416DCAE23}"/>
              </a:ext>
            </a:extLst>
          </p:cNvPr>
          <p:cNvPicPr>
            <a:picLocks noChangeAspect="1"/>
          </p:cNvPicPr>
          <p:nvPr/>
        </p:nvPicPr>
        <p:blipFill>
          <a:blip r:embed="rId3"/>
          <a:stretch>
            <a:fillRect/>
          </a:stretch>
        </p:blipFill>
        <p:spPr>
          <a:xfrm>
            <a:off x="1390648" y="1891970"/>
            <a:ext cx="8763000" cy="4548946"/>
          </a:xfrm>
          <a:prstGeom prst="rect">
            <a:avLst/>
          </a:prstGeom>
        </p:spPr>
      </p:pic>
    </p:spTree>
    <p:extLst>
      <p:ext uri="{BB962C8B-B14F-4D97-AF65-F5344CB8AC3E}">
        <p14:creationId xmlns:p14="http://schemas.microsoft.com/office/powerpoint/2010/main" val="369605822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94FFE0F-78DF-435B-1E88-5A23EFC216CA}"/>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20DD9EC-725B-3F19-43A2-E7C6E49DD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D975620-FB90-D2CD-D508-02C5FB12A1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0E67856-0E02-6C07-838D-09E9A89D97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8B99C70-A1B8-DCA3-10FE-FAEA653470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D4E2BF90-7D0C-B8CC-F610-488213CD2F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25637E-3AFC-E45D-E441-90D31CE309EE}"/>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Top Features In Models - NLP</a:t>
            </a:r>
          </a:p>
        </p:txBody>
      </p:sp>
      <p:pic>
        <p:nvPicPr>
          <p:cNvPr id="5" name="Picture 4" descr="A graph with blue and white bars&#10;&#10;AI-generated content may be incorrect.">
            <a:extLst>
              <a:ext uri="{FF2B5EF4-FFF2-40B4-BE49-F238E27FC236}">
                <a16:creationId xmlns:a16="http://schemas.microsoft.com/office/drawing/2014/main" id="{E25A9D08-E58D-AEF0-E44B-C0FCC54BCF19}"/>
              </a:ext>
            </a:extLst>
          </p:cNvPr>
          <p:cNvPicPr>
            <a:picLocks noChangeAspect="1"/>
          </p:cNvPicPr>
          <p:nvPr/>
        </p:nvPicPr>
        <p:blipFill>
          <a:blip r:embed="rId3"/>
          <a:stretch>
            <a:fillRect/>
          </a:stretch>
        </p:blipFill>
        <p:spPr>
          <a:xfrm>
            <a:off x="239217" y="2023533"/>
            <a:ext cx="5664200" cy="3962400"/>
          </a:xfrm>
          <a:prstGeom prst="rect">
            <a:avLst/>
          </a:prstGeom>
        </p:spPr>
      </p:pic>
      <p:pic>
        <p:nvPicPr>
          <p:cNvPr id="7" name="Picture 6" descr="A graph with blue and white bars&#10;&#10;AI-generated content may be incorrect.">
            <a:extLst>
              <a:ext uri="{FF2B5EF4-FFF2-40B4-BE49-F238E27FC236}">
                <a16:creationId xmlns:a16="http://schemas.microsoft.com/office/drawing/2014/main" id="{C2D04393-ED72-F51A-D974-7068AB642DF7}"/>
              </a:ext>
            </a:extLst>
          </p:cNvPr>
          <p:cNvPicPr>
            <a:picLocks noChangeAspect="1"/>
          </p:cNvPicPr>
          <p:nvPr/>
        </p:nvPicPr>
        <p:blipFill>
          <a:blip r:embed="rId4"/>
          <a:stretch>
            <a:fillRect/>
          </a:stretch>
        </p:blipFill>
        <p:spPr>
          <a:xfrm>
            <a:off x="5727700" y="2016842"/>
            <a:ext cx="6464300" cy="3962400"/>
          </a:xfrm>
          <a:prstGeom prst="rect">
            <a:avLst/>
          </a:prstGeom>
        </p:spPr>
      </p:pic>
    </p:spTree>
    <p:extLst>
      <p:ext uri="{BB962C8B-B14F-4D97-AF65-F5344CB8AC3E}">
        <p14:creationId xmlns:p14="http://schemas.microsoft.com/office/powerpoint/2010/main" val="24016971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AC1471F-DCB8-A34B-4E74-8CAE8ED43810}"/>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B49D51F0-070D-1D02-9BD3-651C0843BC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01DCFDF0-6D9D-42C8-D06F-C4310606B5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25F238A-EEC9-3459-4FA3-66D8931C70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8385F73-C752-D04C-99B1-855B92E071E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614A3784-157D-4CE6-0B50-253F8CAC3E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950D9AF-553A-03C7-706A-760C7AF63A82}"/>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Top Features In Models - Neural Network </a:t>
            </a:r>
          </a:p>
        </p:txBody>
      </p:sp>
      <p:pic>
        <p:nvPicPr>
          <p:cNvPr id="6" name="Picture 5" descr="A graph of data showing the number of neurology&#10;&#10;AI-generated content may be incorrect.">
            <a:extLst>
              <a:ext uri="{FF2B5EF4-FFF2-40B4-BE49-F238E27FC236}">
                <a16:creationId xmlns:a16="http://schemas.microsoft.com/office/drawing/2014/main" id="{4A82DD02-7607-C000-2932-DBD30E67C31B}"/>
              </a:ext>
            </a:extLst>
          </p:cNvPr>
          <p:cNvPicPr>
            <a:picLocks noChangeAspect="1"/>
          </p:cNvPicPr>
          <p:nvPr/>
        </p:nvPicPr>
        <p:blipFill>
          <a:blip r:embed="rId3"/>
          <a:stretch>
            <a:fillRect/>
          </a:stretch>
        </p:blipFill>
        <p:spPr>
          <a:xfrm>
            <a:off x="1734438" y="1891970"/>
            <a:ext cx="8723119" cy="4187097"/>
          </a:xfrm>
          <a:prstGeom prst="rect">
            <a:avLst/>
          </a:prstGeom>
        </p:spPr>
      </p:pic>
    </p:spTree>
    <p:extLst>
      <p:ext uri="{BB962C8B-B14F-4D97-AF65-F5344CB8AC3E}">
        <p14:creationId xmlns:p14="http://schemas.microsoft.com/office/powerpoint/2010/main" val="381624206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A4FA5B8-87C2-179B-BD7B-A697B73B6FF5}"/>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29A7FE91-8199-95B0-3B32-AE3D551C2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55B078F-3496-64B1-BFF6-D66731F849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581A0047-92C5-1056-28EE-DE58E9BE2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4623035-9090-90A3-BB15-18612A7F02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BB5EB793-E177-F64A-4344-99E519F6A5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61266C-B2BB-A012-DF28-1F6A215B5502}"/>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Top Features In Models - Multimodal</a:t>
            </a:r>
          </a:p>
        </p:txBody>
      </p:sp>
      <p:pic>
        <p:nvPicPr>
          <p:cNvPr id="5" name="Picture 4" descr="A graph of a number of patients&#10;&#10;AI-generated content may be incorrect.">
            <a:extLst>
              <a:ext uri="{FF2B5EF4-FFF2-40B4-BE49-F238E27FC236}">
                <a16:creationId xmlns:a16="http://schemas.microsoft.com/office/drawing/2014/main" id="{7C6F0913-036D-687B-76A4-C028CD852657}"/>
              </a:ext>
            </a:extLst>
          </p:cNvPr>
          <p:cNvPicPr>
            <a:picLocks noChangeAspect="1"/>
          </p:cNvPicPr>
          <p:nvPr/>
        </p:nvPicPr>
        <p:blipFill>
          <a:blip r:embed="rId3"/>
          <a:stretch>
            <a:fillRect/>
          </a:stretch>
        </p:blipFill>
        <p:spPr>
          <a:xfrm>
            <a:off x="1891541" y="1622745"/>
            <a:ext cx="8408913" cy="4767793"/>
          </a:xfrm>
          <a:prstGeom prst="rect">
            <a:avLst/>
          </a:prstGeom>
        </p:spPr>
      </p:pic>
    </p:spTree>
    <p:extLst>
      <p:ext uri="{BB962C8B-B14F-4D97-AF65-F5344CB8AC3E}">
        <p14:creationId xmlns:p14="http://schemas.microsoft.com/office/powerpoint/2010/main" val="168120146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0F94490-9C60-0BE8-5C1C-0B66581E080F}"/>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2BFA872-F8E2-A5B7-AFD2-8E613BEA0B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BF30D60-3AB4-2346-5377-68CDAC1CB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9E6B1821-9CA9-97E2-8FAA-270B0DB9F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ED2F495-AC55-5A2A-5E34-64CC4EBCC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FC3BB69F-7375-599C-CA42-E89B8ED550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BEA35CE-1E66-E47D-0EDA-FFFD3C0522BE}"/>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Key Predictive Features Identified Across Models</a:t>
            </a:r>
          </a:p>
        </p:txBody>
      </p:sp>
      <p:sp>
        <p:nvSpPr>
          <p:cNvPr id="3" name="TextBox 2">
            <a:extLst>
              <a:ext uri="{FF2B5EF4-FFF2-40B4-BE49-F238E27FC236}">
                <a16:creationId xmlns:a16="http://schemas.microsoft.com/office/drawing/2014/main" id="{5F148663-EB75-FD91-8271-5D07E0E40DA9}"/>
              </a:ext>
            </a:extLst>
          </p:cNvPr>
          <p:cNvSpPr txBox="1"/>
          <p:nvPr/>
        </p:nvSpPr>
        <p:spPr>
          <a:xfrm>
            <a:off x="229675" y="1688559"/>
            <a:ext cx="11732646" cy="5078313"/>
          </a:xfrm>
          <a:prstGeom prst="rect">
            <a:avLst/>
          </a:prstGeom>
          <a:noFill/>
        </p:spPr>
        <p:txBody>
          <a:bodyPr wrap="square" rtlCol="0">
            <a:spAutoFit/>
          </a:bodyPr>
          <a:lstStyle/>
          <a:p>
            <a:r>
              <a:rPr lang="en-US" dirty="0"/>
              <a:t>Across models, </a:t>
            </a:r>
            <a:r>
              <a:rPr lang="en-US" b="1" dirty="0"/>
              <a:t>several clinical variables</a:t>
            </a:r>
            <a:r>
              <a:rPr lang="en-US" dirty="0"/>
              <a:t> consistently appeared as strong predictors of mortality:</a:t>
            </a:r>
          </a:p>
          <a:p>
            <a:endParaRPr lang="en-US" dirty="0"/>
          </a:p>
          <a:p>
            <a:r>
              <a:rPr lang="en-US" b="1" dirty="0"/>
              <a:t>WBC (White Blood Cell Count)</a:t>
            </a:r>
            <a:r>
              <a:rPr lang="en-US" dirty="0"/>
              <a:t> – strongest predictor in several models, indicating infection or systemic inflammation.</a:t>
            </a:r>
          </a:p>
          <a:p>
            <a:r>
              <a:rPr lang="en-US" b="1" dirty="0"/>
              <a:t>BUN (Blood Urea Nitrogen)</a:t>
            </a:r>
            <a:r>
              <a:rPr lang="en-US" dirty="0"/>
              <a:t> – reflects kidney function and severity of illness.</a:t>
            </a:r>
          </a:p>
          <a:p>
            <a:r>
              <a:rPr lang="en-US" b="1" dirty="0"/>
              <a:t>Platelets</a:t>
            </a:r>
            <a:r>
              <a:rPr lang="en-US" dirty="0"/>
              <a:t> – abnormal platelet counts can indicate bleeding disorders or severe illness.</a:t>
            </a:r>
          </a:p>
          <a:p>
            <a:r>
              <a:rPr lang="en-US" b="1" dirty="0"/>
              <a:t>Creatinine</a:t>
            </a:r>
            <a:r>
              <a:rPr lang="en-US" dirty="0"/>
              <a:t> – marker of kidney dysfunction.</a:t>
            </a:r>
          </a:p>
          <a:p>
            <a:r>
              <a:rPr lang="en-US" b="1" dirty="0"/>
              <a:t>Sodium &amp; Potassium</a:t>
            </a:r>
            <a:r>
              <a:rPr lang="en-US" dirty="0"/>
              <a:t> – electrolyte imbalances associated with critical illness.</a:t>
            </a:r>
          </a:p>
          <a:p>
            <a:r>
              <a:rPr lang="en-US" b="1" dirty="0"/>
              <a:t>Hemoglobin</a:t>
            </a:r>
            <a:r>
              <a:rPr lang="en-US" dirty="0"/>
              <a:t> – reflects anemia or blood loss.</a:t>
            </a:r>
          </a:p>
          <a:p>
            <a:r>
              <a:rPr lang="en-US" b="1" dirty="0"/>
              <a:t>Heart Rate, Blood Pressure, Respiratory Rate</a:t>
            </a:r>
            <a:r>
              <a:rPr lang="en-US" dirty="0"/>
              <a:t> – vital signs indicating physiological instability.</a:t>
            </a:r>
          </a:p>
          <a:p>
            <a:r>
              <a:rPr lang="en-US" b="1" dirty="0"/>
              <a:t>Age</a:t>
            </a:r>
            <a:r>
              <a:rPr lang="en-US" dirty="0"/>
              <a:t> – older patients generally have higher mortality risk.</a:t>
            </a:r>
          </a:p>
          <a:p>
            <a:r>
              <a:rPr lang="en-US" b="1" dirty="0"/>
              <a:t>Length of Stay (LOS)</a:t>
            </a:r>
            <a:r>
              <a:rPr lang="en-US" dirty="0"/>
              <a:t> – longer hospitalization may reflect more severe disease.</a:t>
            </a:r>
          </a:p>
          <a:p>
            <a:endParaRPr lang="en-US" dirty="0"/>
          </a:p>
          <a:p>
            <a:r>
              <a:rPr lang="en-US" b="1" dirty="0"/>
              <a:t>Admission-related features</a:t>
            </a:r>
            <a:r>
              <a:rPr lang="en-US" dirty="0"/>
              <a:t> also contributed to predictions:</a:t>
            </a:r>
          </a:p>
          <a:p>
            <a:endParaRPr lang="en-US" dirty="0"/>
          </a:p>
          <a:p>
            <a:r>
              <a:rPr lang="en-US" b="1" dirty="0"/>
              <a:t>Admission Type</a:t>
            </a:r>
            <a:r>
              <a:rPr lang="en-US" dirty="0"/>
              <a:t> (Emergency / Urgent)</a:t>
            </a:r>
          </a:p>
          <a:p>
            <a:r>
              <a:rPr lang="en-US" b="1" dirty="0"/>
              <a:t>Admission Location</a:t>
            </a:r>
            <a:r>
              <a:rPr lang="en-US" dirty="0"/>
              <a:t> (Emergency Room, Transfers from other facilities)</a:t>
            </a:r>
          </a:p>
          <a:p>
            <a:endParaRPr lang="en-US" dirty="0"/>
          </a:p>
          <a:p>
            <a:r>
              <a:rPr lang="en-US" dirty="0"/>
              <a:t>These variables capture patient severity, organ function, and physiological stability.</a:t>
            </a:r>
          </a:p>
        </p:txBody>
      </p:sp>
    </p:spTree>
    <p:extLst>
      <p:ext uri="{BB962C8B-B14F-4D97-AF65-F5344CB8AC3E}">
        <p14:creationId xmlns:p14="http://schemas.microsoft.com/office/powerpoint/2010/main" val="6319038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79AF3A-40C2-0C95-D664-8432FA8444A4}"/>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AA7C8A0-EE5D-9C60-42AA-EA6FFEAD31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82C0E35D-492E-37EE-6913-DFD63402A0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C52818F-546D-7EF9-3842-56221CC0C1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605C1B17-3A87-4364-DE2D-73833AFE8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140CEA9-8108-9917-0BCE-BCD9F96845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13A4A58-3DC8-D98B-BA49-9A0E1AEDBFF7}"/>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Important NLP Features</a:t>
            </a:r>
          </a:p>
        </p:txBody>
      </p:sp>
      <p:sp>
        <p:nvSpPr>
          <p:cNvPr id="3" name="TextBox 2">
            <a:extLst>
              <a:ext uri="{FF2B5EF4-FFF2-40B4-BE49-F238E27FC236}">
                <a16:creationId xmlns:a16="http://schemas.microsoft.com/office/drawing/2014/main" id="{34AE5649-FF7C-F478-E98B-34BC1F917FA7}"/>
              </a:ext>
            </a:extLst>
          </p:cNvPr>
          <p:cNvSpPr txBox="1"/>
          <p:nvPr/>
        </p:nvSpPr>
        <p:spPr>
          <a:xfrm>
            <a:off x="459350" y="1688559"/>
            <a:ext cx="10575443" cy="5016758"/>
          </a:xfrm>
          <a:prstGeom prst="rect">
            <a:avLst/>
          </a:prstGeom>
          <a:noFill/>
        </p:spPr>
        <p:txBody>
          <a:bodyPr wrap="square" rtlCol="0">
            <a:spAutoFit/>
          </a:bodyPr>
          <a:lstStyle/>
          <a:p>
            <a:r>
              <a:rPr lang="en-US" sz="2000" dirty="0"/>
              <a:t>The </a:t>
            </a:r>
            <a:r>
              <a:rPr lang="en-US" sz="2000" b="1" dirty="0"/>
              <a:t>NLP model</a:t>
            </a:r>
            <a:r>
              <a:rPr lang="en-US" sz="2000" dirty="0"/>
              <a:t> identified key medical terms associated with high mortality risk:</a:t>
            </a:r>
          </a:p>
          <a:p>
            <a:endParaRPr lang="en-US" sz="2000" dirty="0"/>
          </a:p>
          <a:p>
            <a:r>
              <a:rPr lang="en-US" sz="2000" b="1" dirty="0"/>
              <a:t>Clinical Conditions</a:t>
            </a:r>
            <a:endParaRPr lang="en-US" sz="2000" dirty="0"/>
          </a:p>
          <a:p>
            <a:r>
              <a:rPr lang="en-US" sz="2000" i="1" dirty="0"/>
              <a:t>shock</a:t>
            </a:r>
            <a:endParaRPr lang="en-US" sz="2000" dirty="0"/>
          </a:p>
          <a:p>
            <a:r>
              <a:rPr lang="en-US" sz="2000" i="1" dirty="0"/>
              <a:t>cardiogenic</a:t>
            </a:r>
            <a:endParaRPr lang="en-US" sz="2000" dirty="0"/>
          </a:p>
          <a:p>
            <a:r>
              <a:rPr lang="en-US" sz="2000" i="1" dirty="0"/>
              <a:t>brain</a:t>
            </a:r>
            <a:endParaRPr lang="en-US" sz="2000" dirty="0"/>
          </a:p>
          <a:p>
            <a:r>
              <a:rPr lang="en-US" sz="2000" i="1" dirty="0"/>
              <a:t>arrest</a:t>
            </a:r>
            <a:endParaRPr lang="en-US" sz="2000" dirty="0"/>
          </a:p>
          <a:p>
            <a:r>
              <a:rPr lang="en-US" sz="2000" i="1" dirty="0" err="1"/>
              <a:t>Gvhd</a:t>
            </a:r>
            <a:endParaRPr lang="en-US" sz="2000" i="1" dirty="0"/>
          </a:p>
          <a:p>
            <a:endParaRPr lang="en-US" sz="2000" dirty="0"/>
          </a:p>
          <a:p>
            <a:r>
              <a:rPr lang="en-US" sz="2000" b="1" dirty="0"/>
              <a:t>Medications / Interventions</a:t>
            </a:r>
            <a:endParaRPr lang="en-US" sz="2000" dirty="0"/>
          </a:p>
          <a:p>
            <a:r>
              <a:rPr lang="en-US" sz="2000" i="1" dirty="0" err="1"/>
              <a:t>levophed</a:t>
            </a:r>
            <a:r>
              <a:rPr lang="en-US" sz="2000" dirty="0"/>
              <a:t> (vasopressor used in shock)</a:t>
            </a:r>
          </a:p>
          <a:p>
            <a:r>
              <a:rPr lang="en-US" sz="2000" i="1" dirty="0"/>
              <a:t>morphine</a:t>
            </a:r>
            <a:endParaRPr lang="en-US" sz="2000" dirty="0"/>
          </a:p>
          <a:p>
            <a:r>
              <a:rPr lang="en-US" sz="2000" i="1" dirty="0"/>
              <a:t>Pressors</a:t>
            </a:r>
          </a:p>
          <a:p>
            <a:endParaRPr lang="en-US" sz="2000" dirty="0"/>
          </a:p>
          <a:p>
            <a:r>
              <a:rPr lang="en-US" sz="2000" b="1" dirty="0"/>
              <a:t>Procedures / Monitoring</a:t>
            </a:r>
            <a:endParaRPr lang="en-US" sz="2000" dirty="0"/>
          </a:p>
          <a:p>
            <a:r>
              <a:rPr lang="en-US" sz="2000" i="1" dirty="0" err="1"/>
              <a:t>eeg</a:t>
            </a:r>
            <a:endParaRPr lang="en-US" sz="2000" dirty="0"/>
          </a:p>
        </p:txBody>
      </p:sp>
    </p:spTree>
    <p:extLst>
      <p:ext uri="{BB962C8B-B14F-4D97-AF65-F5344CB8AC3E}">
        <p14:creationId xmlns:p14="http://schemas.microsoft.com/office/powerpoint/2010/main" val="426367676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EA2DCDC-795C-83DC-249B-BA239EF11E45}"/>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DB018CCC-4678-B32F-0A28-1F3B420E25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C7A522D0-E5F9-EE1E-BD98-8D9F67913D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ABFDE82D-D06E-98C7-C7F7-D160180ED8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66B9C43-BBAE-F049-F733-8510E21469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55C4C338-C99F-7567-641F-F0A750A22A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B54EB95-E7A3-0A04-85D0-54BC457520FA}"/>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Important NLP Bigrams</a:t>
            </a:r>
          </a:p>
        </p:txBody>
      </p:sp>
      <p:sp>
        <p:nvSpPr>
          <p:cNvPr id="3" name="TextBox 2">
            <a:extLst>
              <a:ext uri="{FF2B5EF4-FFF2-40B4-BE49-F238E27FC236}">
                <a16:creationId xmlns:a16="http://schemas.microsoft.com/office/drawing/2014/main" id="{942536ED-A317-5514-46CC-40C3C1520742}"/>
              </a:ext>
            </a:extLst>
          </p:cNvPr>
          <p:cNvSpPr txBox="1"/>
          <p:nvPr/>
        </p:nvSpPr>
        <p:spPr>
          <a:xfrm>
            <a:off x="587828" y="1885279"/>
            <a:ext cx="10772430" cy="4524315"/>
          </a:xfrm>
          <a:prstGeom prst="rect">
            <a:avLst/>
          </a:prstGeom>
          <a:noFill/>
        </p:spPr>
        <p:txBody>
          <a:bodyPr wrap="square" rtlCol="0">
            <a:spAutoFit/>
          </a:bodyPr>
          <a:lstStyle/>
          <a:p>
            <a:r>
              <a:rPr lang="en-US" sz="2400" dirty="0"/>
              <a:t>Important </a:t>
            </a:r>
            <a:r>
              <a:rPr lang="en-US" sz="2400" b="1" dirty="0"/>
              <a:t>two-word clinical phrases</a:t>
            </a:r>
            <a:r>
              <a:rPr lang="en-US" sz="2400" dirty="0"/>
              <a:t> included:</a:t>
            </a:r>
          </a:p>
          <a:p>
            <a:endParaRPr lang="en-US" sz="2400" dirty="0"/>
          </a:p>
          <a:p>
            <a:r>
              <a:rPr lang="en-US" sz="2400" i="1" dirty="0"/>
              <a:t>pleural effusion</a:t>
            </a:r>
            <a:endParaRPr lang="en-US" sz="2400" dirty="0"/>
          </a:p>
          <a:p>
            <a:r>
              <a:rPr lang="en-US" sz="2400" i="1" dirty="0"/>
              <a:t>septic shock</a:t>
            </a:r>
            <a:endParaRPr lang="en-US" sz="2400" dirty="0"/>
          </a:p>
          <a:p>
            <a:r>
              <a:rPr lang="en-US" sz="2400" i="1" dirty="0"/>
              <a:t>septic assessment</a:t>
            </a:r>
            <a:endParaRPr lang="en-US" sz="2400" dirty="0"/>
          </a:p>
          <a:p>
            <a:r>
              <a:rPr lang="en-US" sz="2400" i="1" dirty="0"/>
              <a:t>morphine </a:t>
            </a:r>
            <a:r>
              <a:rPr lang="en-US" sz="2400" i="1" dirty="0" err="1"/>
              <a:t>gtt</a:t>
            </a:r>
            <a:endParaRPr lang="en-US" sz="2400" dirty="0"/>
          </a:p>
          <a:p>
            <a:r>
              <a:rPr lang="en-US" sz="2400" i="1" dirty="0"/>
              <a:t>hip pain</a:t>
            </a:r>
            <a:endParaRPr lang="en-US" sz="2400" dirty="0"/>
          </a:p>
          <a:p>
            <a:r>
              <a:rPr lang="en-US" sz="2400" i="1" dirty="0"/>
              <a:t>ulcerative colitis</a:t>
            </a:r>
            <a:endParaRPr lang="en-US" sz="2400" dirty="0"/>
          </a:p>
          <a:p>
            <a:r>
              <a:rPr lang="en-US" sz="2400" i="1" dirty="0"/>
              <a:t>ovarian ca</a:t>
            </a:r>
          </a:p>
          <a:p>
            <a:endParaRPr lang="en-US" sz="2400" i="1" dirty="0"/>
          </a:p>
          <a:p>
            <a:r>
              <a:rPr lang="en-US" sz="2400" dirty="0"/>
              <a:t>These phrases capture </a:t>
            </a:r>
            <a:r>
              <a:rPr lang="en-US" sz="2400" b="1" dirty="0"/>
              <a:t>clinical diagnoses, treatments, and disease states</a:t>
            </a:r>
            <a:r>
              <a:rPr lang="en-US" sz="2400" dirty="0"/>
              <a:t> documented in physician notes.</a:t>
            </a:r>
            <a:endParaRPr lang="en-US" sz="2000" dirty="0"/>
          </a:p>
        </p:txBody>
      </p:sp>
    </p:spTree>
    <p:extLst>
      <p:ext uri="{BB962C8B-B14F-4D97-AF65-F5344CB8AC3E}">
        <p14:creationId xmlns:p14="http://schemas.microsoft.com/office/powerpoint/2010/main" val="30823852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B7E4D3-BC1B-3C5D-E652-CC9CA39302F3}"/>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2F75A73C-59CA-0A75-968F-60E329B4725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7121678B-3EF9-FE8E-5159-5752C6AE19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82758CC-8518-5EAF-F2C1-2108AC413A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EE6B5A2F-3A80-2737-80F3-D725532692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26E5171-ED65-7281-DEB2-D528D4DB0E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ACF9CC4-2F03-E9AE-C4CE-A76EDCE957A6}"/>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Multimodal Model Insights</a:t>
            </a:r>
          </a:p>
        </p:txBody>
      </p:sp>
      <p:sp>
        <p:nvSpPr>
          <p:cNvPr id="3" name="TextBox 2">
            <a:extLst>
              <a:ext uri="{FF2B5EF4-FFF2-40B4-BE49-F238E27FC236}">
                <a16:creationId xmlns:a16="http://schemas.microsoft.com/office/drawing/2014/main" id="{309F2426-1138-4C59-53AB-75B11B466D73}"/>
              </a:ext>
            </a:extLst>
          </p:cNvPr>
          <p:cNvSpPr txBox="1"/>
          <p:nvPr/>
        </p:nvSpPr>
        <p:spPr>
          <a:xfrm>
            <a:off x="216975" y="1885279"/>
            <a:ext cx="11732645" cy="4524315"/>
          </a:xfrm>
          <a:prstGeom prst="rect">
            <a:avLst/>
          </a:prstGeom>
          <a:noFill/>
        </p:spPr>
        <p:txBody>
          <a:bodyPr wrap="square" rtlCol="0">
            <a:spAutoFit/>
          </a:bodyPr>
          <a:lstStyle/>
          <a:p>
            <a:r>
              <a:rPr lang="en-US" sz="2400" dirty="0"/>
              <a:t>The multimodal model</a:t>
            </a:r>
            <a:r>
              <a:rPr lang="en-US" sz="2400" b="1" dirty="0"/>
              <a:t> combined structured clinical data and text-derived features</a:t>
            </a:r>
            <a:r>
              <a:rPr lang="en-US" sz="2400" dirty="0"/>
              <a:t>.</a:t>
            </a:r>
          </a:p>
          <a:p>
            <a:endParaRPr lang="en-US" sz="2400" dirty="0"/>
          </a:p>
          <a:p>
            <a:r>
              <a:rPr lang="en-US" sz="2400" dirty="0"/>
              <a:t>The most important predictors were primarily:</a:t>
            </a:r>
          </a:p>
          <a:p>
            <a:endParaRPr lang="en-US" sz="2400" dirty="0"/>
          </a:p>
          <a:p>
            <a:r>
              <a:rPr lang="en-US" sz="2400" b="1" dirty="0"/>
              <a:t>Laboratory markers</a:t>
            </a:r>
            <a:r>
              <a:rPr lang="en-US" sz="2400" dirty="0"/>
              <a:t> (WBC, Platelets, BUN, Creatinine)</a:t>
            </a:r>
          </a:p>
          <a:p>
            <a:r>
              <a:rPr lang="en-US" sz="2400" b="1" dirty="0"/>
              <a:t>Electrolytes</a:t>
            </a:r>
            <a:r>
              <a:rPr lang="en-US" sz="2400" dirty="0"/>
              <a:t> (Sodium, Potassium)</a:t>
            </a:r>
          </a:p>
          <a:p>
            <a:r>
              <a:rPr lang="en-US" sz="2400" b="1" dirty="0"/>
              <a:t>Vital signs</a:t>
            </a:r>
            <a:r>
              <a:rPr lang="en-US" sz="2400" dirty="0"/>
              <a:t> (Heart Rate, Blood Pressure, Respiratory Rate)</a:t>
            </a:r>
          </a:p>
          <a:p>
            <a:r>
              <a:rPr lang="en-US" sz="2400" b="1" dirty="0"/>
              <a:t>Demographics</a:t>
            </a:r>
            <a:r>
              <a:rPr lang="en-US" sz="2400" dirty="0"/>
              <a:t> (Age)</a:t>
            </a:r>
          </a:p>
          <a:p>
            <a:r>
              <a:rPr lang="en-US" sz="2400" b="1" dirty="0"/>
              <a:t>Admission context</a:t>
            </a:r>
          </a:p>
          <a:p>
            <a:endParaRPr lang="en-US" sz="2400" dirty="0"/>
          </a:p>
          <a:p>
            <a:r>
              <a:rPr lang="en-US" sz="2400" dirty="0"/>
              <a:t>This suggests that </a:t>
            </a:r>
            <a:r>
              <a:rPr lang="en-US" sz="2400" b="1" dirty="0"/>
              <a:t>structured physiological data played a dominant role</a:t>
            </a:r>
            <a:r>
              <a:rPr lang="en-US" sz="2400" dirty="0"/>
              <a:t>, while text features contributed complementary clinical context.</a:t>
            </a:r>
          </a:p>
        </p:txBody>
      </p:sp>
    </p:spTree>
    <p:extLst>
      <p:ext uri="{BB962C8B-B14F-4D97-AF65-F5344CB8AC3E}">
        <p14:creationId xmlns:p14="http://schemas.microsoft.com/office/powerpoint/2010/main" val="14649259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F00F210-441D-0FE5-F866-1AE510EDB7E7}"/>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56B32305-B65D-8915-0F4C-2C70971C7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21A2A235-395C-2026-A8B6-1E8350ABF0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2EE8342-A57D-F973-EBE9-44992B76BF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763A4DE7-95E9-80C3-11C6-D72362FAA6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DD5FB58-BDB8-2BB1-CC8C-EA1C7D444F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E607C8-8EF4-0C9D-809F-3F19CBB66B42}"/>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Model Performance Comparison - ROC Curve</a:t>
            </a:r>
          </a:p>
        </p:txBody>
      </p:sp>
      <p:sp>
        <p:nvSpPr>
          <p:cNvPr id="3" name="TextBox 2">
            <a:extLst>
              <a:ext uri="{FF2B5EF4-FFF2-40B4-BE49-F238E27FC236}">
                <a16:creationId xmlns:a16="http://schemas.microsoft.com/office/drawing/2014/main" id="{00FC3068-4005-648B-2D6D-C3D1E2FF4FFB}"/>
              </a:ext>
            </a:extLst>
          </p:cNvPr>
          <p:cNvSpPr txBox="1"/>
          <p:nvPr/>
        </p:nvSpPr>
        <p:spPr>
          <a:xfrm>
            <a:off x="269569" y="1869869"/>
            <a:ext cx="11732646" cy="5016758"/>
          </a:xfrm>
          <a:prstGeom prst="rect">
            <a:avLst/>
          </a:prstGeom>
          <a:noFill/>
        </p:spPr>
        <p:txBody>
          <a:bodyPr wrap="square" rtlCol="0">
            <a:spAutoFit/>
          </a:bodyPr>
          <a:lstStyle/>
          <a:p>
            <a:r>
              <a:rPr lang="en-US" sz="2000" dirty="0"/>
              <a:t>Finally, we compare results from all the models by checking  </a:t>
            </a:r>
            <a:r>
              <a:rPr lang="en-US" sz="2000" b="1" dirty="0"/>
              <a:t>ROC curves and AUC Scores </a:t>
            </a:r>
            <a:r>
              <a:rPr lang="en-US" sz="2000" dirty="0"/>
              <a:t>from each model. </a:t>
            </a:r>
          </a:p>
          <a:p>
            <a:endParaRPr lang="en-US" sz="2000" dirty="0"/>
          </a:p>
          <a:p>
            <a:r>
              <a:rPr lang="en-US" sz="2000" b="1" dirty="0"/>
              <a:t>ROC Curve (Receiver Operating Characteristic Curve)</a:t>
            </a:r>
          </a:p>
          <a:p>
            <a:endParaRPr lang="en-US" sz="2000" b="1" dirty="0"/>
          </a:p>
          <a:p>
            <a:r>
              <a:rPr lang="en-US" sz="2000" dirty="0"/>
              <a:t>The ROC curve is a graphical tool used to evaluate the performance of a </a:t>
            </a:r>
            <a:r>
              <a:rPr lang="en-US" sz="2000" b="1" dirty="0"/>
              <a:t>binary classification model </a:t>
            </a:r>
            <a:r>
              <a:rPr lang="en-US" sz="2000" dirty="0"/>
              <a:t>(whether a patient survives based on predicted risks or not). The models predicted a </a:t>
            </a:r>
            <a:r>
              <a:rPr lang="en-US" sz="2000" b="1" dirty="0"/>
              <a:t>probability of mortality</a:t>
            </a:r>
            <a:r>
              <a:rPr lang="en-US" sz="2000" dirty="0"/>
              <a:t> for each patient. Instead of directly labeling predictions as 0 or 1, the ROC curve evaluates the model across many possible probability thresholds.</a:t>
            </a:r>
          </a:p>
          <a:p>
            <a:endParaRPr lang="en-US" sz="2000" dirty="0"/>
          </a:p>
          <a:p>
            <a:r>
              <a:rPr lang="en-US" sz="2000" b="1" dirty="0"/>
              <a:t>Axes of the ROC Curve</a:t>
            </a:r>
          </a:p>
          <a:p>
            <a:endParaRPr lang="en-US" sz="2000" b="1" dirty="0"/>
          </a:p>
          <a:p>
            <a:r>
              <a:rPr lang="en-US" sz="2000" b="1" dirty="0"/>
              <a:t>X-axis:</a:t>
            </a:r>
            <a:r>
              <a:rPr lang="en-US" sz="2000" dirty="0"/>
              <a:t> False Positive Rate → Patients predicted as </a:t>
            </a:r>
            <a:r>
              <a:rPr lang="en-US" sz="2000" b="1" dirty="0"/>
              <a:t>high mortality risk but actually survived</a:t>
            </a:r>
            <a:endParaRPr lang="en-US" sz="2000" dirty="0"/>
          </a:p>
          <a:p>
            <a:r>
              <a:rPr lang="en-US" sz="2000" b="1" dirty="0"/>
              <a:t>Y-axis:</a:t>
            </a:r>
            <a:r>
              <a:rPr lang="en-US" sz="2000" dirty="0"/>
              <a:t> True Positive Rate (Sensitivity) → Patients correctly identified as </a:t>
            </a:r>
            <a:r>
              <a:rPr lang="en-US" sz="2000" b="1" dirty="0"/>
              <a:t>high mortality risk</a:t>
            </a:r>
          </a:p>
          <a:p>
            <a:endParaRPr lang="en-US" sz="2000" dirty="0"/>
          </a:p>
          <a:p>
            <a:r>
              <a:rPr lang="en-US" sz="2000" dirty="0"/>
              <a:t>Each point on the ROC curve represents model performance at a different threshold.</a:t>
            </a:r>
          </a:p>
        </p:txBody>
      </p:sp>
    </p:spTree>
    <p:extLst>
      <p:ext uri="{BB962C8B-B14F-4D97-AF65-F5344CB8AC3E}">
        <p14:creationId xmlns:p14="http://schemas.microsoft.com/office/powerpoint/2010/main" val="205418046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2B59408-3A4E-E99B-8BBF-E938FE778513}"/>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FE8D40A3-CA64-1B9D-0AC1-5E492FEB07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335DB35-4F72-1BB8-25F1-36C54F2BE4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BCE3FB2-DC9A-D7EC-D414-DEB7A9B599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0710FB62-C5DC-98C3-F68A-43E38ECC1E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8701C039-6AB2-8B8D-E775-0774D566E9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93F8EE-F654-0D75-CE65-C2E8B56E2979}"/>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Model Performance Comparison - AUC Score</a:t>
            </a:r>
          </a:p>
        </p:txBody>
      </p:sp>
      <p:sp>
        <p:nvSpPr>
          <p:cNvPr id="3" name="TextBox 2">
            <a:extLst>
              <a:ext uri="{FF2B5EF4-FFF2-40B4-BE49-F238E27FC236}">
                <a16:creationId xmlns:a16="http://schemas.microsoft.com/office/drawing/2014/main" id="{34DF5696-3419-2FD8-6613-01D82FBF0D7A}"/>
              </a:ext>
            </a:extLst>
          </p:cNvPr>
          <p:cNvSpPr txBox="1"/>
          <p:nvPr/>
        </p:nvSpPr>
        <p:spPr>
          <a:xfrm>
            <a:off x="229675" y="1823888"/>
            <a:ext cx="11732646" cy="4524315"/>
          </a:xfrm>
          <a:prstGeom prst="rect">
            <a:avLst/>
          </a:prstGeom>
          <a:noFill/>
        </p:spPr>
        <p:txBody>
          <a:bodyPr wrap="square" rtlCol="0">
            <a:spAutoFit/>
          </a:bodyPr>
          <a:lstStyle/>
          <a:p>
            <a:r>
              <a:rPr lang="en-US" b="1" dirty="0"/>
              <a:t>AUC Score (Area Under the ROC Curve)</a:t>
            </a:r>
          </a:p>
          <a:p>
            <a:endParaRPr lang="en-US" b="1" dirty="0"/>
          </a:p>
          <a:p>
            <a:r>
              <a:rPr lang="en-US" dirty="0"/>
              <a:t>The </a:t>
            </a:r>
            <a:r>
              <a:rPr lang="en-US" b="1" dirty="0"/>
              <a:t>AUC score</a:t>
            </a:r>
            <a:r>
              <a:rPr lang="en-US" dirty="0"/>
              <a:t> measures the </a:t>
            </a:r>
            <a:r>
              <a:rPr lang="en-US" b="1" dirty="0"/>
              <a:t>area under the ROC curve</a:t>
            </a:r>
            <a:r>
              <a:rPr lang="en-US" dirty="0"/>
              <a:t> and summarizes the model’s ability to distinguish between classes in a </a:t>
            </a:r>
            <a:r>
              <a:rPr lang="en-US" b="1" dirty="0"/>
              <a:t>single number</a:t>
            </a:r>
            <a:r>
              <a:rPr lang="en-US" dirty="0"/>
              <a:t>.</a:t>
            </a:r>
          </a:p>
          <a:p>
            <a:endParaRPr lang="en-US" dirty="0"/>
          </a:p>
          <a:p>
            <a:r>
              <a:rPr lang="en-US" b="1" dirty="0"/>
              <a:t>AUC = 1.0</a:t>
            </a:r>
            <a:r>
              <a:rPr lang="en-US" dirty="0"/>
              <a:t> → Perfect classifier</a:t>
            </a:r>
          </a:p>
          <a:p>
            <a:r>
              <a:rPr lang="en-US" b="1" dirty="0"/>
              <a:t>AUC = 0.5</a:t>
            </a:r>
            <a:r>
              <a:rPr lang="en-US" dirty="0"/>
              <a:t> → No predictive power (random guessing)</a:t>
            </a:r>
          </a:p>
          <a:p>
            <a:r>
              <a:rPr lang="en-US" b="1" dirty="0"/>
              <a:t>AUC &lt; 0.5</a:t>
            </a:r>
            <a:r>
              <a:rPr lang="en-US" dirty="0"/>
              <a:t> → Worse than random</a:t>
            </a:r>
          </a:p>
          <a:p>
            <a:r>
              <a:rPr lang="en-US" b="1" dirty="0"/>
              <a:t>AUC = 0.70–0.80</a:t>
            </a:r>
            <a:r>
              <a:rPr lang="en-US" dirty="0"/>
              <a:t> → Moderate predictive performance</a:t>
            </a:r>
          </a:p>
          <a:p>
            <a:r>
              <a:rPr lang="en-US" b="1" dirty="0"/>
              <a:t>AUC &gt; 0.80</a:t>
            </a:r>
            <a:r>
              <a:rPr lang="en-US" dirty="0"/>
              <a:t> → Strong ability to distinguish mortality risk</a:t>
            </a:r>
          </a:p>
          <a:p>
            <a:endParaRPr lang="en-US" dirty="0"/>
          </a:p>
          <a:p>
            <a:r>
              <a:rPr lang="en-US" dirty="0"/>
              <a:t>Higher AUC means the model is </a:t>
            </a:r>
            <a:r>
              <a:rPr lang="en-US" b="1" dirty="0"/>
              <a:t>better at ranking positive cases higher than negative cases</a:t>
            </a:r>
            <a:r>
              <a:rPr lang="en-US" dirty="0"/>
              <a:t>. This is important in clinical settings because it helps </a:t>
            </a:r>
            <a:r>
              <a:rPr lang="en-US" b="1" dirty="0"/>
              <a:t>identify high-risk patients earlier</a:t>
            </a:r>
            <a:r>
              <a:rPr lang="en-US" dirty="0"/>
              <a:t> for intervention. </a:t>
            </a:r>
          </a:p>
          <a:p>
            <a:endParaRPr lang="en-US" dirty="0"/>
          </a:p>
          <a:p>
            <a:r>
              <a:rPr lang="en-US" dirty="0"/>
              <a:t>In the tutorial, the AUC score helped determine </a:t>
            </a:r>
            <a:r>
              <a:rPr lang="en-US" b="1" dirty="0"/>
              <a:t>which model performed best for predicting patient mortality </a:t>
            </a:r>
            <a:r>
              <a:rPr lang="en-US" dirty="0"/>
              <a:t>i.e. model can effectively assign higher mortality risk scores to patients who died compared to those who survived.</a:t>
            </a:r>
            <a:r>
              <a:rPr lang="en-US" b="1" dirty="0"/>
              <a:t> </a:t>
            </a:r>
            <a:endParaRPr lang="en-US" dirty="0"/>
          </a:p>
        </p:txBody>
      </p:sp>
    </p:spTree>
    <p:extLst>
      <p:ext uri="{BB962C8B-B14F-4D97-AF65-F5344CB8AC3E}">
        <p14:creationId xmlns:p14="http://schemas.microsoft.com/office/powerpoint/2010/main" val="130422820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8CFA4E8-ACD8-659C-7841-F81505DA04D1}"/>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1CAB044E-DABD-1828-D824-F3E420675C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37D9FF2-A2C2-A3E7-DDAB-8DF6B9F9E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32C6962-6F32-27DC-742E-777B3F5B3BB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358AE605-0FA8-C0AE-0155-EF772B5D9C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03A67712-CB05-FD21-59B8-82F05CAD1F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6F17FF-120B-0108-3A1F-BA51CB49D5B6}"/>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Model Performance Comparison - ROC Curve</a:t>
            </a:r>
          </a:p>
        </p:txBody>
      </p:sp>
      <p:pic>
        <p:nvPicPr>
          <p:cNvPr id="6" name="Picture 5" descr="A graph of different colored lines&#10;&#10;AI-generated content may be incorrect.">
            <a:extLst>
              <a:ext uri="{FF2B5EF4-FFF2-40B4-BE49-F238E27FC236}">
                <a16:creationId xmlns:a16="http://schemas.microsoft.com/office/drawing/2014/main" id="{1CB850CC-D362-DABC-347E-204CACD29C27}"/>
              </a:ext>
            </a:extLst>
          </p:cNvPr>
          <p:cNvPicPr>
            <a:picLocks noChangeAspect="1"/>
          </p:cNvPicPr>
          <p:nvPr/>
        </p:nvPicPr>
        <p:blipFill>
          <a:blip r:embed="rId3"/>
          <a:stretch>
            <a:fillRect/>
          </a:stretch>
        </p:blipFill>
        <p:spPr>
          <a:xfrm>
            <a:off x="6593113" y="2054011"/>
            <a:ext cx="4902200" cy="4279900"/>
          </a:xfrm>
          <a:prstGeom prst="rect">
            <a:avLst/>
          </a:prstGeom>
        </p:spPr>
      </p:pic>
      <p:pic>
        <p:nvPicPr>
          <p:cNvPr id="8" name="Picture 7" descr="A graph of blue bars with white text&#10;&#10;AI-generated content may be incorrect.">
            <a:extLst>
              <a:ext uri="{FF2B5EF4-FFF2-40B4-BE49-F238E27FC236}">
                <a16:creationId xmlns:a16="http://schemas.microsoft.com/office/drawing/2014/main" id="{9F62CD82-5448-69AB-00A8-27B32E51AB37}"/>
              </a:ext>
            </a:extLst>
          </p:cNvPr>
          <p:cNvPicPr>
            <a:picLocks noChangeAspect="1"/>
          </p:cNvPicPr>
          <p:nvPr/>
        </p:nvPicPr>
        <p:blipFill>
          <a:blip r:embed="rId4"/>
          <a:stretch>
            <a:fillRect/>
          </a:stretch>
        </p:blipFill>
        <p:spPr>
          <a:xfrm>
            <a:off x="496207" y="1844461"/>
            <a:ext cx="5600700" cy="4699000"/>
          </a:xfrm>
          <a:prstGeom prst="rect">
            <a:avLst/>
          </a:prstGeom>
        </p:spPr>
      </p:pic>
    </p:spTree>
    <p:extLst>
      <p:ext uri="{BB962C8B-B14F-4D97-AF65-F5344CB8AC3E}">
        <p14:creationId xmlns:p14="http://schemas.microsoft.com/office/powerpoint/2010/main" val="15785114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D4D3B2A-FE6D-15B9-F390-1E9D46590FB7}"/>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EC544E74-A29A-B09B-B4AE-31A2F53A6B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DAA9434E-30DF-35F1-4813-37B79F4F32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111A2461-05DB-6DD2-4BAF-653C8D3109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DF931673-A7D2-6750-180A-0724F1839F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9EF2F6AC-CE1A-694D-9588-0C04A7507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2211B09-36A8-DF05-5431-2F145C585549}"/>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Model Performance Comparison - Explanation</a:t>
            </a:r>
          </a:p>
        </p:txBody>
      </p:sp>
      <p:sp>
        <p:nvSpPr>
          <p:cNvPr id="3" name="TextBox 2">
            <a:extLst>
              <a:ext uri="{FF2B5EF4-FFF2-40B4-BE49-F238E27FC236}">
                <a16:creationId xmlns:a16="http://schemas.microsoft.com/office/drawing/2014/main" id="{DE118C4B-B28F-B88D-6866-A4C8574CAB66}"/>
              </a:ext>
            </a:extLst>
          </p:cNvPr>
          <p:cNvSpPr txBox="1"/>
          <p:nvPr/>
        </p:nvSpPr>
        <p:spPr>
          <a:xfrm>
            <a:off x="354842" y="2073728"/>
            <a:ext cx="11559654" cy="4524315"/>
          </a:xfrm>
          <a:prstGeom prst="rect">
            <a:avLst/>
          </a:prstGeom>
          <a:noFill/>
        </p:spPr>
        <p:txBody>
          <a:bodyPr wrap="square" rtlCol="0">
            <a:spAutoFit/>
          </a:bodyPr>
          <a:lstStyle/>
          <a:p>
            <a:r>
              <a:rPr lang="en-US" dirty="0"/>
              <a:t>The ROC and AUC results show that the </a:t>
            </a:r>
            <a:r>
              <a:rPr lang="en-US" b="1" dirty="0"/>
              <a:t>NLP model achieved the best predictive performance (AUC ≈ 0.96)</a:t>
            </a:r>
            <a:r>
              <a:rPr lang="en-US" dirty="0"/>
              <a:t>, indicating that clinical notes contain strong signals for mortality prediction. Random Forest and the multimodal model also performed well by capturing complex patterns in structured and combined data. Logistic regression provided a reasonable baseline, while the neural network underperformed, likely due to limited data and model complexity.</a:t>
            </a:r>
          </a:p>
          <a:p>
            <a:endParaRPr lang="en-US" dirty="0"/>
          </a:p>
          <a:p>
            <a:r>
              <a:rPr lang="en-US" b="1" dirty="0"/>
              <a:t>NLP Model (Highest AUC ~ 0.96)</a:t>
            </a:r>
          </a:p>
          <a:p>
            <a:endParaRPr lang="en-US" dirty="0"/>
          </a:p>
          <a:p>
            <a:r>
              <a:rPr lang="en-US" dirty="0"/>
              <a:t>The model uses </a:t>
            </a:r>
            <a:r>
              <a:rPr lang="en-US" b="1" dirty="0"/>
              <a:t>clinical text features extracted with TF-IDF</a:t>
            </a:r>
            <a:r>
              <a:rPr lang="en-US" dirty="0"/>
              <a:t>, which capture important clinical signals such as symptoms, diagnoses, or physician observations. Clinical notes often contain </a:t>
            </a:r>
            <a:r>
              <a:rPr lang="en-US" b="1" dirty="0"/>
              <a:t>rich contextual information</a:t>
            </a:r>
            <a:r>
              <a:rPr lang="en-US" dirty="0"/>
              <a:t> that structured variables may not capture.</a:t>
            </a:r>
          </a:p>
          <a:p>
            <a:endParaRPr lang="en-US" dirty="0"/>
          </a:p>
          <a:p>
            <a:r>
              <a:rPr lang="en-US" b="1" dirty="0"/>
              <a:t>Random Forest Model (AUC ≈ 0.90)</a:t>
            </a:r>
          </a:p>
          <a:p>
            <a:endParaRPr lang="en-US" b="1" dirty="0"/>
          </a:p>
          <a:p>
            <a:r>
              <a:rPr lang="en-US" dirty="0"/>
              <a:t>Random Forest performs well because it can </a:t>
            </a:r>
            <a:r>
              <a:rPr lang="en-US" b="1" dirty="0"/>
              <a:t>model complex non-linear relationships </a:t>
            </a:r>
            <a:r>
              <a:rPr lang="en-US" dirty="0"/>
              <a:t>and interactions in structured clinical data.</a:t>
            </a:r>
          </a:p>
        </p:txBody>
      </p:sp>
    </p:spTree>
    <p:extLst>
      <p:ext uri="{BB962C8B-B14F-4D97-AF65-F5344CB8AC3E}">
        <p14:creationId xmlns:p14="http://schemas.microsoft.com/office/powerpoint/2010/main" val="13714670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A027EEA-C881-C0F2-CAF8-23C667E281D8}"/>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DDB1E4F-E38B-F5BB-20F8-537FF6C6FA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8C4A86D-D7F8-9F13-B50B-52B3415AED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DE2A144C-F0BB-E089-9901-7DB6065AE7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920024DA-6E9E-BC91-0770-52041D4429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EF3C29EE-F5A5-02F5-4665-6986C480A8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4E842E8-E6F8-97EB-7550-55FD635D383B}"/>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Model Performance Comparison - Explanation</a:t>
            </a:r>
          </a:p>
        </p:txBody>
      </p:sp>
      <p:sp>
        <p:nvSpPr>
          <p:cNvPr id="3" name="TextBox 2">
            <a:extLst>
              <a:ext uri="{FF2B5EF4-FFF2-40B4-BE49-F238E27FC236}">
                <a16:creationId xmlns:a16="http://schemas.microsoft.com/office/drawing/2014/main" id="{BDBF071D-F196-9196-804F-09D364CFFCAD}"/>
              </a:ext>
            </a:extLst>
          </p:cNvPr>
          <p:cNvSpPr txBox="1"/>
          <p:nvPr/>
        </p:nvSpPr>
        <p:spPr>
          <a:xfrm>
            <a:off x="316171" y="1820368"/>
            <a:ext cx="11559654" cy="4801314"/>
          </a:xfrm>
          <a:prstGeom prst="rect">
            <a:avLst/>
          </a:prstGeom>
          <a:noFill/>
        </p:spPr>
        <p:txBody>
          <a:bodyPr wrap="square" rtlCol="0">
            <a:spAutoFit/>
          </a:bodyPr>
          <a:lstStyle/>
          <a:p>
            <a:endParaRPr lang="en-US" dirty="0"/>
          </a:p>
          <a:p>
            <a:r>
              <a:rPr lang="en-US" b="1" dirty="0"/>
              <a:t>Multimodal Model (Structured + Text) (AUC ~ 0.89)</a:t>
            </a:r>
          </a:p>
          <a:p>
            <a:endParaRPr lang="en-US" dirty="0"/>
          </a:p>
          <a:p>
            <a:r>
              <a:rPr lang="en-US" dirty="0"/>
              <a:t>ROC curve is very close to Random Forest model. The model benefits from </a:t>
            </a:r>
            <a:r>
              <a:rPr lang="en-US" b="1" dirty="0"/>
              <a:t>multiple data sources</a:t>
            </a:r>
            <a:r>
              <a:rPr lang="en-US" dirty="0"/>
              <a:t>, but the simpler TF-IDF configuration (2000 features) may limit the contribution of text features.</a:t>
            </a:r>
          </a:p>
          <a:p>
            <a:endParaRPr lang="en-US" dirty="0"/>
          </a:p>
          <a:p>
            <a:r>
              <a:rPr lang="en-US" b="1" dirty="0"/>
              <a:t>Logical Regression Model (AUC ≈ 0.81)</a:t>
            </a:r>
          </a:p>
          <a:p>
            <a:endParaRPr lang="en-US" b="1" dirty="0"/>
          </a:p>
          <a:p>
            <a:r>
              <a:rPr lang="en-US" dirty="0"/>
              <a:t>Logistic regression assumes linear relationships between features and outcome. It cannot capture complex nonlinear interactions present in clinical data. Logistic regression provides reasonable baseline performance, but it is less powerful than ensemble methods.</a:t>
            </a:r>
          </a:p>
          <a:p>
            <a:endParaRPr lang="en-US" dirty="0"/>
          </a:p>
          <a:p>
            <a:r>
              <a:rPr lang="en-US" b="1" dirty="0"/>
              <a:t>Neural Network Model (AUC ≈ 0.67)</a:t>
            </a:r>
          </a:p>
          <a:p>
            <a:endParaRPr lang="en-US" b="1" dirty="0"/>
          </a:p>
          <a:p>
            <a:r>
              <a:rPr lang="en-US" dirty="0"/>
              <a:t>ROC curve much closer to the diagonal. The neural network underperforms because the dataset </a:t>
            </a:r>
            <a:r>
              <a:rPr lang="en-US" b="1" dirty="0"/>
              <a:t>may not be large enough</a:t>
            </a:r>
            <a:r>
              <a:rPr lang="en-US" dirty="0"/>
              <a:t> to fully leverage deep learning models. Model architecture may be </a:t>
            </a:r>
            <a:r>
              <a:rPr lang="en-US" b="1" dirty="0"/>
              <a:t>too simple or undertrained</a:t>
            </a:r>
            <a:endParaRPr lang="en-US" dirty="0"/>
          </a:p>
          <a:p>
            <a:r>
              <a:rPr lang="en-US" dirty="0"/>
              <a:t>Structured clinical data often works better with tree-based models.</a:t>
            </a:r>
          </a:p>
        </p:txBody>
      </p:sp>
    </p:spTree>
    <p:extLst>
      <p:ext uri="{BB962C8B-B14F-4D97-AF65-F5344CB8AC3E}">
        <p14:creationId xmlns:p14="http://schemas.microsoft.com/office/powerpoint/2010/main" val="71982351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07B5159-F857-4F9B-48AB-CB8A58CB0C82}"/>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9CA68FC3-AD4A-0D48-0D88-2886D4D8D6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BBC71401-6D07-5ACA-31D6-6D3BFFFD77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21DFD91D-B1A8-7418-330A-6083A83B4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5B0E5A6E-75DA-4C3D-265D-B3914D4797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Rectangle 47">
            <a:extLst>
              <a:ext uri="{FF2B5EF4-FFF2-40B4-BE49-F238E27FC236}">
                <a16:creationId xmlns:a16="http://schemas.microsoft.com/office/drawing/2014/main" id="{30BF3707-AFB9-A3E0-E7B9-766DB68431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864175A-B351-AD9D-7E0C-606B945146BC}"/>
              </a:ext>
            </a:extLst>
          </p:cNvPr>
          <p:cNvSpPr>
            <a:spLocks noGrp="1"/>
          </p:cNvSpPr>
          <p:nvPr>
            <p:ph type="title"/>
          </p:nvPr>
        </p:nvSpPr>
        <p:spPr>
          <a:xfrm>
            <a:off x="587828" y="294538"/>
            <a:ext cx="10907485" cy="1033669"/>
          </a:xfrm>
        </p:spPr>
        <p:txBody>
          <a:bodyPr>
            <a:normAutofit/>
          </a:bodyPr>
          <a:lstStyle/>
          <a:p>
            <a:pPr algn="ctr"/>
            <a:r>
              <a:rPr lang="en-US" sz="4000" dirty="0">
                <a:solidFill>
                  <a:srgbClr val="FFFFFF"/>
                </a:solidFill>
              </a:rPr>
              <a:t>Questions?</a:t>
            </a:r>
          </a:p>
        </p:txBody>
      </p:sp>
      <p:sp>
        <p:nvSpPr>
          <p:cNvPr id="3" name="TextBox 2">
            <a:extLst>
              <a:ext uri="{FF2B5EF4-FFF2-40B4-BE49-F238E27FC236}">
                <a16:creationId xmlns:a16="http://schemas.microsoft.com/office/drawing/2014/main" id="{67F47FB0-C48E-13AF-4981-58F687E7EF37}"/>
              </a:ext>
            </a:extLst>
          </p:cNvPr>
          <p:cNvSpPr txBox="1"/>
          <p:nvPr/>
        </p:nvSpPr>
        <p:spPr>
          <a:xfrm>
            <a:off x="316171" y="1820368"/>
            <a:ext cx="11559654" cy="1723549"/>
          </a:xfrm>
          <a:prstGeom prst="rect">
            <a:avLst/>
          </a:prstGeom>
          <a:noFill/>
        </p:spPr>
        <p:txBody>
          <a:bodyPr wrap="square" rtlCol="0">
            <a:spAutoFit/>
          </a:bodyPr>
          <a:lstStyle/>
          <a:p>
            <a:endParaRPr lang="en-US" dirty="0"/>
          </a:p>
          <a:p>
            <a:r>
              <a:rPr lang="en-US" sz="2800" dirty="0"/>
              <a:t>References</a:t>
            </a:r>
            <a:r>
              <a:rPr lang="en-US" dirty="0"/>
              <a:t> : </a:t>
            </a:r>
          </a:p>
          <a:p>
            <a:endParaRPr lang="en-US" dirty="0"/>
          </a:p>
          <a:p>
            <a:r>
              <a:rPr lang="en-US" sz="2400" dirty="0"/>
              <a:t>Access the </a:t>
            </a:r>
            <a:r>
              <a:rPr lang="en-US" sz="2400" dirty="0" err="1"/>
              <a:t>Jupyter</a:t>
            </a:r>
            <a:r>
              <a:rPr lang="en-US" sz="2400" dirty="0"/>
              <a:t> Notebook for detailed code and visualizations </a:t>
            </a:r>
            <a:r>
              <a:rPr lang="en-US" sz="2400" dirty="0">
                <a:hlinkClick r:id="rId3"/>
              </a:rPr>
              <a:t>here</a:t>
            </a:r>
            <a:r>
              <a:rPr lang="en-US" sz="2400" dirty="0"/>
              <a:t>.</a:t>
            </a:r>
            <a:r>
              <a:rPr lang="en-US" dirty="0"/>
              <a:t> </a:t>
            </a:r>
          </a:p>
          <a:p>
            <a:endParaRPr lang="en-US" dirty="0"/>
          </a:p>
        </p:txBody>
      </p:sp>
    </p:spTree>
    <p:extLst>
      <p:ext uri="{BB962C8B-B14F-4D97-AF65-F5344CB8AC3E}">
        <p14:creationId xmlns:p14="http://schemas.microsoft.com/office/powerpoint/2010/main" val="133334954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1410</TotalTime>
  <Words>5348</Words>
  <Application>Microsoft Macintosh PowerPoint</Application>
  <PresentationFormat>Widescreen</PresentationFormat>
  <Paragraphs>714</Paragraphs>
  <Slides>41</Slides>
  <Notes>41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41</vt:i4>
      </vt:variant>
    </vt:vector>
  </HeadingPairs>
  <TitlesOfParts>
    <vt:vector size="46" baseType="lpstr">
      <vt:lpstr>Aptos</vt:lpstr>
      <vt:lpstr>Aptos Display</vt:lpstr>
      <vt:lpstr>Arial</vt:lpstr>
      <vt:lpstr>Cambria Math</vt:lpstr>
      <vt:lpstr>Office Theme</vt:lpstr>
      <vt:lpstr>Predicting Hospital Mortality Using Machine Learning, Deep Learning and Natural Language Processing</vt:lpstr>
      <vt:lpstr>What we will learn </vt:lpstr>
      <vt:lpstr>Dataset Used </vt:lpstr>
      <vt:lpstr>Outline</vt:lpstr>
      <vt:lpstr>Import Libraries </vt:lpstr>
      <vt:lpstr>Load Clinical Data -   Patients Admissions ICU Stays Clinical Notes  </vt:lpstr>
      <vt:lpstr>Load Clinical Data -   Chart Events for few critical vital indicators   </vt:lpstr>
      <vt:lpstr>Load Clinical Data -   Lab Events for few critical lab tests</vt:lpstr>
      <vt:lpstr>Feature Engineering  </vt:lpstr>
      <vt:lpstr>Visualization of the Dataset used  </vt:lpstr>
      <vt:lpstr>Training / Testing Data Split  </vt:lpstr>
      <vt:lpstr>Machine Learning - Logistic Regression Model  </vt:lpstr>
      <vt:lpstr>Machine Learning - Random Forest Model  </vt:lpstr>
      <vt:lpstr>Natural Language Processing (NLP) Model</vt:lpstr>
      <vt:lpstr>NLP Model - Stop Words in TfidfVectorizer</vt:lpstr>
      <vt:lpstr>NLP Model - Other parameters in TfidfVectorizer</vt:lpstr>
      <vt:lpstr>NLP Model - TF-IDF + Logistic Regression</vt:lpstr>
      <vt:lpstr>Deep Learning (Neural Network Model)</vt:lpstr>
      <vt:lpstr>Deep Learning - Python Code for Neural Network Training Model</vt:lpstr>
      <vt:lpstr>Deep Learning - Python Code for Neural Network Training</vt:lpstr>
      <vt:lpstr>Deep Learning - Summary of Training Pipeline</vt:lpstr>
      <vt:lpstr>Deep Learning - Loss Function</vt:lpstr>
      <vt:lpstr>Deep Learning - Loss Curve</vt:lpstr>
      <vt:lpstr>Multimodal Model </vt:lpstr>
      <vt:lpstr>Multimodal Model - TfidfVectorizer</vt:lpstr>
      <vt:lpstr>Multimodal Model - TF-IDF +  Random Forest</vt:lpstr>
      <vt:lpstr>Top Features In Models - Logistic Regression</vt:lpstr>
      <vt:lpstr>Top Features In Models - Random Forest</vt:lpstr>
      <vt:lpstr>Top Features In Models - NLP</vt:lpstr>
      <vt:lpstr>Top Features In Models - Neural Network </vt:lpstr>
      <vt:lpstr>Top Features In Models - Multimodal</vt:lpstr>
      <vt:lpstr>Key Predictive Features Identified Across Models</vt:lpstr>
      <vt:lpstr>Important NLP Features</vt:lpstr>
      <vt:lpstr>Important NLP Bigrams</vt:lpstr>
      <vt:lpstr>Multimodal Model Insights</vt:lpstr>
      <vt:lpstr>Model Performance Comparison - ROC Curve</vt:lpstr>
      <vt:lpstr>Model Performance Comparison - AUC Score</vt:lpstr>
      <vt:lpstr>Model Performance Comparison - ROC Curve</vt:lpstr>
      <vt:lpstr>Model Performance Comparison - Explanation</vt:lpstr>
      <vt:lpstr>Model Performance Comparison - Explanation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Sritama Paul</dc:creator>
  <cp:lastModifiedBy>Sritama Paul</cp:lastModifiedBy>
  <cp:revision>56</cp:revision>
  <dcterms:created xsi:type="dcterms:W3CDTF">2026-02-07T20:48:50Z</dcterms:created>
  <dcterms:modified xsi:type="dcterms:W3CDTF">2026-03-14T10:33:59Z</dcterms:modified>
</cp:coreProperties>
</file>