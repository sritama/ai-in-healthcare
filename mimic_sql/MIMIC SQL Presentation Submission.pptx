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305" r:id="rId3"/>
    <p:sldId id="258" r:id="rId4"/>
    <p:sldId id="262" r:id="rId5"/>
    <p:sldId id="268" r:id="rId6"/>
    <p:sldId id="287" r:id="rId7"/>
    <p:sldId id="265" r:id="rId8"/>
    <p:sldId id="306" r:id="rId9"/>
    <p:sldId id="307" r:id="rId10"/>
    <p:sldId id="267" r:id="rId11"/>
    <p:sldId id="309" r:id="rId12"/>
    <p:sldId id="310" r:id="rId13"/>
    <p:sldId id="272" r:id="rId14"/>
    <p:sldId id="311" r:id="rId15"/>
    <p:sldId id="312" r:id="rId16"/>
    <p:sldId id="275" r:id="rId17"/>
    <p:sldId id="313" r:id="rId18"/>
    <p:sldId id="326" r:id="rId19"/>
    <p:sldId id="314" r:id="rId20"/>
    <p:sldId id="281" r:id="rId21"/>
    <p:sldId id="315" r:id="rId22"/>
    <p:sldId id="316" r:id="rId23"/>
    <p:sldId id="284" r:id="rId24"/>
    <p:sldId id="317" r:id="rId25"/>
    <p:sldId id="318" r:id="rId26"/>
    <p:sldId id="298" r:id="rId27"/>
    <p:sldId id="319" r:id="rId28"/>
    <p:sldId id="320" r:id="rId29"/>
    <p:sldId id="299" r:id="rId30"/>
    <p:sldId id="321" r:id="rId31"/>
    <p:sldId id="323" r:id="rId32"/>
    <p:sldId id="322" r:id="rId33"/>
    <p:sldId id="302" r:id="rId34"/>
    <p:sldId id="324" r:id="rId35"/>
    <p:sldId id="325"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6B7261B-90C0-AF4C-8703-AE1CF5EFB13A}">
          <p14:sldIdLst>
            <p14:sldId id="256"/>
            <p14:sldId id="305"/>
            <p14:sldId id="258"/>
          </p14:sldIdLst>
        </p14:section>
        <p14:section name="Query 1" id="{E7068AD0-5076-3342-8605-1F7B6914AB94}">
          <p14:sldIdLst>
            <p14:sldId id="262"/>
            <p14:sldId id="268"/>
            <p14:sldId id="287"/>
          </p14:sldIdLst>
        </p14:section>
        <p14:section name="Query 2" id="{5E10FF2F-4BAF-2347-B786-276FE648B453}">
          <p14:sldIdLst>
            <p14:sldId id="265"/>
            <p14:sldId id="306"/>
            <p14:sldId id="307"/>
          </p14:sldIdLst>
        </p14:section>
        <p14:section name="Query 3" id="{BA96CA30-FAE8-324D-A57D-F0CB494DFEE6}">
          <p14:sldIdLst>
            <p14:sldId id="267"/>
            <p14:sldId id="309"/>
            <p14:sldId id="310"/>
          </p14:sldIdLst>
        </p14:section>
        <p14:section name="Query 4" id="{EBFFC9DC-67A7-B94C-A55C-0FDC7DBFA7F5}">
          <p14:sldIdLst>
            <p14:sldId id="272"/>
            <p14:sldId id="311"/>
            <p14:sldId id="312"/>
          </p14:sldIdLst>
        </p14:section>
        <p14:section name="Query 5" id="{E5045EAC-370F-054F-B145-9824B10410AC}">
          <p14:sldIdLst>
            <p14:sldId id="275"/>
            <p14:sldId id="313"/>
            <p14:sldId id="326"/>
            <p14:sldId id="314"/>
          </p14:sldIdLst>
        </p14:section>
        <p14:section name="Query 6" id="{51D334E3-DF97-B447-BB50-7247A7FAF220}">
          <p14:sldIdLst>
            <p14:sldId id="281"/>
            <p14:sldId id="315"/>
            <p14:sldId id="316"/>
          </p14:sldIdLst>
        </p14:section>
        <p14:section name="Query 7" id="{41112CBB-EF27-A54A-B939-0EB22B9C3FFA}">
          <p14:sldIdLst>
            <p14:sldId id="284"/>
            <p14:sldId id="317"/>
            <p14:sldId id="318"/>
          </p14:sldIdLst>
        </p14:section>
        <p14:section name="Query 8" id="{69F56DC9-6461-024A-AF32-4C8601CBC01C}">
          <p14:sldIdLst>
            <p14:sldId id="298"/>
            <p14:sldId id="319"/>
            <p14:sldId id="320"/>
          </p14:sldIdLst>
        </p14:section>
        <p14:section name="Query 9" id="{EC301F9C-B9D0-0041-AC67-03EF7485AA8E}">
          <p14:sldIdLst>
            <p14:sldId id="299"/>
            <p14:sldId id="321"/>
            <p14:sldId id="323"/>
            <p14:sldId id="322"/>
          </p14:sldIdLst>
        </p14:section>
        <p14:section name="Query 10" id="{E0B597E6-823C-D746-90E3-54A6FB87A931}">
          <p14:sldIdLst>
            <p14:sldId id="302"/>
            <p14:sldId id="324"/>
            <p14:sldId id="32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038"/>
    <p:restoredTop sz="94684"/>
  </p:normalViewPr>
  <p:slideViewPr>
    <p:cSldViewPr snapToGrid="0">
      <p:cViewPr varScale="1">
        <p:scale>
          <a:sx n="111" d="100"/>
          <a:sy n="111" d="100"/>
        </p:scale>
        <p:origin x="240"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327B6C-2DF8-4FCF-8080-FD0B8CAD889A}" type="doc">
      <dgm:prSet loTypeId="urn:microsoft.com/office/officeart/2005/8/layout/list1" loCatId="list" qsTypeId="urn:microsoft.com/office/officeart/2005/8/quickstyle/simple4" qsCatId="simple" csTypeId="urn:microsoft.com/office/officeart/2005/8/colors/colorful5" csCatId="colorful" phldr="1"/>
      <dgm:spPr/>
      <dgm:t>
        <a:bodyPr/>
        <a:lstStyle/>
        <a:p>
          <a:endParaRPr lang="en-US"/>
        </a:p>
      </dgm:t>
    </dgm:pt>
    <dgm:pt modelId="{DE32F696-47D6-43BF-B064-FE199A6B6DFF}">
      <dgm:prSet/>
      <dgm:spPr/>
      <dgm:t>
        <a:bodyPr/>
        <a:lstStyle/>
        <a:p>
          <a:r>
            <a:rPr lang="en-US" dirty="0"/>
            <a:t>Data used : admissions, </a:t>
          </a:r>
          <a:r>
            <a:rPr lang="en-US" b="0" dirty="0" err="1"/>
            <a:t>diagnoses_icd</a:t>
          </a:r>
          <a:r>
            <a:rPr lang="en-US" dirty="0"/>
            <a:t> </a:t>
          </a:r>
        </a:p>
      </dgm:t>
    </dgm:pt>
    <dgm:pt modelId="{1264ABD0-99BB-446B-8E4D-CC06B466E953}" type="parTrans" cxnId="{15ADA764-488C-4102-82AD-BF4E45DD90A0}">
      <dgm:prSet/>
      <dgm:spPr/>
      <dgm:t>
        <a:bodyPr/>
        <a:lstStyle/>
        <a:p>
          <a:endParaRPr lang="en-US"/>
        </a:p>
      </dgm:t>
    </dgm:pt>
    <dgm:pt modelId="{F60EE35C-19EB-438B-A823-C98BA4E48206}" type="sibTrans" cxnId="{15ADA764-488C-4102-82AD-BF4E45DD90A0}">
      <dgm:prSet/>
      <dgm:spPr/>
      <dgm:t>
        <a:bodyPr/>
        <a:lstStyle/>
        <a:p>
          <a:endParaRPr lang="en-US"/>
        </a:p>
      </dgm:t>
    </dgm:pt>
    <dgm:pt modelId="{97FAEA82-0130-4A56-B926-F15BD13279A0}">
      <dgm:prSet/>
      <dgm:spPr/>
      <dgm:t>
        <a:bodyPr/>
        <a:lstStyle/>
        <a:p>
          <a:r>
            <a:rPr lang="en-US" dirty="0"/>
            <a:t>Description and interpretation </a:t>
          </a:r>
        </a:p>
      </dgm:t>
    </dgm:pt>
    <dgm:pt modelId="{960710EC-77F5-48E8-87E9-D1C329FCA49D}" type="parTrans" cxnId="{81493990-D85A-4F35-A6A4-6F35CDE864F9}">
      <dgm:prSet/>
      <dgm:spPr/>
      <dgm:t>
        <a:bodyPr/>
        <a:lstStyle/>
        <a:p>
          <a:endParaRPr lang="en-US"/>
        </a:p>
      </dgm:t>
    </dgm:pt>
    <dgm:pt modelId="{D58EBBCF-21D8-4D0C-A83E-CBF2DAC83EAA}" type="sibTrans" cxnId="{81493990-D85A-4F35-A6A4-6F35CDE864F9}">
      <dgm:prSet/>
      <dgm:spPr/>
      <dgm:t>
        <a:bodyPr/>
        <a:lstStyle/>
        <a:p>
          <a:endParaRPr lang="en-US"/>
        </a:p>
      </dgm:t>
    </dgm:pt>
    <dgm:pt modelId="{1C41598C-C5A5-4E4D-B533-977192AD2061}">
      <dgm:prSet/>
      <dgm:spPr/>
      <dgm:t>
        <a:bodyPr/>
        <a:lstStyle/>
        <a:p>
          <a:r>
            <a:rPr lang="en-US" dirty="0"/>
            <a:t>The query identifies all hospital admissions where the diagnosis code starts with 410%, corresponding to Acute Myocardial Infarction (AMI). It returns unique patient IDs and hospital admission IDs.</a:t>
          </a:r>
        </a:p>
      </dgm:t>
    </dgm:pt>
    <dgm:pt modelId="{8CC1C07B-8734-4B25-A142-4A4C99A0D94F}" type="parTrans" cxnId="{00C48C7E-41D0-4CA0-9700-560C1DC5B878}">
      <dgm:prSet/>
      <dgm:spPr/>
      <dgm:t>
        <a:bodyPr/>
        <a:lstStyle/>
        <a:p>
          <a:endParaRPr lang="en-US"/>
        </a:p>
      </dgm:t>
    </dgm:pt>
    <dgm:pt modelId="{268FCAF0-BA3A-429B-A637-C3A8E6A04B36}" type="sibTrans" cxnId="{00C48C7E-41D0-4CA0-9700-560C1DC5B878}">
      <dgm:prSet/>
      <dgm:spPr/>
      <dgm:t>
        <a:bodyPr/>
        <a:lstStyle/>
        <a:p>
          <a:endParaRPr lang="en-US"/>
        </a:p>
      </dgm:t>
    </dgm:pt>
    <dgm:pt modelId="{F107A699-294D-6446-8467-E82BA431B2D1}">
      <dgm:prSet/>
      <dgm:spPr/>
      <dgm:t>
        <a:bodyPr/>
        <a:lstStyle/>
        <a:p>
          <a:endParaRPr lang="en-US" dirty="0"/>
        </a:p>
      </dgm:t>
    </dgm:pt>
    <dgm:pt modelId="{2950972B-BB19-154D-AFEF-33096D82A3B3}" type="parTrans" cxnId="{44F89CF1-8C96-E849-98F8-E26E30255DF5}">
      <dgm:prSet/>
      <dgm:spPr/>
      <dgm:t>
        <a:bodyPr/>
        <a:lstStyle/>
        <a:p>
          <a:endParaRPr lang="en-US"/>
        </a:p>
      </dgm:t>
    </dgm:pt>
    <dgm:pt modelId="{3FEB389D-F2D2-6340-8AE4-33A596FE8FAE}" type="sibTrans" cxnId="{44F89CF1-8C96-E849-98F8-E26E30255DF5}">
      <dgm:prSet/>
      <dgm:spPr/>
      <dgm:t>
        <a:bodyPr/>
        <a:lstStyle/>
        <a:p>
          <a:endParaRPr lang="en-US"/>
        </a:p>
      </dgm:t>
    </dgm:pt>
    <dgm:pt modelId="{A10E27BC-A8AC-BF44-A85D-D80D7A46B600}">
      <dgm:prSet/>
      <dgm:spPr/>
      <dgm:t>
        <a:bodyPr/>
        <a:lstStyle/>
        <a:p>
          <a:r>
            <a:rPr lang="en-US" dirty="0"/>
            <a:t>This defines the study cohort — all hospital stays in which a heart attack (AMI) was diagnosed.</a:t>
          </a:r>
        </a:p>
      </dgm:t>
    </dgm:pt>
    <dgm:pt modelId="{5BAA509C-4435-D346-B708-C4BD2E7F74D7}" type="parTrans" cxnId="{ABBCD069-289B-6A45-82DD-4AD2D87D7B99}">
      <dgm:prSet/>
      <dgm:spPr/>
      <dgm:t>
        <a:bodyPr/>
        <a:lstStyle/>
        <a:p>
          <a:endParaRPr lang="en-US"/>
        </a:p>
      </dgm:t>
    </dgm:pt>
    <dgm:pt modelId="{7E70FB9A-2BE5-5646-BA32-041566C8A6F3}" type="sibTrans" cxnId="{ABBCD069-289B-6A45-82DD-4AD2D87D7B99}">
      <dgm:prSet/>
      <dgm:spPr/>
      <dgm:t>
        <a:bodyPr/>
        <a:lstStyle/>
        <a:p>
          <a:endParaRPr lang="en-US"/>
        </a:p>
      </dgm:t>
    </dgm:pt>
    <dgm:pt modelId="{9AEF45B7-1D05-B843-95C0-2E48D15C4856}" type="pres">
      <dgm:prSet presAssocID="{99327B6C-2DF8-4FCF-8080-FD0B8CAD889A}" presName="linear" presStyleCnt="0">
        <dgm:presLayoutVars>
          <dgm:dir/>
          <dgm:animLvl val="lvl"/>
          <dgm:resizeHandles val="exact"/>
        </dgm:presLayoutVars>
      </dgm:prSet>
      <dgm:spPr/>
    </dgm:pt>
    <dgm:pt modelId="{AC360863-1BED-6B41-8602-627C97E95503}" type="pres">
      <dgm:prSet presAssocID="{DE32F696-47D6-43BF-B064-FE199A6B6DFF}" presName="parentLin" presStyleCnt="0"/>
      <dgm:spPr/>
    </dgm:pt>
    <dgm:pt modelId="{428776DF-7C61-5B42-85F6-A71229B10ECB}" type="pres">
      <dgm:prSet presAssocID="{DE32F696-47D6-43BF-B064-FE199A6B6DFF}" presName="parentLeftMargin" presStyleLbl="node1" presStyleIdx="0" presStyleCnt="2"/>
      <dgm:spPr/>
    </dgm:pt>
    <dgm:pt modelId="{FFA54353-AEB8-8742-9FD2-0BF1D13A9CFB}" type="pres">
      <dgm:prSet presAssocID="{DE32F696-47D6-43BF-B064-FE199A6B6DFF}" presName="parentText" presStyleLbl="node1" presStyleIdx="0" presStyleCnt="2">
        <dgm:presLayoutVars>
          <dgm:chMax val="0"/>
          <dgm:bulletEnabled val="1"/>
        </dgm:presLayoutVars>
      </dgm:prSet>
      <dgm:spPr/>
    </dgm:pt>
    <dgm:pt modelId="{61CB1DBC-2129-624B-87A8-6703314D65A3}" type="pres">
      <dgm:prSet presAssocID="{DE32F696-47D6-43BF-B064-FE199A6B6DFF}" presName="negativeSpace" presStyleCnt="0"/>
      <dgm:spPr/>
    </dgm:pt>
    <dgm:pt modelId="{C7E25028-E3FC-D04D-BB4A-DE72A50FF8BC}" type="pres">
      <dgm:prSet presAssocID="{DE32F696-47D6-43BF-B064-FE199A6B6DFF}" presName="childText" presStyleLbl="conFgAcc1" presStyleIdx="0" presStyleCnt="2">
        <dgm:presLayoutVars>
          <dgm:bulletEnabled val="1"/>
        </dgm:presLayoutVars>
      </dgm:prSet>
      <dgm:spPr/>
    </dgm:pt>
    <dgm:pt modelId="{002BD261-98A9-684E-A0F3-21D4E5020A91}" type="pres">
      <dgm:prSet presAssocID="{F60EE35C-19EB-438B-A823-C98BA4E48206}" presName="spaceBetweenRectangles" presStyleCnt="0"/>
      <dgm:spPr/>
    </dgm:pt>
    <dgm:pt modelId="{60B01A9C-E846-A246-8555-91AD5625696E}" type="pres">
      <dgm:prSet presAssocID="{97FAEA82-0130-4A56-B926-F15BD13279A0}" presName="parentLin" presStyleCnt="0"/>
      <dgm:spPr/>
    </dgm:pt>
    <dgm:pt modelId="{61EDA9B9-FEE0-7745-A630-EB71FA1452E3}" type="pres">
      <dgm:prSet presAssocID="{97FAEA82-0130-4A56-B926-F15BD13279A0}" presName="parentLeftMargin" presStyleLbl="node1" presStyleIdx="0" presStyleCnt="2"/>
      <dgm:spPr/>
    </dgm:pt>
    <dgm:pt modelId="{FACD41D5-8B02-7E48-80D4-00157B7C2A09}" type="pres">
      <dgm:prSet presAssocID="{97FAEA82-0130-4A56-B926-F15BD13279A0}" presName="parentText" presStyleLbl="node1" presStyleIdx="1" presStyleCnt="2">
        <dgm:presLayoutVars>
          <dgm:chMax val="0"/>
          <dgm:bulletEnabled val="1"/>
        </dgm:presLayoutVars>
      </dgm:prSet>
      <dgm:spPr/>
    </dgm:pt>
    <dgm:pt modelId="{B1102CC6-99F5-4A4A-859C-D1D2280F9BD5}" type="pres">
      <dgm:prSet presAssocID="{97FAEA82-0130-4A56-B926-F15BD13279A0}" presName="negativeSpace" presStyleCnt="0"/>
      <dgm:spPr/>
    </dgm:pt>
    <dgm:pt modelId="{773E713E-BE04-4D4B-9432-D06F65D97511}" type="pres">
      <dgm:prSet presAssocID="{97FAEA82-0130-4A56-B926-F15BD13279A0}" presName="childText" presStyleLbl="conFgAcc1" presStyleIdx="1" presStyleCnt="2">
        <dgm:presLayoutVars>
          <dgm:bulletEnabled val="1"/>
        </dgm:presLayoutVars>
      </dgm:prSet>
      <dgm:spPr/>
    </dgm:pt>
  </dgm:ptLst>
  <dgm:cxnLst>
    <dgm:cxn modelId="{80466C1D-966E-3241-91CD-E117D10380D6}" type="presOf" srcId="{F107A699-294D-6446-8467-E82BA431B2D1}" destId="{773E713E-BE04-4D4B-9432-D06F65D97511}" srcOrd="0" destOrd="2" presId="urn:microsoft.com/office/officeart/2005/8/layout/list1"/>
    <dgm:cxn modelId="{E8E8932C-49E0-FC42-AE57-A5DA679699F8}" type="presOf" srcId="{A10E27BC-A8AC-BF44-A85D-D80D7A46B600}" destId="{773E713E-BE04-4D4B-9432-D06F65D97511}" srcOrd="0" destOrd="1" presId="urn:microsoft.com/office/officeart/2005/8/layout/list1"/>
    <dgm:cxn modelId="{3782B54B-D05A-174D-86CC-D6F9DC91EAAC}" type="presOf" srcId="{DE32F696-47D6-43BF-B064-FE199A6B6DFF}" destId="{FFA54353-AEB8-8742-9FD2-0BF1D13A9CFB}" srcOrd="1" destOrd="0" presId="urn:microsoft.com/office/officeart/2005/8/layout/list1"/>
    <dgm:cxn modelId="{A5777355-23A8-A541-AF4C-8B00E1144594}" type="presOf" srcId="{97FAEA82-0130-4A56-B926-F15BD13279A0}" destId="{FACD41D5-8B02-7E48-80D4-00157B7C2A09}" srcOrd="1" destOrd="0" presId="urn:microsoft.com/office/officeart/2005/8/layout/list1"/>
    <dgm:cxn modelId="{15ADA764-488C-4102-82AD-BF4E45DD90A0}" srcId="{99327B6C-2DF8-4FCF-8080-FD0B8CAD889A}" destId="{DE32F696-47D6-43BF-B064-FE199A6B6DFF}" srcOrd="0" destOrd="0" parTransId="{1264ABD0-99BB-446B-8E4D-CC06B466E953}" sibTransId="{F60EE35C-19EB-438B-A823-C98BA4E48206}"/>
    <dgm:cxn modelId="{ABBCD069-289B-6A45-82DD-4AD2D87D7B99}" srcId="{97FAEA82-0130-4A56-B926-F15BD13279A0}" destId="{A10E27BC-A8AC-BF44-A85D-D80D7A46B600}" srcOrd="1" destOrd="0" parTransId="{5BAA509C-4435-D346-B708-C4BD2E7F74D7}" sibTransId="{7E70FB9A-2BE5-5646-BA32-041566C8A6F3}"/>
    <dgm:cxn modelId="{00C48C7E-41D0-4CA0-9700-560C1DC5B878}" srcId="{97FAEA82-0130-4A56-B926-F15BD13279A0}" destId="{1C41598C-C5A5-4E4D-B533-977192AD2061}" srcOrd="0" destOrd="0" parTransId="{8CC1C07B-8734-4B25-A142-4A4C99A0D94F}" sibTransId="{268FCAF0-BA3A-429B-A637-C3A8E6A04B36}"/>
    <dgm:cxn modelId="{81493990-D85A-4F35-A6A4-6F35CDE864F9}" srcId="{99327B6C-2DF8-4FCF-8080-FD0B8CAD889A}" destId="{97FAEA82-0130-4A56-B926-F15BD13279A0}" srcOrd="1" destOrd="0" parTransId="{960710EC-77F5-48E8-87E9-D1C329FCA49D}" sibTransId="{D58EBBCF-21D8-4D0C-A83E-CBF2DAC83EAA}"/>
    <dgm:cxn modelId="{603D2F96-1216-9D44-82CB-0E4D95A8766D}" type="presOf" srcId="{1C41598C-C5A5-4E4D-B533-977192AD2061}" destId="{773E713E-BE04-4D4B-9432-D06F65D97511}" srcOrd="0" destOrd="0" presId="urn:microsoft.com/office/officeart/2005/8/layout/list1"/>
    <dgm:cxn modelId="{15B57FA7-5D8A-F545-BECE-D6F9A74A4506}" type="presOf" srcId="{DE32F696-47D6-43BF-B064-FE199A6B6DFF}" destId="{428776DF-7C61-5B42-85F6-A71229B10ECB}" srcOrd="0" destOrd="0" presId="urn:microsoft.com/office/officeart/2005/8/layout/list1"/>
    <dgm:cxn modelId="{5012E6D6-17F8-3849-BB9B-B04B17325DEF}" type="presOf" srcId="{99327B6C-2DF8-4FCF-8080-FD0B8CAD889A}" destId="{9AEF45B7-1D05-B843-95C0-2E48D15C4856}" srcOrd="0" destOrd="0" presId="urn:microsoft.com/office/officeart/2005/8/layout/list1"/>
    <dgm:cxn modelId="{44F89CF1-8C96-E849-98F8-E26E30255DF5}" srcId="{97FAEA82-0130-4A56-B926-F15BD13279A0}" destId="{F107A699-294D-6446-8467-E82BA431B2D1}" srcOrd="2" destOrd="0" parTransId="{2950972B-BB19-154D-AFEF-33096D82A3B3}" sibTransId="{3FEB389D-F2D2-6340-8AE4-33A596FE8FAE}"/>
    <dgm:cxn modelId="{7B5F73FE-F36B-F04B-A265-8B24F912407D}" type="presOf" srcId="{97FAEA82-0130-4A56-B926-F15BD13279A0}" destId="{61EDA9B9-FEE0-7745-A630-EB71FA1452E3}" srcOrd="0" destOrd="0" presId="urn:microsoft.com/office/officeart/2005/8/layout/list1"/>
    <dgm:cxn modelId="{8733539C-4DD5-3440-A914-348F413501D8}" type="presParOf" srcId="{9AEF45B7-1D05-B843-95C0-2E48D15C4856}" destId="{AC360863-1BED-6B41-8602-627C97E95503}" srcOrd="0" destOrd="0" presId="urn:microsoft.com/office/officeart/2005/8/layout/list1"/>
    <dgm:cxn modelId="{386A8978-4E68-0348-9301-674311E594D8}" type="presParOf" srcId="{AC360863-1BED-6B41-8602-627C97E95503}" destId="{428776DF-7C61-5B42-85F6-A71229B10ECB}" srcOrd="0" destOrd="0" presId="urn:microsoft.com/office/officeart/2005/8/layout/list1"/>
    <dgm:cxn modelId="{95BF9579-65FE-F74A-B900-CE11529F9B82}" type="presParOf" srcId="{AC360863-1BED-6B41-8602-627C97E95503}" destId="{FFA54353-AEB8-8742-9FD2-0BF1D13A9CFB}" srcOrd="1" destOrd="0" presId="urn:microsoft.com/office/officeart/2005/8/layout/list1"/>
    <dgm:cxn modelId="{413D186C-21C9-AA48-9D24-CF4387C5DE87}" type="presParOf" srcId="{9AEF45B7-1D05-B843-95C0-2E48D15C4856}" destId="{61CB1DBC-2129-624B-87A8-6703314D65A3}" srcOrd="1" destOrd="0" presId="urn:microsoft.com/office/officeart/2005/8/layout/list1"/>
    <dgm:cxn modelId="{245B5E33-1A78-2B4D-8F47-BFDF511A2C93}" type="presParOf" srcId="{9AEF45B7-1D05-B843-95C0-2E48D15C4856}" destId="{C7E25028-E3FC-D04D-BB4A-DE72A50FF8BC}" srcOrd="2" destOrd="0" presId="urn:microsoft.com/office/officeart/2005/8/layout/list1"/>
    <dgm:cxn modelId="{5B9E6F1E-7716-0841-AA11-360D13C7889F}" type="presParOf" srcId="{9AEF45B7-1D05-B843-95C0-2E48D15C4856}" destId="{002BD261-98A9-684E-A0F3-21D4E5020A91}" srcOrd="3" destOrd="0" presId="urn:microsoft.com/office/officeart/2005/8/layout/list1"/>
    <dgm:cxn modelId="{20AC6FB4-B425-314E-B3A4-F93FB3203749}" type="presParOf" srcId="{9AEF45B7-1D05-B843-95C0-2E48D15C4856}" destId="{60B01A9C-E846-A246-8555-91AD5625696E}" srcOrd="4" destOrd="0" presId="urn:microsoft.com/office/officeart/2005/8/layout/list1"/>
    <dgm:cxn modelId="{FA3F6499-965A-CA47-AAC4-C8F8F4AC5A1C}" type="presParOf" srcId="{60B01A9C-E846-A246-8555-91AD5625696E}" destId="{61EDA9B9-FEE0-7745-A630-EB71FA1452E3}" srcOrd="0" destOrd="0" presId="urn:microsoft.com/office/officeart/2005/8/layout/list1"/>
    <dgm:cxn modelId="{A9B38F5C-C61E-A246-A3BE-DA1AD15B4DCB}" type="presParOf" srcId="{60B01A9C-E846-A246-8555-91AD5625696E}" destId="{FACD41D5-8B02-7E48-80D4-00157B7C2A09}" srcOrd="1" destOrd="0" presId="urn:microsoft.com/office/officeart/2005/8/layout/list1"/>
    <dgm:cxn modelId="{E8F94BDB-0739-AD4D-8C69-F6AE27E7DE87}" type="presParOf" srcId="{9AEF45B7-1D05-B843-95C0-2E48D15C4856}" destId="{B1102CC6-99F5-4A4A-859C-D1D2280F9BD5}" srcOrd="5" destOrd="0" presId="urn:microsoft.com/office/officeart/2005/8/layout/list1"/>
    <dgm:cxn modelId="{09834E8B-DF36-D546-8EAF-C56AF7BB68D4}" type="presParOf" srcId="{9AEF45B7-1D05-B843-95C0-2E48D15C4856}" destId="{773E713E-BE04-4D4B-9432-D06F65D97511}"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9327B6C-2DF8-4FCF-8080-FD0B8CAD889A}" type="doc">
      <dgm:prSet loTypeId="urn:microsoft.com/office/officeart/2005/8/layout/list1" loCatId="list" qsTypeId="urn:microsoft.com/office/officeart/2005/8/quickstyle/simple4" qsCatId="simple" csTypeId="urn:microsoft.com/office/officeart/2005/8/colors/colorful5" csCatId="colorful" phldr="1"/>
      <dgm:spPr/>
      <dgm:t>
        <a:bodyPr/>
        <a:lstStyle/>
        <a:p>
          <a:endParaRPr lang="en-US"/>
        </a:p>
      </dgm:t>
    </dgm:pt>
    <dgm:pt modelId="{DE32F696-47D6-43BF-B064-FE199A6B6DFF}">
      <dgm:prSet custT="1"/>
      <dgm:spPr/>
      <dgm:t>
        <a:bodyPr/>
        <a:lstStyle/>
        <a:p>
          <a:r>
            <a:rPr lang="en-US" sz="2000" dirty="0"/>
            <a:t>Data used : admissions, patients, </a:t>
          </a:r>
          <a:r>
            <a:rPr lang="en-US" sz="2000" dirty="0" err="1"/>
            <a:t>diagnoses_icd</a:t>
          </a:r>
          <a:endParaRPr lang="en-US" sz="2000" dirty="0"/>
        </a:p>
      </dgm:t>
    </dgm:pt>
    <dgm:pt modelId="{1264ABD0-99BB-446B-8E4D-CC06B466E953}" type="parTrans" cxnId="{15ADA764-488C-4102-82AD-BF4E45DD90A0}">
      <dgm:prSet/>
      <dgm:spPr/>
      <dgm:t>
        <a:bodyPr/>
        <a:lstStyle/>
        <a:p>
          <a:endParaRPr lang="en-US"/>
        </a:p>
      </dgm:t>
    </dgm:pt>
    <dgm:pt modelId="{F60EE35C-19EB-438B-A823-C98BA4E48206}" type="sibTrans" cxnId="{15ADA764-488C-4102-82AD-BF4E45DD90A0}">
      <dgm:prSet/>
      <dgm:spPr/>
      <dgm:t>
        <a:bodyPr/>
        <a:lstStyle/>
        <a:p>
          <a:endParaRPr lang="en-US"/>
        </a:p>
      </dgm:t>
    </dgm:pt>
    <dgm:pt modelId="{97FAEA82-0130-4A56-B926-F15BD13279A0}">
      <dgm:prSet/>
      <dgm:spPr/>
      <dgm:t>
        <a:bodyPr/>
        <a:lstStyle/>
        <a:p>
          <a:r>
            <a:rPr lang="en-US" dirty="0"/>
            <a:t>Description and interpretation </a:t>
          </a:r>
        </a:p>
      </dgm:t>
    </dgm:pt>
    <dgm:pt modelId="{960710EC-77F5-48E8-87E9-D1C329FCA49D}" type="parTrans" cxnId="{81493990-D85A-4F35-A6A4-6F35CDE864F9}">
      <dgm:prSet/>
      <dgm:spPr/>
      <dgm:t>
        <a:bodyPr/>
        <a:lstStyle/>
        <a:p>
          <a:endParaRPr lang="en-US"/>
        </a:p>
      </dgm:t>
    </dgm:pt>
    <dgm:pt modelId="{D58EBBCF-21D8-4D0C-A83E-CBF2DAC83EAA}" type="sibTrans" cxnId="{81493990-D85A-4F35-A6A4-6F35CDE864F9}">
      <dgm:prSet/>
      <dgm:spPr/>
      <dgm:t>
        <a:bodyPr/>
        <a:lstStyle/>
        <a:p>
          <a:endParaRPr lang="en-US"/>
        </a:p>
      </dgm:t>
    </dgm:pt>
    <dgm:pt modelId="{1C41598C-C5A5-4E4D-B533-977192AD2061}">
      <dgm:prSet custT="1"/>
      <dgm:spPr/>
      <dgm:t>
        <a:bodyPr/>
        <a:lstStyle/>
        <a:p>
          <a:r>
            <a:rPr lang="en-US" sz="2000" dirty="0"/>
            <a:t>This query identifies each patient’s first AMI admission and calculates their age at that time. </a:t>
          </a:r>
        </a:p>
      </dgm:t>
    </dgm:pt>
    <dgm:pt modelId="{8CC1C07B-8734-4B25-A142-4A4C99A0D94F}" type="parTrans" cxnId="{00C48C7E-41D0-4CA0-9700-560C1DC5B878}">
      <dgm:prSet/>
      <dgm:spPr/>
      <dgm:t>
        <a:bodyPr/>
        <a:lstStyle/>
        <a:p>
          <a:endParaRPr lang="en-US"/>
        </a:p>
      </dgm:t>
    </dgm:pt>
    <dgm:pt modelId="{268FCAF0-BA3A-429B-A637-C3A8E6A04B36}" type="sibTrans" cxnId="{00C48C7E-41D0-4CA0-9700-560C1DC5B878}">
      <dgm:prSet/>
      <dgm:spPr/>
      <dgm:t>
        <a:bodyPr/>
        <a:lstStyle/>
        <a:p>
          <a:endParaRPr lang="en-US"/>
        </a:p>
      </dgm:t>
    </dgm:pt>
    <dgm:pt modelId="{454244D4-1AC6-1649-A8EA-9129B1B9BEFA}">
      <dgm:prSet custT="1"/>
      <dgm:spPr/>
      <dgm:t>
        <a:bodyPr/>
        <a:lstStyle/>
        <a:p>
          <a:r>
            <a:rPr lang="en-US" sz="2000" dirty="0"/>
            <a:t>It then computes the average age separately for each gender.</a:t>
          </a:r>
        </a:p>
      </dgm:t>
    </dgm:pt>
    <dgm:pt modelId="{49788C79-4390-A841-B07A-66BED9825A7C}" type="parTrans" cxnId="{BF3C674D-2A94-7E44-A0FA-20691069E40C}">
      <dgm:prSet/>
      <dgm:spPr/>
      <dgm:t>
        <a:bodyPr/>
        <a:lstStyle/>
        <a:p>
          <a:endParaRPr lang="en-US"/>
        </a:p>
      </dgm:t>
    </dgm:pt>
    <dgm:pt modelId="{1038E62C-BF00-A843-B19C-E3360127D1D1}" type="sibTrans" cxnId="{BF3C674D-2A94-7E44-A0FA-20691069E40C}">
      <dgm:prSet/>
      <dgm:spPr/>
      <dgm:t>
        <a:bodyPr/>
        <a:lstStyle/>
        <a:p>
          <a:endParaRPr lang="en-US"/>
        </a:p>
      </dgm:t>
    </dgm:pt>
    <dgm:pt modelId="{5A507347-C083-A844-9950-F91C5A3FA8AD}">
      <dgm:prSet custT="1"/>
      <dgm:spPr/>
      <dgm:t>
        <a:bodyPr/>
        <a:lstStyle/>
        <a:p>
          <a:r>
            <a:rPr lang="en-US" sz="2000" dirty="0"/>
            <a:t>Shows if there is any gender specific trends when patients are first admitted for a heart attack. The data shows females tend to have their first heart attack later than the male patients.</a:t>
          </a:r>
        </a:p>
      </dgm:t>
    </dgm:pt>
    <dgm:pt modelId="{3CF3E74E-599F-8C4E-BE0A-EFB638176832}" type="parTrans" cxnId="{7530367D-657B-214A-AE99-03B8F700D9F0}">
      <dgm:prSet/>
      <dgm:spPr/>
      <dgm:t>
        <a:bodyPr/>
        <a:lstStyle/>
        <a:p>
          <a:endParaRPr lang="en-US"/>
        </a:p>
      </dgm:t>
    </dgm:pt>
    <dgm:pt modelId="{A1969155-10DC-7347-AC72-E3DBF5F781B2}" type="sibTrans" cxnId="{7530367D-657B-214A-AE99-03B8F700D9F0}">
      <dgm:prSet/>
      <dgm:spPr/>
      <dgm:t>
        <a:bodyPr/>
        <a:lstStyle/>
        <a:p>
          <a:endParaRPr lang="en-US"/>
        </a:p>
      </dgm:t>
    </dgm:pt>
    <dgm:pt modelId="{9AEF45B7-1D05-B843-95C0-2E48D15C4856}" type="pres">
      <dgm:prSet presAssocID="{99327B6C-2DF8-4FCF-8080-FD0B8CAD889A}" presName="linear" presStyleCnt="0">
        <dgm:presLayoutVars>
          <dgm:dir/>
          <dgm:animLvl val="lvl"/>
          <dgm:resizeHandles val="exact"/>
        </dgm:presLayoutVars>
      </dgm:prSet>
      <dgm:spPr/>
    </dgm:pt>
    <dgm:pt modelId="{AC360863-1BED-6B41-8602-627C97E95503}" type="pres">
      <dgm:prSet presAssocID="{DE32F696-47D6-43BF-B064-FE199A6B6DFF}" presName="parentLin" presStyleCnt="0"/>
      <dgm:spPr/>
    </dgm:pt>
    <dgm:pt modelId="{428776DF-7C61-5B42-85F6-A71229B10ECB}" type="pres">
      <dgm:prSet presAssocID="{DE32F696-47D6-43BF-B064-FE199A6B6DFF}" presName="parentLeftMargin" presStyleLbl="node1" presStyleIdx="0" presStyleCnt="2"/>
      <dgm:spPr/>
    </dgm:pt>
    <dgm:pt modelId="{FFA54353-AEB8-8742-9FD2-0BF1D13A9CFB}" type="pres">
      <dgm:prSet presAssocID="{DE32F696-47D6-43BF-B064-FE199A6B6DFF}" presName="parentText" presStyleLbl="node1" presStyleIdx="0" presStyleCnt="2">
        <dgm:presLayoutVars>
          <dgm:chMax val="0"/>
          <dgm:bulletEnabled val="1"/>
        </dgm:presLayoutVars>
      </dgm:prSet>
      <dgm:spPr/>
    </dgm:pt>
    <dgm:pt modelId="{61CB1DBC-2129-624B-87A8-6703314D65A3}" type="pres">
      <dgm:prSet presAssocID="{DE32F696-47D6-43BF-B064-FE199A6B6DFF}" presName="negativeSpace" presStyleCnt="0"/>
      <dgm:spPr/>
    </dgm:pt>
    <dgm:pt modelId="{C7E25028-E3FC-D04D-BB4A-DE72A50FF8BC}" type="pres">
      <dgm:prSet presAssocID="{DE32F696-47D6-43BF-B064-FE199A6B6DFF}" presName="childText" presStyleLbl="conFgAcc1" presStyleIdx="0" presStyleCnt="2">
        <dgm:presLayoutVars>
          <dgm:bulletEnabled val="1"/>
        </dgm:presLayoutVars>
      </dgm:prSet>
      <dgm:spPr/>
    </dgm:pt>
    <dgm:pt modelId="{002BD261-98A9-684E-A0F3-21D4E5020A91}" type="pres">
      <dgm:prSet presAssocID="{F60EE35C-19EB-438B-A823-C98BA4E48206}" presName="spaceBetweenRectangles" presStyleCnt="0"/>
      <dgm:spPr/>
    </dgm:pt>
    <dgm:pt modelId="{60B01A9C-E846-A246-8555-91AD5625696E}" type="pres">
      <dgm:prSet presAssocID="{97FAEA82-0130-4A56-B926-F15BD13279A0}" presName="parentLin" presStyleCnt="0"/>
      <dgm:spPr/>
    </dgm:pt>
    <dgm:pt modelId="{61EDA9B9-FEE0-7745-A630-EB71FA1452E3}" type="pres">
      <dgm:prSet presAssocID="{97FAEA82-0130-4A56-B926-F15BD13279A0}" presName="parentLeftMargin" presStyleLbl="node1" presStyleIdx="0" presStyleCnt="2"/>
      <dgm:spPr/>
    </dgm:pt>
    <dgm:pt modelId="{FACD41D5-8B02-7E48-80D4-00157B7C2A09}" type="pres">
      <dgm:prSet presAssocID="{97FAEA82-0130-4A56-B926-F15BD13279A0}" presName="parentText" presStyleLbl="node1" presStyleIdx="1" presStyleCnt="2">
        <dgm:presLayoutVars>
          <dgm:chMax val="0"/>
          <dgm:bulletEnabled val="1"/>
        </dgm:presLayoutVars>
      </dgm:prSet>
      <dgm:spPr/>
    </dgm:pt>
    <dgm:pt modelId="{B1102CC6-99F5-4A4A-859C-D1D2280F9BD5}" type="pres">
      <dgm:prSet presAssocID="{97FAEA82-0130-4A56-B926-F15BD13279A0}" presName="negativeSpace" presStyleCnt="0"/>
      <dgm:spPr/>
    </dgm:pt>
    <dgm:pt modelId="{773E713E-BE04-4D4B-9432-D06F65D97511}" type="pres">
      <dgm:prSet presAssocID="{97FAEA82-0130-4A56-B926-F15BD13279A0}" presName="childText" presStyleLbl="conFgAcc1" presStyleIdx="1" presStyleCnt="2">
        <dgm:presLayoutVars>
          <dgm:bulletEnabled val="1"/>
        </dgm:presLayoutVars>
      </dgm:prSet>
      <dgm:spPr/>
    </dgm:pt>
  </dgm:ptLst>
  <dgm:cxnLst>
    <dgm:cxn modelId="{17848046-4602-6D4B-98FB-1781B34705D9}" type="presOf" srcId="{99327B6C-2DF8-4FCF-8080-FD0B8CAD889A}" destId="{9AEF45B7-1D05-B843-95C0-2E48D15C4856}" srcOrd="0" destOrd="0" presId="urn:microsoft.com/office/officeart/2005/8/layout/list1"/>
    <dgm:cxn modelId="{BF3C674D-2A94-7E44-A0FA-20691069E40C}" srcId="{97FAEA82-0130-4A56-B926-F15BD13279A0}" destId="{454244D4-1AC6-1649-A8EA-9129B1B9BEFA}" srcOrd="1" destOrd="0" parTransId="{49788C79-4390-A841-B07A-66BED9825A7C}" sibTransId="{1038E62C-BF00-A843-B19C-E3360127D1D1}"/>
    <dgm:cxn modelId="{15ADA764-488C-4102-82AD-BF4E45DD90A0}" srcId="{99327B6C-2DF8-4FCF-8080-FD0B8CAD889A}" destId="{DE32F696-47D6-43BF-B064-FE199A6B6DFF}" srcOrd="0" destOrd="0" parTransId="{1264ABD0-99BB-446B-8E4D-CC06B466E953}" sibTransId="{F60EE35C-19EB-438B-A823-C98BA4E48206}"/>
    <dgm:cxn modelId="{3895366B-5B0A-BB43-903B-C80E8146B5EB}" type="presOf" srcId="{97FAEA82-0130-4A56-B926-F15BD13279A0}" destId="{FACD41D5-8B02-7E48-80D4-00157B7C2A09}" srcOrd="1" destOrd="0" presId="urn:microsoft.com/office/officeart/2005/8/layout/list1"/>
    <dgm:cxn modelId="{1EDC2976-9D90-6C42-A8DE-CDBCACBD0BEC}" type="presOf" srcId="{DE32F696-47D6-43BF-B064-FE199A6B6DFF}" destId="{428776DF-7C61-5B42-85F6-A71229B10ECB}" srcOrd="0" destOrd="0" presId="urn:microsoft.com/office/officeart/2005/8/layout/list1"/>
    <dgm:cxn modelId="{72233E7A-EBD2-8B4D-AF56-CF6C6DD5BB1C}" type="presOf" srcId="{454244D4-1AC6-1649-A8EA-9129B1B9BEFA}" destId="{773E713E-BE04-4D4B-9432-D06F65D97511}" srcOrd="0" destOrd="1" presId="urn:microsoft.com/office/officeart/2005/8/layout/list1"/>
    <dgm:cxn modelId="{7530367D-657B-214A-AE99-03B8F700D9F0}" srcId="{97FAEA82-0130-4A56-B926-F15BD13279A0}" destId="{5A507347-C083-A844-9950-F91C5A3FA8AD}" srcOrd="2" destOrd="0" parTransId="{3CF3E74E-599F-8C4E-BE0A-EFB638176832}" sibTransId="{A1969155-10DC-7347-AC72-E3DBF5F781B2}"/>
    <dgm:cxn modelId="{00C48C7E-41D0-4CA0-9700-560C1DC5B878}" srcId="{97FAEA82-0130-4A56-B926-F15BD13279A0}" destId="{1C41598C-C5A5-4E4D-B533-977192AD2061}" srcOrd="0" destOrd="0" parTransId="{8CC1C07B-8734-4B25-A142-4A4C99A0D94F}" sibTransId="{268FCAF0-BA3A-429B-A637-C3A8E6A04B36}"/>
    <dgm:cxn modelId="{81493990-D85A-4F35-A6A4-6F35CDE864F9}" srcId="{99327B6C-2DF8-4FCF-8080-FD0B8CAD889A}" destId="{97FAEA82-0130-4A56-B926-F15BD13279A0}" srcOrd="1" destOrd="0" parTransId="{960710EC-77F5-48E8-87E9-D1C329FCA49D}" sibTransId="{D58EBBCF-21D8-4D0C-A83E-CBF2DAC83EAA}"/>
    <dgm:cxn modelId="{FFCF75AE-BB79-D84D-880C-3A729ED73CF4}" type="presOf" srcId="{97FAEA82-0130-4A56-B926-F15BD13279A0}" destId="{61EDA9B9-FEE0-7745-A630-EB71FA1452E3}" srcOrd="0" destOrd="0" presId="urn:microsoft.com/office/officeart/2005/8/layout/list1"/>
    <dgm:cxn modelId="{F5E6B5BA-D128-B742-B0B9-CFD59487C261}" type="presOf" srcId="{1C41598C-C5A5-4E4D-B533-977192AD2061}" destId="{773E713E-BE04-4D4B-9432-D06F65D97511}" srcOrd="0" destOrd="0" presId="urn:microsoft.com/office/officeart/2005/8/layout/list1"/>
    <dgm:cxn modelId="{E7E1C3DC-0706-4541-830A-542AEDB97CC8}" type="presOf" srcId="{5A507347-C083-A844-9950-F91C5A3FA8AD}" destId="{773E713E-BE04-4D4B-9432-D06F65D97511}" srcOrd="0" destOrd="2" presId="urn:microsoft.com/office/officeart/2005/8/layout/list1"/>
    <dgm:cxn modelId="{C30D87F9-46CA-CC4C-B86C-B1896EF25041}" type="presOf" srcId="{DE32F696-47D6-43BF-B064-FE199A6B6DFF}" destId="{FFA54353-AEB8-8742-9FD2-0BF1D13A9CFB}" srcOrd="1" destOrd="0" presId="urn:microsoft.com/office/officeart/2005/8/layout/list1"/>
    <dgm:cxn modelId="{2F6E0671-0590-4A47-8D36-77DF3D373B9C}" type="presParOf" srcId="{9AEF45B7-1D05-B843-95C0-2E48D15C4856}" destId="{AC360863-1BED-6B41-8602-627C97E95503}" srcOrd="0" destOrd="0" presId="urn:microsoft.com/office/officeart/2005/8/layout/list1"/>
    <dgm:cxn modelId="{B2DF6624-2775-BB41-AAC9-D6805D69C748}" type="presParOf" srcId="{AC360863-1BED-6B41-8602-627C97E95503}" destId="{428776DF-7C61-5B42-85F6-A71229B10ECB}" srcOrd="0" destOrd="0" presId="urn:microsoft.com/office/officeart/2005/8/layout/list1"/>
    <dgm:cxn modelId="{7A509A62-0E76-2545-A6E5-509704665474}" type="presParOf" srcId="{AC360863-1BED-6B41-8602-627C97E95503}" destId="{FFA54353-AEB8-8742-9FD2-0BF1D13A9CFB}" srcOrd="1" destOrd="0" presId="urn:microsoft.com/office/officeart/2005/8/layout/list1"/>
    <dgm:cxn modelId="{699A63D2-AB87-3044-BB42-65A20A3B33F8}" type="presParOf" srcId="{9AEF45B7-1D05-B843-95C0-2E48D15C4856}" destId="{61CB1DBC-2129-624B-87A8-6703314D65A3}" srcOrd="1" destOrd="0" presId="urn:microsoft.com/office/officeart/2005/8/layout/list1"/>
    <dgm:cxn modelId="{F3568F9C-8BEC-0244-AC19-A4BDF104790F}" type="presParOf" srcId="{9AEF45B7-1D05-B843-95C0-2E48D15C4856}" destId="{C7E25028-E3FC-D04D-BB4A-DE72A50FF8BC}" srcOrd="2" destOrd="0" presId="urn:microsoft.com/office/officeart/2005/8/layout/list1"/>
    <dgm:cxn modelId="{27EACDED-0F6C-3F46-8E98-714BD0BB268B}" type="presParOf" srcId="{9AEF45B7-1D05-B843-95C0-2E48D15C4856}" destId="{002BD261-98A9-684E-A0F3-21D4E5020A91}" srcOrd="3" destOrd="0" presId="urn:microsoft.com/office/officeart/2005/8/layout/list1"/>
    <dgm:cxn modelId="{D8EB7A98-0766-424E-80B8-A3B3C2D54F34}" type="presParOf" srcId="{9AEF45B7-1D05-B843-95C0-2E48D15C4856}" destId="{60B01A9C-E846-A246-8555-91AD5625696E}" srcOrd="4" destOrd="0" presId="urn:microsoft.com/office/officeart/2005/8/layout/list1"/>
    <dgm:cxn modelId="{564E8DF0-3D3F-4446-B313-F63205957029}" type="presParOf" srcId="{60B01A9C-E846-A246-8555-91AD5625696E}" destId="{61EDA9B9-FEE0-7745-A630-EB71FA1452E3}" srcOrd="0" destOrd="0" presId="urn:microsoft.com/office/officeart/2005/8/layout/list1"/>
    <dgm:cxn modelId="{B48C1E5A-8A1F-7D46-9CCC-2549C7C84A0C}" type="presParOf" srcId="{60B01A9C-E846-A246-8555-91AD5625696E}" destId="{FACD41D5-8B02-7E48-80D4-00157B7C2A09}" srcOrd="1" destOrd="0" presId="urn:microsoft.com/office/officeart/2005/8/layout/list1"/>
    <dgm:cxn modelId="{AF0DD771-429B-0841-9255-15C4ABA132F7}" type="presParOf" srcId="{9AEF45B7-1D05-B843-95C0-2E48D15C4856}" destId="{B1102CC6-99F5-4A4A-859C-D1D2280F9BD5}" srcOrd="5" destOrd="0" presId="urn:microsoft.com/office/officeart/2005/8/layout/list1"/>
    <dgm:cxn modelId="{95BC7DFF-2B12-134A-919C-1A2C6A66267B}" type="presParOf" srcId="{9AEF45B7-1D05-B843-95C0-2E48D15C4856}" destId="{773E713E-BE04-4D4B-9432-D06F65D97511}"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9327B6C-2DF8-4FCF-8080-FD0B8CAD889A}" type="doc">
      <dgm:prSet loTypeId="urn:microsoft.com/office/officeart/2005/8/layout/list1" loCatId="list" qsTypeId="urn:microsoft.com/office/officeart/2005/8/quickstyle/simple4" qsCatId="simple" csTypeId="urn:microsoft.com/office/officeart/2005/8/colors/colorful5" csCatId="colorful" phldr="1"/>
      <dgm:spPr/>
      <dgm:t>
        <a:bodyPr/>
        <a:lstStyle/>
        <a:p>
          <a:endParaRPr lang="en-US"/>
        </a:p>
      </dgm:t>
    </dgm:pt>
    <dgm:pt modelId="{DE32F696-47D6-43BF-B064-FE199A6B6DFF}">
      <dgm:prSet/>
      <dgm:spPr/>
      <dgm:t>
        <a:bodyPr/>
        <a:lstStyle/>
        <a:p>
          <a:r>
            <a:rPr lang="en-US" dirty="0"/>
            <a:t>Data used :admissions, </a:t>
          </a:r>
          <a:r>
            <a:rPr lang="en-US" dirty="0" err="1"/>
            <a:t>diagnoses_icd</a:t>
          </a:r>
          <a:endParaRPr lang="en-US" dirty="0"/>
        </a:p>
      </dgm:t>
    </dgm:pt>
    <dgm:pt modelId="{1264ABD0-99BB-446B-8E4D-CC06B466E953}" type="parTrans" cxnId="{15ADA764-488C-4102-82AD-BF4E45DD90A0}">
      <dgm:prSet/>
      <dgm:spPr/>
      <dgm:t>
        <a:bodyPr/>
        <a:lstStyle/>
        <a:p>
          <a:endParaRPr lang="en-US"/>
        </a:p>
      </dgm:t>
    </dgm:pt>
    <dgm:pt modelId="{F60EE35C-19EB-438B-A823-C98BA4E48206}" type="sibTrans" cxnId="{15ADA764-488C-4102-82AD-BF4E45DD90A0}">
      <dgm:prSet/>
      <dgm:spPr/>
      <dgm:t>
        <a:bodyPr/>
        <a:lstStyle/>
        <a:p>
          <a:endParaRPr lang="en-US"/>
        </a:p>
      </dgm:t>
    </dgm:pt>
    <dgm:pt modelId="{97FAEA82-0130-4A56-B926-F15BD13279A0}">
      <dgm:prSet/>
      <dgm:spPr/>
      <dgm:t>
        <a:bodyPr/>
        <a:lstStyle/>
        <a:p>
          <a:r>
            <a:rPr lang="en-US" dirty="0"/>
            <a:t>Description and interpretation </a:t>
          </a:r>
        </a:p>
      </dgm:t>
    </dgm:pt>
    <dgm:pt modelId="{960710EC-77F5-48E8-87E9-D1C329FCA49D}" type="parTrans" cxnId="{81493990-D85A-4F35-A6A4-6F35CDE864F9}">
      <dgm:prSet/>
      <dgm:spPr/>
      <dgm:t>
        <a:bodyPr/>
        <a:lstStyle/>
        <a:p>
          <a:endParaRPr lang="en-US"/>
        </a:p>
      </dgm:t>
    </dgm:pt>
    <dgm:pt modelId="{D58EBBCF-21D8-4D0C-A83E-CBF2DAC83EAA}" type="sibTrans" cxnId="{81493990-D85A-4F35-A6A4-6F35CDE864F9}">
      <dgm:prSet/>
      <dgm:spPr/>
      <dgm:t>
        <a:bodyPr/>
        <a:lstStyle/>
        <a:p>
          <a:endParaRPr lang="en-US"/>
        </a:p>
      </dgm:t>
    </dgm:pt>
    <dgm:pt modelId="{1C41598C-C5A5-4E4D-B533-977192AD2061}">
      <dgm:prSet/>
      <dgm:spPr/>
      <dgm:t>
        <a:bodyPr/>
        <a:lstStyle/>
        <a:p>
          <a:r>
            <a:rPr lang="en-US" dirty="0"/>
            <a:t>This query groups AMI admissions by insurance type and counts how many admissions fall under each category.</a:t>
          </a:r>
        </a:p>
      </dgm:t>
    </dgm:pt>
    <dgm:pt modelId="{8CC1C07B-8734-4B25-A142-4A4C99A0D94F}" type="parTrans" cxnId="{00C48C7E-41D0-4CA0-9700-560C1DC5B878}">
      <dgm:prSet/>
      <dgm:spPr/>
      <dgm:t>
        <a:bodyPr/>
        <a:lstStyle/>
        <a:p>
          <a:endParaRPr lang="en-US"/>
        </a:p>
      </dgm:t>
    </dgm:pt>
    <dgm:pt modelId="{268FCAF0-BA3A-429B-A637-C3A8E6A04B36}" type="sibTrans" cxnId="{00C48C7E-41D0-4CA0-9700-560C1DC5B878}">
      <dgm:prSet/>
      <dgm:spPr/>
      <dgm:t>
        <a:bodyPr/>
        <a:lstStyle/>
        <a:p>
          <a:endParaRPr lang="en-US"/>
        </a:p>
      </dgm:t>
    </dgm:pt>
    <dgm:pt modelId="{68A18F85-B9F4-4175-BA8E-FC28DE51E1D6}">
      <dgm:prSet/>
      <dgm:spPr/>
      <dgm:t>
        <a:bodyPr/>
        <a:lstStyle/>
        <a:p>
          <a:r>
            <a:rPr lang="en-US" dirty="0"/>
            <a:t>Shows which insurance types are most common among heart attack patients.</a:t>
          </a:r>
        </a:p>
      </dgm:t>
    </dgm:pt>
    <dgm:pt modelId="{FAD084B9-EA09-4E8A-840D-58E66F9B2E74}" type="parTrans" cxnId="{8B3AE8B1-9885-4E02-A61E-4FDA3E9FD844}">
      <dgm:prSet/>
      <dgm:spPr/>
      <dgm:t>
        <a:bodyPr/>
        <a:lstStyle/>
        <a:p>
          <a:endParaRPr lang="en-US"/>
        </a:p>
      </dgm:t>
    </dgm:pt>
    <dgm:pt modelId="{E62902A8-72D2-48C9-8AF4-52D335548B5F}" type="sibTrans" cxnId="{8B3AE8B1-9885-4E02-A61E-4FDA3E9FD844}">
      <dgm:prSet/>
      <dgm:spPr/>
      <dgm:t>
        <a:bodyPr/>
        <a:lstStyle/>
        <a:p>
          <a:endParaRPr lang="en-US"/>
        </a:p>
      </dgm:t>
    </dgm:pt>
    <dgm:pt modelId="{9AEF45B7-1D05-B843-95C0-2E48D15C4856}" type="pres">
      <dgm:prSet presAssocID="{99327B6C-2DF8-4FCF-8080-FD0B8CAD889A}" presName="linear" presStyleCnt="0">
        <dgm:presLayoutVars>
          <dgm:dir/>
          <dgm:animLvl val="lvl"/>
          <dgm:resizeHandles val="exact"/>
        </dgm:presLayoutVars>
      </dgm:prSet>
      <dgm:spPr/>
    </dgm:pt>
    <dgm:pt modelId="{AC360863-1BED-6B41-8602-627C97E95503}" type="pres">
      <dgm:prSet presAssocID="{DE32F696-47D6-43BF-B064-FE199A6B6DFF}" presName="parentLin" presStyleCnt="0"/>
      <dgm:spPr/>
    </dgm:pt>
    <dgm:pt modelId="{428776DF-7C61-5B42-85F6-A71229B10ECB}" type="pres">
      <dgm:prSet presAssocID="{DE32F696-47D6-43BF-B064-FE199A6B6DFF}" presName="parentLeftMargin" presStyleLbl="node1" presStyleIdx="0" presStyleCnt="2"/>
      <dgm:spPr/>
    </dgm:pt>
    <dgm:pt modelId="{FFA54353-AEB8-8742-9FD2-0BF1D13A9CFB}" type="pres">
      <dgm:prSet presAssocID="{DE32F696-47D6-43BF-B064-FE199A6B6DFF}" presName="parentText" presStyleLbl="node1" presStyleIdx="0" presStyleCnt="2">
        <dgm:presLayoutVars>
          <dgm:chMax val="0"/>
          <dgm:bulletEnabled val="1"/>
        </dgm:presLayoutVars>
      </dgm:prSet>
      <dgm:spPr/>
    </dgm:pt>
    <dgm:pt modelId="{61CB1DBC-2129-624B-87A8-6703314D65A3}" type="pres">
      <dgm:prSet presAssocID="{DE32F696-47D6-43BF-B064-FE199A6B6DFF}" presName="negativeSpace" presStyleCnt="0"/>
      <dgm:spPr/>
    </dgm:pt>
    <dgm:pt modelId="{C7E25028-E3FC-D04D-BB4A-DE72A50FF8BC}" type="pres">
      <dgm:prSet presAssocID="{DE32F696-47D6-43BF-B064-FE199A6B6DFF}" presName="childText" presStyleLbl="conFgAcc1" presStyleIdx="0" presStyleCnt="2">
        <dgm:presLayoutVars>
          <dgm:bulletEnabled val="1"/>
        </dgm:presLayoutVars>
      </dgm:prSet>
      <dgm:spPr/>
    </dgm:pt>
    <dgm:pt modelId="{002BD261-98A9-684E-A0F3-21D4E5020A91}" type="pres">
      <dgm:prSet presAssocID="{F60EE35C-19EB-438B-A823-C98BA4E48206}" presName="spaceBetweenRectangles" presStyleCnt="0"/>
      <dgm:spPr/>
    </dgm:pt>
    <dgm:pt modelId="{60B01A9C-E846-A246-8555-91AD5625696E}" type="pres">
      <dgm:prSet presAssocID="{97FAEA82-0130-4A56-B926-F15BD13279A0}" presName="parentLin" presStyleCnt="0"/>
      <dgm:spPr/>
    </dgm:pt>
    <dgm:pt modelId="{61EDA9B9-FEE0-7745-A630-EB71FA1452E3}" type="pres">
      <dgm:prSet presAssocID="{97FAEA82-0130-4A56-B926-F15BD13279A0}" presName="parentLeftMargin" presStyleLbl="node1" presStyleIdx="0" presStyleCnt="2"/>
      <dgm:spPr/>
    </dgm:pt>
    <dgm:pt modelId="{FACD41D5-8B02-7E48-80D4-00157B7C2A09}" type="pres">
      <dgm:prSet presAssocID="{97FAEA82-0130-4A56-B926-F15BD13279A0}" presName="parentText" presStyleLbl="node1" presStyleIdx="1" presStyleCnt="2">
        <dgm:presLayoutVars>
          <dgm:chMax val="0"/>
          <dgm:bulletEnabled val="1"/>
        </dgm:presLayoutVars>
      </dgm:prSet>
      <dgm:spPr/>
    </dgm:pt>
    <dgm:pt modelId="{B1102CC6-99F5-4A4A-859C-D1D2280F9BD5}" type="pres">
      <dgm:prSet presAssocID="{97FAEA82-0130-4A56-B926-F15BD13279A0}" presName="negativeSpace" presStyleCnt="0"/>
      <dgm:spPr/>
    </dgm:pt>
    <dgm:pt modelId="{773E713E-BE04-4D4B-9432-D06F65D97511}" type="pres">
      <dgm:prSet presAssocID="{97FAEA82-0130-4A56-B926-F15BD13279A0}" presName="childText" presStyleLbl="conFgAcc1" presStyleIdx="1" presStyleCnt="2">
        <dgm:presLayoutVars>
          <dgm:bulletEnabled val="1"/>
        </dgm:presLayoutVars>
      </dgm:prSet>
      <dgm:spPr/>
    </dgm:pt>
  </dgm:ptLst>
  <dgm:cxnLst>
    <dgm:cxn modelId="{55FFB53B-5527-784F-BFEC-64A909AFC845}" type="presOf" srcId="{68A18F85-B9F4-4175-BA8E-FC28DE51E1D6}" destId="{773E713E-BE04-4D4B-9432-D06F65D97511}" srcOrd="0" destOrd="1" presId="urn:microsoft.com/office/officeart/2005/8/layout/list1"/>
    <dgm:cxn modelId="{17848046-4602-6D4B-98FB-1781B34705D9}" type="presOf" srcId="{99327B6C-2DF8-4FCF-8080-FD0B8CAD889A}" destId="{9AEF45B7-1D05-B843-95C0-2E48D15C4856}" srcOrd="0" destOrd="0" presId="urn:microsoft.com/office/officeart/2005/8/layout/list1"/>
    <dgm:cxn modelId="{15ADA764-488C-4102-82AD-BF4E45DD90A0}" srcId="{99327B6C-2DF8-4FCF-8080-FD0B8CAD889A}" destId="{DE32F696-47D6-43BF-B064-FE199A6B6DFF}" srcOrd="0" destOrd="0" parTransId="{1264ABD0-99BB-446B-8E4D-CC06B466E953}" sibTransId="{F60EE35C-19EB-438B-A823-C98BA4E48206}"/>
    <dgm:cxn modelId="{3895366B-5B0A-BB43-903B-C80E8146B5EB}" type="presOf" srcId="{97FAEA82-0130-4A56-B926-F15BD13279A0}" destId="{FACD41D5-8B02-7E48-80D4-00157B7C2A09}" srcOrd="1" destOrd="0" presId="urn:microsoft.com/office/officeart/2005/8/layout/list1"/>
    <dgm:cxn modelId="{1EDC2976-9D90-6C42-A8DE-CDBCACBD0BEC}" type="presOf" srcId="{DE32F696-47D6-43BF-B064-FE199A6B6DFF}" destId="{428776DF-7C61-5B42-85F6-A71229B10ECB}" srcOrd="0" destOrd="0" presId="urn:microsoft.com/office/officeart/2005/8/layout/list1"/>
    <dgm:cxn modelId="{00C48C7E-41D0-4CA0-9700-560C1DC5B878}" srcId="{97FAEA82-0130-4A56-B926-F15BD13279A0}" destId="{1C41598C-C5A5-4E4D-B533-977192AD2061}" srcOrd="0" destOrd="0" parTransId="{8CC1C07B-8734-4B25-A142-4A4C99A0D94F}" sibTransId="{268FCAF0-BA3A-429B-A637-C3A8E6A04B36}"/>
    <dgm:cxn modelId="{81493990-D85A-4F35-A6A4-6F35CDE864F9}" srcId="{99327B6C-2DF8-4FCF-8080-FD0B8CAD889A}" destId="{97FAEA82-0130-4A56-B926-F15BD13279A0}" srcOrd="1" destOrd="0" parTransId="{960710EC-77F5-48E8-87E9-D1C329FCA49D}" sibTransId="{D58EBBCF-21D8-4D0C-A83E-CBF2DAC83EAA}"/>
    <dgm:cxn modelId="{FFCF75AE-BB79-D84D-880C-3A729ED73CF4}" type="presOf" srcId="{97FAEA82-0130-4A56-B926-F15BD13279A0}" destId="{61EDA9B9-FEE0-7745-A630-EB71FA1452E3}" srcOrd="0" destOrd="0" presId="urn:microsoft.com/office/officeart/2005/8/layout/list1"/>
    <dgm:cxn modelId="{8B3AE8B1-9885-4E02-A61E-4FDA3E9FD844}" srcId="{97FAEA82-0130-4A56-B926-F15BD13279A0}" destId="{68A18F85-B9F4-4175-BA8E-FC28DE51E1D6}" srcOrd="1" destOrd="0" parTransId="{FAD084B9-EA09-4E8A-840D-58E66F9B2E74}" sibTransId="{E62902A8-72D2-48C9-8AF4-52D335548B5F}"/>
    <dgm:cxn modelId="{F5E6B5BA-D128-B742-B0B9-CFD59487C261}" type="presOf" srcId="{1C41598C-C5A5-4E4D-B533-977192AD2061}" destId="{773E713E-BE04-4D4B-9432-D06F65D97511}" srcOrd="0" destOrd="0" presId="urn:microsoft.com/office/officeart/2005/8/layout/list1"/>
    <dgm:cxn modelId="{C30D87F9-46CA-CC4C-B86C-B1896EF25041}" type="presOf" srcId="{DE32F696-47D6-43BF-B064-FE199A6B6DFF}" destId="{FFA54353-AEB8-8742-9FD2-0BF1D13A9CFB}" srcOrd="1" destOrd="0" presId="urn:microsoft.com/office/officeart/2005/8/layout/list1"/>
    <dgm:cxn modelId="{2F6E0671-0590-4A47-8D36-77DF3D373B9C}" type="presParOf" srcId="{9AEF45B7-1D05-B843-95C0-2E48D15C4856}" destId="{AC360863-1BED-6B41-8602-627C97E95503}" srcOrd="0" destOrd="0" presId="urn:microsoft.com/office/officeart/2005/8/layout/list1"/>
    <dgm:cxn modelId="{B2DF6624-2775-BB41-AAC9-D6805D69C748}" type="presParOf" srcId="{AC360863-1BED-6B41-8602-627C97E95503}" destId="{428776DF-7C61-5B42-85F6-A71229B10ECB}" srcOrd="0" destOrd="0" presId="urn:microsoft.com/office/officeart/2005/8/layout/list1"/>
    <dgm:cxn modelId="{7A509A62-0E76-2545-A6E5-509704665474}" type="presParOf" srcId="{AC360863-1BED-6B41-8602-627C97E95503}" destId="{FFA54353-AEB8-8742-9FD2-0BF1D13A9CFB}" srcOrd="1" destOrd="0" presId="urn:microsoft.com/office/officeart/2005/8/layout/list1"/>
    <dgm:cxn modelId="{699A63D2-AB87-3044-BB42-65A20A3B33F8}" type="presParOf" srcId="{9AEF45B7-1D05-B843-95C0-2E48D15C4856}" destId="{61CB1DBC-2129-624B-87A8-6703314D65A3}" srcOrd="1" destOrd="0" presId="urn:microsoft.com/office/officeart/2005/8/layout/list1"/>
    <dgm:cxn modelId="{F3568F9C-8BEC-0244-AC19-A4BDF104790F}" type="presParOf" srcId="{9AEF45B7-1D05-B843-95C0-2E48D15C4856}" destId="{C7E25028-E3FC-D04D-BB4A-DE72A50FF8BC}" srcOrd="2" destOrd="0" presId="urn:microsoft.com/office/officeart/2005/8/layout/list1"/>
    <dgm:cxn modelId="{27EACDED-0F6C-3F46-8E98-714BD0BB268B}" type="presParOf" srcId="{9AEF45B7-1D05-B843-95C0-2E48D15C4856}" destId="{002BD261-98A9-684E-A0F3-21D4E5020A91}" srcOrd="3" destOrd="0" presId="urn:microsoft.com/office/officeart/2005/8/layout/list1"/>
    <dgm:cxn modelId="{D8EB7A98-0766-424E-80B8-A3B3C2D54F34}" type="presParOf" srcId="{9AEF45B7-1D05-B843-95C0-2E48D15C4856}" destId="{60B01A9C-E846-A246-8555-91AD5625696E}" srcOrd="4" destOrd="0" presId="urn:microsoft.com/office/officeart/2005/8/layout/list1"/>
    <dgm:cxn modelId="{564E8DF0-3D3F-4446-B313-F63205957029}" type="presParOf" srcId="{60B01A9C-E846-A246-8555-91AD5625696E}" destId="{61EDA9B9-FEE0-7745-A630-EB71FA1452E3}" srcOrd="0" destOrd="0" presId="urn:microsoft.com/office/officeart/2005/8/layout/list1"/>
    <dgm:cxn modelId="{B48C1E5A-8A1F-7D46-9CCC-2549C7C84A0C}" type="presParOf" srcId="{60B01A9C-E846-A246-8555-91AD5625696E}" destId="{FACD41D5-8B02-7E48-80D4-00157B7C2A09}" srcOrd="1" destOrd="0" presId="urn:microsoft.com/office/officeart/2005/8/layout/list1"/>
    <dgm:cxn modelId="{AF0DD771-429B-0841-9255-15C4ABA132F7}" type="presParOf" srcId="{9AEF45B7-1D05-B843-95C0-2E48D15C4856}" destId="{B1102CC6-99F5-4A4A-859C-D1D2280F9BD5}" srcOrd="5" destOrd="0" presId="urn:microsoft.com/office/officeart/2005/8/layout/list1"/>
    <dgm:cxn modelId="{95BC7DFF-2B12-134A-919C-1A2C6A66267B}" type="presParOf" srcId="{9AEF45B7-1D05-B843-95C0-2E48D15C4856}" destId="{773E713E-BE04-4D4B-9432-D06F65D97511}"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9327B6C-2DF8-4FCF-8080-FD0B8CAD889A}" type="doc">
      <dgm:prSet loTypeId="urn:microsoft.com/office/officeart/2005/8/layout/list1" loCatId="list" qsTypeId="urn:microsoft.com/office/officeart/2005/8/quickstyle/simple4" qsCatId="simple" csTypeId="urn:microsoft.com/office/officeart/2005/8/colors/colorful5" csCatId="colorful" phldr="1"/>
      <dgm:spPr/>
      <dgm:t>
        <a:bodyPr/>
        <a:lstStyle/>
        <a:p>
          <a:endParaRPr lang="en-US"/>
        </a:p>
      </dgm:t>
    </dgm:pt>
    <dgm:pt modelId="{DE32F696-47D6-43BF-B064-FE199A6B6DFF}">
      <dgm:prSet custT="1"/>
      <dgm:spPr/>
      <dgm:t>
        <a:bodyPr/>
        <a:lstStyle/>
        <a:p>
          <a:r>
            <a:rPr lang="en-US" sz="2000" dirty="0"/>
            <a:t>Data used :admissions, </a:t>
          </a:r>
          <a:r>
            <a:rPr lang="en-US" sz="2000" dirty="0" err="1"/>
            <a:t>diagnoses_icd</a:t>
          </a:r>
          <a:r>
            <a:rPr lang="en-US" sz="2000" dirty="0"/>
            <a:t>, patients</a:t>
          </a:r>
        </a:p>
      </dgm:t>
    </dgm:pt>
    <dgm:pt modelId="{1264ABD0-99BB-446B-8E4D-CC06B466E953}" type="parTrans" cxnId="{15ADA764-488C-4102-82AD-BF4E45DD90A0}">
      <dgm:prSet/>
      <dgm:spPr/>
      <dgm:t>
        <a:bodyPr/>
        <a:lstStyle/>
        <a:p>
          <a:endParaRPr lang="en-US"/>
        </a:p>
      </dgm:t>
    </dgm:pt>
    <dgm:pt modelId="{F60EE35C-19EB-438B-A823-C98BA4E48206}" type="sibTrans" cxnId="{15ADA764-488C-4102-82AD-BF4E45DD90A0}">
      <dgm:prSet/>
      <dgm:spPr/>
      <dgm:t>
        <a:bodyPr/>
        <a:lstStyle/>
        <a:p>
          <a:endParaRPr lang="en-US"/>
        </a:p>
      </dgm:t>
    </dgm:pt>
    <dgm:pt modelId="{97FAEA82-0130-4A56-B926-F15BD13279A0}">
      <dgm:prSet/>
      <dgm:spPr/>
      <dgm:t>
        <a:bodyPr/>
        <a:lstStyle/>
        <a:p>
          <a:r>
            <a:rPr lang="en-US" dirty="0"/>
            <a:t>Description and interpretation </a:t>
          </a:r>
        </a:p>
      </dgm:t>
    </dgm:pt>
    <dgm:pt modelId="{960710EC-77F5-48E8-87E9-D1C329FCA49D}" type="parTrans" cxnId="{81493990-D85A-4F35-A6A4-6F35CDE864F9}">
      <dgm:prSet/>
      <dgm:spPr/>
      <dgm:t>
        <a:bodyPr/>
        <a:lstStyle/>
        <a:p>
          <a:endParaRPr lang="en-US"/>
        </a:p>
      </dgm:t>
    </dgm:pt>
    <dgm:pt modelId="{D58EBBCF-21D8-4D0C-A83E-CBF2DAC83EAA}" type="sibTrans" cxnId="{81493990-D85A-4F35-A6A4-6F35CDE864F9}">
      <dgm:prSet/>
      <dgm:spPr/>
      <dgm:t>
        <a:bodyPr/>
        <a:lstStyle/>
        <a:p>
          <a:endParaRPr lang="en-US"/>
        </a:p>
      </dgm:t>
    </dgm:pt>
    <dgm:pt modelId="{1C41598C-C5A5-4E4D-B533-977192AD2061}">
      <dgm:prSet custT="1"/>
      <dgm:spPr/>
      <dgm:t>
        <a:bodyPr/>
        <a:lstStyle/>
        <a:p>
          <a:r>
            <a:rPr lang="en-US" sz="2000" dirty="0"/>
            <a:t>This query calculates the average, minimum, and maximum hospital stay (in days) for AMI patients’ admissions, grouped by gender.</a:t>
          </a:r>
        </a:p>
      </dgm:t>
    </dgm:pt>
    <dgm:pt modelId="{8CC1C07B-8734-4B25-A142-4A4C99A0D94F}" type="parTrans" cxnId="{00C48C7E-41D0-4CA0-9700-560C1DC5B878}">
      <dgm:prSet/>
      <dgm:spPr/>
      <dgm:t>
        <a:bodyPr/>
        <a:lstStyle/>
        <a:p>
          <a:endParaRPr lang="en-US"/>
        </a:p>
      </dgm:t>
    </dgm:pt>
    <dgm:pt modelId="{268FCAF0-BA3A-429B-A637-C3A8E6A04B36}" type="sibTrans" cxnId="{00C48C7E-41D0-4CA0-9700-560C1DC5B878}">
      <dgm:prSet/>
      <dgm:spPr/>
      <dgm:t>
        <a:bodyPr/>
        <a:lstStyle/>
        <a:p>
          <a:endParaRPr lang="en-US"/>
        </a:p>
      </dgm:t>
    </dgm:pt>
    <dgm:pt modelId="{94345F7B-3BCE-044B-BECF-07493AF10B94}">
      <dgm:prSet custT="1"/>
      <dgm:spPr/>
      <dgm:t>
        <a:bodyPr/>
        <a:lstStyle/>
        <a:p>
          <a:r>
            <a:rPr lang="en-US" sz="2000" dirty="0"/>
            <a:t>Shows if there is any gender specific trends during hospital stays for heart attack patients. </a:t>
          </a:r>
        </a:p>
      </dgm:t>
    </dgm:pt>
    <dgm:pt modelId="{71B59C2D-0BA3-A243-AC12-EBECD3CA1969}" type="parTrans" cxnId="{36265A76-C927-DA41-AD3D-5AB02D78FEFC}">
      <dgm:prSet/>
      <dgm:spPr/>
      <dgm:t>
        <a:bodyPr/>
        <a:lstStyle/>
        <a:p>
          <a:endParaRPr lang="en-US"/>
        </a:p>
      </dgm:t>
    </dgm:pt>
    <dgm:pt modelId="{2427162D-58AB-BD43-ACE3-090B91B4CA23}" type="sibTrans" cxnId="{36265A76-C927-DA41-AD3D-5AB02D78FEFC}">
      <dgm:prSet/>
      <dgm:spPr/>
      <dgm:t>
        <a:bodyPr/>
        <a:lstStyle/>
        <a:p>
          <a:endParaRPr lang="en-US"/>
        </a:p>
      </dgm:t>
    </dgm:pt>
    <dgm:pt modelId="{C0CF9865-3497-0C4E-A535-75180BE678BC}">
      <dgm:prSet custT="1"/>
      <dgm:spPr/>
      <dgm:t>
        <a:bodyPr/>
        <a:lstStyle/>
        <a:p>
          <a:r>
            <a:rPr lang="en-US" sz="2000" dirty="0"/>
            <a:t>The data shows on average, females need to stay slightly more time in hospital before they are discharged. </a:t>
          </a:r>
        </a:p>
      </dgm:t>
    </dgm:pt>
    <dgm:pt modelId="{66788985-359D-3346-B6FD-990BD09590BC}" type="parTrans" cxnId="{10D3DC7F-48EA-174B-9A72-55FE59F11595}">
      <dgm:prSet/>
      <dgm:spPr/>
      <dgm:t>
        <a:bodyPr/>
        <a:lstStyle/>
        <a:p>
          <a:endParaRPr lang="en-US"/>
        </a:p>
      </dgm:t>
    </dgm:pt>
    <dgm:pt modelId="{095C3E8D-293C-714B-B0BD-A287151F283F}" type="sibTrans" cxnId="{10D3DC7F-48EA-174B-9A72-55FE59F11595}">
      <dgm:prSet/>
      <dgm:spPr/>
      <dgm:t>
        <a:bodyPr/>
        <a:lstStyle/>
        <a:p>
          <a:endParaRPr lang="en-US"/>
        </a:p>
      </dgm:t>
    </dgm:pt>
    <dgm:pt modelId="{9AEF45B7-1D05-B843-95C0-2E48D15C4856}" type="pres">
      <dgm:prSet presAssocID="{99327B6C-2DF8-4FCF-8080-FD0B8CAD889A}" presName="linear" presStyleCnt="0">
        <dgm:presLayoutVars>
          <dgm:dir/>
          <dgm:animLvl val="lvl"/>
          <dgm:resizeHandles val="exact"/>
        </dgm:presLayoutVars>
      </dgm:prSet>
      <dgm:spPr/>
    </dgm:pt>
    <dgm:pt modelId="{AC360863-1BED-6B41-8602-627C97E95503}" type="pres">
      <dgm:prSet presAssocID="{DE32F696-47D6-43BF-B064-FE199A6B6DFF}" presName="parentLin" presStyleCnt="0"/>
      <dgm:spPr/>
    </dgm:pt>
    <dgm:pt modelId="{428776DF-7C61-5B42-85F6-A71229B10ECB}" type="pres">
      <dgm:prSet presAssocID="{DE32F696-47D6-43BF-B064-FE199A6B6DFF}" presName="parentLeftMargin" presStyleLbl="node1" presStyleIdx="0" presStyleCnt="2"/>
      <dgm:spPr/>
    </dgm:pt>
    <dgm:pt modelId="{FFA54353-AEB8-8742-9FD2-0BF1D13A9CFB}" type="pres">
      <dgm:prSet presAssocID="{DE32F696-47D6-43BF-B064-FE199A6B6DFF}" presName="parentText" presStyleLbl="node1" presStyleIdx="0" presStyleCnt="2">
        <dgm:presLayoutVars>
          <dgm:chMax val="0"/>
          <dgm:bulletEnabled val="1"/>
        </dgm:presLayoutVars>
      </dgm:prSet>
      <dgm:spPr/>
    </dgm:pt>
    <dgm:pt modelId="{61CB1DBC-2129-624B-87A8-6703314D65A3}" type="pres">
      <dgm:prSet presAssocID="{DE32F696-47D6-43BF-B064-FE199A6B6DFF}" presName="negativeSpace" presStyleCnt="0"/>
      <dgm:spPr/>
    </dgm:pt>
    <dgm:pt modelId="{C7E25028-E3FC-D04D-BB4A-DE72A50FF8BC}" type="pres">
      <dgm:prSet presAssocID="{DE32F696-47D6-43BF-B064-FE199A6B6DFF}" presName="childText" presStyleLbl="conFgAcc1" presStyleIdx="0" presStyleCnt="2">
        <dgm:presLayoutVars>
          <dgm:bulletEnabled val="1"/>
        </dgm:presLayoutVars>
      </dgm:prSet>
      <dgm:spPr/>
    </dgm:pt>
    <dgm:pt modelId="{002BD261-98A9-684E-A0F3-21D4E5020A91}" type="pres">
      <dgm:prSet presAssocID="{F60EE35C-19EB-438B-A823-C98BA4E48206}" presName="spaceBetweenRectangles" presStyleCnt="0"/>
      <dgm:spPr/>
    </dgm:pt>
    <dgm:pt modelId="{60B01A9C-E846-A246-8555-91AD5625696E}" type="pres">
      <dgm:prSet presAssocID="{97FAEA82-0130-4A56-B926-F15BD13279A0}" presName="parentLin" presStyleCnt="0"/>
      <dgm:spPr/>
    </dgm:pt>
    <dgm:pt modelId="{61EDA9B9-FEE0-7745-A630-EB71FA1452E3}" type="pres">
      <dgm:prSet presAssocID="{97FAEA82-0130-4A56-B926-F15BD13279A0}" presName="parentLeftMargin" presStyleLbl="node1" presStyleIdx="0" presStyleCnt="2"/>
      <dgm:spPr/>
    </dgm:pt>
    <dgm:pt modelId="{FACD41D5-8B02-7E48-80D4-00157B7C2A09}" type="pres">
      <dgm:prSet presAssocID="{97FAEA82-0130-4A56-B926-F15BD13279A0}" presName="parentText" presStyleLbl="node1" presStyleIdx="1" presStyleCnt="2">
        <dgm:presLayoutVars>
          <dgm:chMax val="0"/>
          <dgm:bulletEnabled val="1"/>
        </dgm:presLayoutVars>
      </dgm:prSet>
      <dgm:spPr/>
    </dgm:pt>
    <dgm:pt modelId="{B1102CC6-99F5-4A4A-859C-D1D2280F9BD5}" type="pres">
      <dgm:prSet presAssocID="{97FAEA82-0130-4A56-B926-F15BD13279A0}" presName="negativeSpace" presStyleCnt="0"/>
      <dgm:spPr/>
    </dgm:pt>
    <dgm:pt modelId="{773E713E-BE04-4D4B-9432-D06F65D97511}" type="pres">
      <dgm:prSet presAssocID="{97FAEA82-0130-4A56-B926-F15BD13279A0}" presName="childText" presStyleLbl="conFgAcc1" presStyleIdx="1" presStyleCnt="2">
        <dgm:presLayoutVars>
          <dgm:bulletEnabled val="1"/>
        </dgm:presLayoutVars>
      </dgm:prSet>
      <dgm:spPr/>
    </dgm:pt>
  </dgm:ptLst>
  <dgm:cxnLst>
    <dgm:cxn modelId="{17848046-4602-6D4B-98FB-1781B34705D9}" type="presOf" srcId="{99327B6C-2DF8-4FCF-8080-FD0B8CAD889A}" destId="{9AEF45B7-1D05-B843-95C0-2E48D15C4856}" srcOrd="0" destOrd="0" presId="urn:microsoft.com/office/officeart/2005/8/layout/list1"/>
    <dgm:cxn modelId="{15ADA764-488C-4102-82AD-BF4E45DD90A0}" srcId="{99327B6C-2DF8-4FCF-8080-FD0B8CAD889A}" destId="{DE32F696-47D6-43BF-B064-FE199A6B6DFF}" srcOrd="0" destOrd="0" parTransId="{1264ABD0-99BB-446B-8E4D-CC06B466E953}" sibTransId="{F60EE35C-19EB-438B-A823-C98BA4E48206}"/>
    <dgm:cxn modelId="{3895366B-5B0A-BB43-903B-C80E8146B5EB}" type="presOf" srcId="{97FAEA82-0130-4A56-B926-F15BD13279A0}" destId="{FACD41D5-8B02-7E48-80D4-00157B7C2A09}" srcOrd="1" destOrd="0" presId="urn:microsoft.com/office/officeart/2005/8/layout/list1"/>
    <dgm:cxn modelId="{1EDC2976-9D90-6C42-A8DE-CDBCACBD0BEC}" type="presOf" srcId="{DE32F696-47D6-43BF-B064-FE199A6B6DFF}" destId="{428776DF-7C61-5B42-85F6-A71229B10ECB}" srcOrd="0" destOrd="0" presId="urn:microsoft.com/office/officeart/2005/8/layout/list1"/>
    <dgm:cxn modelId="{36265A76-C927-DA41-AD3D-5AB02D78FEFC}" srcId="{97FAEA82-0130-4A56-B926-F15BD13279A0}" destId="{94345F7B-3BCE-044B-BECF-07493AF10B94}" srcOrd="1" destOrd="0" parTransId="{71B59C2D-0BA3-A243-AC12-EBECD3CA1969}" sibTransId="{2427162D-58AB-BD43-ACE3-090B91B4CA23}"/>
    <dgm:cxn modelId="{00C48C7E-41D0-4CA0-9700-560C1DC5B878}" srcId="{97FAEA82-0130-4A56-B926-F15BD13279A0}" destId="{1C41598C-C5A5-4E4D-B533-977192AD2061}" srcOrd="0" destOrd="0" parTransId="{8CC1C07B-8734-4B25-A142-4A4C99A0D94F}" sibTransId="{268FCAF0-BA3A-429B-A637-C3A8E6A04B36}"/>
    <dgm:cxn modelId="{10D3DC7F-48EA-174B-9A72-55FE59F11595}" srcId="{97FAEA82-0130-4A56-B926-F15BD13279A0}" destId="{C0CF9865-3497-0C4E-A535-75180BE678BC}" srcOrd="2" destOrd="0" parTransId="{66788985-359D-3346-B6FD-990BD09590BC}" sibTransId="{095C3E8D-293C-714B-B0BD-A287151F283F}"/>
    <dgm:cxn modelId="{81493990-D85A-4F35-A6A4-6F35CDE864F9}" srcId="{99327B6C-2DF8-4FCF-8080-FD0B8CAD889A}" destId="{97FAEA82-0130-4A56-B926-F15BD13279A0}" srcOrd="1" destOrd="0" parTransId="{960710EC-77F5-48E8-87E9-D1C329FCA49D}" sibTransId="{D58EBBCF-21D8-4D0C-A83E-CBF2DAC83EAA}"/>
    <dgm:cxn modelId="{B8938D96-D55B-6E4E-BB0B-1ADB6E7C0D3F}" type="presOf" srcId="{94345F7B-3BCE-044B-BECF-07493AF10B94}" destId="{773E713E-BE04-4D4B-9432-D06F65D97511}" srcOrd="0" destOrd="1" presId="urn:microsoft.com/office/officeart/2005/8/layout/list1"/>
    <dgm:cxn modelId="{FFCF75AE-BB79-D84D-880C-3A729ED73CF4}" type="presOf" srcId="{97FAEA82-0130-4A56-B926-F15BD13279A0}" destId="{61EDA9B9-FEE0-7745-A630-EB71FA1452E3}" srcOrd="0" destOrd="0" presId="urn:microsoft.com/office/officeart/2005/8/layout/list1"/>
    <dgm:cxn modelId="{F5E6B5BA-D128-B742-B0B9-CFD59487C261}" type="presOf" srcId="{1C41598C-C5A5-4E4D-B533-977192AD2061}" destId="{773E713E-BE04-4D4B-9432-D06F65D97511}" srcOrd="0" destOrd="0" presId="urn:microsoft.com/office/officeart/2005/8/layout/list1"/>
    <dgm:cxn modelId="{9DF1AEBC-E50E-8447-8B15-5D5C5A70FE1D}" type="presOf" srcId="{C0CF9865-3497-0C4E-A535-75180BE678BC}" destId="{773E713E-BE04-4D4B-9432-D06F65D97511}" srcOrd="0" destOrd="2" presId="urn:microsoft.com/office/officeart/2005/8/layout/list1"/>
    <dgm:cxn modelId="{C30D87F9-46CA-CC4C-B86C-B1896EF25041}" type="presOf" srcId="{DE32F696-47D6-43BF-B064-FE199A6B6DFF}" destId="{FFA54353-AEB8-8742-9FD2-0BF1D13A9CFB}" srcOrd="1" destOrd="0" presId="urn:microsoft.com/office/officeart/2005/8/layout/list1"/>
    <dgm:cxn modelId="{2F6E0671-0590-4A47-8D36-77DF3D373B9C}" type="presParOf" srcId="{9AEF45B7-1D05-B843-95C0-2E48D15C4856}" destId="{AC360863-1BED-6B41-8602-627C97E95503}" srcOrd="0" destOrd="0" presId="urn:microsoft.com/office/officeart/2005/8/layout/list1"/>
    <dgm:cxn modelId="{B2DF6624-2775-BB41-AAC9-D6805D69C748}" type="presParOf" srcId="{AC360863-1BED-6B41-8602-627C97E95503}" destId="{428776DF-7C61-5B42-85F6-A71229B10ECB}" srcOrd="0" destOrd="0" presId="urn:microsoft.com/office/officeart/2005/8/layout/list1"/>
    <dgm:cxn modelId="{7A509A62-0E76-2545-A6E5-509704665474}" type="presParOf" srcId="{AC360863-1BED-6B41-8602-627C97E95503}" destId="{FFA54353-AEB8-8742-9FD2-0BF1D13A9CFB}" srcOrd="1" destOrd="0" presId="urn:microsoft.com/office/officeart/2005/8/layout/list1"/>
    <dgm:cxn modelId="{699A63D2-AB87-3044-BB42-65A20A3B33F8}" type="presParOf" srcId="{9AEF45B7-1D05-B843-95C0-2E48D15C4856}" destId="{61CB1DBC-2129-624B-87A8-6703314D65A3}" srcOrd="1" destOrd="0" presId="urn:microsoft.com/office/officeart/2005/8/layout/list1"/>
    <dgm:cxn modelId="{F3568F9C-8BEC-0244-AC19-A4BDF104790F}" type="presParOf" srcId="{9AEF45B7-1D05-B843-95C0-2E48D15C4856}" destId="{C7E25028-E3FC-D04D-BB4A-DE72A50FF8BC}" srcOrd="2" destOrd="0" presId="urn:microsoft.com/office/officeart/2005/8/layout/list1"/>
    <dgm:cxn modelId="{27EACDED-0F6C-3F46-8E98-714BD0BB268B}" type="presParOf" srcId="{9AEF45B7-1D05-B843-95C0-2E48D15C4856}" destId="{002BD261-98A9-684E-A0F3-21D4E5020A91}" srcOrd="3" destOrd="0" presId="urn:microsoft.com/office/officeart/2005/8/layout/list1"/>
    <dgm:cxn modelId="{D8EB7A98-0766-424E-80B8-A3B3C2D54F34}" type="presParOf" srcId="{9AEF45B7-1D05-B843-95C0-2E48D15C4856}" destId="{60B01A9C-E846-A246-8555-91AD5625696E}" srcOrd="4" destOrd="0" presId="urn:microsoft.com/office/officeart/2005/8/layout/list1"/>
    <dgm:cxn modelId="{564E8DF0-3D3F-4446-B313-F63205957029}" type="presParOf" srcId="{60B01A9C-E846-A246-8555-91AD5625696E}" destId="{61EDA9B9-FEE0-7745-A630-EB71FA1452E3}" srcOrd="0" destOrd="0" presId="urn:microsoft.com/office/officeart/2005/8/layout/list1"/>
    <dgm:cxn modelId="{B48C1E5A-8A1F-7D46-9CCC-2549C7C84A0C}" type="presParOf" srcId="{60B01A9C-E846-A246-8555-91AD5625696E}" destId="{FACD41D5-8B02-7E48-80D4-00157B7C2A09}" srcOrd="1" destOrd="0" presId="urn:microsoft.com/office/officeart/2005/8/layout/list1"/>
    <dgm:cxn modelId="{AF0DD771-429B-0841-9255-15C4ABA132F7}" type="presParOf" srcId="{9AEF45B7-1D05-B843-95C0-2E48D15C4856}" destId="{B1102CC6-99F5-4A4A-859C-D1D2280F9BD5}" srcOrd="5" destOrd="0" presId="urn:microsoft.com/office/officeart/2005/8/layout/list1"/>
    <dgm:cxn modelId="{95BC7DFF-2B12-134A-919C-1A2C6A66267B}" type="presParOf" srcId="{9AEF45B7-1D05-B843-95C0-2E48D15C4856}" destId="{773E713E-BE04-4D4B-9432-D06F65D97511}"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9327B6C-2DF8-4FCF-8080-FD0B8CAD889A}" type="doc">
      <dgm:prSet loTypeId="urn:microsoft.com/office/officeart/2005/8/layout/list1" loCatId="list" qsTypeId="urn:microsoft.com/office/officeart/2005/8/quickstyle/simple4" qsCatId="simple" csTypeId="urn:microsoft.com/office/officeart/2005/8/colors/colorful5" csCatId="colorful" phldr="1"/>
      <dgm:spPr/>
      <dgm:t>
        <a:bodyPr/>
        <a:lstStyle/>
        <a:p>
          <a:endParaRPr lang="en-US"/>
        </a:p>
      </dgm:t>
    </dgm:pt>
    <dgm:pt modelId="{DE32F696-47D6-43BF-B064-FE199A6B6DFF}">
      <dgm:prSet custT="1"/>
      <dgm:spPr/>
      <dgm:t>
        <a:bodyPr/>
        <a:lstStyle/>
        <a:p>
          <a:r>
            <a:rPr lang="en-US" sz="2000" dirty="0"/>
            <a:t>Data used : admissions, </a:t>
          </a:r>
          <a:r>
            <a:rPr lang="en-US" sz="2000" dirty="0" err="1"/>
            <a:t>diagnoses_icd</a:t>
          </a:r>
          <a:r>
            <a:rPr lang="en-US" sz="2000" dirty="0"/>
            <a:t>, </a:t>
          </a:r>
          <a:r>
            <a:rPr lang="en-US" sz="2000" dirty="0" err="1"/>
            <a:t>icustays</a:t>
          </a:r>
          <a:r>
            <a:rPr lang="en-US" sz="2000" dirty="0"/>
            <a:t>, patients</a:t>
          </a:r>
        </a:p>
      </dgm:t>
    </dgm:pt>
    <dgm:pt modelId="{1264ABD0-99BB-446B-8E4D-CC06B466E953}" type="parTrans" cxnId="{15ADA764-488C-4102-82AD-BF4E45DD90A0}">
      <dgm:prSet/>
      <dgm:spPr/>
      <dgm:t>
        <a:bodyPr/>
        <a:lstStyle/>
        <a:p>
          <a:endParaRPr lang="en-US"/>
        </a:p>
      </dgm:t>
    </dgm:pt>
    <dgm:pt modelId="{F60EE35C-19EB-438B-A823-C98BA4E48206}" type="sibTrans" cxnId="{15ADA764-488C-4102-82AD-BF4E45DD90A0}">
      <dgm:prSet/>
      <dgm:spPr/>
      <dgm:t>
        <a:bodyPr/>
        <a:lstStyle/>
        <a:p>
          <a:endParaRPr lang="en-US"/>
        </a:p>
      </dgm:t>
    </dgm:pt>
    <dgm:pt modelId="{97FAEA82-0130-4A56-B926-F15BD13279A0}">
      <dgm:prSet custT="1"/>
      <dgm:spPr/>
      <dgm:t>
        <a:bodyPr/>
        <a:lstStyle/>
        <a:p>
          <a:r>
            <a:rPr lang="en-US" sz="2000" dirty="0"/>
            <a:t>Description and interpretation</a:t>
          </a:r>
          <a:r>
            <a:rPr lang="en-US" sz="2500" dirty="0"/>
            <a:t> </a:t>
          </a:r>
        </a:p>
      </dgm:t>
    </dgm:pt>
    <dgm:pt modelId="{960710EC-77F5-48E8-87E9-D1C329FCA49D}" type="parTrans" cxnId="{81493990-D85A-4F35-A6A4-6F35CDE864F9}">
      <dgm:prSet/>
      <dgm:spPr/>
      <dgm:t>
        <a:bodyPr/>
        <a:lstStyle/>
        <a:p>
          <a:endParaRPr lang="en-US"/>
        </a:p>
      </dgm:t>
    </dgm:pt>
    <dgm:pt modelId="{D58EBBCF-21D8-4D0C-A83E-CBF2DAC83EAA}" type="sibTrans" cxnId="{81493990-D85A-4F35-A6A4-6F35CDE864F9}">
      <dgm:prSet/>
      <dgm:spPr/>
      <dgm:t>
        <a:bodyPr/>
        <a:lstStyle/>
        <a:p>
          <a:endParaRPr lang="en-US"/>
        </a:p>
      </dgm:t>
    </dgm:pt>
    <dgm:pt modelId="{1C41598C-C5A5-4E4D-B533-977192AD2061}">
      <dgm:prSet/>
      <dgm:spPr/>
      <dgm:t>
        <a:bodyPr/>
        <a:lstStyle/>
        <a:p>
          <a:pPr>
            <a:buFont typeface="Arial" panose="020B0604020202020204" pitchFamily="34" charset="0"/>
            <a:buChar char="•"/>
          </a:pPr>
          <a:r>
            <a:rPr lang="en-US" dirty="0"/>
            <a:t>This query groups AMI patients into age categories and calculates: Total AMI admissions, Number of ICU admissions and Percentage requiring ICU care</a:t>
          </a:r>
        </a:p>
      </dgm:t>
    </dgm:pt>
    <dgm:pt modelId="{8CC1C07B-8734-4B25-A142-4A4C99A0D94F}" type="parTrans" cxnId="{00C48C7E-41D0-4CA0-9700-560C1DC5B878}">
      <dgm:prSet/>
      <dgm:spPr/>
      <dgm:t>
        <a:bodyPr/>
        <a:lstStyle/>
        <a:p>
          <a:endParaRPr lang="en-US"/>
        </a:p>
      </dgm:t>
    </dgm:pt>
    <dgm:pt modelId="{268FCAF0-BA3A-429B-A637-C3A8E6A04B36}" type="sibTrans" cxnId="{00C48C7E-41D0-4CA0-9700-560C1DC5B878}">
      <dgm:prSet/>
      <dgm:spPr/>
      <dgm:t>
        <a:bodyPr/>
        <a:lstStyle/>
        <a:p>
          <a:endParaRPr lang="en-US"/>
        </a:p>
      </dgm:t>
    </dgm:pt>
    <dgm:pt modelId="{BB7D9B60-D712-417A-918B-F6D3B042B000}">
      <dgm:prSet/>
      <dgm:spPr/>
      <dgm:t>
        <a:bodyPr/>
        <a:lstStyle/>
        <a:p>
          <a:endParaRPr lang="en-US" dirty="0"/>
        </a:p>
      </dgm:t>
    </dgm:pt>
    <dgm:pt modelId="{C070CD26-C8E2-4BB3-9931-07A77A9B894D}" type="parTrans" cxnId="{06295CAF-B3CE-465F-8B6D-30DA1FD1F7A3}">
      <dgm:prSet/>
      <dgm:spPr/>
      <dgm:t>
        <a:bodyPr/>
        <a:lstStyle/>
        <a:p>
          <a:endParaRPr lang="en-US"/>
        </a:p>
      </dgm:t>
    </dgm:pt>
    <dgm:pt modelId="{4723A0AA-48BD-42C6-87C5-5A9849AC7480}" type="sibTrans" cxnId="{06295CAF-B3CE-465F-8B6D-30DA1FD1F7A3}">
      <dgm:prSet/>
      <dgm:spPr/>
      <dgm:t>
        <a:bodyPr/>
        <a:lstStyle/>
        <a:p>
          <a:endParaRPr lang="en-US"/>
        </a:p>
      </dgm:t>
    </dgm:pt>
    <dgm:pt modelId="{7747ABEF-8C62-2E44-9DBB-7CEB300131C5}">
      <dgm:prSet/>
      <dgm:spPr/>
      <dgm:t>
        <a:bodyPr/>
        <a:lstStyle/>
        <a:p>
          <a:pPr>
            <a:buFont typeface="Arial" panose="020B0604020202020204" pitchFamily="34" charset="0"/>
            <a:buChar char="•"/>
          </a:pPr>
          <a:r>
            <a:rPr lang="en-US" dirty="0"/>
            <a:t>Checks if there is any age specific trends for AMI patients needing ICU care such as whether older heart attack patients more likely to need ICU care or not. </a:t>
          </a:r>
        </a:p>
      </dgm:t>
    </dgm:pt>
    <dgm:pt modelId="{A584839E-2D3F-DA43-AFBE-B835CA6242AE}" type="parTrans" cxnId="{D0C1197B-45F6-1046-B76B-91BD2D805D98}">
      <dgm:prSet/>
      <dgm:spPr/>
    </dgm:pt>
    <dgm:pt modelId="{F4E5A8A9-5BEA-5742-A143-1A4D382B0A04}" type="sibTrans" cxnId="{D0C1197B-45F6-1046-B76B-91BD2D805D98}">
      <dgm:prSet/>
      <dgm:spPr/>
    </dgm:pt>
    <dgm:pt modelId="{D4D7A51C-64B5-2940-A9E1-A0BF9BA6680E}">
      <dgm:prSet/>
      <dgm:spPr/>
      <dgm:t>
        <a:bodyPr/>
        <a:lstStyle/>
        <a:p>
          <a:pPr>
            <a:buFont typeface="Arial" panose="020B0604020202020204" pitchFamily="34" charset="0"/>
            <a:buChar char="•"/>
          </a:pPr>
          <a:r>
            <a:rPr lang="en-US" dirty="0"/>
            <a:t>The results show almost every AMI patient, regardless of their age, needs ICU care. </a:t>
          </a:r>
        </a:p>
      </dgm:t>
    </dgm:pt>
    <dgm:pt modelId="{5940B138-F6B5-9149-8069-8413F4CBF8AA}" type="parTrans" cxnId="{C4681996-4D42-DD40-B312-81BC22A48E93}">
      <dgm:prSet/>
      <dgm:spPr/>
    </dgm:pt>
    <dgm:pt modelId="{4AB905C7-1E6C-A943-AB44-45C5D6FD4767}" type="sibTrans" cxnId="{C4681996-4D42-DD40-B312-81BC22A48E93}">
      <dgm:prSet/>
      <dgm:spPr/>
    </dgm:pt>
    <dgm:pt modelId="{9AEF45B7-1D05-B843-95C0-2E48D15C4856}" type="pres">
      <dgm:prSet presAssocID="{99327B6C-2DF8-4FCF-8080-FD0B8CAD889A}" presName="linear" presStyleCnt="0">
        <dgm:presLayoutVars>
          <dgm:dir/>
          <dgm:animLvl val="lvl"/>
          <dgm:resizeHandles val="exact"/>
        </dgm:presLayoutVars>
      </dgm:prSet>
      <dgm:spPr/>
    </dgm:pt>
    <dgm:pt modelId="{AC360863-1BED-6B41-8602-627C97E95503}" type="pres">
      <dgm:prSet presAssocID="{DE32F696-47D6-43BF-B064-FE199A6B6DFF}" presName="parentLin" presStyleCnt="0"/>
      <dgm:spPr/>
    </dgm:pt>
    <dgm:pt modelId="{428776DF-7C61-5B42-85F6-A71229B10ECB}" type="pres">
      <dgm:prSet presAssocID="{DE32F696-47D6-43BF-B064-FE199A6B6DFF}" presName="parentLeftMargin" presStyleLbl="node1" presStyleIdx="0" presStyleCnt="2"/>
      <dgm:spPr/>
    </dgm:pt>
    <dgm:pt modelId="{FFA54353-AEB8-8742-9FD2-0BF1D13A9CFB}" type="pres">
      <dgm:prSet presAssocID="{DE32F696-47D6-43BF-B064-FE199A6B6DFF}" presName="parentText" presStyleLbl="node1" presStyleIdx="0" presStyleCnt="2" custLinFactNeighborX="15914" custLinFactNeighborY="1510">
        <dgm:presLayoutVars>
          <dgm:chMax val="0"/>
          <dgm:bulletEnabled val="1"/>
        </dgm:presLayoutVars>
      </dgm:prSet>
      <dgm:spPr/>
    </dgm:pt>
    <dgm:pt modelId="{61CB1DBC-2129-624B-87A8-6703314D65A3}" type="pres">
      <dgm:prSet presAssocID="{DE32F696-47D6-43BF-B064-FE199A6B6DFF}" presName="negativeSpace" presStyleCnt="0"/>
      <dgm:spPr/>
    </dgm:pt>
    <dgm:pt modelId="{C7E25028-E3FC-D04D-BB4A-DE72A50FF8BC}" type="pres">
      <dgm:prSet presAssocID="{DE32F696-47D6-43BF-B064-FE199A6B6DFF}" presName="childText" presStyleLbl="conFgAcc1" presStyleIdx="0" presStyleCnt="2">
        <dgm:presLayoutVars>
          <dgm:bulletEnabled val="1"/>
        </dgm:presLayoutVars>
      </dgm:prSet>
      <dgm:spPr/>
    </dgm:pt>
    <dgm:pt modelId="{002BD261-98A9-684E-A0F3-21D4E5020A91}" type="pres">
      <dgm:prSet presAssocID="{F60EE35C-19EB-438B-A823-C98BA4E48206}" presName="spaceBetweenRectangles" presStyleCnt="0"/>
      <dgm:spPr/>
    </dgm:pt>
    <dgm:pt modelId="{60B01A9C-E846-A246-8555-91AD5625696E}" type="pres">
      <dgm:prSet presAssocID="{97FAEA82-0130-4A56-B926-F15BD13279A0}" presName="parentLin" presStyleCnt="0"/>
      <dgm:spPr/>
    </dgm:pt>
    <dgm:pt modelId="{61EDA9B9-FEE0-7745-A630-EB71FA1452E3}" type="pres">
      <dgm:prSet presAssocID="{97FAEA82-0130-4A56-B926-F15BD13279A0}" presName="parentLeftMargin" presStyleLbl="node1" presStyleIdx="0" presStyleCnt="2"/>
      <dgm:spPr/>
    </dgm:pt>
    <dgm:pt modelId="{FACD41D5-8B02-7E48-80D4-00157B7C2A09}" type="pres">
      <dgm:prSet presAssocID="{97FAEA82-0130-4A56-B926-F15BD13279A0}" presName="parentText" presStyleLbl="node1" presStyleIdx="1" presStyleCnt="2">
        <dgm:presLayoutVars>
          <dgm:chMax val="0"/>
          <dgm:bulletEnabled val="1"/>
        </dgm:presLayoutVars>
      </dgm:prSet>
      <dgm:spPr/>
    </dgm:pt>
    <dgm:pt modelId="{B1102CC6-99F5-4A4A-859C-D1D2280F9BD5}" type="pres">
      <dgm:prSet presAssocID="{97FAEA82-0130-4A56-B926-F15BD13279A0}" presName="negativeSpace" presStyleCnt="0"/>
      <dgm:spPr/>
    </dgm:pt>
    <dgm:pt modelId="{773E713E-BE04-4D4B-9432-D06F65D97511}" type="pres">
      <dgm:prSet presAssocID="{97FAEA82-0130-4A56-B926-F15BD13279A0}" presName="childText" presStyleLbl="conFgAcc1" presStyleIdx="1" presStyleCnt="2">
        <dgm:presLayoutVars>
          <dgm:bulletEnabled val="1"/>
        </dgm:presLayoutVars>
      </dgm:prSet>
      <dgm:spPr/>
    </dgm:pt>
  </dgm:ptLst>
  <dgm:cxnLst>
    <dgm:cxn modelId="{34B8A924-D023-674A-8AA2-95426DE93ECD}" type="presOf" srcId="{7747ABEF-8C62-2E44-9DBB-7CEB300131C5}" destId="{773E713E-BE04-4D4B-9432-D06F65D97511}" srcOrd="0" destOrd="1" presId="urn:microsoft.com/office/officeart/2005/8/layout/list1"/>
    <dgm:cxn modelId="{17848046-4602-6D4B-98FB-1781B34705D9}" type="presOf" srcId="{99327B6C-2DF8-4FCF-8080-FD0B8CAD889A}" destId="{9AEF45B7-1D05-B843-95C0-2E48D15C4856}" srcOrd="0" destOrd="0" presId="urn:microsoft.com/office/officeart/2005/8/layout/list1"/>
    <dgm:cxn modelId="{15ADA764-488C-4102-82AD-BF4E45DD90A0}" srcId="{99327B6C-2DF8-4FCF-8080-FD0B8CAD889A}" destId="{DE32F696-47D6-43BF-B064-FE199A6B6DFF}" srcOrd="0" destOrd="0" parTransId="{1264ABD0-99BB-446B-8E4D-CC06B466E953}" sibTransId="{F60EE35C-19EB-438B-A823-C98BA4E48206}"/>
    <dgm:cxn modelId="{3895366B-5B0A-BB43-903B-C80E8146B5EB}" type="presOf" srcId="{97FAEA82-0130-4A56-B926-F15BD13279A0}" destId="{FACD41D5-8B02-7E48-80D4-00157B7C2A09}" srcOrd="1" destOrd="0" presId="urn:microsoft.com/office/officeart/2005/8/layout/list1"/>
    <dgm:cxn modelId="{1EDC2976-9D90-6C42-A8DE-CDBCACBD0BEC}" type="presOf" srcId="{DE32F696-47D6-43BF-B064-FE199A6B6DFF}" destId="{428776DF-7C61-5B42-85F6-A71229B10ECB}" srcOrd="0" destOrd="0" presId="urn:microsoft.com/office/officeart/2005/8/layout/list1"/>
    <dgm:cxn modelId="{D0C1197B-45F6-1046-B76B-91BD2D805D98}" srcId="{97FAEA82-0130-4A56-B926-F15BD13279A0}" destId="{7747ABEF-8C62-2E44-9DBB-7CEB300131C5}" srcOrd="1" destOrd="0" parTransId="{A584839E-2D3F-DA43-AFBE-B835CA6242AE}" sibTransId="{F4E5A8A9-5BEA-5742-A143-1A4D382B0A04}"/>
    <dgm:cxn modelId="{00C48C7E-41D0-4CA0-9700-560C1DC5B878}" srcId="{97FAEA82-0130-4A56-B926-F15BD13279A0}" destId="{1C41598C-C5A5-4E4D-B533-977192AD2061}" srcOrd="0" destOrd="0" parTransId="{8CC1C07B-8734-4B25-A142-4A4C99A0D94F}" sibTransId="{268FCAF0-BA3A-429B-A637-C3A8E6A04B36}"/>
    <dgm:cxn modelId="{81493990-D85A-4F35-A6A4-6F35CDE864F9}" srcId="{99327B6C-2DF8-4FCF-8080-FD0B8CAD889A}" destId="{97FAEA82-0130-4A56-B926-F15BD13279A0}" srcOrd="1" destOrd="0" parTransId="{960710EC-77F5-48E8-87E9-D1C329FCA49D}" sibTransId="{D58EBBCF-21D8-4D0C-A83E-CBF2DAC83EAA}"/>
    <dgm:cxn modelId="{64053294-BD3F-C944-BFA7-5328E9F4728D}" type="presOf" srcId="{BB7D9B60-D712-417A-918B-F6D3B042B000}" destId="{773E713E-BE04-4D4B-9432-D06F65D97511}" srcOrd="0" destOrd="3" presId="urn:microsoft.com/office/officeart/2005/8/layout/list1"/>
    <dgm:cxn modelId="{C4681996-4D42-DD40-B312-81BC22A48E93}" srcId="{97FAEA82-0130-4A56-B926-F15BD13279A0}" destId="{D4D7A51C-64B5-2940-A9E1-A0BF9BA6680E}" srcOrd="2" destOrd="0" parTransId="{5940B138-F6B5-9149-8069-8413F4CBF8AA}" sibTransId="{4AB905C7-1E6C-A943-AB44-45C5D6FD4767}"/>
    <dgm:cxn modelId="{FFCF75AE-BB79-D84D-880C-3A729ED73CF4}" type="presOf" srcId="{97FAEA82-0130-4A56-B926-F15BD13279A0}" destId="{61EDA9B9-FEE0-7745-A630-EB71FA1452E3}" srcOrd="0" destOrd="0" presId="urn:microsoft.com/office/officeart/2005/8/layout/list1"/>
    <dgm:cxn modelId="{06295CAF-B3CE-465F-8B6D-30DA1FD1F7A3}" srcId="{97FAEA82-0130-4A56-B926-F15BD13279A0}" destId="{BB7D9B60-D712-417A-918B-F6D3B042B000}" srcOrd="3" destOrd="0" parTransId="{C070CD26-C8E2-4BB3-9931-07A77A9B894D}" sibTransId="{4723A0AA-48BD-42C6-87C5-5A9849AC7480}"/>
    <dgm:cxn modelId="{F5E6B5BA-D128-B742-B0B9-CFD59487C261}" type="presOf" srcId="{1C41598C-C5A5-4E4D-B533-977192AD2061}" destId="{773E713E-BE04-4D4B-9432-D06F65D97511}" srcOrd="0" destOrd="0" presId="urn:microsoft.com/office/officeart/2005/8/layout/list1"/>
    <dgm:cxn modelId="{EE0C0FE4-CA27-6645-BE86-4B3EDC533003}" type="presOf" srcId="{D4D7A51C-64B5-2940-A9E1-A0BF9BA6680E}" destId="{773E713E-BE04-4D4B-9432-D06F65D97511}" srcOrd="0" destOrd="2" presId="urn:microsoft.com/office/officeart/2005/8/layout/list1"/>
    <dgm:cxn modelId="{C30D87F9-46CA-CC4C-B86C-B1896EF25041}" type="presOf" srcId="{DE32F696-47D6-43BF-B064-FE199A6B6DFF}" destId="{FFA54353-AEB8-8742-9FD2-0BF1D13A9CFB}" srcOrd="1" destOrd="0" presId="urn:microsoft.com/office/officeart/2005/8/layout/list1"/>
    <dgm:cxn modelId="{2F6E0671-0590-4A47-8D36-77DF3D373B9C}" type="presParOf" srcId="{9AEF45B7-1D05-B843-95C0-2E48D15C4856}" destId="{AC360863-1BED-6B41-8602-627C97E95503}" srcOrd="0" destOrd="0" presId="urn:microsoft.com/office/officeart/2005/8/layout/list1"/>
    <dgm:cxn modelId="{B2DF6624-2775-BB41-AAC9-D6805D69C748}" type="presParOf" srcId="{AC360863-1BED-6B41-8602-627C97E95503}" destId="{428776DF-7C61-5B42-85F6-A71229B10ECB}" srcOrd="0" destOrd="0" presId="urn:microsoft.com/office/officeart/2005/8/layout/list1"/>
    <dgm:cxn modelId="{7A509A62-0E76-2545-A6E5-509704665474}" type="presParOf" srcId="{AC360863-1BED-6B41-8602-627C97E95503}" destId="{FFA54353-AEB8-8742-9FD2-0BF1D13A9CFB}" srcOrd="1" destOrd="0" presId="urn:microsoft.com/office/officeart/2005/8/layout/list1"/>
    <dgm:cxn modelId="{699A63D2-AB87-3044-BB42-65A20A3B33F8}" type="presParOf" srcId="{9AEF45B7-1D05-B843-95C0-2E48D15C4856}" destId="{61CB1DBC-2129-624B-87A8-6703314D65A3}" srcOrd="1" destOrd="0" presId="urn:microsoft.com/office/officeart/2005/8/layout/list1"/>
    <dgm:cxn modelId="{F3568F9C-8BEC-0244-AC19-A4BDF104790F}" type="presParOf" srcId="{9AEF45B7-1D05-B843-95C0-2E48D15C4856}" destId="{C7E25028-E3FC-D04D-BB4A-DE72A50FF8BC}" srcOrd="2" destOrd="0" presId="urn:microsoft.com/office/officeart/2005/8/layout/list1"/>
    <dgm:cxn modelId="{27EACDED-0F6C-3F46-8E98-714BD0BB268B}" type="presParOf" srcId="{9AEF45B7-1D05-B843-95C0-2E48D15C4856}" destId="{002BD261-98A9-684E-A0F3-21D4E5020A91}" srcOrd="3" destOrd="0" presId="urn:microsoft.com/office/officeart/2005/8/layout/list1"/>
    <dgm:cxn modelId="{D8EB7A98-0766-424E-80B8-A3B3C2D54F34}" type="presParOf" srcId="{9AEF45B7-1D05-B843-95C0-2E48D15C4856}" destId="{60B01A9C-E846-A246-8555-91AD5625696E}" srcOrd="4" destOrd="0" presId="urn:microsoft.com/office/officeart/2005/8/layout/list1"/>
    <dgm:cxn modelId="{564E8DF0-3D3F-4446-B313-F63205957029}" type="presParOf" srcId="{60B01A9C-E846-A246-8555-91AD5625696E}" destId="{61EDA9B9-FEE0-7745-A630-EB71FA1452E3}" srcOrd="0" destOrd="0" presId="urn:microsoft.com/office/officeart/2005/8/layout/list1"/>
    <dgm:cxn modelId="{B48C1E5A-8A1F-7D46-9CCC-2549C7C84A0C}" type="presParOf" srcId="{60B01A9C-E846-A246-8555-91AD5625696E}" destId="{FACD41D5-8B02-7E48-80D4-00157B7C2A09}" srcOrd="1" destOrd="0" presId="urn:microsoft.com/office/officeart/2005/8/layout/list1"/>
    <dgm:cxn modelId="{AF0DD771-429B-0841-9255-15C4ABA132F7}" type="presParOf" srcId="{9AEF45B7-1D05-B843-95C0-2E48D15C4856}" destId="{B1102CC6-99F5-4A4A-859C-D1D2280F9BD5}" srcOrd="5" destOrd="0" presId="urn:microsoft.com/office/officeart/2005/8/layout/list1"/>
    <dgm:cxn modelId="{95BC7DFF-2B12-134A-919C-1A2C6A66267B}" type="presParOf" srcId="{9AEF45B7-1D05-B843-95C0-2E48D15C4856}" destId="{773E713E-BE04-4D4B-9432-D06F65D97511}"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9327B6C-2DF8-4FCF-8080-FD0B8CAD889A}" type="doc">
      <dgm:prSet loTypeId="urn:microsoft.com/office/officeart/2005/8/layout/list1" loCatId="list" qsTypeId="urn:microsoft.com/office/officeart/2005/8/quickstyle/simple4" qsCatId="simple" csTypeId="urn:microsoft.com/office/officeart/2005/8/colors/colorful5" csCatId="colorful" phldr="1"/>
      <dgm:spPr/>
      <dgm:t>
        <a:bodyPr/>
        <a:lstStyle/>
        <a:p>
          <a:endParaRPr lang="en-US"/>
        </a:p>
      </dgm:t>
    </dgm:pt>
    <dgm:pt modelId="{DE32F696-47D6-43BF-B064-FE199A6B6DFF}">
      <dgm:prSet/>
      <dgm:spPr/>
      <dgm:t>
        <a:bodyPr/>
        <a:lstStyle/>
        <a:p>
          <a:r>
            <a:rPr lang="en-US" dirty="0"/>
            <a:t>Data used : </a:t>
          </a:r>
          <a:r>
            <a:rPr lang="en-US" b="0" dirty="0"/>
            <a:t>admissions, </a:t>
          </a:r>
          <a:r>
            <a:rPr lang="en-US" b="0" dirty="0" err="1"/>
            <a:t>diagnoses_icd</a:t>
          </a:r>
          <a:r>
            <a:rPr lang="en-US" dirty="0"/>
            <a:t> </a:t>
          </a:r>
        </a:p>
      </dgm:t>
    </dgm:pt>
    <dgm:pt modelId="{1264ABD0-99BB-446B-8E4D-CC06B466E953}" type="parTrans" cxnId="{15ADA764-488C-4102-82AD-BF4E45DD90A0}">
      <dgm:prSet/>
      <dgm:spPr/>
      <dgm:t>
        <a:bodyPr/>
        <a:lstStyle/>
        <a:p>
          <a:endParaRPr lang="en-US"/>
        </a:p>
      </dgm:t>
    </dgm:pt>
    <dgm:pt modelId="{F60EE35C-19EB-438B-A823-C98BA4E48206}" type="sibTrans" cxnId="{15ADA764-488C-4102-82AD-BF4E45DD90A0}">
      <dgm:prSet/>
      <dgm:spPr/>
      <dgm:t>
        <a:bodyPr/>
        <a:lstStyle/>
        <a:p>
          <a:endParaRPr lang="en-US"/>
        </a:p>
      </dgm:t>
    </dgm:pt>
    <dgm:pt modelId="{97FAEA82-0130-4A56-B926-F15BD13279A0}">
      <dgm:prSet/>
      <dgm:spPr/>
      <dgm:t>
        <a:bodyPr/>
        <a:lstStyle/>
        <a:p>
          <a:r>
            <a:rPr lang="en-US" dirty="0"/>
            <a:t>Description and interpretation </a:t>
          </a:r>
        </a:p>
      </dgm:t>
    </dgm:pt>
    <dgm:pt modelId="{960710EC-77F5-48E8-87E9-D1C329FCA49D}" type="parTrans" cxnId="{81493990-D85A-4F35-A6A4-6F35CDE864F9}">
      <dgm:prSet/>
      <dgm:spPr/>
      <dgm:t>
        <a:bodyPr/>
        <a:lstStyle/>
        <a:p>
          <a:endParaRPr lang="en-US"/>
        </a:p>
      </dgm:t>
    </dgm:pt>
    <dgm:pt modelId="{D58EBBCF-21D8-4D0C-A83E-CBF2DAC83EAA}" type="sibTrans" cxnId="{81493990-D85A-4F35-A6A4-6F35CDE864F9}">
      <dgm:prSet/>
      <dgm:spPr/>
      <dgm:t>
        <a:bodyPr/>
        <a:lstStyle/>
        <a:p>
          <a:endParaRPr lang="en-US"/>
        </a:p>
      </dgm:t>
    </dgm:pt>
    <dgm:pt modelId="{1C41598C-C5A5-4E4D-B533-977192AD2061}">
      <dgm:prSet/>
      <dgm:spPr/>
      <dgm:t>
        <a:bodyPr/>
        <a:lstStyle/>
        <a:p>
          <a:r>
            <a:rPr lang="en-US" dirty="0"/>
            <a:t>This query checks how many heart attack patients survive their hospital stay when they are admitted.</a:t>
          </a:r>
        </a:p>
      </dgm:t>
    </dgm:pt>
    <dgm:pt modelId="{8CC1C07B-8734-4B25-A142-4A4C99A0D94F}" type="parTrans" cxnId="{00C48C7E-41D0-4CA0-9700-560C1DC5B878}">
      <dgm:prSet/>
      <dgm:spPr/>
      <dgm:t>
        <a:bodyPr/>
        <a:lstStyle/>
        <a:p>
          <a:endParaRPr lang="en-US"/>
        </a:p>
      </dgm:t>
    </dgm:pt>
    <dgm:pt modelId="{268FCAF0-BA3A-429B-A637-C3A8E6A04B36}" type="sibTrans" cxnId="{00C48C7E-41D0-4CA0-9700-560C1DC5B878}">
      <dgm:prSet/>
      <dgm:spPr/>
      <dgm:t>
        <a:bodyPr/>
        <a:lstStyle/>
        <a:p>
          <a:endParaRPr lang="en-US"/>
        </a:p>
      </dgm:t>
    </dgm:pt>
    <dgm:pt modelId="{5C619224-072D-DB4C-A568-C1ACAD05915C}">
      <dgm:prSet/>
      <dgm:spPr/>
      <dgm:t>
        <a:bodyPr/>
        <a:lstStyle/>
        <a:p>
          <a:r>
            <a:rPr lang="en-US" dirty="0"/>
            <a:t>The results show that majority of the heart attack patients survive during the hospital stay.</a:t>
          </a:r>
        </a:p>
      </dgm:t>
    </dgm:pt>
    <dgm:pt modelId="{FE6217FC-A6CD-2143-A1EC-5FC5CF944C62}" type="parTrans" cxnId="{3D7235E4-5EBA-6B44-8ADB-A5499383EAF9}">
      <dgm:prSet/>
      <dgm:spPr/>
    </dgm:pt>
    <dgm:pt modelId="{1434D06E-D3E5-CA4A-B030-5BA5A9E634B4}" type="sibTrans" cxnId="{3D7235E4-5EBA-6B44-8ADB-A5499383EAF9}">
      <dgm:prSet/>
      <dgm:spPr/>
    </dgm:pt>
    <dgm:pt modelId="{9AEF45B7-1D05-B843-95C0-2E48D15C4856}" type="pres">
      <dgm:prSet presAssocID="{99327B6C-2DF8-4FCF-8080-FD0B8CAD889A}" presName="linear" presStyleCnt="0">
        <dgm:presLayoutVars>
          <dgm:dir/>
          <dgm:animLvl val="lvl"/>
          <dgm:resizeHandles val="exact"/>
        </dgm:presLayoutVars>
      </dgm:prSet>
      <dgm:spPr/>
    </dgm:pt>
    <dgm:pt modelId="{AC360863-1BED-6B41-8602-627C97E95503}" type="pres">
      <dgm:prSet presAssocID="{DE32F696-47D6-43BF-B064-FE199A6B6DFF}" presName="parentLin" presStyleCnt="0"/>
      <dgm:spPr/>
    </dgm:pt>
    <dgm:pt modelId="{428776DF-7C61-5B42-85F6-A71229B10ECB}" type="pres">
      <dgm:prSet presAssocID="{DE32F696-47D6-43BF-B064-FE199A6B6DFF}" presName="parentLeftMargin" presStyleLbl="node1" presStyleIdx="0" presStyleCnt="2"/>
      <dgm:spPr/>
    </dgm:pt>
    <dgm:pt modelId="{FFA54353-AEB8-8742-9FD2-0BF1D13A9CFB}" type="pres">
      <dgm:prSet presAssocID="{DE32F696-47D6-43BF-B064-FE199A6B6DFF}" presName="parentText" presStyleLbl="node1" presStyleIdx="0" presStyleCnt="2">
        <dgm:presLayoutVars>
          <dgm:chMax val="0"/>
          <dgm:bulletEnabled val="1"/>
        </dgm:presLayoutVars>
      </dgm:prSet>
      <dgm:spPr/>
    </dgm:pt>
    <dgm:pt modelId="{61CB1DBC-2129-624B-87A8-6703314D65A3}" type="pres">
      <dgm:prSet presAssocID="{DE32F696-47D6-43BF-B064-FE199A6B6DFF}" presName="negativeSpace" presStyleCnt="0"/>
      <dgm:spPr/>
    </dgm:pt>
    <dgm:pt modelId="{C7E25028-E3FC-D04D-BB4A-DE72A50FF8BC}" type="pres">
      <dgm:prSet presAssocID="{DE32F696-47D6-43BF-B064-FE199A6B6DFF}" presName="childText" presStyleLbl="conFgAcc1" presStyleIdx="0" presStyleCnt="2">
        <dgm:presLayoutVars>
          <dgm:bulletEnabled val="1"/>
        </dgm:presLayoutVars>
      </dgm:prSet>
      <dgm:spPr/>
    </dgm:pt>
    <dgm:pt modelId="{002BD261-98A9-684E-A0F3-21D4E5020A91}" type="pres">
      <dgm:prSet presAssocID="{F60EE35C-19EB-438B-A823-C98BA4E48206}" presName="spaceBetweenRectangles" presStyleCnt="0"/>
      <dgm:spPr/>
    </dgm:pt>
    <dgm:pt modelId="{60B01A9C-E846-A246-8555-91AD5625696E}" type="pres">
      <dgm:prSet presAssocID="{97FAEA82-0130-4A56-B926-F15BD13279A0}" presName="parentLin" presStyleCnt="0"/>
      <dgm:spPr/>
    </dgm:pt>
    <dgm:pt modelId="{61EDA9B9-FEE0-7745-A630-EB71FA1452E3}" type="pres">
      <dgm:prSet presAssocID="{97FAEA82-0130-4A56-B926-F15BD13279A0}" presName="parentLeftMargin" presStyleLbl="node1" presStyleIdx="0" presStyleCnt="2"/>
      <dgm:spPr/>
    </dgm:pt>
    <dgm:pt modelId="{FACD41D5-8B02-7E48-80D4-00157B7C2A09}" type="pres">
      <dgm:prSet presAssocID="{97FAEA82-0130-4A56-B926-F15BD13279A0}" presName="parentText" presStyleLbl="node1" presStyleIdx="1" presStyleCnt="2">
        <dgm:presLayoutVars>
          <dgm:chMax val="0"/>
          <dgm:bulletEnabled val="1"/>
        </dgm:presLayoutVars>
      </dgm:prSet>
      <dgm:spPr/>
    </dgm:pt>
    <dgm:pt modelId="{B1102CC6-99F5-4A4A-859C-D1D2280F9BD5}" type="pres">
      <dgm:prSet presAssocID="{97FAEA82-0130-4A56-B926-F15BD13279A0}" presName="negativeSpace" presStyleCnt="0"/>
      <dgm:spPr/>
    </dgm:pt>
    <dgm:pt modelId="{773E713E-BE04-4D4B-9432-D06F65D97511}" type="pres">
      <dgm:prSet presAssocID="{97FAEA82-0130-4A56-B926-F15BD13279A0}" presName="childText" presStyleLbl="conFgAcc1" presStyleIdx="1" presStyleCnt="2" custLinFactNeighborX="-3906" custLinFactNeighborY="514">
        <dgm:presLayoutVars>
          <dgm:bulletEnabled val="1"/>
        </dgm:presLayoutVars>
      </dgm:prSet>
      <dgm:spPr/>
    </dgm:pt>
  </dgm:ptLst>
  <dgm:cxnLst>
    <dgm:cxn modelId="{A924D239-0EB1-FA40-A7B8-EAB3C79585CD}" type="presOf" srcId="{5C619224-072D-DB4C-A568-C1ACAD05915C}" destId="{773E713E-BE04-4D4B-9432-D06F65D97511}" srcOrd="0" destOrd="1" presId="urn:microsoft.com/office/officeart/2005/8/layout/list1"/>
    <dgm:cxn modelId="{17848046-4602-6D4B-98FB-1781B34705D9}" type="presOf" srcId="{99327B6C-2DF8-4FCF-8080-FD0B8CAD889A}" destId="{9AEF45B7-1D05-B843-95C0-2E48D15C4856}" srcOrd="0" destOrd="0" presId="urn:microsoft.com/office/officeart/2005/8/layout/list1"/>
    <dgm:cxn modelId="{15ADA764-488C-4102-82AD-BF4E45DD90A0}" srcId="{99327B6C-2DF8-4FCF-8080-FD0B8CAD889A}" destId="{DE32F696-47D6-43BF-B064-FE199A6B6DFF}" srcOrd="0" destOrd="0" parTransId="{1264ABD0-99BB-446B-8E4D-CC06B466E953}" sibTransId="{F60EE35C-19EB-438B-A823-C98BA4E48206}"/>
    <dgm:cxn modelId="{3895366B-5B0A-BB43-903B-C80E8146B5EB}" type="presOf" srcId="{97FAEA82-0130-4A56-B926-F15BD13279A0}" destId="{FACD41D5-8B02-7E48-80D4-00157B7C2A09}" srcOrd="1" destOrd="0" presId="urn:microsoft.com/office/officeart/2005/8/layout/list1"/>
    <dgm:cxn modelId="{1EDC2976-9D90-6C42-A8DE-CDBCACBD0BEC}" type="presOf" srcId="{DE32F696-47D6-43BF-B064-FE199A6B6DFF}" destId="{428776DF-7C61-5B42-85F6-A71229B10ECB}" srcOrd="0" destOrd="0" presId="urn:microsoft.com/office/officeart/2005/8/layout/list1"/>
    <dgm:cxn modelId="{00C48C7E-41D0-4CA0-9700-560C1DC5B878}" srcId="{97FAEA82-0130-4A56-B926-F15BD13279A0}" destId="{1C41598C-C5A5-4E4D-B533-977192AD2061}" srcOrd="0" destOrd="0" parTransId="{8CC1C07B-8734-4B25-A142-4A4C99A0D94F}" sibTransId="{268FCAF0-BA3A-429B-A637-C3A8E6A04B36}"/>
    <dgm:cxn modelId="{81493990-D85A-4F35-A6A4-6F35CDE864F9}" srcId="{99327B6C-2DF8-4FCF-8080-FD0B8CAD889A}" destId="{97FAEA82-0130-4A56-B926-F15BD13279A0}" srcOrd="1" destOrd="0" parTransId="{960710EC-77F5-48E8-87E9-D1C329FCA49D}" sibTransId="{D58EBBCF-21D8-4D0C-A83E-CBF2DAC83EAA}"/>
    <dgm:cxn modelId="{FFCF75AE-BB79-D84D-880C-3A729ED73CF4}" type="presOf" srcId="{97FAEA82-0130-4A56-B926-F15BD13279A0}" destId="{61EDA9B9-FEE0-7745-A630-EB71FA1452E3}" srcOrd="0" destOrd="0" presId="urn:microsoft.com/office/officeart/2005/8/layout/list1"/>
    <dgm:cxn modelId="{F5E6B5BA-D128-B742-B0B9-CFD59487C261}" type="presOf" srcId="{1C41598C-C5A5-4E4D-B533-977192AD2061}" destId="{773E713E-BE04-4D4B-9432-D06F65D97511}" srcOrd="0" destOrd="0" presId="urn:microsoft.com/office/officeart/2005/8/layout/list1"/>
    <dgm:cxn modelId="{3D7235E4-5EBA-6B44-8ADB-A5499383EAF9}" srcId="{97FAEA82-0130-4A56-B926-F15BD13279A0}" destId="{5C619224-072D-DB4C-A568-C1ACAD05915C}" srcOrd="1" destOrd="0" parTransId="{FE6217FC-A6CD-2143-A1EC-5FC5CF944C62}" sibTransId="{1434D06E-D3E5-CA4A-B030-5BA5A9E634B4}"/>
    <dgm:cxn modelId="{C30D87F9-46CA-CC4C-B86C-B1896EF25041}" type="presOf" srcId="{DE32F696-47D6-43BF-B064-FE199A6B6DFF}" destId="{FFA54353-AEB8-8742-9FD2-0BF1D13A9CFB}" srcOrd="1" destOrd="0" presId="urn:microsoft.com/office/officeart/2005/8/layout/list1"/>
    <dgm:cxn modelId="{2F6E0671-0590-4A47-8D36-77DF3D373B9C}" type="presParOf" srcId="{9AEF45B7-1D05-B843-95C0-2E48D15C4856}" destId="{AC360863-1BED-6B41-8602-627C97E95503}" srcOrd="0" destOrd="0" presId="urn:microsoft.com/office/officeart/2005/8/layout/list1"/>
    <dgm:cxn modelId="{B2DF6624-2775-BB41-AAC9-D6805D69C748}" type="presParOf" srcId="{AC360863-1BED-6B41-8602-627C97E95503}" destId="{428776DF-7C61-5B42-85F6-A71229B10ECB}" srcOrd="0" destOrd="0" presId="urn:microsoft.com/office/officeart/2005/8/layout/list1"/>
    <dgm:cxn modelId="{7A509A62-0E76-2545-A6E5-509704665474}" type="presParOf" srcId="{AC360863-1BED-6B41-8602-627C97E95503}" destId="{FFA54353-AEB8-8742-9FD2-0BF1D13A9CFB}" srcOrd="1" destOrd="0" presId="urn:microsoft.com/office/officeart/2005/8/layout/list1"/>
    <dgm:cxn modelId="{699A63D2-AB87-3044-BB42-65A20A3B33F8}" type="presParOf" srcId="{9AEF45B7-1D05-B843-95C0-2E48D15C4856}" destId="{61CB1DBC-2129-624B-87A8-6703314D65A3}" srcOrd="1" destOrd="0" presId="urn:microsoft.com/office/officeart/2005/8/layout/list1"/>
    <dgm:cxn modelId="{F3568F9C-8BEC-0244-AC19-A4BDF104790F}" type="presParOf" srcId="{9AEF45B7-1D05-B843-95C0-2E48D15C4856}" destId="{C7E25028-E3FC-D04D-BB4A-DE72A50FF8BC}" srcOrd="2" destOrd="0" presId="urn:microsoft.com/office/officeart/2005/8/layout/list1"/>
    <dgm:cxn modelId="{27EACDED-0F6C-3F46-8E98-714BD0BB268B}" type="presParOf" srcId="{9AEF45B7-1D05-B843-95C0-2E48D15C4856}" destId="{002BD261-98A9-684E-A0F3-21D4E5020A91}" srcOrd="3" destOrd="0" presId="urn:microsoft.com/office/officeart/2005/8/layout/list1"/>
    <dgm:cxn modelId="{D8EB7A98-0766-424E-80B8-A3B3C2D54F34}" type="presParOf" srcId="{9AEF45B7-1D05-B843-95C0-2E48D15C4856}" destId="{60B01A9C-E846-A246-8555-91AD5625696E}" srcOrd="4" destOrd="0" presId="urn:microsoft.com/office/officeart/2005/8/layout/list1"/>
    <dgm:cxn modelId="{564E8DF0-3D3F-4446-B313-F63205957029}" type="presParOf" srcId="{60B01A9C-E846-A246-8555-91AD5625696E}" destId="{61EDA9B9-FEE0-7745-A630-EB71FA1452E3}" srcOrd="0" destOrd="0" presId="urn:microsoft.com/office/officeart/2005/8/layout/list1"/>
    <dgm:cxn modelId="{B48C1E5A-8A1F-7D46-9CCC-2549C7C84A0C}" type="presParOf" srcId="{60B01A9C-E846-A246-8555-91AD5625696E}" destId="{FACD41D5-8B02-7E48-80D4-00157B7C2A09}" srcOrd="1" destOrd="0" presId="urn:microsoft.com/office/officeart/2005/8/layout/list1"/>
    <dgm:cxn modelId="{AF0DD771-429B-0841-9255-15C4ABA132F7}" type="presParOf" srcId="{9AEF45B7-1D05-B843-95C0-2E48D15C4856}" destId="{B1102CC6-99F5-4A4A-859C-D1D2280F9BD5}" srcOrd="5" destOrd="0" presId="urn:microsoft.com/office/officeart/2005/8/layout/list1"/>
    <dgm:cxn modelId="{95BC7DFF-2B12-134A-919C-1A2C6A66267B}" type="presParOf" srcId="{9AEF45B7-1D05-B843-95C0-2E48D15C4856}" destId="{773E713E-BE04-4D4B-9432-D06F65D97511}"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9327B6C-2DF8-4FCF-8080-FD0B8CAD889A}" type="doc">
      <dgm:prSet loTypeId="urn:microsoft.com/office/officeart/2005/8/layout/list1" loCatId="list" qsTypeId="urn:microsoft.com/office/officeart/2005/8/quickstyle/simple4" qsCatId="simple" csTypeId="urn:microsoft.com/office/officeart/2005/8/colors/colorful5" csCatId="colorful" phldr="1"/>
      <dgm:spPr/>
      <dgm:t>
        <a:bodyPr/>
        <a:lstStyle/>
        <a:p>
          <a:endParaRPr lang="en-US"/>
        </a:p>
      </dgm:t>
    </dgm:pt>
    <dgm:pt modelId="{DE32F696-47D6-43BF-B064-FE199A6B6DFF}">
      <dgm:prSet/>
      <dgm:spPr/>
      <dgm:t>
        <a:bodyPr/>
        <a:lstStyle/>
        <a:p>
          <a:r>
            <a:rPr lang="en-US" dirty="0"/>
            <a:t>Data used : </a:t>
          </a:r>
          <a:r>
            <a:rPr lang="en-US" b="0" dirty="0"/>
            <a:t>prescriptions, </a:t>
          </a:r>
          <a:r>
            <a:rPr lang="en-US" b="0" dirty="0" err="1"/>
            <a:t>diagnoses_icd</a:t>
          </a:r>
          <a:r>
            <a:rPr lang="en-US" dirty="0"/>
            <a:t> </a:t>
          </a:r>
        </a:p>
      </dgm:t>
    </dgm:pt>
    <dgm:pt modelId="{1264ABD0-99BB-446B-8E4D-CC06B466E953}" type="parTrans" cxnId="{15ADA764-488C-4102-82AD-BF4E45DD90A0}">
      <dgm:prSet/>
      <dgm:spPr/>
      <dgm:t>
        <a:bodyPr/>
        <a:lstStyle/>
        <a:p>
          <a:endParaRPr lang="en-US"/>
        </a:p>
      </dgm:t>
    </dgm:pt>
    <dgm:pt modelId="{F60EE35C-19EB-438B-A823-C98BA4E48206}" type="sibTrans" cxnId="{15ADA764-488C-4102-82AD-BF4E45DD90A0}">
      <dgm:prSet/>
      <dgm:spPr/>
      <dgm:t>
        <a:bodyPr/>
        <a:lstStyle/>
        <a:p>
          <a:endParaRPr lang="en-US"/>
        </a:p>
      </dgm:t>
    </dgm:pt>
    <dgm:pt modelId="{97FAEA82-0130-4A56-B926-F15BD13279A0}">
      <dgm:prSet/>
      <dgm:spPr/>
      <dgm:t>
        <a:bodyPr/>
        <a:lstStyle/>
        <a:p>
          <a:r>
            <a:rPr lang="en-US" dirty="0"/>
            <a:t>Description and interpretation </a:t>
          </a:r>
        </a:p>
      </dgm:t>
    </dgm:pt>
    <dgm:pt modelId="{960710EC-77F5-48E8-87E9-D1C329FCA49D}" type="parTrans" cxnId="{81493990-D85A-4F35-A6A4-6F35CDE864F9}">
      <dgm:prSet/>
      <dgm:spPr/>
      <dgm:t>
        <a:bodyPr/>
        <a:lstStyle/>
        <a:p>
          <a:endParaRPr lang="en-US"/>
        </a:p>
      </dgm:t>
    </dgm:pt>
    <dgm:pt modelId="{D58EBBCF-21D8-4D0C-A83E-CBF2DAC83EAA}" type="sibTrans" cxnId="{81493990-D85A-4F35-A6A4-6F35CDE864F9}">
      <dgm:prSet/>
      <dgm:spPr/>
      <dgm:t>
        <a:bodyPr/>
        <a:lstStyle/>
        <a:p>
          <a:endParaRPr lang="en-US"/>
        </a:p>
      </dgm:t>
    </dgm:pt>
    <dgm:pt modelId="{1C41598C-C5A5-4E4D-B533-977192AD2061}">
      <dgm:prSet/>
      <dgm:spPr/>
      <dgm:t>
        <a:bodyPr/>
        <a:lstStyle/>
        <a:p>
          <a:r>
            <a:rPr lang="en-US" dirty="0"/>
            <a:t>This query identifies the 10 most frequently prescribed medications during AMI admissions.</a:t>
          </a:r>
        </a:p>
      </dgm:t>
    </dgm:pt>
    <dgm:pt modelId="{8CC1C07B-8734-4B25-A142-4A4C99A0D94F}" type="parTrans" cxnId="{00C48C7E-41D0-4CA0-9700-560C1DC5B878}">
      <dgm:prSet/>
      <dgm:spPr/>
      <dgm:t>
        <a:bodyPr/>
        <a:lstStyle/>
        <a:p>
          <a:endParaRPr lang="en-US"/>
        </a:p>
      </dgm:t>
    </dgm:pt>
    <dgm:pt modelId="{268FCAF0-BA3A-429B-A637-C3A8E6A04B36}" type="sibTrans" cxnId="{00C48C7E-41D0-4CA0-9700-560C1DC5B878}">
      <dgm:prSet/>
      <dgm:spPr/>
      <dgm:t>
        <a:bodyPr/>
        <a:lstStyle/>
        <a:p>
          <a:endParaRPr lang="en-US"/>
        </a:p>
      </dgm:t>
    </dgm:pt>
    <dgm:pt modelId="{BB7D9B60-D712-417A-918B-F6D3B042B000}">
      <dgm:prSet/>
      <dgm:spPr/>
      <dgm:t>
        <a:bodyPr/>
        <a:lstStyle/>
        <a:p>
          <a:r>
            <a:rPr lang="en-US" dirty="0"/>
            <a:t>This data could be used for stocking inventory in hospital. </a:t>
          </a:r>
        </a:p>
      </dgm:t>
    </dgm:pt>
    <dgm:pt modelId="{C070CD26-C8E2-4BB3-9931-07A77A9B894D}" type="parTrans" cxnId="{06295CAF-B3CE-465F-8B6D-30DA1FD1F7A3}">
      <dgm:prSet/>
      <dgm:spPr/>
      <dgm:t>
        <a:bodyPr/>
        <a:lstStyle/>
        <a:p>
          <a:endParaRPr lang="en-US"/>
        </a:p>
      </dgm:t>
    </dgm:pt>
    <dgm:pt modelId="{4723A0AA-48BD-42C6-87C5-5A9849AC7480}" type="sibTrans" cxnId="{06295CAF-B3CE-465F-8B6D-30DA1FD1F7A3}">
      <dgm:prSet/>
      <dgm:spPr/>
      <dgm:t>
        <a:bodyPr/>
        <a:lstStyle/>
        <a:p>
          <a:endParaRPr lang="en-US"/>
        </a:p>
      </dgm:t>
    </dgm:pt>
    <dgm:pt modelId="{9AEF45B7-1D05-B843-95C0-2E48D15C4856}" type="pres">
      <dgm:prSet presAssocID="{99327B6C-2DF8-4FCF-8080-FD0B8CAD889A}" presName="linear" presStyleCnt="0">
        <dgm:presLayoutVars>
          <dgm:dir/>
          <dgm:animLvl val="lvl"/>
          <dgm:resizeHandles val="exact"/>
        </dgm:presLayoutVars>
      </dgm:prSet>
      <dgm:spPr/>
    </dgm:pt>
    <dgm:pt modelId="{AC360863-1BED-6B41-8602-627C97E95503}" type="pres">
      <dgm:prSet presAssocID="{DE32F696-47D6-43BF-B064-FE199A6B6DFF}" presName="parentLin" presStyleCnt="0"/>
      <dgm:spPr/>
    </dgm:pt>
    <dgm:pt modelId="{428776DF-7C61-5B42-85F6-A71229B10ECB}" type="pres">
      <dgm:prSet presAssocID="{DE32F696-47D6-43BF-B064-FE199A6B6DFF}" presName="parentLeftMargin" presStyleLbl="node1" presStyleIdx="0" presStyleCnt="2"/>
      <dgm:spPr/>
    </dgm:pt>
    <dgm:pt modelId="{FFA54353-AEB8-8742-9FD2-0BF1D13A9CFB}" type="pres">
      <dgm:prSet presAssocID="{DE32F696-47D6-43BF-B064-FE199A6B6DFF}" presName="parentText" presStyleLbl="node1" presStyleIdx="0" presStyleCnt="2">
        <dgm:presLayoutVars>
          <dgm:chMax val="0"/>
          <dgm:bulletEnabled val="1"/>
        </dgm:presLayoutVars>
      </dgm:prSet>
      <dgm:spPr/>
    </dgm:pt>
    <dgm:pt modelId="{61CB1DBC-2129-624B-87A8-6703314D65A3}" type="pres">
      <dgm:prSet presAssocID="{DE32F696-47D6-43BF-B064-FE199A6B6DFF}" presName="negativeSpace" presStyleCnt="0"/>
      <dgm:spPr/>
    </dgm:pt>
    <dgm:pt modelId="{C7E25028-E3FC-D04D-BB4A-DE72A50FF8BC}" type="pres">
      <dgm:prSet presAssocID="{DE32F696-47D6-43BF-B064-FE199A6B6DFF}" presName="childText" presStyleLbl="conFgAcc1" presStyleIdx="0" presStyleCnt="2">
        <dgm:presLayoutVars>
          <dgm:bulletEnabled val="1"/>
        </dgm:presLayoutVars>
      </dgm:prSet>
      <dgm:spPr/>
    </dgm:pt>
    <dgm:pt modelId="{002BD261-98A9-684E-A0F3-21D4E5020A91}" type="pres">
      <dgm:prSet presAssocID="{F60EE35C-19EB-438B-A823-C98BA4E48206}" presName="spaceBetweenRectangles" presStyleCnt="0"/>
      <dgm:spPr/>
    </dgm:pt>
    <dgm:pt modelId="{60B01A9C-E846-A246-8555-91AD5625696E}" type="pres">
      <dgm:prSet presAssocID="{97FAEA82-0130-4A56-B926-F15BD13279A0}" presName="parentLin" presStyleCnt="0"/>
      <dgm:spPr/>
    </dgm:pt>
    <dgm:pt modelId="{61EDA9B9-FEE0-7745-A630-EB71FA1452E3}" type="pres">
      <dgm:prSet presAssocID="{97FAEA82-0130-4A56-B926-F15BD13279A0}" presName="parentLeftMargin" presStyleLbl="node1" presStyleIdx="0" presStyleCnt="2"/>
      <dgm:spPr/>
    </dgm:pt>
    <dgm:pt modelId="{FACD41D5-8B02-7E48-80D4-00157B7C2A09}" type="pres">
      <dgm:prSet presAssocID="{97FAEA82-0130-4A56-B926-F15BD13279A0}" presName="parentText" presStyleLbl="node1" presStyleIdx="1" presStyleCnt="2">
        <dgm:presLayoutVars>
          <dgm:chMax val="0"/>
          <dgm:bulletEnabled val="1"/>
        </dgm:presLayoutVars>
      </dgm:prSet>
      <dgm:spPr/>
    </dgm:pt>
    <dgm:pt modelId="{B1102CC6-99F5-4A4A-859C-D1D2280F9BD5}" type="pres">
      <dgm:prSet presAssocID="{97FAEA82-0130-4A56-B926-F15BD13279A0}" presName="negativeSpace" presStyleCnt="0"/>
      <dgm:spPr/>
    </dgm:pt>
    <dgm:pt modelId="{773E713E-BE04-4D4B-9432-D06F65D97511}" type="pres">
      <dgm:prSet presAssocID="{97FAEA82-0130-4A56-B926-F15BD13279A0}" presName="childText" presStyleLbl="conFgAcc1" presStyleIdx="1" presStyleCnt="2">
        <dgm:presLayoutVars>
          <dgm:bulletEnabled val="1"/>
        </dgm:presLayoutVars>
      </dgm:prSet>
      <dgm:spPr/>
    </dgm:pt>
  </dgm:ptLst>
  <dgm:cxnLst>
    <dgm:cxn modelId="{17848046-4602-6D4B-98FB-1781B34705D9}" type="presOf" srcId="{99327B6C-2DF8-4FCF-8080-FD0B8CAD889A}" destId="{9AEF45B7-1D05-B843-95C0-2E48D15C4856}" srcOrd="0" destOrd="0" presId="urn:microsoft.com/office/officeart/2005/8/layout/list1"/>
    <dgm:cxn modelId="{15ADA764-488C-4102-82AD-BF4E45DD90A0}" srcId="{99327B6C-2DF8-4FCF-8080-FD0B8CAD889A}" destId="{DE32F696-47D6-43BF-B064-FE199A6B6DFF}" srcOrd="0" destOrd="0" parTransId="{1264ABD0-99BB-446B-8E4D-CC06B466E953}" sibTransId="{F60EE35C-19EB-438B-A823-C98BA4E48206}"/>
    <dgm:cxn modelId="{3895366B-5B0A-BB43-903B-C80E8146B5EB}" type="presOf" srcId="{97FAEA82-0130-4A56-B926-F15BD13279A0}" destId="{FACD41D5-8B02-7E48-80D4-00157B7C2A09}" srcOrd="1" destOrd="0" presId="urn:microsoft.com/office/officeart/2005/8/layout/list1"/>
    <dgm:cxn modelId="{1EDC2976-9D90-6C42-A8DE-CDBCACBD0BEC}" type="presOf" srcId="{DE32F696-47D6-43BF-B064-FE199A6B6DFF}" destId="{428776DF-7C61-5B42-85F6-A71229B10ECB}" srcOrd="0" destOrd="0" presId="urn:microsoft.com/office/officeart/2005/8/layout/list1"/>
    <dgm:cxn modelId="{00C48C7E-41D0-4CA0-9700-560C1DC5B878}" srcId="{97FAEA82-0130-4A56-B926-F15BD13279A0}" destId="{1C41598C-C5A5-4E4D-B533-977192AD2061}" srcOrd="0" destOrd="0" parTransId="{8CC1C07B-8734-4B25-A142-4A4C99A0D94F}" sibTransId="{268FCAF0-BA3A-429B-A637-C3A8E6A04B36}"/>
    <dgm:cxn modelId="{81493990-D85A-4F35-A6A4-6F35CDE864F9}" srcId="{99327B6C-2DF8-4FCF-8080-FD0B8CAD889A}" destId="{97FAEA82-0130-4A56-B926-F15BD13279A0}" srcOrd="1" destOrd="0" parTransId="{960710EC-77F5-48E8-87E9-D1C329FCA49D}" sibTransId="{D58EBBCF-21D8-4D0C-A83E-CBF2DAC83EAA}"/>
    <dgm:cxn modelId="{64053294-BD3F-C944-BFA7-5328E9F4728D}" type="presOf" srcId="{BB7D9B60-D712-417A-918B-F6D3B042B000}" destId="{773E713E-BE04-4D4B-9432-D06F65D97511}" srcOrd="0" destOrd="1" presId="urn:microsoft.com/office/officeart/2005/8/layout/list1"/>
    <dgm:cxn modelId="{FFCF75AE-BB79-D84D-880C-3A729ED73CF4}" type="presOf" srcId="{97FAEA82-0130-4A56-B926-F15BD13279A0}" destId="{61EDA9B9-FEE0-7745-A630-EB71FA1452E3}" srcOrd="0" destOrd="0" presId="urn:microsoft.com/office/officeart/2005/8/layout/list1"/>
    <dgm:cxn modelId="{06295CAF-B3CE-465F-8B6D-30DA1FD1F7A3}" srcId="{97FAEA82-0130-4A56-B926-F15BD13279A0}" destId="{BB7D9B60-D712-417A-918B-F6D3B042B000}" srcOrd="1" destOrd="0" parTransId="{C070CD26-C8E2-4BB3-9931-07A77A9B894D}" sibTransId="{4723A0AA-48BD-42C6-87C5-5A9849AC7480}"/>
    <dgm:cxn modelId="{F5E6B5BA-D128-B742-B0B9-CFD59487C261}" type="presOf" srcId="{1C41598C-C5A5-4E4D-B533-977192AD2061}" destId="{773E713E-BE04-4D4B-9432-D06F65D97511}" srcOrd="0" destOrd="0" presId="urn:microsoft.com/office/officeart/2005/8/layout/list1"/>
    <dgm:cxn modelId="{C30D87F9-46CA-CC4C-B86C-B1896EF25041}" type="presOf" srcId="{DE32F696-47D6-43BF-B064-FE199A6B6DFF}" destId="{FFA54353-AEB8-8742-9FD2-0BF1D13A9CFB}" srcOrd="1" destOrd="0" presId="urn:microsoft.com/office/officeart/2005/8/layout/list1"/>
    <dgm:cxn modelId="{2F6E0671-0590-4A47-8D36-77DF3D373B9C}" type="presParOf" srcId="{9AEF45B7-1D05-B843-95C0-2E48D15C4856}" destId="{AC360863-1BED-6B41-8602-627C97E95503}" srcOrd="0" destOrd="0" presId="urn:microsoft.com/office/officeart/2005/8/layout/list1"/>
    <dgm:cxn modelId="{B2DF6624-2775-BB41-AAC9-D6805D69C748}" type="presParOf" srcId="{AC360863-1BED-6B41-8602-627C97E95503}" destId="{428776DF-7C61-5B42-85F6-A71229B10ECB}" srcOrd="0" destOrd="0" presId="urn:microsoft.com/office/officeart/2005/8/layout/list1"/>
    <dgm:cxn modelId="{7A509A62-0E76-2545-A6E5-509704665474}" type="presParOf" srcId="{AC360863-1BED-6B41-8602-627C97E95503}" destId="{FFA54353-AEB8-8742-9FD2-0BF1D13A9CFB}" srcOrd="1" destOrd="0" presId="urn:microsoft.com/office/officeart/2005/8/layout/list1"/>
    <dgm:cxn modelId="{699A63D2-AB87-3044-BB42-65A20A3B33F8}" type="presParOf" srcId="{9AEF45B7-1D05-B843-95C0-2E48D15C4856}" destId="{61CB1DBC-2129-624B-87A8-6703314D65A3}" srcOrd="1" destOrd="0" presId="urn:microsoft.com/office/officeart/2005/8/layout/list1"/>
    <dgm:cxn modelId="{F3568F9C-8BEC-0244-AC19-A4BDF104790F}" type="presParOf" srcId="{9AEF45B7-1D05-B843-95C0-2E48D15C4856}" destId="{C7E25028-E3FC-D04D-BB4A-DE72A50FF8BC}" srcOrd="2" destOrd="0" presId="urn:microsoft.com/office/officeart/2005/8/layout/list1"/>
    <dgm:cxn modelId="{27EACDED-0F6C-3F46-8E98-714BD0BB268B}" type="presParOf" srcId="{9AEF45B7-1D05-B843-95C0-2E48D15C4856}" destId="{002BD261-98A9-684E-A0F3-21D4E5020A91}" srcOrd="3" destOrd="0" presId="urn:microsoft.com/office/officeart/2005/8/layout/list1"/>
    <dgm:cxn modelId="{D8EB7A98-0766-424E-80B8-A3B3C2D54F34}" type="presParOf" srcId="{9AEF45B7-1D05-B843-95C0-2E48D15C4856}" destId="{60B01A9C-E846-A246-8555-91AD5625696E}" srcOrd="4" destOrd="0" presId="urn:microsoft.com/office/officeart/2005/8/layout/list1"/>
    <dgm:cxn modelId="{564E8DF0-3D3F-4446-B313-F63205957029}" type="presParOf" srcId="{60B01A9C-E846-A246-8555-91AD5625696E}" destId="{61EDA9B9-FEE0-7745-A630-EB71FA1452E3}" srcOrd="0" destOrd="0" presId="urn:microsoft.com/office/officeart/2005/8/layout/list1"/>
    <dgm:cxn modelId="{B48C1E5A-8A1F-7D46-9CCC-2549C7C84A0C}" type="presParOf" srcId="{60B01A9C-E846-A246-8555-91AD5625696E}" destId="{FACD41D5-8B02-7E48-80D4-00157B7C2A09}" srcOrd="1" destOrd="0" presId="urn:microsoft.com/office/officeart/2005/8/layout/list1"/>
    <dgm:cxn modelId="{AF0DD771-429B-0841-9255-15C4ABA132F7}" type="presParOf" srcId="{9AEF45B7-1D05-B843-95C0-2E48D15C4856}" destId="{B1102CC6-99F5-4A4A-859C-D1D2280F9BD5}" srcOrd="5" destOrd="0" presId="urn:microsoft.com/office/officeart/2005/8/layout/list1"/>
    <dgm:cxn modelId="{95BC7DFF-2B12-134A-919C-1A2C6A66267B}" type="presParOf" srcId="{9AEF45B7-1D05-B843-95C0-2E48D15C4856}" destId="{773E713E-BE04-4D4B-9432-D06F65D97511}"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9327B6C-2DF8-4FCF-8080-FD0B8CAD889A}" type="doc">
      <dgm:prSet loTypeId="urn:microsoft.com/office/officeart/2005/8/layout/list1" loCatId="list" qsTypeId="urn:microsoft.com/office/officeart/2005/8/quickstyle/simple4" qsCatId="simple" csTypeId="urn:microsoft.com/office/officeart/2005/8/colors/colorful5" csCatId="colorful" phldr="1"/>
      <dgm:spPr/>
      <dgm:t>
        <a:bodyPr/>
        <a:lstStyle/>
        <a:p>
          <a:endParaRPr lang="en-US"/>
        </a:p>
      </dgm:t>
    </dgm:pt>
    <dgm:pt modelId="{DE32F696-47D6-43BF-B064-FE199A6B6DFF}">
      <dgm:prSet custT="1"/>
      <dgm:spPr/>
      <dgm:t>
        <a:bodyPr/>
        <a:lstStyle/>
        <a:p>
          <a:r>
            <a:rPr lang="en-US" sz="2000" dirty="0"/>
            <a:t>Data used : </a:t>
          </a:r>
          <a:r>
            <a:rPr lang="en-US" sz="2000" b="0" dirty="0" err="1"/>
            <a:t>labevents</a:t>
          </a:r>
          <a:r>
            <a:rPr lang="en-US" sz="2000" b="0" dirty="0"/>
            <a:t>, </a:t>
          </a:r>
          <a:r>
            <a:rPr lang="en-US" sz="2000" b="0" dirty="0" err="1"/>
            <a:t>d_labitems</a:t>
          </a:r>
          <a:r>
            <a:rPr lang="en-US" sz="2000" b="0" dirty="0"/>
            <a:t>, </a:t>
          </a:r>
          <a:r>
            <a:rPr lang="en-US" sz="2000" b="0" dirty="0" err="1"/>
            <a:t>diagnoses_icd</a:t>
          </a:r>
          <a:r>
            <a:rPr lang="en-US" sz="1500" dirty="0"/>
            <a:t> </a:t>
          </a:r>
        </a:p>
      </dgm:t>
    </dgm:pt>
    <dgm:pt modelId="{1264ABD0-99BB-446B-8E4D-CC06B466E953}" type="parTrans" cxnId="{15ADA764-488C-4102-82AD-BF4E45DD90A0}">
      <dgm:prSet/>
      <dgm:spPr/>
      <dgm:t>
        <a:bodyPr/>
        <a:lstStyle/>
        <a:p>
          <a:endParaRPr lang="en-US"/>
        </a:p>
      </dgm:t>
    </dgm:pt>
    <dgm:pt modelId="{F60EE35C-19EB-438B-A823-C98BA4E48206}" type="sibTrans" cxnId="{15ADA764-488C-4102-82AD-BF4E45DD90A0}">
      <dgm:prSet/>
      <dgm:spPr/>
      <dgm:t>
        <a:bodyPr/>
        <a:lstStyle/>
        <a:p>
          <a:endParaRPr lang="en-US"/>
        </a:p>
      </dgm:t>
    </dgm:pt>
    <dgm:pt modelId="{97FAEA82-0130-4A56-B926-F15BD13279A0}">
      <dgm:prSet/>
      <dgm:spPr/>
      <dgm:t>
        <a:bodyPr/>
        <a:lstStyle/>
        <a:p>
          <a:r>
            <a:rPr lang="en-US" dirty="0"/>
            <a:t>Description and interpretation </a:t>
          </a:r>
        </a:p>
      </dgm:t>
    </dgm:pt>
    <dgm:pt modelId="{960710EC-77F5-48E8-87E9-D1C329FCA49D}" type="parTrans" cxnId="{81493990-D85A-4F35-A6A4-6F35CDE864F9}">
      <dgm:prSet/>
      <dgm:spPr/>
      <dgm:t>
        <a:bodyPr/>
        <a:lstStyle/>
        <a:p>
          <a:endParaRPr lang="en-US"/>
        </a:p>
      </dgm:t>
    </dgm:pt>
    <dgm:pt modelId="{D58EBBCF-21D8-4D0C-A83E-CBF2DAC83EAA}" type="sibTrans" cxnId="{81493990-D85A-4F35-A6A4-6F35CDE864F9}">
      <dgm:prSet/>
      <dgm:spPr/>
      <dgm:t>
        <a:bodyPr/>
        <a:lstStyle/>
        <a:p>
          <a:endParaRPr lang="en-US"/>
        </a:p>
      </dgm:t>
    </dgm:pt>
    <dgm:pt modelId="{1C41598C-C5A5-4E4D-B533-977192AD2061}">
      <dgm:prSet/>
      <dgm:spPr/>
      <dgm:t>
        <a:bodyPr/>
        <a:lstStyle/>
        <a:p>
          <a:r>
            <a:rPr lang="en-US" dirty="0"/>
            <a:t>This query identifies the most commonly ordered lab tests for heart attack patients.</a:t>
          </a:r>
        </a:p>
      </dgm:t>
    </dgm:pt>
    <dgm:pt modelId="{8CC1C07B-8734-4B25-A142-4A4C99A0D94F}" type="parTrans" cxnId="{00C48C7E-41D0-4CA0-9700-560C1DC5B878}">
      <dgm:prSet/>
      <dgm:spPr/>
      <dgm:t>
        <a:bodyPr/>
        <a:lstStyle/>
        <a:p>
          <a:endParaRPr lang="en-US"/>
        </a:p>
      </dgm:t>
    </dgm:pt>
    <dgm:pt modelId="{268FCAF0-BA3A-429B-A637-C3A8E6A04B36}" type="sibTrans" cxnId="{00C48C7E-41D0-4CA0-9700-560C1DC5B878}">
      <dgm:prSet/>
      <dgm:spPr/>
      <dgm:t>
        <a:bodyPr/>
        <a:lstStyle/>
        <a:p>
          <a:endParaRPr lang="en-US"/>
        </a:p>
      </dgm:t>
    </dgm:pt>
    <dgm:pt modelId="{BB7D9B60-D712-417A-918B-F6D3B042B000}">
      <dgm:prSet/>
      <dgm:spPr/>
      <dgm:t>
        <a:bodyPr/>
        <a:lstStyle/>
        <a:p>
          <a:endParaRPr lang="en-US" dirty="0"/>
        </a:p>
      </dgm:t>
    </dgm:pt>
    <dgm:pt modelId="{C070CD26-C8E2-4BB3-9931-07A77A9B894D}" type="parTrans" cxnId="{06295CAF-B3CE-465F-8B6D-30DA1FD1F7A3}">
      <dgm:prSet/>
      <dgm:spPr/>
      <dgm:t>
        <a:bodyPr/>
        <a:lstStyle/>
        <a:p>
          <a:endParaRPr lang="en-US"/>
        </a:p>
      </dgm:t>
    </dgm:pt>
    <dgm:pt modelId="{4723A0AA-48BD-42C6-87C5-5A9849AC7480}" type="sibTrans" cxnId="{06295CAF-B3CE-465F-8B6D-30DA1FD1F7A3}">
      <dgm:prSet/>
      <dgm:spPr/>
      <dgm:t>
        <a:bodyPr/>
        <a:lstStyle/>
        <a:p>
          <a:endParaRPr lang="en-US"/>
        </a:p>
      </dgm:t>
    </dgm:pt>
    <dgm:pt modelId="{9AEF45B7-1D05-B843-95C0-2E48D15C4856}" type="pres">
      <dgm:prSet presAssocID="{99327B6C-2DF8-4FCF-8080-FD0B8CAD889A}" presName="linear" presStyleCnt="0">
        <dgm:presLayoutVars>
          <dgm:dir/>
          <dgm:animLvl val="lvl"/>
          <dgm:resizeHandles val="exact"/>
        </dgm:presLayoutVars>
      </dgm:prSet>
      <dgm:spPr/>
    </dgm:pt>
    <dgm:pt modelId="{AC360863-1BED-6B41-8602-627C97E95503}" type="pres">
      <dgm:prSet presAssocID="{DE32F696-47D6-43BF-B064-FE199A6B6DFF}" presName="parentLin" presStyleCnt="0"/>
      <dgm:spPr/>
    </dgm:pt>
    <dgm:pt modelId="{428776DF-7C61-5B42-85F6-A71229B10ECB}" type="pres">
      <dgm:prSet presAssocID="{DE32F696-47D6-43BF-B064-FE199A6B6DFF}" presName="parentLeftMargin" presStyleLbl="node1" presStyleIdx="0" presStyleCnt="2"/>
      <dgm:spPr/>
    </dgm:pt>
    <dgm:pt modelId="{FFA54353-AEB8-8742-9FD2-0BF1D13A9CFB}" type="pres">
      <dgm:prSet presAssocID="{DE32F696-47D6-43BF-B064-FE199A6B6DFF}" presName="parentText" presStyleLbl="node1" presStyleIdx="0" presStyleCnt="2">
        <dgm:presLayoutVars>
          <dgm:chMax val="0"/>
          <dgm:bulletEnabled val="1"/>
        </dgm:presLayoutVars>
      </dgm:prSet>
      <dgm:spPr/>
    </dgm:pt>
    <dgm:pt modelId="{61CB1DBC-2129-624B-87A8-6703314D65A3}" type="pres">
      <dgm:prSet presAssocID="{DE32F696-47D6-43BF-B064-FE199A6B6DFF}" presName="negativeSpace" presStyleCnt="0"/>
      <dgm:spPr/>
    </dgm:pt>
    <dgm:pt modelId="{C7E25028-E3FC-D04D-BB4A-DE72A50FF8BC}" type="pres">
      <dgm:prSet presAssocID="{DE32F696-47D6-43BF-B064-FE199A6B6DFF}" presName="childText" presStyleLbl="conFgAcc1" presStyleIdx="0" presStyleCnt="2">
        <dgm:presLayoutVars>
          <dgm:bulletEnabled val="1"/>
        </dgm:presLayoutVars>
      </dgm:prSet>
      <dgm:spPr/>
    </dgm:pt>
    <dgm:pt modelId="{002BD261-98A9-684E-A0F3-21D4E5020A91}" type="pres">
      <dgm:prSet presAssocID="{F60EE35C-19EB-438B-A823-C98BA4E48206}" presName="spaceBetweenRectangles" presStyleCnt="0"/>
      <dgm:spPr/>
    </dgm:pt>
    <dgm:pt modelId="{60B01A9C-E846-A246-8555-91AD5625696E}" type="pres">
      <dgm:prSet presAssocID="{97FAEA82-0130-4A56-B926-F15BD13279A0}" presName="parentLin" presStyleCnt="0"/>
      <dgm:spPr/>
    </dgm:pt>
    <dgm:pt modelId="{61EDA9B9-FEE0-7745-A630-EB71FA1452E3}" type="pres">
      <dgm:prSet presAssocID="{97FAEA82-0130-4A56-B926-F15BD13279A0}" presName="parentLeftMargin" presStyleLbl="node1" presStyleIdx="0" presStyleCnt="2"/>
      <dgm:spPr/>
    </dgm:pt>
    <dgm:pt modelId="{FACD41D5-8B02-7E48-80D4-00157B7C2A09}" type="pres">
      <dgm:prSet presAssocID="{97FAEA82-0130-4A56-B926-F15BD13279A0}" presName="parentText" presStyleLbl="node1" presStyleIdx="1" presStyleCnt="2">
        <dgm:presLayoutVars>
          <dgm:chMax val="0"/>
          <dgm:bulletEnabled val="1"/>
        </dgm:presLayoutVars>
      </dgm:prSet>
      <dgm:spPr/>
    </dgm:pt>
    <dgm:pt modelId="{B1102CC6-99F5-4A4A-859C-D1D2280F9BD5}" type="pres">
      <dgm:prSet presAssocID="{97FAEA82-0130-4A56-B926-F15BD13279A0}" presName="negativeSpace" presStyleCnt="0"/>
      <dgm:spPr/>
    </dgm:pt>
    <dgm:pt modelId="{773E713E-BE04-4D4B-9432-D06F65D97511}" type="pres">
      <dgm:prSet presAssocID="{97FAEA82-0130-4A56-B926-F15BD13279A0}" presName="childText" presStyleLbl="conFgAcc1" presStyleIdx="1" presStyleCnt="2">
        <dgm:presLayoutVars>
          <dgm:bulletEnabled val="1"/>
        </dgm:presLayoutVars>
      </dgm:prSet>
      <dgm:spPr/>
    </dgm:pt>
  </dgm:ptLst>
  <dgm:cxnLst>
    <dgm:cxn modelId="{17848046-4602-6D4B-98FB-1781B34705D9}" type="presOf" srcId="{99327B6C-2DF8-4FCF-8080-FD0B8CAD889A}" destId="{9AEF45B7-1D05-B843-95C0-2E48D15C4856}" srcOrd="0" destOrd="0" presId="urn:microsoft.com/office/officeart/2005/8/layout/list1"/>
    <dgm:cxn modelId="{15ADA764-488C-4102-82AD-BF4E45DD90A0}" srcId="{99327B6C-2DF8-4FCF-8080-FD0B8CAD889A}" destId="{DE32F696-47D6-43BF-B064-FE199A6B6DFF}" srcOrd="0" destOrd="0" parTransId="{1264ABD0-99BB-446B-8E4D-CC06B466E953}" sibTransId="{F60EE35C-19EB-438B-A823-C98BA4E48206}"/>
    <dgm:cxn modelId="{3895366B-5B0A-BB43-903B-C80E8146B5EB}" type="presOf" srcId="{97FAEA82-0130-4A56-B926-F15BD13279A0}" destId="{FACD41D5-8B02-7E48-80D4-00157B7C2A09}" srcOrd="1" destOrd="0" presId="urn:microsoft.com/office/officeart/2005/8/layout/list1"/>
    <dgm:cxn modelId="{1EDC2976-9D90-6C42-A8DE-CDBCACBD0BEC}" type="presOf" srcId="{DE32F696-47D6-43BF-B064-FE199A6B6DFF}" destId="{428776DF-7C61-5B42-85F6-A71229B10ECB}" srcOrd="0" destOrd="0" presId="urn:microsoft.com/office/officeart/2005/8/layout/list1"/>
    <dgm:cxn modelId="{00C48C7E-41D0-4CA0-9700-560C1DC5B878}" srcId="{97FAEA82-0130-4A56-B926-F15BD13279A0}" destId="{1C41598C-C5A5-4E4D-B533-977192AD2061}" srcOrd="0" destOrd="0" parTransId="{8CC1C07B-8734-4B25-A142-4A4C99A0D94F}" sibTransId="{268FCAF0-BA3A-429B-A637-C3A8E6A04B36}"/>
    <dgm:cxn modelId="{81493990-D85A-4F35-A6A4-6F35CDE864F9}" srcId="{99327B6C-2DF8-4FCF-8080-FD0B8CAD889A}" destId="{97FAEA82-0130-4A56-B926-F15BD13279A0}" srcOrd="1" destOrd="0" parTransId="{960710EC-77F5-48E8-87E9-D1C329FCA49D}" sibTransId="{D58EBBCF-21D8-4D0C-A83E-CBF2DAC83EAA}"/>
    <dgm:cxn modelId="{64053294-BD3F-C944-BFA7-5328E9F4728D}" type="presOf" srcId="{BB7D9B60-D712-417A-918B-F6D3B042B000}" destId="{773E713E-BE04-4D4B-9432-D06F65D97511}" srcOrd="0" destOrd="1" presId="urn:microsoft.com/office/officeart/2005/8/layout/list1"/>
    <dgm:cxn modelId="{FFCF75AE-BB79-D84D-880C-3A729ED73CF4}" type="presOf" srcId="{97FAEA82-0130-4A56-B926-F15BD13279A0}" destId="{61EDA9B9-FEE0-7745-A630-EB71FA1452E3}" srcOrd="0" destOrd="0" presId="urn:microsoft.com/office/officeart/2005/8/layout/list1"/>
    <dgm:cxn modelId="{06295CAF-B3CE-465F-8B6D-30DA1FD1F7A3}" srcId="{97FAEA82-0130-4A56-B926-F15BD13279A0}" destId="{BB7D9B60-D712-417A-918B-F6D3B042B000}" srcOrd="1" destOrd="0" parTransId="{C070CD26-C8E2-4BB3-9931-07A77A9B894D}" sibTransId="{4723A0AA-48BD-42C6-87C5-5A9849AC7480}"/>
    <dgm:cxn modelId="{F5E6B5BA-D128-B742-B0B9-CFD59487C261}" type="presOf" srcId="{1C41598C-C5A5-4E4D-B533-977192AD2061}" destId="{773E713E-BE04-4D4B-9432-D06F65D97511}" srcOrd="0" destOrd="0" presId="urn:microsoft.com/office/officeart/2005/8/layout/list1"/>
    <dgm:cxn modelId="{C30D87F9-46CA-CC4C-B86C-B1896EF25041}" type="presOf" srcId="{DE32F696-47D6-43BF-B064-FE199A6B6DFF}" destId="{FFA54353-AEB8-8742-9FD2-0BF1D13A9CFB}" srcOrd="1" destOrd="0" presId="urn:microsoft.com/office/officeart/2005/8/layout/list1"/>
    <dgm:cxn modelId="{2F6E0671-0590-4A47-8D36-77DF3D373B9C}" type="presParOf" srcId="{9AEF45B7-1D05-B843-95C0-2E48D15C4856}" destId="{AC360863-1BED-6B41-8602-627C97E95503}" srcOrd="0" destOrd="0" presId="urn:microsoft.com/office/officeart/2005/8/layout/list1"/>
    <dgm:cxn modelId="{B2DF6624-2775-BB41-AAC9-D6805D69C748}" type="presParOf" srcId="{AC360863-1BED-6B41-8602-627C97E95503}" destId="{428776DF-7C61-5B42-85F6-A71229B10ECB}" srcOrd="0" destOrd="0" presId="urn:microsoft.com/office/officeart/2005/8/layout/list1"/>
    <dgm:cxn modelId="{7A509A62-0E76-2545-A6E5-509704665474}" type="presParOf" srcId="{AC360863-1BED-6B41-8602-627C97E95503}" destId="{FFA54353-AEB8-8742-9FD2-0BF1D13A9CFB}" srcOrd="1" destOrd="0" presId="urn:microsoft.com/office/officeart/2005/8/layout/list1"/>
    <dgm:cxn modelId="{699A63D2-AB87-3044-BB42-65A20A3B33F8}" type="presParOf" srcId="{9AEF45B7-1D05-B843-95C0-2E48D15C4856}" destId="{61CB1DBC-2129-624B-87A8-6703314D65A3}" srcOrd="1" destOrd="0" presId="urn:microsoft.com/office/officeart/2005/8/layout/list1"/>
    <dgm:cxn modelId="{F3568F9C-8BEC-0244-AC19-A4BDF104790F}" type="presParOf" srcId="{9AEF45B7-1D05-B843-95C0-2E48D15C4856}" destId="{C7E25028-E3FC-D04D-BB4A-DE72A50FF8BC}" srcOrd="2" destOrd="0" presId="urn:microsoft.com/office/officeart/2005/8/layout/list1"/>
    <dgm:cxn modelId="{27EACDED-0F6C-3F46-8E98-714BD0BB268B}" type="presParOf" srcId="{9AEF45B7-1D05-B843-95C0-2E48D15C4856}" destId="{002BD261-98A9-684E-A0F3-21D4E5020A91}" srcOrd="3" destOrd="0" presId="urn:microsoft.com/office/officeart/2005/8/layout/list1"/>
    <dgm:cxn modelId="{D8EB7A98-0766-424E-80B8-A3B3C2D54F34}" type="presParOf" srcId="{9AEF45B7-1D05-B843-95C0-2E48D15C4856}" destId="{60B01A9C-E846-A246-8555-91AD5625696E}" srcOrd="4" destOrd="0" presId="urn:microsoft.com/office/officeart/2005/8/layout/list1"/>
    <dgm:cxn modelId="{564E8DF0-3D3F-4446-B313-F63205957029}" type="presParOf" srcId="{60B01A9C-E846-A246-8555-91AD5625696E}" destId="{61EDA9B9-FEE0-7745-A630-EB71FA1452E3}" srcOrd="0" destOrd="0" presId="urn:microsoft.com/office/officeart/2005/8/layout/list1"/>
    <dgm:cxn modelId="{B48C1E5A-8A1F-7D46-9CCC-2549C7C84A0C}" type="presParOf" srcId="{60B01A9C-E846-A246-8555-91AD5625696E}" destId="{FACD41D5-8B02-7E48-80D4-00157B7C2A09}" srcOrd="1" destOrd="0" presId="urn:microsoft.com/office/officeart/2005/8/layout/list1"/>
    <dgm:cxn modelId="{AF0DD771-429B-0841-9255-15C4ABA132F7}" type="presParOf" srcId="{9AEF45B7-1D05-B843-95C0-2E48D15C4856}" destId="{B1102CC6-99F5-4A4A-859C-D1D2280F9BD5}" srcOrd="5" destOrd="0" presId="urn:microsoft.com/office/officeart/2005/8/layout/list1"/>
    <dgm:cxn modelId="{95BC7DFF-2B12-134A-919C-1A2C6A66267B}" type="presParOf" srcId="{9AEF45B7-1D05-B843-95C0-2E48D15C4856}" destId="{773E713E-BE04-4D4B-9432-D06F65D97511}"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9327B6C-2DF8-4FCF-8080-FD0B8CAD889A}" type="doc">
      <dgm:prSet loTypeId="urn:microsoft.com/office/officeart/2005/8/layout/list1" loCatId="list" qsTypeId="urn:microsoft.com/office/officeart/2005/8/quickstyle/simple4" qsCatId="simple" csTypeId="urn:microsoft.com/office/officeart/2005/8/colors/colorful5" csCatId="colorful" phldr="1"/>
      <dgm:spPr/>
      <dgm:t>
        <a:bodyPr/>
        <a:lstStyle/>
        <a:p>
          <a:endParaRPr lang="en-US"/>
        </a:p>
      </dgm:t>
    </dgm:pt>
    <dgm:pt modelId="{DE32F696-47D6-43BF-B064-FE199A6B6DFF}">
      <dgm:prSet/>
      <dgm:spPr/>
      <dgm:t>
        <a:bodyPr/>
        <a:lstStyle/>
        <a:p>
          <a:r>
            <a:rPr lang="en-US" dirty="0"/>
            <a:t>Data used : </a:t>
          </a:r>
          <a:r>
            <a:rPr lang="en-US" b="0" dirty="0"/>
            <a:t>admissions, </a:t>
          </a:r>
          <a:r>
            <a:rPr lang="en-US" b="0" dirty="0" err="1"/>
            <a:t>diagnoses_icd</a:t>
          </a:r>
          <a:r>
            <a:rPr lang="en-US" dirty="0"/>
            <a:t> </a:t>
          </a:r>
        </a:p>
      </dgm:t>
    </dgm:pt>
    <dgm:pt modelId="{1264ABD0-99BB-446B-8E4D-CC06B466E953}" type="parTrans" cxnId="{15ADA764-488C-4102-82AD-BF4E45DD90A0}">
      <dgm:prSet/>
      <dgm:spPr/>
      <dgm:t>
        <a:bodyPr/>
        <a:lstStyle/>
        <a:p>
          <a:endParaRPr lang="en-US"/>
        </a:p>
      </dgm:t>
    </dgm:pt>
    <dgm:pt modelId="{F60EE35C-19EB-438B-A823-C98BA4E48206}" type="sibTrans" cxnId="{15ADA764-488C-4102-82AD-BF4E45DD90A0}">
      <dgm:prSet/>
      <dgm:spPr/>
      <dgm:t>
        <a:bodyPr/>
        <a:lstStyle/>
        <a:p>
          <a:endParaRPr lang="en-US"/>
        </a:p>
      </dgm:t>
    </dgm:pt>
    <dgm:pt modelId="{97FAEA82-0130-4A56-B926-F15BD13279A0}">
      <dgm:prSet/>
      <dgm:spPr/>
      <dgm:t>
        <a:bodyPr/>
        <a:lstStyle/>
        <a:p>
          <a:r>
            <a:rPr lang="en-US" dirty="0"/>
            <a:t>Description and interpretation </a:t>
          </a:r>
        </a:p>
      </dgm:t>
    </dgm:pt>
    <dgm:pt modelId="{960710EC-77F5-48E8-87E9-D1C329FCA49D}" type="parTrans" cxnId="{81493990-D85A-4F35-A6A4-6F35CDE864F9}">
      <dgm:prSet/>
      <dgm:spPr/>
      <dgm:t>
        <a:bodyPr/>
        <a:lstStyle/>
        <a:p>
          <a:endParaRPr lang="en-US"/>
        </a:p>
      </dgm:t>
    </dgm:pt>
    <dgm:pt modelId="{D58EBBCF-21D8-4D0C-A83E-CBF2DAC83EAA}" type="sibTrans" cxnId="{81493990-D85A-4F35-A6A4-6F35CDE864F9}">
      <dgm:prSet/>
      <dgm:spPr/>
      <dgm:t>
        <a:bodyPr/>
        <a:lstStyle/>
        <a:p>
          <a:endParaRPr lang="en-US"/>
        </a:p>
      </dgm:t>
    </dgm:pt>
    <dgm:pt modelId="{1C41598C-C5A5-4E4D-B533-977192AD2061}">
      <dgm:prSet/>
      <dgm:spPr/>
      <dgm:t>
        <a:bodyPr/>
        <a:lstStyle/>
        <a:p>
          <a:r>
            <a:rPr lang="en-US" dirty="0"/>
            <a:t>This query analyzes readmissions among AMI patients within 30 days of their previous heart attack admission.</a:t>
          </a:r>
        </a:p>
      </dgm:t>
    </dgm:pt>
    <dgm:pt modelId="{8CC1C07B-8734-4B25-A142-4A4C99A0D94F}" type="parTrans" cxnId="{00C48C7E-41D0-4CA0-9700-560C1DC5B878}">
      <dgm:prSet/>
      <dgm:spPr/>
      <dgm:t>
        <a:bodyPr/>
        <a:lstStyle/>
        <a:p>
          <a:endParaRPr lang="en-US"/>
        </a:p>
      </dgm:t>
    </dgm:pt>
    <dgm:pt modelId="{268FCAF0-BA3A-429B-A637-C3A8E6A04B36}" type="sibTrans" cxnId="{00C48C7E-41D0-4CA0-9700-560C1DC5B878}">
      <dgm:prSet/>
      <dgm:spPr/>
      <dgm:t>
        <a:bodyPr/>
        <a:lstStyle/>
        <a:p>
          <a:endParaRPr lang="en-US"/>
        </a:p>
      </dgm:t>
    </dgm:pt>
    <dgm:pt modelId="{BB7D9B60-D712-417A-918B-F6D3B042B000}">
      <dgm:prSet/>
      <dgm:spPr/>
      <dgm:t>
        <a:bodyPr/>
        <a:lstStyle/>
        <a:p>
          <a:r>
            <a:rPr lang="en-US" dirty="0"/>
            <a:t>For that latest admission, the query calculates the number of days between the current admission and the previous one. If the interval is 30 days or less, the admission is flagged as a 30-day readmission ('Y'); otherwise, it is labeled 'N'.</a:t>
          </a:r>
        </a:p>
      </dgm:t>
    </dgm:pt>
    <dgm:pt modelId="{C070CD26-C8E2-4BB3-9931-07A77A9B894D}" type="parTrans" cxnId="{06295CAF-B3CE-465F-8B6D-30DA1FD1F7A3}">
      <dgm:prSet/>
      <dgm:spPr/>
      <dgm:t>
        <a:bodyPr/>
        <a:lstStyle/>
        <a:p>
          <a:endParaRPr lang="en-US"/>
        </a:p>
      </dgm:t>
    </dgm:pt>
    <dgm:pt modelId="{4723A0AA-48BD-42C6-87C5-5A9849AC7480}" type="sibTrans" cxnId="{06295CAF-B3CE-465F-8B6D-30DA1FD1F7A3}">
      <dgm:prSet/>
      <dgm:spPr/>
      <dgm:t>
        <a:bodyPr/>
        <a:lstStyle/>
        <a:p>
          <a:endParaRPr lang="en-US"/>
        </a:p>
      </dgm:t>
    </dgm:pt>
    <dgm:pt modelId="{588F2121-C5A1-334F-B1CC-A9E3570A97EE}">
      <dgm:prSet/>
      <dgm:spPr/>
      <dgm:t>
        <a:bodyPr/>
        <a:lstStyle/>
        <a:p>
          <a:r>
            <a:rPr lang="en-US" dirty="0"/>
            <a:t>It first orders all AMI admissions chronologically for each patient and uses the LAG() window function to retrieve the immediately preceding AMI admission date. Then, using ROW_NUMBER(), it isolates each patient’s most recent AMI admission.</a:t>
          </a:r>
        </a:p>
      </dgm:t>
    </dgm:pt>
    <dgm:pt modelId="{C9BF0196-EB74-834F-9AB3-5D5221940A34}" type="parTrans" cxnId="{A7AEFF5D-D59C-AE4E-9A1C-903335625228}">
      <dgm:prSet/>
      <dgm:spPr/>
      <dgm:t>
        <a:bodyPr/>
        <a:lstStyle/>
        <a:p>
          <a:endParaRPr lang="en-US"/>
        </a:p>
      </dgm:t>
    </dgm:pt>
    <dgm:pt modelId="{5CF334F6-C285-7A41-A079-5370906321A1}" type="sibTrans" cxnId="{A7AEFF5D-D59C-AE4E-9A1C-903335625228}">
      <dgm:prSet/>
      <dgm:spPr/>
      <dgm:t>
        <a:bodyPr/>
        <a:lstStyle/>
        <a:p>
          <a:endParaRPr lang="en-US"/>
        </a:p>
      </dgm:t>
    </dgm:pt>
    <dgm:pt modelId="{9AEF45B7-1D05-B843-95C0-2E48D15C4856}" type="pres">
      <dgm:prSet presAssocID="{99327B6C-2DF8-4FCF-8080-FD0B8CAD889A}" presName="linear" presStyleCnt="0">
        <dgm:presLayoutVars>
          <dgm:dir/>
          <dgm:animLvl val="lvl"/>
          <dgm:resizeHandles val="exact"/>
        </dgm:presLayoutVars>
      </dgm:prSet>
      <dgm:spPr/>
    </dgm:pt>
    <dgm:pt modelId="{AC360863-1BED-6B41-8602-627C97E95503}" type="pres">
      <dgm:prSet presAssocID="{DE32F696-47D6-43BF-B064-FE199A6B6DFF}" presName="parentLin" presStyleCnt="0"/>
      <dgm:spPr/>
    </dgm:pt>
    <dgm:pt modelId="{428776DF-7C61-5B42-85F6-A71229B10ECB}" type="pres">
      <dgm:prSet presAssocID="{DE32F696-47D6-43BF-B064-FE199A6B6DFF}" presName="parentLeftMargin" presStyleLbl="node1" presStyleIdx="0" presStyleCnt="2"/>
      <dgm:spPr/>
    </dgm:pt>
    <dgm:pt modelId="{FFA54353-AEB8-8742-9FD2-0BF1D13A9CFB}" type="pres">
      <dgm:prSet presAssocID="{DE32F696-47D6-43BF-B064-FE199A6B6DFF}" presName="parentText" presStyleLbl="node1" presStyleIdx="0" presStyleCnt="2">
        <dgm:presLayoutVars>
          <dgm:chMax val="0"/>
          <dgm:bulletEnabled val="1"/>
        </dgm:presLayoutVars>
      </dgm:prSet>
      <dgm:spPr/>
    </dgm:pt>
    <dgm:pt modelId="{61CB1DBC-2129-624B-87A8-6703314D65A3}" type="pres">
      <dgm:prSet presAssocID="{DE32F696-47D6-43BF-B064-FE199A6B6DFF}" presName="negativeSpace" presStyleCnt="0"/>
      <dgm:spPr/>
    </dgm:pt>
    <dgm:pt modelId="{C7E25028-E3FC-D04D-BB4A-DE72A50FF8BC}" type="pres">
      <dgm:prSet presAssocID="{DE32F696-47D6-43BF-B064-FE199A6B6DFF}" presName="childText" presStyleLbl="conFgAcc1" presStyleIdx="0" presStyleCnt="2">
        <dgm:presLayoutVars>
          <dgm:bulletEnabled val="1"/>
        </dgm:presLayoutVars>
      </dgm:prSet>
      <dgm:spPr/>
    </dgm:pt>
    <dgm:pt modelId="{002BD261-98A9-684E-A0F3-21D4E5020A91}" type="pres">
      <dgm:prSet presAssocID="{F60EE35C-19EB-438B-A823-C98BA4E48206}" presName="spaceBetweenRectangles" presStyleCnt="0"/>
      <dgm:spPr/>
    </dgm:pt>
    <dgm:pt modelId="{60B01A9C-E846-A246-8555-91AD5625696E}" type="pres">
      <dgm:prSet presAssocID="{97FAEA82-0130-4A56-B926-F15BD13279A0}" presName="parentLin" presStyleCnt="0"/>
      <dgm:spPr/>
    </dgm:pt>
    <dgm:pt modelId="{61EDA9B9-FEE0-7745-A630-EB71FA1452E3}" type="pres">
      <dgm:prSet presAssocID="{97FAEA82-0130-4A56-B926-F15BD13279A0}" presName="parentLeftMargin" presStyleLbl="node1" presStyleIdx="0" presStyleCnt="2"/>
      <dgm:spPr/>
    </dgm:pt>
    <dgm:pt modelId="{FACD41D5-8B02-7E48-80D4-00157B7C2A09}" type="pres">
      <dgm:prSet presAssocID="{97FAEA82-0130-4A56-B926-F15BD13279A0}" presName="parentText" presStyleLbl="node1" presStyleIdx="1" presStyleCnt="2">
        <dgm:presLayoutVars>
          <dgm:chMax val="0"/>
          <dgm:bulletEnabled val="1"/>
        </dgm:presLayoutVars>
      </dgm:prSet>
      <dgm:spPr/>
    </dgm:pt>
    <dgm:pt modelId="{B1102CC6-99F5-4A4A-859C-D1D2280F9BD5}" type="pres">
      <dgm:prSet presAssocID="{97FAEA82-0130-4A56-B926-F15BD13279A0}" presName="negativeSpace" presStyleCnt="0"/>
      <dgm:spPr/>
    </dgm:pt>
    <dgm:pt modelId="{773E713E-BE04-4D4B-9432-D06F65D97511}" type="pres">
      <dgm:prSet presAssocID="{97FAEA82-0130-4A56-B926-F15BD13279A0}" presName="childText" presStyleLbl="conFgAcc1" presStyleIdx="1" presStyleCnt="2">
        <dgm:presLayoutVars>
          <dgm:bulletEnabled val="1"/>
        </dgm:presLayoutVars>
      </dgm:prSet>
      <dgm:spPr/>
    </dgm:pt>
  </dgm:ptLst>
  <dgm:cxnLst>
    <dgm:cxn modelId="{17848046-4602-6D4B-98FB-1781B34705D9}" type="presOf" srcId="{99327B6C-2DF8-4FCF-8080-FD0B8CAD889A}" destId="{9AEF45B7-1D05-B843-95C0-2E48D15C4856}" srcOrd="0" destOrd="0" presId="urn:microsoft.com/office/officeart/2005/8/layout/list1"/>
    <dgm:cxn modelId="{E3351E52-3825-C54B-89B7-CA697FD03C8D}" type="presOf" srcId="{588F2121-C5A1-334F-B1CC-A9E3570A97EE}" destId="{773E713E-BE04-4D4B-9432-D06F65D97511}" srcOrd="0" destOrd="1" presId="urn:microsoft.com/office/officeart/2005/8/layout/list1"/>
    <dgm:cxn modelId="{A7AEFF5D-D59C-AE4E-9A1C-903335625228}" srcId="{97FAEA82-0130-4A56-B926-F15BD13279A0}" destId="{588F2121-C5A1-334F-B1CC-A9E3570A97EE}" srcOrd="1" destOrd="0" parTransId="{C9BF0196-EB74-834F-9AB3-5D5221940A34}" sibTransId="{5CF334F6-C285-7A41-A079-5370906321A1}"/>
    <dgm:cxn modelId="{15ADA764-488C-4102-82AD-BF4E45DD90A0}" srcId="{99327B6C-2DF8-4FCF-8080-FD0B8CAD889A}" destId="{DE32F696-47D6-43BF-B064-FE199A6B6DFF}" srcOrd="0" destOrd="0" parTransId="{1264ABD0-99BB-446B-8E4D-CC06B466E953}" sibTransId="{F60EE35C-19EB-438B-A823-C98BA4E48206}"/>
    <dgm:cxn modelId="{3895366B-5B0A-BB43-903B-C80E8146B5EB}" type="presOf" srcId="{97FAEA82-0130-4A56-B926-F15BD13279A0}" destId="{FACD41D5-8B02-7E48-80D4-00157B7C2A09}" srcOrd="1" destOrd="0" presId="urn:microsoft.com/office/officeart/2005/8/layout/list1"/>
    <dgm:cxn modelId="{1EDC2976-9D90-6C42-A8DE-CDBCACBD0BEC}" type="presOf" srcId="{DE32F696-47D6-43BF-B064-FE199A6B6DFF}" destId="{428776DF-7C61-5B42-85F6-A71229B10ECB}" srcOrd="0" destOrd="0" presId="urn:microsoft.com/office/officeart/2005/8/layout/list1"/>
    <dgm:cxn modelId="{00C48C7E-41D0-4CA0-9700-560C1DC5B878}" srcId="{97FAEA82-0130-4A56-B926-F15BD13279A0}" destId="{1C41598C-C5A5-4E4D-B533-977192AD2061}" srcOrd="0" destOrd="0" parTransId="{8CC1C07B-8734-4B25-A142-4A4C99A0D94F}" sibTransId="{268FCAF0-BA3A-429B-A637-C3A8E6A04B36}"/>
    <dgm:cxn modelId="{81493990-D85A-4F35-A6A4-6F35CDE864F9}" srcId="{99327B6C-2DF8-4FCF-8080-FD0B8CAD889A}" destId="{97FAEA82-0130-4A56-B926-F15BD13279A0}" srcOrd="1" destOrd="0" parTransId="{960710EC-77F5-48E8-87E9-D1C329FCA49D}" sibTransId="{D58EBBCF-21D8-4D0C-A83E-CBF2DAC83EAA}"/>
    <dgm:cxn modelId="{64053294-BD3F-C944-BFA7-5328E9F4728D}" type="presOf" srcId="{BB7D9B60-D712-417A-918B-F6D3B042B000}" destId="{773E713E-BE04-4D4B-9432-D06F65D97511}" srcOrd="0" destOrd="2" presId="urn:microsoft.com/office/officeart/2005/8/layout/list1"/>
    <dgm:cxn modelId="{FFCF75AE-BB79-D84D-880C-3A729ED73CF4}" type="presOf" srcId="{97FAEA82-0130-4A56-B926-F15BD13279A0}" destId="{61EDA9B9-FEE0-7745-A630-EB71FA1452E3}" srcOrd="0" destOrd="0" presId="urn:microsoft.com/office/officeart/2005/8/layout/list1"/>
    <dgm:cxn modelId="{06295CAF-B3CE-465F-8B6D-30DA1FD1F7A3}" srcId="{97FAEA82-0130-4A56-B926-F15BD13279A0}" destId="{BB7D9B60-D712-417A-918B-F6D3B042B000}" srcOrd="2" destOrd="0" parTransId="{C070CD26-C8E2-4BB3-9931-07A77A9B894D}" sibTransId="{4723A0AA-48BD-42C6-87C5-5A9849AC7480}"/>
    <dgm:cxn modelId="{F5E6B5BA-D128-B742-B0B9-CFD59487C261}" type="presOf" srcId="{1C41598C-C5A5-4E4D-B533-977192AD2061}" destId="{773E713E-BE04-4D4B-9432-D06F65D97511}" srcOrd="0" destOrd="0" presId="urn:microsoft.com/office/officeart/2005/8/layout/list1"/>
    <dgm:cxn modelId="{C30D87F9-46CA-CC4C-B86C-B1896EF25041}" type="presOf" srcId="{DE32F696-47D6-43BF-B064-FE199A6B6DFF}" destId="{FFA54353-AEB8-8742-9FD2-0BF1D13A9CFB}" srcOrd="1" destOrd="0" presId="urn:microsoft.com/office/officeart/2005/8/layout/list1"/>
    <dgm:cxn modelId="{2F6E0671-0590-4A47-8D36-77DF3D373B9C}" type="presParOf" srcId="{9AEF45B7-1D05-B843-95C0-2E48D15C4856}" destId="{AC360863-1BED-6B41-8602-627C97E95503}" srcOrd="0" destOrd="0" presId="urn:microsoft.com/office/officeart/2005/8/layout/list1"/>
    <dgm:cxn modelId="{B2DF6624-2775-BB41-AAC9-D6805D69C748}" type="presParOf" srcId="{AC360863-1BED-6B41-8602-627C97E95503}" destId="{428776DF-7C61-5B42-85F6-A71229B10ECB}" srcOrd="0" destOrd="0" presId="urn:microsoft.com/office/officeart/2005/8/layout/list1"/>
    <dgm:cxn modelId="{7A509A62-0E76-2545-A6E5-509704665474}" type="presParOf" srcId="{AC360863-1BED-6B41-8602-627C97E95503}" destId="{FFA54353-AEB8-8742-9FD2-0BF1D13A9CFB}" srcOrd="1" destOrd="0" presId="urn:microsoft.com/office/officeart/2005/8/layout/list1"/>
    <dgm:cxn modelId="{699A63D2-AB87-3044-BB42-65A20A3B33F8}" type="presParOf" srcId="{9AEF45B7-1D05-B843-95C0-2E48D15C4856}" destId="{61CB1DBC-2129-624B-87A8-6703314D65A3}" srcOrd="1" destOrd="0" presId="urn:microsoft.com/office/officeart/2005/8/layout/list1"/>
    <dgm:cxn modelId="{F3568F9C-8BEC-0244-AC19-A4BDF104790F}" type="presParOf" srcId="{9AEF45B7-1D05-B843-95C0-2E48D15C4856}" destId="{C7E25028-E3FC-D04D-BB4A-DE72A50FF8BC}" srcOrd="2" destOrd="0" presId="urn:microsoft.com/office/officeart/2005/8/layout/list1"/>
    <dgm:cxn modelId="{27EACDED-0F6C-3F46-8E98-714BD0BB268B}" type="presParOf" srcId="{9AEF45B7-1D05-B843-95C0-2E48D15C4856}" destId="{002BD261-98A9-684E-A0F3-21D4E5020A91}" srcOrd="3" destOrd="0" presId="urn:microsoft.com/office/officeart/2005/8/layout/list1"/>
    <dgm:cxn modelId="{D8EB7A98-0766-424E-80B8-A3B3C2D54F34}" type="presParOf" srcId="{9AEF45B7-1D05-B843-95C0-2E48D15C4856}" destId="{60B01A9C-E846-A246-8555-91AD5625696E}" srcOrd="4" destOrd="0" presId="urn:microsoft.com/office/officeart/2005/8/layout/list1"/>
    <dgm:cxn modelId="{564E8DF0-3D3F-4446-B313-F63205957029}" type="presParOf" srcId="{60B01A9C-E846-A246-8555-91AD5625696E}" destId="{61EDA9B9-FEE0-7745-A630-EB71FA1452E3}" srcOrd="0" destOrd="0" presId="urn:microsoft.com/office/officeart/2005/8/layout/list1"/>
    <dgm:cxn modelId="{B48C1E5A-8A1F-7D46-9CCC-2549C7C84A0C}" type="presParOf" srcId="{60B01A9C-E846-A246-8555-91AD5625696E}" destId="{FACD41D5-8B02-7E48-80D4-00157B7C2A09}" srcOrd="1" destOrd="0" presId="urn:microsoft.com/office/officeart/2005/8/layout/list1"/>
    <dgm:cxn modelId="{AF0DD771-429B-0841-9255-15C4ABA132F7}" type="presParOf" srcId="{9AEF45B7-1D05-B843-95C0-2E48D15C4856}" destId="{B1102CC6-99F5-4A4A-859C-D1D2280F9BD5}" srcOrd="5" destOrd="0" presId="urn:microsoft.com/office/officeart/2005/8/layout/list1"/>
    <dgm:cxn modelId="{95BC7DFF-2B12-134A-919C-1A2C6A66267B}" type="presParOf" srcId="{9AEF45B7-1D05-B843-95C0-2E48D15C4856}" destId="{773E713E-BE04-4D4B-9432-D06F65D97511}"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9327B6C-2DF8-4FCF-8080-FD0B8CAD889A}" type="doc">
      <dgm:prSet loTypeId="urn:microsoft.com/office/officeart/2005/8/layout/list1" loCatId="list" qsTypeId="urn:microsoft.com/office/officeart/2005/8/quickstyle/simple4" qsCatId="simple" csTypeId="urn:microsoft.com/office/officeart/2005/8/colors/colorful5" csCatId="colorful" phldr="1"/>
      <dgm:spPr/>
      <dgm:t>
        <a:bodyPr/>
        <a:lstStyle/>
        <a:p>
          <a:endParaRPr lang="en-US"/>
        </a:p>
      </dgm:t>
    </dgm:pt>
    <dgm:pt modelId="{DE32F696-47D6-43BF-B064-FE199A6B6DFF}">
      <dgm:prSet/>
      <dgm:spPr/>
      <dgm:t>
        <a:bodyPr/>
        <a:lstStyle/>
        <a:p>
          <a:r>
            <a:rPr lang="en-US" dirty="0"/>
            <a:t>Data used : </a:t>
          </a:r>
          <a:r>
            <a:rPr lang="en-US" b="0" dirty="0"/>
            <a:t>admissions, </a:t>
          </a:r>
          <a:r>
            <a:rPr lang="en-US" b="0" dirty="0" err="1"/>
            <a:t>diagnoses_icd</a:t>
          </a:r>
          <a:r>
            <a:rPr lang="en-US" dirty="0"/>
            <a:t> </a:t>
          </a:r>
        </a:p>
      </dgm:t>
    </dgm:pt>
    <dgm:pt modelId="{1264ABD0-99BB-446B-8E4D-CC06B466E953}" type="parTrans" cxnId="{15ADA764-488C-4102-82AD-BF4E45DD90A0}">
      <dgm:prSet/>
      <dgm:spPr/>
      <dgm:t>
        <a:bodyPr/>
        <a:lstStyle/>
        <a:p>
          <a:endParaRPr lang="en-US"/>
        </a:p>
      </dgm:t>
    </dgm:pt>
    <dgm:pt modelId="{F60EE35C-19EB-438B-A823-C98BA4E48206}" type="sibTrans" cxnId="{15ADA764-488C-4102-82AD-BF4E45DD90A0}">
      <dgm:prSet/>
      <dgm:spPr/>
      <dgm:t>
        <a:bodyPr/>
        <a:lstStyle/>
        <a:p>
          <a:endParaRPr lang="en-US"/>
        </a:p>
      </dgm:t>
    </dgm:pt>
    <dgm:pt modelId="{97FAEA82-0130-4A56-B926-F15BD13279A0}">
      <dgm:prSet/>
      <dgm:spPr/>
      <dgm:t>
        <a:bodyPr/>
        <a:lstStyle/>
        <a:p>
          <a:r>
            <a:rPr lang="en-US" dirty="0"/>
            <a:t>Description and interpretation </a:t>
          </a:r>
        </a:p>
      </dgm:t>
    </dgm:pt>
    <dgm:pt modelId="{960710EC-77F5-48E8-87E9-D1C329FCA49D}" type="parTrans" cxnId="{81493990-D85A-4F35-A6A4-6F35CDE864F9}">
      <dgm:prSet/>
      <dgm:spPr/>
      <dgm:t>
        <a:bodyPr/>
        <a:lstStyle/>
        <a:p>
          <a:endParaRPr lang="en-US"/>
        </a:p>
      </dgm:t>
    </dgm:pt>
    <dgm:pt modelId="{D58EBBCF-21D8-4D0C-A83E-CBF2DAC83EAA}" type="sibTrans" cxnId="{81493990-D85A-4F35-A6A4-6F35CDE864F9}">
      <dgm:prSet/>
      <dgm:spPr/>
      <dgm:t>
        <a:bodyPr/>
        <a:lstStyle/>
        <a:p>
          <a:endParaRPr lang="en-US"/>
        </a:p>
      </dgm:t>
    </dgm:pt>
    <dgm:pt modelId="{1C41598C-C5A5-4E4D-B533-977192AD2061}">
      <dgm:prSet/>
      <dgm:spPr/>
      <dgm:t>
        <a:bodyPr/>
        <a:lstStyle/>
        <a:p>
          <a:r>
            <a:rPr lang="en-US" dirty="0"/>
            <a:t>This query calculates the overall 30-day readmission rate among hospitalized AMI patients.</a:t>
          </a:r>
        </a:p>
      </dgm:t>
    </dgm:pt>
    <dgm:pt modelId="{8CC1C07B-8734-4B25-A142-4A4C99A0D94F}" type="parTrans" cxnId="{00C48C7E-41D0-4CA0-9700-560C1DC5B878}">
      <dgm:prSet/>
      <dgm:spPr/>
      <dgm:t>
        <a:bodyPr/>
        <a:lstStyle/>
        <a:p>
          <a:endParaRPr lang="en-US"/>
        </a:p>
      </dgm:t>
    </dgm:pt>
    <dgm:pt modelId="{268FCAF0-BA3A-429B-A637-C3A8E6A04B36}" type="sibTrans" cxnId="{00C48C7E-41D0-4CA0-9700-560C1DC5B878}">
      <dgm:prSet/>
      <dgm:spPr/>
      <dgm:t>
        <a:bodyPr/>
        <a:lstStyle/>
        <a:p>
          <a:endParaRPr lang="en-US"/>
        </a:p>
      </dgm:t>
    </dgm:pt>
    <dgm:pt modelId="{8ACE3F83-B52D-9749-8F6B-389F2A128C64}">
      <dgm:prSet/>
      <dgm:spPr/>
      <dgm:t>
        <a:bodyPr/>
        <a:lstStyle/>
        <a:p>
          <a:r>
            <a:rPr lang="en-US" dirty="0"/>
            <a:t>First, it orders all AMI admissions chronologically for each patient and uses the LAG() window function to identify the immediately preceding admission date. </a:t>
          </a:r>
        </a:p>
      </dgm:t>
    </dgm:pt>
    <dgm:pt modelId="{5BA2B383-1FF9-DC48-9409-71AC7D2837F9}" type="parTrans" cxnId="{19A10493-AFFD-B446-849A-40A61091BBB2}">
      <dgm:prSet/>
      <dgm:spPr/>
      <dgm:t>
        <a:bodyPr/>
        <a:lstStyle/>
        <a:p>
          <a:endParaRPr lang="en-US"/>
        </a:p>
      </dgm:t>
    </dgm:pt>
    <dgm:pt modelId="{112888D1-5A9A-A841-9A6D-1FBD13E40DBC}" type="sibTrans" cxnId="{19A10493-AFFD-B446-849A-40A61091BBB2}">
      <dgm:prSet/>
      <dgm:spPr/>
      <dgm:t>
        <a:bodyPr/>
        <a:lstStyle/>
        <a:p>
          <a:endParaRPr lang="en-US"/>
        </a:p>
      </dgm:t>
    </dgm:pt>
    <dgm:pt modelId="{ED040CF3-C10F-6F4A-A320-F8E5CA69CCF7}">
      <dgm:prSet/>
      <dgm:spPr/>
      <dgm:t>
        <a:bodyPr/>
        <a:lstStyle/>
        <a:p>
          <a:r>
            <a:rPr lang="en-US" dirty="0"/>
            <a:t>For every admission that has a prior hospitalization, it computes the number of days between the two admissions.</a:t>
          </a:r>
        </a:p>
      </dgm:t>
    </dgm:pt>
    <dgm:pt modelId="{2CE2A08B-FA4D-A141-A36D-E9EB4BE0C1D2}" type="parTrans" cxnId="{0D249D62-DB60-3145-B237-CAF157C8430B}">
      <dgm:prSet/>
      <dgm:spPr/>
      <dgm:t>
        <a:bodyPr/>
        <a:lstStyle/>
        <a:p>
          <a:endParaRPr lang="en-US"/>
        </a:p>
      </dgm:t>
    </dgm:pt>
    <dgm:pt modelId="{DDDC2282-1B32-F049-B714-3233D5CB29AF}" type="sibTrans" cxnId="{0D249D62-DB60-3145-B237-CAF157C8430B}">
      <dgm:prSet/>
      <dgm:spPr/>
      <dgm:t>
        <a:bodyPr/>
        <a:lstStyle/>
        <a:p>
          <a:endParaRPr lang="en-US"/>
        </a:p>
      </dgm:t>
    </dgm:pt>
    <dgm:pt modelId="{73B80D11-A1E2-CE40-ADA6-F0F78AB83694}">
      <dgm:prSet/>
      <dgm:spPr/>
      <dgm:t>
        <a:bodyPr/>
        <a:lstStyle/>
        <a:p>
          <a:r>
            <a:rPr lang="en-US" dirty="0"/>
            <a:t>Then it determines whether the interval between admissions is 30 days or fewer.</a:t>
          </a:r>
        </a:p>
      </dgm:t>
    </dgm:pt>
    <dgm:pt modelId="{8FC3E9CA-F84B-2F45-B641-863A105C352D}" type="parTrans" cxnId="{C5D6CA2D-566D-DB42-B9D4-4B752278D92E}">
      <dgm:prSet/>
      <dgm:spPr/>
    </dgm:pt>
    <dgm:pt modelId="{C81716D8-6EF8-D14E-9EBB-FEB7E11D52B9}" type="sibTrans" cxnId="{C5D6CA2D-566D-DB42-B9D4-4B752278D92E}">
      <dgm:prSet/>
      <dgm:spPr/>
    </dgm:pt>
    <dgm:pt modelId="{24265E9B-C886-A645-8881-C6A041EC9BB6}">
      <dgm:prSet/>
      <dgm:spPr/>
      <dgm:t>
        <a:bodyPr/>
        <a:lstStyle/>
        <a:p>
          <a:r>
            <a:rPr lang="en-US" dirty="0"/>
            <a:t>The query then calculates the overall readmission rate as a percentage.</a:t>
          </a:r>
        </a:p>
      </dgm:t>
    </dgm:pt>
    <dgm:pt modelId="{3F576847-8169-3F4F-B575-8D7B422317EA}" type="parTrans" cxnId="{C7680206-15E7-544B-B064-2CA74040BD66}">
      <dgm:prSet/>
      <dgm:spPr/>
    </dgm:pt>
    <dgm:pt modelId="{EC018A37-F600-3C47-BFA8-6B404AD48EC7}" type="sibTrans" cxnId="{C7680206-15E7-544B-B064-2CA74040BD66}">
      <dgm:prSet/>
      <dgm:spPr/>
    </dgm:pt>
    <dgm:pt modelId="{9AEF45B7-1D05-B843-95C0-2E48D15C4856}" type="pres">
      <dgm:prSet presAssocID="{99327B6C-2DF8-4FCF-8080-FD0B8CAD889A}" presName="linear" presStyleCnt="0">
        <dgm:presLayoutVars>
          <dgm:dir/>
          <dgm:animLvl val="lvl"/>
          <dgm:resizeHandles val="exact"/>
        </dgm:presLayoutVars>
      </dgm:prSet>
      <dgm:spPr/>
    </dgm:pt>
    <dgm:pt modelId="{AC360863-1BED-6B41-8602-627C97E95503}" type="pres">
      <dgm:prSet presAssocID="{DE32F696-47D6-43BF-B064-FE199A6B6DFF}" presName="parentLin" presStyleCnt="0"/>
      <dgm:spPr/>
    </dgm:pt>
    <dgm:pt modelId="{428776DF-7C61-5B42-85F6-A71229B10ECB}" type="pres">
      <dgm:prSet presAssocID="{DE32F696-47D6-43BF-B064-FE199A6B6DFF}" presName="parentLeftMargin" presStyleLbl="node1" presStyleIdx="0" presStyleCnt="2"/>
      <dgm:spPr/>
    </dgm:pt>
    <dgm:pt modelId="{FFA54353-AEB8-8742-9FD2-0BF1D13A9CFB}" type="pres">
      <dgm:prSet presAssocID="{DE32F696-47D6-43BF-B064-FE199A6B6DFF}" presName="parentText" presStyleLbl="node1" presStyleIdx="0" presStyleCnt="2">
        <dgm:presLayoutVars>
          <dgm:chMax val="0"/>
          <dgm:bulletEnabled val="1"/>
        </dgm:presLayoutVars>
      </dgm:prSet>
      <dgm:spPr/>
    </dgm:pt>
    <dgm:pt modelId="{61CB1DBC-2129-624B-87A8-6703314D65A3}" type="pres">
      <dgm:prSet presAssocID="{DE32F696-47D6-43BF-B064-FE199A6B6DFF}" presName="negativeSpace" presStyleCnt="0"/>
      <dgm:spPr/>
    </dgm:pt>
    <dgm:pt modelId="{C7E25028-E3FC-D04D-BB4A-DE72A50FF8BC}" type="pres">
      <dgm:prSet presAssocID="{DE32F696-47D6-43BF-B064-FE199A6B6DFF}" presName="childText" presStyleLbl="conFgAcc1" presStyleIdx="0" presStyleCnt="2">
        <dgm:presLayoutVars>
          <dgm:bulletEnabled val="1"/>
        </dgm:presLayoutVars>
      </dgm:prSet>
      <dgm:spPr/>
    </dgm:pt>
    <dgm:pt modelId="{002BD261-98A9-684E-A0F3-21D4E5020A91}" type="pres">
      <dgm:prSet presAssocID="{F60EE35C-19EB-438B-A823-C98BA4E48206}" presName="spaceBetweenRectangles" presStyleCnt="0"/>
      <dgm:spPr/>
    </dgm:pt>
    <dgm:pt modelId="{60B01A9C-E846-A246-8555-91AD5625696E}" type="pres">
      <dgm:prSet presAssocID="{97FAEA82-0130-4A56-B926-F15BD13279A0}" presName="parentLin" presStyleCnt="0"/>
      <dgm:spPr/>
    </dgm:pt>
    <dgm:pt modelId="{61EDA9B9-FEE0-7745-A630-EB71FA1452E3}" type="pres">
      <dgm:prSet presAssocID="{97FAEA82-0130-4A56-B926-F15BD13279A0}" presName="parentLeftMargin" presStyleLbl="node1" presStyleIdx="0" presStyleCnt="2"/>
      <dgm:spPr/>
    </dgm:pt>
    <dgm:pt modelId="{FACD41D5-8B02-7E48-80D4-00157B7C2A09}" type="pres">
      <dgm:prSet presAssocID="{97FAEA82-0130-4A56-B926-F15BD13279A0}" presName="parentText" presStyleLbl="node1" presStyleIdx="1" presStyleCnt="2">
        <dgm:presLayoutVars>
          <dgm:chMax val="0"/>
          <dgm:bulletEnabled val="1"/>
        </dgm:presLayoutVars>
      </dgm:prSet>
      <dgm:spPr/>
    </dgm:pt>
    <dgm:pt modelId="{B1102CC6-99F5-4A4A-859C-D1D2280F9BD5}" type="pres">
      <dgm:prSet presAssocID="{97FAEA82-0130-4A56-B926-F15BD13279A0}" presName="negativeSpace" presStyleCnt="0"/>
      <dgm:spPr/>
    </dgm:pt>
    <dgm:pt modelId="{773E713E-BE04-4D4B-9432-D06F65D97511}" type="pres">
      <dgm:prSet presAssocID="{97FAEA82-0130-4A56-B926-F15BD13279A0}" presName="childText" presStyleLbl="conFgAcc1" presStyleIdx="1" presStyleCnt="2">
        <dgm:presLayoutVars>
          <dgm:bulletEnabled val="1"/>
        </dgm:presLayoutVars>
      </dgm:prSet>
      <dgm:spPr/>
    </dgm:pt>
  </dgm:ptLst>
  <dgm:cxnLst>
    <dgm:cxn modelId="{C7680206-15E7-544B-B064-2CA74040BD66}" srcId="{97FAEA82-0130-4A56-B926-F15BD13279A0}" destId="{24265E9B-C886-A645-8881-C6A041EC9BB6}" srcOrd="4" destOrd="0" parTransId="{3F576847-8169-3F4F-B575-8D7B422317EA}" sibTransId="{EC018A37-F600-3C47-BFA8-6B404AD48EC7}"/>
    <dgm:cxn modelId="{A10D4D09-5912-E942-AA9A-1713383EA834}" type="presOf" srcId="{ED040CF3-C10F-6F4A-A320-F8E5CA69CCF7}" destId="{773E713E-BE04-4D4B-9432-D06F65D97511}" srcOrd="0" destOrd="2" presId="urn:microsoft.com/office/officeart/2005/8/layout/list1"/>
    <dgm:cxn modelId="{C5D6CA2D-566D-DB42-B9D4-4B752278D92E}" srcId="{97FAEA82-0130-4A56-B926-F15BD13279A0}" destId="{73B80D11-A1E2-CE40-ADA6-F0F78AB83694}" srcOrd="3" destOrd="0" parTransId="{8FC3E9CA-F84B-2F45-B641-863A105C352D}" sibTransId="{C81716D8-6EF8-D14E-9EBB-FEB7E11D52B9}"/>
    <dgm:cxn modelId="{17848046-4602-6D4B-98FB-1781B34705D9}" type="presOf" srcId="{99327B6C-2DF8-4FCF-8080-FD0B8CAD889A}" destId="{9AEF45B7-1D05-B843-95C0-2E48D15C4856}" srcOrd="0" destOrd="0" presId="urn:microsoft.com/office/officeart/2005/8/layout/list1"/>
    <dgm:cxn modelId="{0C7A445B-88E3-5648-8C97-205173462860}" type="presOf" srcId="{24265E9B-C886-A645-8881-C6A041EC9BB6}" destId="{773E713E-BE04-4D4B-9432-D06F65D97511}" srcOrd="0" destOrd="4" presId="urn:microsoft.com/office/officeart/2005/8/layout/list1"/>
    <dgm:cxn modelId="{0D249D62-DB60-3145-B237-CAF157C8430B}" srcId="{97FAEA82-0130-4A56-B926-F15BD13279A0}" destId="{ED040CF3-C10F-6F4A-A320-F8E5CA69CCF7}" srcOrd="2" destOrd="0" parTransId="{2CE2A08B-FA4D-A141-A36D-E9EB4BE0C1D2}" sibTransId="{DDDC2282-1B32-F049-B714-3233D5CB29AF}"/>
    <dgm:cxn modelId="{15ADA764-488C-4102-82AD-BF4E45DD90A0}" srcId="{99327B6C-2DF8-4FCF-8080-FD0B8CAD889A}" destId="{DE32F696-47D6-43BF-B064-FE199A6B6DFF}" srcOrd="0" destOrd="0" parTransId="{1264ABD0-99BB-446B-8E4D-CC06B466E953}" sibTransId="{F60EE35C-19EB-438B-A823-C98BA4E48206}"/>
    <dgm:cxn modelId="{3895366B-5B0A-BB43-903B-C80E8146B5EB}" type="presOf" srcId="{97FAEA82-0130-4A56-B926-F15BD13279A0}" destId="{FACD41D5-8B02-7E48-80D4-00157B7C2A09}" srcOrd="1" destOrd="0" presId="urn:microsoft.com/office/officeart/2005/8/layout/list1"/>
    <dgm:cxn modelId="{ED107C6E-5AA7-554A-957F-A3E6020325A8}" type="presOf" srcId="{8ACE3F83-B52D-9749-8F6B-389F2A128C64}" destId="{773E713E-BE04-4D4B-9432-D06F65D97511}" srcOrd="0" destOrd="1" presId="urn:microsoft.com/office/officeart/2005/8/layout/list1"/>
    <dgm:cxn modelId="{1EDC2976-9D90-6C42-A8DE-CDBCACBD0BEC}" type="presOf" srcId="{DE32F696-47D6-43BF-B064-FE199A6B6DFF}" destId="{428776DF-7C61-5B42-85F6-A71229B10ECB}" srcOrd="0" destOrd="0" presId="urn:microsoft.com/office/officeart/2005/8/layout/list1"/>
    <dgm:cxn modelId="{00C48C7E-41D0-4CA0-9700-560C1DC5B878}" srcId="{97FAEA82-0130-4A56-B926-F15BD13279A0}" destId="{1C41598C-C5A5-4E4D-B533-977192AD2061}" srcOrd="0" destOrd="0" parTransId="{8CC1C07B-8734-4B25-A142-4A4C99A0D94F}" sibTransId="{268FCAF0-BA3A-429B-A637-C3A8E6A04B36}"/>
    <dgm:cxn modelId="{81493990-D85A-4F35-A6A4-6F35CDE864F9}" srcId="{99327B6C-2DF8-4FCF-8080-FD0B8CAD889A}" destId="{97FAEA82-0130-4A56-B926-F15BD13279A0}" srcOrd="1" destOrd="0" parTransId="{960710EC-77F5-48E8-87E9-D1C329FCA49D}" sibTransId="{D58EBBCF-21D8-4D0C-A83E-CBF2DAC83EAA}"/>
    <dgm:cxn modelId="{19A10493-AFFD-B446-849A-40A61091BBB2}" srcId="{97FAEA82-0130-4A56-B926-F15BD13279A0}" destId="{8ACE3F83-B52D-9749-8F6B-389F2A128C64}" srcOrd="1" destOrd="0" parTransId="{5BA2B383-1FF9-DC48-9409-71AC7D2837F9}" sibTransId="{112888D1-5A9A-A841-9A6D-1FBD13E40DBC}"/>
    <dgm:cxn modelId="{FFCF75AE-BB79-D84D-880C-3A729ED73CF4}" type="presOf" srcId="{97FAEA82-0130-4A56-B926-F15BD13279A0}" destId="{61EDA9B9-FEE0-7745-A630-EB71FA1452E3}" srcOrd="0" destOrd="0" presId="urn:microsoft.com/office/officeart/2005/8/layout/list1"/>
    <dgm:cxn modelId="{F5E6B5BA-D128-B742-B0B9-CFD59487C261}" type="presOf" srcId="{1C41598C-C5A5-4E4D-B533-977192AD2061}" destId="{773E713E-BE04-4D4B-9432-D06F65D97511}" srcOrd="0" destOrd="0" presId="urn:microsoft.com/office/officeart/2005/8/layout/list1"/>
    <dgm:cxn modelId="{DF02ECC8-43A3-4C40-887E-081F70214DDB}" type="presOf" srcId="{73B80D11-A1E2-CE40-ADA6-F0F78AB83694}" destId="{773E713E-BE04-4D4B-9432-D06F65D97511}" srcOrd="0" destOrd="3" presId="urn:microsoft.com/office/officeart/2005/8/layout/list1"/>
    <dgm:cxn modelId="{C30D87F9-46CA-CC4C-B86C-B1896EF25041}" type="presOf" srcId="{DE32F696-47D6-43BF-B064-FE199A6B6DFF}" destId="{FFA54353-AEB8-8742-9FD2-0BF1D13A9CFB}" srcOrd="1" destOrd="0" presId="urn:microsoft.com/office/officeart/2005/8/layout/list1"/>
    <dgm:cxn modelId="{2F6E0671-0590-4A47-8D36-77DF3D373B9C}" type="presParOf" srcId="{9AEF45B7-1D05-B843-95C0-2E48D15C4856}" destId="{AC360863-1BED-6B41-8602-627C97E95503}" srcOrd="0" destOrd="0" presId="urn:microsoft.com/office/officeart/2005/8/layout/list1"/>
    <dgm:cxn modelId="{B2DF6624-2775-BB41-AAC9-D6805D69C748}" type="presParOf" srcId="{AC360863-1BED-6B41-8602-627C97E95503}" destId="{428776DF-7C61-5B42-85F6-A71229B10ECB}" srcOrd="0" destOrd="0" presId="urn:microsoft.com/office/officeart/2005/8/layout/list1"/>
    <dgm:cxn modelId="{7A509A62-0E76-2545-A6E5-509704665474}" type="presParOf" srcId="{AC360863-1BED-6B41-8602-627C97E95503}" destId="{FFA54353-AEB8-8742-9FD2-0BF1D13A9CFB}" srcOrd="1" destOrd="0" presId="urn:microsoft.com/office/officeart/2005/8/layout/list1"/>
    <dgm:cxn modelId="{699A63D2-AB87-3044-BB42-65A20A3B33F8}" type="presParOf" srcId="{9AEF45B7-1D05-B843-95C0-2E48D15C4856}" destId="{61CB1DBC-2129-624B-87A8-6703314D65A3}" srcOrd="1" destOrd="0" presId="urn:microsoft.com/office/officeart/2005/8/layout/list1"/>
    <dgm:cxn modelId="{F3568F9C-8BEC-0244-AC19-A4BDF104790F}" type="presParOf" srcId="{9AEF45B7-1D05-B843-95C0-2E48D15C4856}" destId="{C7E25028-E3FC-D04D-BB4A-DE72A50FF8BC}" srcOrd="2" destOrd="0" presId="urn:microsoft.com/office/officeart/2005/8/layout/list1"/>
    <dgm:cxn modelId="{27EACDED-0F6C-3F46-8E98-714BD0BB268B}" type="presParOf" srcId="{9AEF45B7-1D05-B843-95C0-2E48D15C4856}" destId="{002BD261-98A9-684E-A0F3-21D4E5020A91}" srcOrd="3" destOrd="0" presId="urn:microsoft.com/office/officeart/2005/8/layout/list1"/>
    <dgm:cxn modelId="{D8EB7A98-0766-424E-80B8-A3B3C2D54F34}" type="presParOf" srcId="{9AEF45B7-1D05-B843-95C0-2E48D15C4856}" destId="{60B01A9C-E846-A246-8555-91AD5625696E}" srcOrd="4" destOrd="0" presId="urn:microsoft.com/office/officeart/2005/8/layout/list1"/>
    <dgm:cxn modelId="{564E8DF0-3D3F-4446-B313-F63205957029}" type="presParOf" srcId="{60B01A9C-E846-A246-8555-91AD5625696E}" destId="{61EDA9B9-FEE0-7745-A630-EB71FA1452E3}" srcOrd="0" destOrd="0" presId="urn:microsoft.com/office/officeart/2005/8/layout/list1"/>
    <dgm:cxn modelId="{B48C1E5A-8A1F-7D46-9CCC-2549C7C84A0C}" type="presParOf" srcId="{60B01A9C-E846-A246-8555-91AD5625696E}" destId="{FACD41D5-8B02-7E48-80D4-00157B7C2A09}" srcOrd="1" destOrd="0" presId="urn:microsoft.com/office/officeart/2005/8/layout/list1"/>
    <dgm:cxn modelId="{AF0DD771-429B-0841-9255-15C4ABA132F7}" type="presParOf" srcId="{9AEF45B7-1D05-B843-95C0-2E48D15C4856}" destId="{B1102CC6-99F5-4A4A-859C-D1D2280F9BD5}" srcOrd="5" destOrd="0" presId="urn:microsoft.com/office/officeart/2005/8/layout/list1"/>
    <dgm:cxn modelId="{95BC7DFF-2B12-134A-919C-1A2C6A66267B}" type="presParOf" srcId="{9AEF45B7-1D05-B843-95C0-2E48D15C4856}" destId="{773E713E-BE04-4D4B-9432-D06F65D97511}"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E25028-E3FC-D04D-BB4A-DE72A50FF8BC}">
      <dsp:nvSpPr>
        <dsp:cNvPr id="0" name=""/>
        <dsp:cNvSpPr/>
      </dsp:nvSpPr>
      <dsp:spPr>
        <a:xfrm>
          <a:off x="0" y="1183480"/>
          <a:ext cx="6947583" cy="5040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FFA54353-AEB8-8742-9FD2-0BF1D13A9CFB}">
      <dsp:nvSpPr>
        <dsp:cNvPr id="0" name=""/>
        <dsp:cNvSpPr/>
      </dsp:nvSpPr>
      <dsp:spPr>
        <a:xfrm>
          <a:off x="347379" y="888280"/>
          <a:ext cx="4863308" cy="590399"/>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83821" tIns="0" rIns="183821" bIns="0" numCol="1" spcCol="1270" anchor="ctr" anchorCtr="0">
          <a:noAutofit/>
        </a:bodyPr>
        <a:lstStyle/>
        <a:p>
          <a:pPr marL="0" lvl="0" indent="0" algn="l" defTabSz="889000">
            <a:lnSpc>
              <a:spcPct val="90000"/>
            </a:lnSpc>
            <a:spcBef>
              <a:spcPct val="0"/>
            </a:spcBef>
            <a:spcAft>
              <a:spcPct val="35000"/>
            </a:spcAft>
            <a:buNone/>
          </a:pPr>
          <a:r>
            <a:rPr lang="en-US" sz="2000" kern="1200" dirty="0"/>
            <a:t>Data used : admissions, </a:t>
          </a:r>
          <a:r>
            <a:rPr lang="en-US" sz="2000" b="0" kern="1200" dirty="0" err="1"/>
            <a:t>diagnoses_icd</a:t>
          </a:r>
          <a:r>
            <a:rPr lang="en-US" sz="2000" kern="1200" dirty="0"/>
            <a:t> </a:t>
          </a:r>
        </a:p>
      </dsp:txBody>
      <dsp:txXfrm>
        <a:off x="376200" y="917101"/>
        <a:ext cx="4805666" cy="532757"/>
      </dsp:txXfrm>
    </dsp:sp>
    <dsp:sp modelId="{773E713E-BE04-4D4B-9432-D06F65D97511}">
      <dsp:nvSpPr>
        <dsp:cNvPr id="0" name=""/>
        <dsp:cNvSpPr/>
      </dsp:nvSpPr>
      <dsp:spPr>
        <a:xfrm>
          <a:off x="0" y="2090680"/>
          <a:ext cx="6947583" cy="2646000"/>
        </a:xfrm>
        <a:prstGeom prst="rect">
          <a:avLst/>
        </a:prstGeom>
        <a:solidFill>
          <a:schemeClr val="lt1">
            <a:alpha val="90000"/>
            <a:hueOff val="0"/>
            <a:satOff val="0"/>
            <a:lumOff val="0"/>
            <a:alphaOff val="0"/>
          </a:schemeClr>
        </a:solidFill>
        <a:ln w="12700" cap="flat" cmpd="sng" algn="ctr">
          <a:solidFill>
            <a:schemeClr val="accent5">
              <a:hueOff val="-12152150"/>
              <a:satOff val="-826"/>
              <a:lumOff val="196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39210" tIns="416560" rIns="539210"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The query identifies all hospital admissions where the diagnosis code starts with 410%, corresponding to Acute Myocardial Infarction (AMI). It returns unique patient IDs and hospital admission IDs.</a:t>
          </a:r>
        </a:p>
        <a:p>
          <a:pPr marL="228600" lvl="1" indent="-228600" algn="l" defTabSz="889000">
            <a:lnSpc>
              <a:spcPct val="90000"/>
            </a:lnSpc>
            <a:spcBef>
              <a:spcPct val="0"/>
            </a:spcBef>
            <a:spcAft>
              <a:spcPct val="15000"/>
            </a:spcAft>
            <a:buChar char="•"/>
          </a:pPr>
          <a:r>
            <a:rPr lang="en-US" sz="2000" kern="1200" dirty="0"/>
            <a:t>This defines the study cohort — all hospital stays in which a heart attack (AMI) was diagnosed.</a:t>
          </a:r>
        </a:p>
        <a:p>
          <a:pPr marL="228600" lvl="1" indent="-228600" algn="l" defTabSz="889000">
            <a:lnSpc>
              <a:spcPct val="90000"/>
            </a:lnSpc>
            <a:spcBef>
              <a:spcPct val="0"/>
            </a:spcBef>
            <a:spcAft>
              <a:spcPct val="15000"/>
            </a:spcAft>
            <a:buChar char="•"/>
          </a:pPr>
          <a:endParaRPr lang="en-US" sz="2000" kern="1200" dirty="0"/>
        </a:p>
      </dsp:txBody>
      <dsp:txXfrm>
        <a:off x="0" y="2090680"/>
        <a:ext cx="6947583" cy="2646000"/>
      </dsp:txXfrm>
    </dsp:sp>
    <dsp:sp modelId="{FACD41D5-8B02-7E48-80D4-00157B7C2A09}">
      <dsp:nvSpPr>
        <dsp:cNvPr id="0" name=""/>
        <dsp:cNvSpPr/>
      </dsp:nvSpPr>
      <dsp:spPr>
        <a:xfrm>
          <a:off x="347379" y="1795480"/>
          <a:ext cx="4863308" cy="590399"/>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83821" tIns="0" rIns="183821" bIns="0" numCol="1" spcCol="1270" anchor="ctr" anchorCtr="0">
          <a:noAutofit/>
        </a:bodyPr>
        <a:lstStyle/>
        <a:p>
          <a:pPr marL="0" lvl="0" indent="0" algn="l" defTabSz="889000">
            <a:lnSpc>
              <a:spcPct val="90000"/>
            </a:lnSpc>
            <a:spcBef>
              <a:spcPct val="0"/>
            </a:spcBef>
            <a:spcAft>
              <a:spcPct val="35000"/>
            </a:spcAft>
            <a:buNone/>
          </a:pPr>
          <a:r>
            <a:rPr lang="en-US" sz="2000" kern="1200" dirty="0"/>
            <a:t>Description and interpretation </a:t>
          </a:r>
        </a:p>
      </dsp:txBody>
      <dsp:txXfrm>
        <a:off x="376200" y="1824301"/>
        <a:ext cx="4805666" cy="5327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E25028-E3FC-D04D-BB4A-DE72A50FF8BC}">
      <dsp:nvSpPr>
        <dsp:cNvPr id="0" name=""/>
        <dsp:cNvSpPr/>
      </dsp:nvSpPr>
      <dsp:spPr>
        <a:xfrm>
          <a:off x="0" y="848209"/>
          <a:ext cx="6666833" cy="6300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FFA54353-AEB8-8742-9FD2-0BF1D13A9CFB}">
      <dsp:nvSpPr>
        <dsp:cNvPr id="0" name=""/>
        <dsp:cNvSpPr/>
      </dsp:nvSpPr>
      <dsp:spPr>
        <a:xfrm>
          <a:off x="333341" y="479209"/>
          <a:ext cx="4666783" cy="73800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889000">
            <a:lnSpc>
              <a:spcPct val="90000"/>
            </a:lnSpc>
            <a:spcBef>
              <a:spcPct val="0"/>
            </a:spcBef>
            <a:spcAft>
              <a:spcPct val="35000"/>
            </a:spcAft>
            <a:buNone/>
          </a:pPr>
          <a:r>
            <a:rPr lang="en-US" sz="2000" kern="1200" dirty="0"/>
            <a:t>Data used : admissions, patients, </a:t>
          </a:r>
          <a:r>
            <a:rPr lang="en-US" sz="2000" kern="1200" dirty="0" err="1"/>
            <a:t>diagnoses_icd</a:t>
          </a:r>
          <a:endParaRPr lang="en-US" sz="2000" kern="1200" dirty="0"/>
        </a:p>
      </dsp:txBody>
      <dsp:txXfrm>
        <a:off x="369367" y="515235"/>
        <a:ext cx="4594731" cy="665948"/>
      </dsp:txXfrm>
    </dsp:sp>
    <dsp:sp modelId="{773E713E-BE04-4D4B-9432-D06F65D97511}">
      <dsp:nvSpPr>
        <dsp:cNvPr id="0" name=""/>
        <dsp:cNvSpPr/>
      </dsp:nvSpPr>
      <dsp:spPr>
        <a:xfrm>
          <a:off x="0" y="1982210"/>
          <a:ext cx="6666833" cy="2992500"/>
        </a:xfrm>
        <a:prstGeom prst="rect">
          <a:avLst/>
        </a:prstGeom>
        <a:solidFill>
          <a:schemeClr val="lt1">
            <a:alpha val="90000"/>
            <a:hueOff val="0"/>
            <a:satOff val="0"/>
            <a:lumOff val="0"/>
            <a:alphaOff val="0"/>
          </a:schemeClr>
        </a:solidFill>
        <a:ln w="12700" cap="flat" cmpd="sng" algn="ctr">
          <a:solidFill>
            <a:schemeClr val="accent5">
              <a:hueOff val="-12152150"/>
              <a:satOff val="-826"/>
              <a:lumOff val="196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520700" rIns="517420"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This query identifies each patient’s first AMI admission and calculates their age at that time. </a:t>
          </a:r>
        </a:p>
        <a:p>
          <a:pPr marL="228600" lvl="1" indent="-228600" algn="l" defTabSz="889000">
            <a:lnSpc>
              <a:spcPct val="90000"/>
            </a:lnSpc>
            <a:spcBef>
              <a:spcPct val="0"/>
            </a:spcBef>
            <a:spcAft>
              <a:spcPct val="15000"/>
            </a:spcAft>
            <a:buChar char="•"/>
          </a:pPr>
          <a:r>
            <a:rPr lang="en-US" sz="2000" kern="1200" dirty="0"/>
            <a:t>It then computes the average age separately for each gender.</a:t>
          </a:r>
        </a:p>
        <a:p>
          <a:pPr marL="228600" lvl="1" indent="-228600" algn="l" defTabSz="889000">
            <a:lnSpc>
              <a:spcPct val="90000"/>
            </a:lnSpc>
            <a:spcBef>
              <a:spcPct val="0"/>
            </a:spcBef>
            <a:spcAft>
              <a:spcPct val="15000"/>
            </a:spcAft>
            <a:buChar char="•"/>
          </a:pPr>
          <a:r>
            <a:rPr lang="en-US" sz="2000" kern="1200" dirty="0"/>
            <a:t>Shows if there is any gender specific trends when patients are first admitted for a heart attack. The data shows females tend to have their first heart attack later than the male patients.</a:t>
          </a:r>
        </a:p>
      </dsp:txBody>
      <dsp:txXfrm>
        <a:off x="0" y="1982210"/>
        <a:ext cx="6666833" cy="2992500"/>
      </dsp:txXfrm>
    </dsp:sp>
    <dsp:sp modelId="{FACD41D5-8B02-7E48-80D4-00157B7C2A09}">
      <dsp:nvSpPr>
        <dsp:cNvPr id="0" name=""/>
        <dsp:cNvSpPr/>
      </dsp:nvSpPr>
      <dsp:spPr>
        <a:xfrm>
          <a:off x="333341" y="1613209"/>
          <a:ext cx="4666783" cy="73800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111250">
            <a:lnSpc>
              <a:spcPct val="90000"/>
            </a:lnSpc>
            <a:spcBef>
              <a:spcPct val="0"/>
            </a:spcBef>
            <a:spcAft>
              <a:spcPct val="35000"/>
            </a:spcAft>
            <a:buNone/>
          </a:pPr>
          <a:r>
            <a:rPr lang="en-US" sz="2500" kern="1200" dirty="0"/>
            <a:t>Description and interpretation </a:t>
          </a:r>
        </a:p>
      </dsp:txBody>
      <dsp:txXfrm>
        <a:off x="369367" y="1649235"/>
        <a:ext cx="4594731" cy="6659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E25028-E3FC-D04D-BB4A-DE72A50FF8BC}">
      <dsp:nvSpPr>
        <dsp:cNvPr id="0" name=""/>
        <dsp:cNvSpPr/>
      </dsp:nvSpPr>
      <dsp:spPr>
        <a:xfrm>
          <a:off x="0" y="1412959"/>
          <a:ext cx="6666833" cy="5040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FFA54353-AEB8-8742-9FD2-0BF1D13A9CFB}">
      <dsp:nvSpPr>
        <dsp:cNvPr id="0" name=""/>
        <dsp:cNvSpPr/>
      </dsp:nvSpPr>
      <dsp:spPr>
        <a:xfrm>
          <a:off x="333341" y="1117760"/>
          <a:ext cx="4666783" cy="590399"/>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889000">
            <a:lnSpc>
              <a:spcPct val="90000"/>
            </a:lnSpc>
            <a:spcBef>
              <a:spcPct val="0"/>
            </a:spcBef>
            <a:spcAft>
              <a:spcPct val="35000"/>
            </a:spcAft>
            <a:buNone/>
          </a:pPr>
          <a:r>
            <a:rPr lang="en-US" sz="2000" kern="1200" dirty="0"/>
            <a:t>Data used :admissions, </a:t>
          </a:r>
          <a:r>
            <a:rPr lang="en-US" sz="2000" kern="1200" dirty="0" err="1"/>
            <a:t>diagnoses_icd</a:t>
          </a:r>
          <a:endParaRPr lang="en-US" sz="2000" kern="1200" dirty="0"/>
        </a:p>
      </dsp:txBody>
      <dsp:txXfrm>
        <a:off x="362162" y="1146581"/>
        <a:ext cx="4609141" cy="532757"/>
      </dsp:txXfrm>
    </dsp:sp>
    <dsp:sp modelId="{773E713E-BE04-4D4B-9432-D06F65D97511}">
      <dsp:nvSpPr>
        <dsp:cNvPr id="0" name=""/>
        <dsp:cNvSpPr/>
      </dsp:nvSpPr>
      <dsp:spPr>
        <a:xfrm>
          <a:off x="0" y="2320160"/>
          <a:ext cx="6666833" cy="2016000"/>
        </a:xfrm>
        <a:prstGeom prst="rect">
          <a:avLst/>
        </a:prstGeom>
        <a:solidFill>
          <a:schemeClr val="lt1">
            <a:alpha val="90000"/>
            <a:hueOff val="0"/>
            <a:satOff val="0"/>
            <a:lumOff val="0"/>
            <a:alphaOff val="0"/>
          </a:schemeClr>
        </a:solidFill>
        <a:ln w="12700" cap="flat" cmpd="sng" algn="ctr">
          <a:solidFill>
            <a:schemeClr val="accent5">
              <a:hueOff val="-12152150"/>
              <a:satOff val="-826"/>
              <a:lumOff val="196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416560" rIns="517420"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This query groups AMI admissions by insurance type and counts how many admissions fall under each category.</a:t>
          </a:r>
        </a:p>
        <a:p>
          <a:pPr marL="228600" lvl="1" indent="-228600" algn="l" defTabSz="889000">
            <a:lnSpc>
              <a:spcPct val="90000"/>
            </a:lnSpc>
            <a:spcBef>
              <a:spcPct val="0"/>
            </a:spcBef>
            <a:spcAft>
              <a:spcPct val="15000"/>
            </a:spcAft>
            <a:buChar char="•"/>
          </a:pPr>
          <a:r>
            <a:rPr lang="en-US" sz="2000" kern="1200" dirty="0"/>
            <a:t>Shows which insurance types are most common among heart attack patients.</a:t>
          </a:r>
        </a:p>
      </dsp:txBody>
      <dsp:txXfrm>
        <a:off x="0" y="2320160"/>
        <a:ext cx="6666833" cy="2016000"/>
      </dsp:txXfrm>
    </dsp:sp>
    <dsp:sp modelId="{FACD41D5-8B02-7E48-80D4-00157B7C2A09}">
      <dsp:nvSpPr>
        <dsp:cNvPr id="0" name=""/>
        <dsp:cNvSpPr/>
      </dsp:nvSpPr>
      <dsp:spPr>
        <a:xfrm>
          <a:off x="333341" y="2024960"/>
          <a:ext cx="4666783" cy="590399"/>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889000">
            <a:lnSpc>
              <a:spcPct val="90000"/>
            </a:lnSpc>
            <a:spcBef>
              <a:spcPct val="0"/>
            </a:spcBef>
            <a:spcAft>
              <a:spcPct val="35000"/>
            </a:spcAft>
            <a:buNone/>
          </a:pPr>
          <a:r>
            <a:rPr lang="en-US" sz="2000" kern="1200" dirty="0"/>
            <a:t>Description and interpretation </a:t>
          </a:r>
        </a:p>
      </dsp:txBody>
      <dsp:txXfrm>
        <a:off x="362162" y="2053781"/>
        <a:ext cx="4609141" cy="53275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E25028-E3FC-D04D-BB4A-DE72A50FF8BC}">
      <dsp:nvSpPr>
        <dsp:cNvPr id="0" name=""/>
        <dsp:cNvSpPr/>
      </dsp:nvSpPr>
      <dsp:spPr>
        <a:xfrm>
          <a:off x="0" y="848209"/>
          <a:ext cx="6666833" cy="6300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FFA54353-AEB8-8742-9FD2-0BF1D13A9CFB}">
      <dsp:nvSpPr>
        <dsp:cNvPr id="0" name=""/>
        <dsp:cNvSpPr/>
      </dsp:nvSpPr>
      <dsp:spPr>
        <a:xfrm>
          <a:off x="333341" y="479209"/>
          <a:ext cx="4666783" cy="73800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889000">
            <a:lnSpc>
              <a:spcPct val="90000"/>
            </a:lnSpc>
            <a:spcBef>
              <a:spcPct val="0"/>
            </a:spcBef>
            <a:spcAft>
              <a:spcPct val="35000"/>
            </a:spcAft>
            <a:buNone/>
          </a:pPr>
          <a:r>
            <a:rPr lang="en-US" sz="2000" kern="1200" dirty="0"/>
            <a:t>Data used :admissions, </a:t>
          </a:r>
          <a:r>
            <a:rPr lang="en-US" sz="2000" kern="1200" dirty="0" err="1"/>
            <a:t>diagnoses_icd</a:t>
          </a:r>
          <a:r>
            <a:rPr lang="en-US" sz="2000" kern="1200" dirty="0"/>
            <a:t>, patients</a:t>
          </a:r>
        </a:p>
      </dsp:txBody>
      <dsp:txXfrm>
        <a:off x="369367" y="515235"/>
        <a:ext cx="4594731" cy="665948"/>
      </dsp:txXfrm>
    </dsp:sp>
    <dsp:sp modelId="{773E713E-BE04-4D4B-9432-D06F65D97511}">
      <dsp:nvSpPr>
        <dsp:cNvPr id="0" name=""/>
        <dsp:cNvSpPr/>
      </dsp:nvSpPr>
      <dsp:spPr>
        <a:xfrm>
          <a:off x="0" y="1982210"/>
          <a:ext cx="6666833" cy="2992500"/>
        </a:xfrm>
        <a:prstGeom prst="rect">
          <a:avLst/>
        </a:prstGeom>
        <a:solidFill>
          <a:schemeClr val="lt1">
            <a:alpha val="90000"/>
            <a:hueOff val="0"/>
            <a:satOff val="0"/>
            <a:lumOff val="0"/>
            <a:alphaOff val="0"/>
          </a:schemeClr>
        </a:solidFill>
        <a:ln w="12700" cap="flat" cmpd="sng" algn="ctr">
          <a:solidFill>
            <a:schemeClr val="accent5">
              <a:hueOff val="-12152150"/>
              <a:satOff val="-826"/>
              <a:lumOff val="196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520700" rIns="517420"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This query calculates the average, minimum, and maximum hospital stay (in days) for AMI patients’ admissions, grouped by gender.</a:t>
          </a:r>
        </a:p>
        <a:p>
          <a:pPr marL="228600" lvl="1" indent="-228600" algn="l" defTabSz="889000">
            <a:lnSpc>
              <a:spcPct val="90000"/>
            </a:lnSpc>
            <a:spcBef>
              <a:spcPct val="0"/>
            </a:spcBef>
            <a:spcAft>
              <a:spcPct val="15000"/>
            </a:spcAft>
            <a:buChar char="•"/>
          </a:pPr>
          <a:r>
            <a:rPr lang="en-US" sz="2000" kern="1200" dirty="0"/>
            <a:t>Shows if there is any gender specific trends during hospital stays for heart attack patients. </a:t>
          </a:r>
        </a:p>
        <a:p>
          <a:pPr marL="228600" lvl="1" indent="-228600" algn="l" defTabSz="889000">
            <a:lnSpc>
              <a:spcPct val="90000"/>
            </a:lnSpc>
            <a:spcBef>
              <a:spcPct val="0"/>
            </a:spcBef>
            <a:spcAft>
              <a:spcPct val="15000"/>
            </a:spcAft>
            <a:buChar char="•"/>
          </a:pPr>
          <a:r>
            <a:rPr lang="en-US" sz="2000" kern="1200" dirty="0"/>
            <a:t>The data shows on average, females need to stay slightly more time in hospital before they are discharged. </a:t>
          </a:r>
        </a:p>
      </dsp:txBody>
      <dsp:txXfrm>
        <a:off x="0" y="1982210"/>
        <a:ext cx="6666833" cy="2992500"/>
      </dsp:txXfrm>
    </dsp:sp>
    <dsp:sp modelId="{FACD41D5-8B02-7E48-80D4-00157B7C2A09}">
      <dsp:nvSpPr>
        <dsp:cNvPr id="0" name=""/>
        <dsp:cNvSpPr/>
      </dsp:nvSpPr>
      <dsp:spPr>
        <a:xfrm>
          <a:off x="333341" y="1613209"/>
          <a:ext cx="4666783" cy="73800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111250">
            <a:lnSpc>
              <a:spcPct val="90000"/>
            </a:lnSpc>
            <a:spcBef>
              <a:spcPct val="0"/>
            </a:spcBef>
            <a:spcAft>
              <a:spcPct val="35000"/>
            </a:spcAft>
            <a:buNone/>
          </a:pPr>
          <a:r>
            <a:rPr lang="en-US" sz="2500" kern="1200" dirty="0"/>
            <a:t>Description and interpretation </a:t>
          </a:r>
        </a:p>
      </dsp:txBody>
      <dsp:txXfrm>
        <a:off x="369367" y="1649235"/>
        <a:ext cx="4594731" cy="66594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E25028-E3FC-D04D-BB4A-DE72A50FF8BC}">
      <dsp:nvSpPr>
        <dsp:cNvPr id="0" name=""/>
        <dsp:cNvSpPr/>
      </dsp:nvSpPr>
      <dsp:spPr>
        <a:xfrm>
          <a:off x="0" y="421160"/>
          <a:ext cx="6666833" cy="5292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FFA54353-AEB8-8742-9FD2-0BF1D13A9CFB}">
      <dsp:nvSpPr>
        <dsp:cNvPr id="0" name=""/>
        <dsp:cNvSpPr/>
      </dsp:nvSpPr>
      <dsp:spPr>
        <a:xfrm>
          <a:off x="386389" y="120560"/>
          <a:ext cx="4666783" cy="61992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889000">
            <a:lnSpc>
              <a:spcPct val="90000"/>
            </a:lnSpc>
            <a:spcBef>
              <a:spcPct val="0"/>
            </a:spcBef>
            <a:spcAft>
              <a:spcPct val="35000"/>
            </a:spcAft>
            <a:buNone/>
          </a:pPr>
          <a:r>
            <a:rPr lang="en-US" sz="2000" kern="1200" dirty="0"/>
            <a:t>Data used : admissions, </a:t>
          </a:r>
          <a:r>
            <a:rPr lang="en-US" sz="2000" kern="1200" dirty="0" err="1"/>
            <a:t>diagnoses_icd</a:t>
          </a:r>
          <a:r>
            <a:rPr lang="en-US" sz="2000" kern="1200" dirty="0"/>
            <a:t>, </a:t>
          </a:r>
          <a:r>
            <a:rPr lang="en-US" sz="2000" kern="1200" dirty="0" err="1"/>
            <a:t>icustays</a:t>
          </a:r>
          <a:r>
            <a:rPr lang="en-US" sz="2000" kern="1200" dirty="0"/>
            <a:t>, patients</a:t>
          </a:r>
        </a:p>
      </dsp:txBody>
      <dsp:txXfrm>
        <a:off x="416651" y="150822"/>
        <a:ext cx="4606259" cy="559396"/>
      </dsp:txXfrm>
    </dsp:sp>
    <dsp:sp modelId="{773E713E-BE04-4D4B-9432-D06F65D97511}">
      <dsp:nvSpPr>
        <dsp:cNvPr id="0" name=""/>
        <dsp:cNvSpPr/>
      </dsp:nvSpPr>
      <dsp:spPr>
        <a:xfrm>
          <a:off x="0" y="1373719"/>
          <a:ext cx="6666833" cy="3968999"/>
        </a:xfrm>
        <a:prstGeom prst="rect">
          <a:avLst/>
        </a:prstGeom>
        <a:solidFill>
          <a:schemeClr val="lt1">
            <a:alpha val="90000"/>
            <a:hueOff val="0"/>
            <a:satOff val="0"/>
            <a:lumOff val="0"/>
            <a:alphaOff val="0"/>
          </a:schemeClr>
        </a:solidFill>
        <a:ln w="12700" cap="flat" cmpd="sng" algn="ctr">
          <a:solidFill>
            <a:schemeClr val="accent5">
              <a:hueOff val="-12152150"/>
              <a:satOff val="-826"/>
              <a:lumOff val="196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437388" rIns="517420" bIns="149352" numCol="1" spcCol="1270" anchor="t" anchorCtr="0">
          <a:noAutofit/>
        </a:bodyPr>
        <a:lstStyle/>
        <a:p>
          <a:pPr marL="228600" lvl="1" indent="-228600" algn="l" defTabSz="933450">
            <a:lnSpc>
              <a:spcPct val="90000"/>
            </a:lnSpc>
            <a:spcBef>
              <a:spcPct val="0"/>
            </a:spcBef>
            <a:spcAft>
              <a:spcPct val="15000"/>
            </a:spcAft>
            <a:buFont typeface="Arial" panose="020B0604020202020204" pitchFamily="34" charset="0"/>
            <a:buChar char="•"/>
          </a:pPr>
          <a:r>
            <a:rPr lang="en-US" sz="2100" kern="1200" dirty="0"/>
            <a:t>This query groups AMI patients into age categories and calculates: Total AMI admissions, Number of ICU admissions and Percentage requiring ICU care</a:t>
          </a:r>
        </a:p>
        <a:p>
          <a:pPr marL="228600" lvl="1" indent="-228600" algn="l" defTabSz="933450">
            <a:lnSpc>
              <a:spcPct val="90000"/>
            </a:lnSpc>
            <a:spcBef>
              <a:spcPct val="0"/>
            </a:spcBef>
            <a:spcAft>
              <a:spcPct val="15000"/>
            </a:spcAft>
            <a:buFont typeface="Arial" panose="020B0604020202020204" pitchFamily="34" charset="0"/>
            <a:buChar char="•"/>
          </a:pPr>
          <a:r>
            <a:rPr lang="en-US" sz="2100" kern="1200" dirty="0"/>
            <a:t>Checks if there is any age specific trends for AMI patients needing ICU care such as whether older heart attack patients more likely to need ICU care or not. </a:t>
          </a:r>
        </a:p>
        <a:p>
          <a:pPr marL="228600" lvl="1" indent="-228600" algn="l" defTabSz="933450">
            <a:lnSpc>
              <a:spcPct val="90000"/>
            </a:lnSpc>
            <a:spcBef>
              <a:spcPct val="0"/>
            </a:spcBef>
            <a:spcAft>
              <a:spcPct val="15000"/>
            </a:spcAft>
            <a:buFont typeface="Arial" panose="020B0604020202020204" pitchFamily="34" charset="0"/>
            <a:buChar char="•"/>
          </a:pPr>
          <a:r>
            <a:rPr lang="en-US" sz="2100" kern="1200" dirty="0"/>
            <a:t>The results show almost every AMI patient, regardless of their age, needs ICU care. </a:t>
          </a:r>
        </a:p>
        <a:p>
          <a:pPr marL="228600" lvl="1" indent="-228600" algn="l" defTabSz="933450">
            <a:lnSpc>
              <a:spcPct val="90000"/>
            </a:lnSpc>
            <a:spcBef>
              <a:spcPct val="0"/>
            </a:spcBef>
            <a:spcAft>
              <a:spcPct val="15000"/>
            </a:spcAft>
            <a:buChar char="•"/>
          </a:pPr>
          <a:endParaRPr lang="en-US" sz="2100" kern="1200" dirty="0"/>
        </a:p>
      </dsp:txBody>
      <dsp:txXfrm>
        <a:off x="0" y="1373719"/>
        <a:ext cx="6666833" cy="3968999"/>
      </dsp:txXfrm>
    </dsp:sp>
    <dsp:sp modelId="{FACD41D5-8B02-7E48-80D4-00157B7C2A09}">
      <dsp:nvSpPr>
        <dsp:cNvPr id="0" name=""/>
        <dsp:cNvSpPr/>
      </dsp:nvSpPr>
      <dsp:spPr>
        <a:xfrm>
          <a:off x="333341" y="1063759"/>
          <a:ext cx="4666783" cy="61992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889000">
            <a:lnSpc>
              <a:spcPct val="90000"/>
            </a:lnSpc>
            <a:spcBef>
              <a:spcPct val="0"/>
            </a:spcBef>
            <a:spcAft>
              <a:spcPct val="35000"/>
            </a:spcAft>
            <a:buNone/>
          </a:pPr>
          <a:r>
            <a:rPr lang="en-US" sz="2000" kern="1200" dirty="0"/>
            <a:t>Description and interpretation</a:t>
          </a:r>
          <a:r>
            <a:rPr lang="en-US" sz="2500" kern="1200" dirty="0"/>
            <a:t> </a:t>
          </a:r>
        </a:p>
      </dsp:txBody>
      <dsp:txXfrm>
        <a:off x="363603" y="1094021"/>
        <a:ext cx="4606259" cy="55939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E25028-E3FC-D04D-BB4A-DE72A50FF8BC}">
      <dsp:nvSpPr>
        <dsp:cNvPr id="0" name=""/>
        <dsp:cNvSpPr/>
      </dsp:nvSpPr>
      <dsp:spPr>
        <a:xfrm>
          <a:off x="0" y="1412959"/>
          <a:ext cx="6666833" cy="5040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FFA54353-AEB8-8742-9FD2-0BF1D13A9CFB}">
      <dsp:nvSpPr>
        <dsp:cNvPr id="0" name=""/>
        <dsp:cNvSpPr/>
      </dsp:nvSpPr>
      <dsp:spPr>
        <a:xfrm>
          <a:off x="333341" y="1117760"/>
          <a:ext cx="4666783" cy="590399"/>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889000">
            <a:lnSpc>
              <a:spcPct val="90000"/>
            </a:lnSpc>
            <a:spcBef>
              <a:spcPct val="0"/>
            </a:spcBef>
            <a:spcAft>
              <a:spcPct val="35000"/>
            </a:spcAft>
            <a:buNone/>
          </a:pPr>
          <a:r>
            <a:rPr lang="en-US" sz="2000" kern="1200" dirty="0"/>
            <a:t>Data used : </a:t>
          </a:r>
          <a:r>
            <a:rPr lang="en-US" sz="2000" b="0" kern="1200" dirty="0"/>
            <a:t>admissions, </a:t>
          </a:r>
          <a:r>
            <a:rPr lang="en-US" sz="2000" b="0" kern="1200" dirty="0" err="1"/>
            <a:t>diagnoses_icd</a:t>
          </a:r>
          <a:r>
            <a:rPr lang="en-US" sz="2000" kern="1200" dirty="0"/>
            <a:t> </a:t>
          </a:r>
        </a:p>
      </dsp:txBody>
      <dsp:txXfrm>
        <a:off x="362162" y="1146581"/>
        <a:ext cx="4609141" cy="532757"/>
      </dsp:txXfrm>
    </dsp:sp>
    <dsp:sp modelId="{773E713E-BE04-4D4B-9432-D06F65D97511}">
      <dsp:nvSpPr>
        <dsp:cNvPr id="0" name=""/>
        <dsp:cNvSpPr/>
      </dsp:nvSpPr>
      <dsp:spPr>
        <a:xfrm>
          <a:off x="0" y="2321677"/>
          <a:ext cx="6666833" cy="2016000"/>
        </a:xfrm>
        <a:prstGeom prst="rect">
          <a:avLst/>
        </a:prstGeom>
        <a:solidFill>
          <a:schemeClr val="lt1">
            <a:alpha val="90000"/>
            <a:hueOff val="0"/>
            <a:satOff val="0"/>
            <a:lumOff val="0"/>
            <a:alphaOff val="0"/>
          </a:schemeClr>
        </a:solidFill>
        <a:ln w="12700" cap="flat" cmpd="sng" algn="ctr">
          <a:solidFill>
            <a:schemeClr val="accent5">
              <a:hueOff val="-12152150"/>
              <a:satOff val="-826"/>
              <a:lumOff val="196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416560" rIns="517420"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This query checks how many heart attack patients survive their hospital stay when they are admitted.</a:t>
          </a:r>
        </a:p>
        <a:p>
          <a:pPr marL="228600" lvl="1" indent="-228600" algn="l" defTabSz="889000">
            <a:lnSpc>
              <a:spcPct val="90000"/>
            </a:lnSpc>
            <a:spcBef>
              <a:spcPct val="0"/>
            </a:spcBef>
            <a:spcAft>
              <a:spcPct val="15000"/>
            </a:spcAft>
            <a:buChar char="•"/>
          </a:pPr>
          <a:r>
            <a:rPr lang="en-US" sz="2000" kern="1200" dirty="0"/>
            <a:t>The results show that majority of the heart attack patients survive during the hospital stay.</a:t>
          </a:r>
        </a:p>
      </dsp:txBody>
      <dsp:txXfrm>
        <a:off x="0" y="2321677"/>
        <a:ext cx="6666833" cy="2016000"/>
      </dsp:txXfrm>
    </dsp:sp>
    <dsp:sp modelId="{FACD41D5-8B02-7E48-80D4-00157B7C2A09}">
      <dsp:nvSpPr>
        <dsp:cNvPr id="0" name=""/>
        <dsp:cNvSpPr/>
      </dsp:nvSpPr>
      <dsp:spPr>
        <a:xfrm>
          <a:off x="333341" y="2024960"/>
          <a:ext cx="4666783" cy="590399"/>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889000">
            <a:lnSpc>
              <a:spcPct val="90000"/>
            </a:lnSpc>
            <a:spcBef>
              <a:spcPct val="0"/>
            </a:spcBef>
            <a:spcAft>
              <a:spcPct val="35000"/>
            </a:spcAft>
            <a:buNone/>
          </a:pPr>
          <a:r>
            <a:rPr lang="en-US" sz="2000" kern="1200" dirty="0"/>
            <a:t>Description and interpretation </a:t>
          </a:r>
        </a:p>
      </dsp:txBody>
      <dsp:txXfrm>
        <a:off x="362162" y="2053781"/>
        <a:ext cx="4609141" cy="53275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E25028-E3FC-D04D-BB4A-DE72A50FF8BC}">
      <dsp:nvSpPr>
        <dsp:cNvPr id="0" name=""/>
        <dsp:cNvSpPr/>
      </dsp:nvSpPr>
      <dsp:spPr>
        <a:xfrm>
          <a:off x="0" y="1613322"/>
          <a:ext cx="6666833" cy="4788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FFA54353-AEB8-8742-9FD2-0BF1D13A9CFB}">
      <dsp:nvSpPr>
        <dsp:cNvPr id="0" name=""/>
        <dsp:cNvSpPr/>
      </dsp:nvSpPr>
      <dsp:spPr>
        <a:xfrm>
          <a:off x="333341" y="1332882"/>
          <a:ext cx="4666783" cy="560879"/>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844550">
            <a:lnSpc>
              <a:spcPct val="90000"/>
            </a:lnSpc>
            <a:spcBef>
              <a:spcPct val="0"/>
            </a:spcBef>
            <a:spcAft>
              <a:spcPct val="35000"/>
            </a:spcAft>
            <a:buNone/>
          </a:pPr>
          <a:r>
            <a:rPr lang="en-US" sz="1900" kern="1200" dirty="0"/>
            <a:t>Data used : </a:t>
          </a:r>
          <a:r>
            <a:rPr lang="en-US" sz="1900" b="0" kern="1200" dirty="0"/>
            <a:t>prescriptions, </a:t>
          </a:r>
          <a:r>
            <a:rPr lang="en-US" sz="1900" b="0" kern="1200" dirty="0" err="1"/>
            <a:t>diagnoses_icd</a:t>
          </a:r>
          <a:r>
            <a:rPr lang="en-US" sz="1900" kern="1200" dirty="0"/>
            <a:t> </a:t>
          </a:r>
        </a:p>
      </dsp:txBody>
      <dsp:txXfrm>
        <a:off x="360721" y="1360262"/>
        <a:ext cx="4612023" cy="506119"/>
      </dsp:txXfrm>
    </dsp:sp>
    <dsp:sp modelId="{773E713E-BE04-4D4B-9432-D06F65D97511}">
      <dsp:nvSpPr>
        <dsp:cNvPr id="0" name=""/>
        <dsp:cNvSpPr/>
      </dsp:nvSpPr>
      <dsp:spPr>
        <a:xfrm>
          <a:off x="0" y="2475162"/>
          <a:ext cx="6666833" cy="1645874"/>
        </a:xfrm>
        <a:prstGeom prst="rect">
          <a:avLst/>
        </a:prstGeom>
        <a:solidFill>
          <a:schemeClr val="lt1">
            <a:alpha val="90000"/>
            <a:hueOff val="0"/>
            <a:satOff val="0"/>
            <a:lumOff val="0"/>
            <a:alphaOff val="0"/>
          </a:schemeClr>
        </a:solidFill>
        <a:ln w="12700" cap="flat" cmpd="sng" algn="ctr">
          <a:solidFill>
            <a:schemeClr val="accent5">
              <a:hueOff val="-12152150"/>
              <a:satOff val="-826"/>
              <a:lumOff val="196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95732" rIns="517420" bIns="135128" numCol="1" spcCol="1270" anchor="t" anchorCtr="0">
          <a:noAutofit/>
        </a:bodyPr>
        <a:lstStyle/>
        <a:p>
          <a:pPr marL="171450" lvl="1" indent="-171450" algn="l" defTabSz="844550">
            <a:lnSpc>
              <a:spcPct val="90000"/>
            </a:lnSpc>
            <a:spcBef>
              <a:spcPct val="0"/>
            </a:spcBef>
            <a:spcAft>
              <a:spcPct val="15000"/>
            </a:spcAft>
            <a:buChar char="•"/>
          </a:pPr>
          <a:r>
            <a:rPr lang="en-US" sz="1900" kern="1200" dirty="0"/>
            <a:t>This query identifies the 10 most frequently prescribed medications during AMI admissions.</a:t>
          </a:r>
        </a:p>
        <a:p>
          <a:pPr marL="171450" lvl="1" indent="-171450" algn="l" defTabSz="844550">
            <a:lnSpc>
              <a:spcPct val="90000"/>
            </a:lnSpc>
            <a:spcBef>
              <a:spcPct val="0"/>
            </a:spcBef>
            <a:spcAft>
              <a:spcPct val="15000"/>
            </a:spcAft>
            <a:buChar char="•"/>
          </a:pPr>
          <a:r>
            <a:rPr lang="en-US" sz="1900" kern="1200" dirty="0"/>
            <a:t>This data could be used for stocking inventory in hospital. </a:t>
          </a:r>
        </a:p>
      </dsp:txBody>
      <dsp:txXfrm>
        <a:off x="0" y="2475162"/>
        <a:ext cx="6666833" cy="1645874"/>
      </dsp:txXfrm>
    </dsp:sp>
    <dsp:sp modelId="{FACD41D5-8B02-7E48-80D4-00157B7C2A09}">
      <dsp:nvSpPr>
        <dsp:cNvPr id="0" name=""/>
        <dsp:cNvSpPr/>
      </dsp:nvSpPr>
      <dsp:spPr>
        <a:xfrm>
          <a:off x="333341" y="2194722"/>
          <a:ext cx="4666783" cy="560879"/>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844550">
            <a:lnSpc>
              <a:spcPct val="90000"/>
            </a:lnSpc>
            <a:spcBef>
              <a:spcPct val="0"/>
            </a:spcBef>
            <a:spcAft>
              <a:spcPct val="35000"/>
            </a:spcAft>
            <a:buNone/>
          </a:pPr>
          <a:r>
            <a:rPr lang="en-US" sz="1900" kern="1200" dirty="0"/>
            <a:t>Description and interpretation </a:t>
          </a:r>
        </a:p>
      </dsp:txBody>
      <dsp:txXfrm>
        <a:off x="360721" y="2222102"/>
        <a:ext cx="4612023" cy="50611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E25028-E3FC-D04D-BB4A-DE72A50FF8BC}">
      <dsp:nvSpPr>
        <dsp:cNvPr id="0" name=""/>
        <dsp:cNvSpPr/>
      </dsp:nvSpPr>
      <dsp:spPr>
        <a:xfrm>
          <a:off x="0" y="1261647"/>
          <a:ext cx="6666833" cy="6300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FFA54353-AEB8-8742-9FD2-0BF1D13A9CFB}">
      <dsp:nvSpPr>
        <dsp:cNvPr id="0" name=""/>
        <dsp:cNvSpPr/>
      </dsp:nvSpPr>
      <dsp:spPr>
        <a:xfrm>
          <a:off x="333341" y="892647"/>
          <a:ext cx="4666783" cy="73800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889000">
            <a:lnSpc>
              <a:spcPct val="90000"/>
            </a:lnSpc>
            <a:spcBef>
              <a:spcPct val="0"/>
            </a:spcBef>
            <a:spcAft>
              <a:spcPct val="35000"/>
            </a:spcAft>
            <a:buNone/>
          </a:pPr>
          <a:r>
            <a:rPr lang="en-US" sz="2000" kern="1200" dirty="0"/>
            <a:t>Data used : </a:t>
          </a:r>
          <a:r>
            <a:rPr lang="en-US" sz="2000" b="0" kern="1200" dirty="0" err="1"/>
            <a:t>labevents</a:t>
          </a:r>
          <a:r>
            <a:rPr lang="en-US" sz="2000" b="0" kern="1200" dirty="0"/>
            <a:t>, </a:t>
          </a:r>
          <a:r>
            <a:rPr lang="en-US" sz="2000" b="0" kern="1200" dirty="0" err="1"/>
            <a:t>d_labitems</a:t>
          </a:r>
          <a:r>
            <a:rPr lang="en-US" sz="2000" b="0" kern="1200" dirty="0"/>
            <a:t>, </a:t>
          </a:r>
          <a:r>
            <a:rPr lang="en-US" sz="2000" b="0" kern="1200" dirty="0" err="1"/>
            <a:t>diagnoses_icd</a:t>
          </a:r>
          <a:r>
            <a:rPr lang="en-US" sz="1500" kern="1200" dirty="0"/>
            <a:t> </a:t>
          </a:r>
        </a:p>
      </dsp:txBody>
      <dsp:txXfrm>
        <a:off x="369367" y="928673"/>
        <a:ext cx="4594731" cy="665948"/>
      </dsp:txXfrm>
    </dsp:sp>
    <dsp:sp modelId="{773E713E-BE04-4D4B-9432-D06F65D97511}">
      <dsp:nvSpPr>
        <dsp:cNvPr id="0" name=""/>
        <dsp:cNvSpPr/>
      </dsp:nvSpPr>
      <dsp:spPr>
        <a:xfrm>
          <a:off x="0" y="2395647"/>
          <a:ext cx="6666833" cy="2165625"/>
        </a:xfrm>
        <a:prstGeom prst="rect">
          <a:avLst/>
        </a:prstGeom>
        <a:solidFill>
          <a:schemeClr val="lt1">
            <a:alpha val="90000"/>
            <a:hueOff val="0"/>
            <a:satOff val="0"/>
            <a:lumOff val="0"/>
            <a:alphaOff val="0"/>
          </a:schemeClr>
        </a:solidFill>
        <a:ln w="12700" cap="flat" cmpd="sng" algn="ctr">
          <a:solidFill>
            <a:schemeClr val="accent5">
              <a:hueOff val="-12152150"/>
              <a:satOff val="-826"/>
              <a:lumOff val="196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520700" rIns="517420" bIns="177800"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This query identifies the most commonly ordered lab tests for heart attack patients.</a:t>
          </a:r>
        </a:p>
        <a:p>
          <a:pPr marL="228600" lvl="1" indent="-228600" algn="l" defTabSz="1111250">
            <a:lnSpc>
              <a:spcPct val="90000"/>
            </a:lnSpc>
            <a:spcBef>
              <a:spcPct val="0"/>
            </a:spcBef>
            <a:spcAft>
              <a:spcPct val="15000"/>
            </a:spcAft>
            <a:buChar char="•"/>
          </a:pPr>
          <a:endParaRPr lang="en-US" sz="2500" kern="1200" dirty="0"/>
        </a:p>
      </dsp:txBody>
      <dsp:txXfrm>
        <a:off x="0" y="2395647"/>
        <a:ext cx="6666833" cy="2165625"/>
      </dsp:txXfrm>
    </dsp:sp>
    <dsp:sp modelId="{FACD41D5-8B02-7E48-80D4-00157B7C2A09}">
      <dsp:nvSpPr>
        <dsp:cNvPr id="0" name=""/>
        <dsp:cNvSpPr/>
      </dsp:nvSpPr>
      <dsp:spPr>
        <a:xfrm>
          <a:off x="333341" y="2026647"/>
          <a:ext cx="4666783" cy="73800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111250">
            <a:lnSpc>
              <a:spcPct val="90000"/>
            </a:lnSpc>
            <a:spcBef>
              <a:spcPct val="0"/>
            </a:spcBef>
            <a:spcAft>
              <a:spcPct val="35000"/>
            </a:spcAft>
            <a:buNone/>
          </a:pPr>
          <a:r>
            <a:rPr lang="en-US" sz="2500" kern="1200" dirty="0"/>
            <a:t>Description and interpretation </a:t>
          </a:r>
        </a:p>
      </dsp:txBody>
      <dsp:txXfrm>
        <a:off x="369367" y="2062673"/>
        <a:ext cx="4594731" cy="66594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E25028-E3FC-D04D-BB4A-DE72A50FF8BC}">
      <dsp:nvSpPr>
        <dsp:cNvPr id="0" name=""/>
        <dsp:cNvSpPr/>
      </dsp:nvSpPr>
      <dsp:spPr>
        <a:xfrm>
          <a:off x="0" y="296130"/>
          <a:ext cx="6666833" cy="5040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FFA54353-AEB8-8742-9FD2-0BF1D13A9CFB}">
      <dsp:nvSpPr>
        <dsp:cNvPr id="0" name=""/>
        <dsp:cNvSpPr/>
      </dsp:nvSpPr>
      <dsp:spPr>
        <a:xfrm>
          <a:off x="333341" y="930"/>
          <a:ext cx="4666783" cy="590399"/>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889000">
            <a:lnSpc>
              <a:spcPct val="90000"/>
            </a:lnSpc>
            <a:spcBef>
              <a:spcPct val="0"/>
            </a:spcBef>
            <a:spcAft>
              <a:spcPct val="35000"/>
            </a:spcAft>
            <a:buNone/>
          </a:pPr>
          <a:r>
            <a:rPr lang="en-US" sz="2000" kern="1200" dirty="0"/>
            <a:t>Data used : </a:t>
          </a:r>
          <a:r>
            <a:rPr lang="en-US" sz="2000" b="0" kern="1200" dirty="0"/>
            <a:t>admissions, </a:t>
          </a:r>
          <a:r>
            <a:rPr lang="en-US" sz="2000" b="0" kern="1200" dirty="0" err="1"/>
            <a:t>diagnoses_icd</a:t>
          </a:r>
          <a:r>
            <a:rPr lang="en-US" sz="2000" kern="1200" dirty="0"/>
            <a:t> </a:t>
          </a:r>
        </a:p>
      </dsp:txBody>
      <dsp:txXfrm>
        <a:off x="362162" y="29751"/>
        <a:ext cx="4609141" cy="532757"/>
      </dsp:txXfrm>
    </dsp:sp>
    <dsp:sp modelId="{773E713E-BE04-4D4B-9432-D06F65D97511}">
      <dsp:nvSpPr>
        <dsp:cNvPr id="0" name=""/>
        <dsp:cNvSpPr/>
      </dsp:nvSpPr>
      <dsp:spPr>
        <a:xfrm>
          <a:off x="0" y="1203329"/>
          <a:ext cx="6666833" cy="4662000"/>
        </a:xfrm>
        <a:prstGeom prst="rect">
          <a:avLst/>
        </a:prstGeom>
        <a:solidFill>
          <a:schemeClr val="lt1">
            <a:alpha val="90000"/>
            <a:hueOff val="0"/>
            <a:satOff val="0"/>
            <a:lumOff val="0"/>
            <a:alphaOff val="0"/>
          </a:schemeClr>
        </a:solidFill>
        <a:ln w="12700" cap="flat" cmpd="sng" algn="ctr">
          <a:solidFill>
            <a:schemeClr val="accent5">
              <a:hueOff val="-12152150"/>
              <a:satOff val="-826"/>
              <a:lumOff val="196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416560" rIns="517420"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This query analyzes readmissions among AMI patients within 30 days of their previous heart attack admission.</a:t>
          </a:r>
        </a:p>
        <a:p>
          <a:pPr marL="228600" lvl="1" indent="-228600" algn="l" defTabSz="889000">
            <a:lnSpc>
              <a:spcPct val="90000"/>
            </a:lnSpc>
            <a:spcBef>
              <a:spcPct val="0"/>
            </a:spcBef>
            <a:spcAft>
              <a:spcPct val="15000"/>
            </a:spcAft>
            <a:buChar char="•"/>
          </a:pPr>
          <a:r>
            <a:rPr lang="en-US" sz="2000" kern="1200" dirty="0"/>
            <a:t>It first orders all AMI admissions chronologically for each patient and uses the LAG() window function to retrieve the immediately preceding AMI admission date. Then, using ROW_NUMBER(), it isolates each patient’s most recent AMI admission.</a:t>
          </a:r>
        </a:p>
        <a:p>
          <a:pPr marL="228600" lvl="1" indent="-228600" algn="l" defTabSz="889000">
            <a:lnSpc>
              <a:spcPct val="90000"/>
            </a:lnSpc>
            <a:spcBef>
              <a:spcPct val="0"/>
            </a:spcBef>
            <a:spcAft>
              <a:spcPct val="15000"/>
            </a:spcAft>
            <a:buChar char="•"/>
          </a:pPr>
          <a:r>
            <a:rPr lang="en-US" sz="2000" kern="1200" dirty="0"/>
            <a:t>For that latest admission, the query calculates the number of days between the current admission and the previous one. If the interval is 30 days or less, the admission is flagged as a 30-day readmission ('Y'); otherwise, it is labeled 'N'.</a:t>
          </a:r>
        </a:p>
      </dsp:txBody>
      <dsp:txXfrm>
        <a:off x="0" y="1203329"/>
        <a:ext cx="6666833" cy="4662000"/>
      </dsp:txXfrm>
    </dsp:sp>
    <dsp:sp modelId="{FACD41D5-8B02-7E48-80D4-00157B7C2A09}">
      <dsp:nvSpPr>
        <dsp:cNvPr id="0" name=""/>
        <dsp:cNvSpPr/>
      </dsp:nvSpPr>
      <dsp:spPr>
        <a:xfrm>
          <a:off x="333341" y="908130"/>
          <a:ext cx="4666783" cy="590399"/>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889000">
            <a:lnSpc>
              <a:spcPct val="90000"/>
            </a:lnSpc>
            <a:spcBef>
              <a:spcPct val="0"/>
            </a:spcBef>
            <a:spcAft>
              <a:spcPct val="35000"/>
            </a:spcAft>
            <a:buNone/>
          </a:pPr>
          <a:r>
            <a:rPr lang="en-US" sz="2000" kern="1200" dirty="0"/>
            <a:t>Description and interpretation </a:t>
          </a:r>
        </a:p>
      </dsp:txBody>
      <dsp:txXfrm>
        <a:off x="362162" y="936951"/>
        <a:ext cx="4609141" cy="53275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E25028-E3FC-D04D-BB4A-DE72A50FF8BC}">
      <dsp:nvSpPr>
        <dsp:cNvPr id="0" name=""/>
        <dsp:cNvSpPr/>
      </dsp:nvSpPr>
      <dsp:spPr>
        <a:xfrm>
          <a:off x="0" y="455450"/>
          <a:ext cx="6666833" cy="5040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FFA54353-AEB8-8742-9FD2-0BF1D13A9CFB}">
      <dsp:nvSpPr>
        <dsp:cNvPr id="0" name=""/>
        <dsp:cNvSpPr/>
      </dsp:nvSpPr>
      <dsp:spPr>
        <a:xfrm>
          <a:off x="333341" y="160250"/>
          <a:ext cx="4666783" cy="590399"/>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889000">
            <a:lnSpc>
              <a:spcPct val="90000"/>
            </a:lnSpc>
            <a:spcBef>
              <a:spcPct val="0"/>
            </a:spcBef>
            <a:spcAft>
              <a:spcPct val="35000"/>
            </a:spcAft>
            <a:buNone/>
          </a:pPr>
          <a:r>
            <a:rPr lang="en-US" sz="2000" kern="1200" dirty="0"/>
            <a:t>Data used : </a:t>
          </a:r>
          <a:r>
            <a:rPr lang="en-US" sz="2000" b="0" kern="1200" dirty="0"/>
            <a:t>admissions, </a:t>
          </a:r>
          <a:r>
            <a:rPr lang="en-US" sz="2000" b="0" kern="1200" dirty="0" err="1"/>
            <a:t>diagnoses_icd</a:t>
          </a:r>
          <a:r>
            <a:rPr lang="en-US" sz="2000" kern="1200" dirty="0"/>
            <a:t> </a:t>
          </a:r>
        </a:p>
      </dsp:txBody>
      <dsp:txXfrm>
        <a:off x="362162" y="189071"/>
        <a:ext cx="4609141" cy="532757"/>
      </dsp:txXfrm>
    </dsp:sp>
    <dsp:sp modelId="{773E713E-BE04-4D4B-9432-D06F65D97511}">
      <dsp:nvSpPr>
        <dsp:cNvPr id="0" name=""/>
        <dsp:cNvSpPr/>
      </dsp:nvSpPr>
      <dsp:spPr>
        <a:xfrm>
          <a:off x="0" y="1362650"/>
          <a:ext cx="6666833" cy="4662000"/>
        </a:xfrm>
        <a:prstGeom prst="rect">
          <a:avLst/>
        </a:prstGeom>
        <a:solidFill>
          <a:schemeClr val="lt1">
            <a:alpha val="90000"/>
            <a:hueOff val="0"/>
            <a:satOff val="0"/>
            <a:lumOff val="0"/>
            <a:alphaOff val="0"/>
          </a:schemeClr>
        </a:solidFill>
        <a:ln w="12700" cap="flat" cmpd="sng" algn="ctr">
          <a:solidFill>
            <a:schemeClr val="accent5">
              <a:hueOff val="-12152150"/>
              <a:satOff val="-826"/>
              <a:lumOff val="196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416560" rIns="517420"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This query calculates the overall 30-day readmission rate among hospitalized AMI patients.</a:t>
          </a:r>
        </a:p>
        <a:p>
          <a:pPr marL="228600" lvl="1" indent="-228600" algn="l" defTabSz="889000">
            <a:lnSpc>
              <a:spcPct val="90000"/>
            </a:lnSpc>
            <a:spcBef>
              <a:spcPct val="0"/>
            </a:spcBef>
            <a:spcAft>
              <a:spcPct val="15000"/>
            </a:spcAft>
            <a:buChar char="•"/>
          </a:pPr>
          <a:r>
            <a:rPr lang="en-US" sz="2000" kern="1200" dirty="0"/>
            <a:t>First, it orders all AMI admissions chronologically for each patient and uses the LAG() window function to identify the immediately preceding admission date. </a:t>
          </a:r>
        </a:p>
        <a:p>
          <a:pPr marL="228600" lvl="1" indent="-228600" algn="l" defTabSz="889000">
            <a:lnSpc>
              <a:spcPct val="90000"/>
            </a:lnSpc>
            <a:spcBef>
              <a:spcPct val="0"/>
            </a:spcBef>
            <a:spcAft>
              <a:spcPct val="15000"/>
            </a:spcAft>
            <a:buChar char="•"/>
          </a:pPr>
          <a:r>
            <a:rPr lang="en-US" sz="2000" kern="1200" dirty="0"/>
            <a:t>For every admission that has a prior hospitalization, it computes the number of days between the two admissions.</a:t>
          </a:r>
        </a:p>
        <a:p>
          <a:pPr marL="228600" lvl="1" indent="-228600" algn="l" defTabSz="889000">
            <a:lnSpc>
              <a:spcPct val="90000"/>
            </a:lnSpc>
            <a:spcBef>
              <a:spcPct val="0"/>
            </a:spcBef>
            <a:spcAft>
              <a:spcPct val="15000"/>
            </a:spcAft>
            <a:buChar char="•"/>
          </a:pPr>
          <a:r>
            <a:rPr lang="en-US" sz="2000" kern="1200" dirty="0"/>
            <a:t>Then it determines whether the interval between admissions is 30 days or fewer.</a:t>
          </a:r>
        </a:p>
        <a:p>
          <a:pPr marL="228600" lvl="1" indent="-228600" algn="l" defTabSz="889000">
            <a:lnSpc>
              <a:spcPct val="90000"/>
            </a:lnSpc>
            <a:spcBef>
              <a:spcPct val="0"/>
            </a:spcBef>
            <a:spcAft>
              <a:spcPct val="15000"/>
            </a:spcAft>
            <a:buChar char="•"/>
          </a:pPr>
          <a:r>
            <a:rPr lang="en-US" sz="2000" kern="1200" dirty="0"/>
            <a:t>The query then calculates the overall readmission rate as a percentage.</a:t>
          </a:r>
        </a:p>
      </dsp:txBody>
      <dsp:txXfrm>
        <a:off x="0" y="1362650"/>
        <a:ext cx="6666833" cy="4662000"/>
      </dsp:txXfrm>
    </dsp:sp>
    <dsp:sp modelId="{FACD41D5-8B02-7E48-80D4-00157B7C2A09}">
      <dsp:nvSpPr>
        <dsp:cNvPr id="0" name=""/>
        <dsp:cNvSpPr/>
      </dsp:nvSpPr>
      <dsp:spPr>
        <a:xfrm>
          <a:off x="333341" y="1067450"/>
          <a:ext cx="4666783" cy="590399"/>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889000">
            <a:lnSpc>
              <a:spcPct val="90000"/>
            </a:lnSpc>
            <a:spcBef>
              <a:spcPct val="0"/>
            </a:spcBef>
            <a:spcAft>
              <a:spcPct val="35000"/>
            </a:spcAft>
            <a:buNone/>
          </a:pPr>
          <a:r>
            <a:rPr lang="en-US" sz="2000" kern="1200" dirty="0"/>
            <a:t>Description and interpretation </a:t>
          </a:r>
        </a:p>
      </dsp:txBody>
      <dsp:txXfrm>
        <a:off x="362162" y="1096271"/>
        <a:ext cx="4609141" cy="532757"/>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1F3E1B-5925-BC4F-802A-DD410E9D1AA4}" type="datetimeFigureOut">
              <a:rPr lang="en-US" smtClean="0"/>
              <a:t>2/14/26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5CEE3F-E9BC-9F42-9FEE-5AAD149E4BE7}" type="slidenum">
              <a:rPr lang="en-US" smtClean="0"/>
              <a:t>‹#›</a:t>
            </a:fld>
            <a:endParaRPr lang="en-US"/>
          </a:p>
        </p:txBody>
      </p:sp>
    </p:spTree>
    <p:extLst>
      <p:ext uri="{BB962C8B-B14F-4D97-AF65-F5344CB8AC3E}">
        <p14:creationId xmlns:p14="http://schemas.microsoft.com/office/powerpoint/2010/main" val="715519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5CEE3F-E9BC-9F42-9FEE-5AAD149E4BE7}" type="slidenum">
              <a:rPr lang="en-US" smtClean="0"/>
              <a:t>5</a:t>
            </a:fld>
            <a:endParaRPr lang="en-US"/>
          </a:p>
        </p:txBody>
      </p:sp>
    </p:spTree>
    <p:extLst>
      <p:ext uri="{BB962C8B-B14F-4D97-AF65-F5344CB8AC3E}">
        <p14:creationId xmlns:p14="http://schemas.microsoft.com/office/powerpoint/2010/main" val="14753584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287B0-9B0E-6A64-FAF4-AA6343C4DF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154FB4-D4FD-A7C9-4660-F1E9CA1745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A57319-8832-C0FF-0E88-BB5CDE20DB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BA494F-7C84-BE9B-C562-3F1B8E5B4D2E}"/>
              </a:ext>
            </a:extLst>
          </p:cNvPr>
          <p:cNvSpPr>
            <a:spLocks noGrp="1"/>
          </p:cNvSpPr>
          <p:nvPr>
            <p:ph type="sldNum" sz="quarter" idx="5"/>
          </p:nvPr>
        </p:nvSpPr>
        <p:spPr/>
        <p:txBody>
          <a:bodyPr/>
          <a:lstStyle/>
          <a:p>
            <a:fld id="{725CEE3F-E9BC-9F42-9FEE-5AAD149E4BE7}" type="slidenum">
              <a:rPr lang="en-US" smtClean="0"/>
              <a:t>6</a:t>
            </a:fld>
            <a:endParaRPr lang="en-US"/>
          </a:p>
        </p:txBody>
      </p:sp>
    </p:spTree>
    <p:extLst>
      <p:ext uri="{BB962C8B-B14F-4D97-AF65-F5344CB8AC3E}">
        <p14:creationId xmlns:p14="http://schemas.microsoft.com/office/powerpoint/2010/main" val="332054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974BD-7548-0F1C-58C1-1E1DF5FAC9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76F34F-7C98-A1D3-06FB-6A90B7D7CD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6711C6-C7CD-AFF6-DF76-EAE687EB8C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825D37-31EC-EC10-10DE-016E02483993}"/>
              </a:ext>
            </a:extLst>
          </p:cNvPr>
          <p:cNvSpPr>
            <a:spLocks noGrp="1"/>
          </p:cNvSpPr>
          <p:nvPr>
            <p:ph type="sldNum" sz="quarter" idx="5"/>
          </p:nvPr>
        </p:nvSpPr>
        <p:spPr/>
        <p:txBody>
          <a:bodyPr/>
          <a:lstStyle/>
          <a:p>
            <a:fld id="{725CEE3F-E9BC-9F42-9FEE-5AAD149E4BE7}" type="slidenum">
              <a:rPr lang="en-US" smtClean="0"/>
              <a:t>8</a:t>
            </a:fld>
            <a:endParaRPr lang="en-US"/>
          </a:p>
        </p:txBody>
      </p:sp>
    </p:spTree>
    <p:extLst>
      <p:ext uri="{BB962C8B-B14F-4D97-AF65-F5344CB8AC3E}">
        <p14:creationId xmlns:p14="http://schemas.microsoft.com/office/powerpoint/2010/main" val="2967728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4FAA3-1B4E-1E12-39F6-34D8B1B0C4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5C08E5-FCAF-A910-7AF1-E98ABF7825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D71E3A-F24A-AC43-35FC-F6FCA7BFFD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8A7F34-F690-A293-FC8F-FB27B59B367F}"/>
              </a:ext>
            </a:extLst>
          </p:cNvPr>
          <p:cNvSpPr>
            <a:spLocks noGrp="1"/>
          </p:cNvSpPr>
          <p:nvPr>
            <p:ph type="sldNum" sz="quarter" idx="5"/>
          </p:nvPr>
        </p:nvSpPr>
        <p:spPr/>
        <p:txBody>
          <a:bodyPr/>
          <a:lstStyle/>
          <a:p>
            <a:fld id="{725CEE3F-E9BC-9F42-9FEE-5AAD149E4BE7}" type="slidenum">
              <a:rPr lang="en-US" smtClean="0"/>
              <a:t>9</a:t>
            </a:fld>
            <a:endParaRPr lang="en-US"/>
          </a:p>
        </p:txBody>
      </p:sp>
    </p:spTree>
    <p:extLst>
      <p:ext uri="{BB962C8B-B14F-4D97-AF65-F5344CB8AC3E}">
        <p14:creationId xmlns:p14="http://schemas.microsoft.com/office/powerpoint/2010/main" val="775209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2609B-0DBF-AD44-945A-C1DFF1B32E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3556B-F5B0-BB43-B5E6-FE2D503B0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EDC364-6B22-F367-A198-6189C3FEFE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8C3AF3-3E35-E232-93D6-CEFFA0628282}"/>
              </a:ext>
            </a:extLst>
          </p:cNvPr>
          <p:cNvSpPr>
            <a:spLocks noGrp="1"/>
          </p:cNvSpPr>
          <p:nvPr>
            <p:ph type="sldNum" sz="quarter" idx="5"/>
          </p:nvPr>
        </p:nvSpPr>
        <p:spPr/>
        <p:txBody>
          <a:bodyPr/>
          <a:lstStyle/>
          <a:p>
            <a:fld id="{725CEE3F-E9BC-9F42-9FEE-5AAD149E4BE7}" type="slidenum">
              <a:rPr lang="en-US" smtClean="0"/>
              <a:t>11</a:t>
            </a:fld>
            <a:endParaRPr lang="en-US"/>
          </a:p>
        </p:txBody>
      </p:sp>
    </p:spTree>
    <p:extLst>
      <p:ext uri="{BB962C8B-B14F-4D97-AF65-F5344CB8AC3E}">
        <p14:creationId xmlns:p14="http://schemas.microsoft.com/office/powerpoint/2010/main" val="1299880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58B80-F649-F876-89F6-32276B7DB7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F2C6C2-13E5-7C90-5A9F-E978E5DA3A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D0181-7DA6-3D00-68A8-8E9A7C80FB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492FA3-419D-1A28-8FBD-6E69528BEFB6}"/>
              </a:ext>
            </a:extLst>
          </p:cNvPr>
          <p:cNvSpPr>
            <a:spLocks noGrp="1"/>
          </p:cNvSpPr>
          <p:nvPr>
            <p:ph type="sldNum" sz="quarter" idx="5"/>
          </p:nvPr>
        </p:nvSpPr>
        <p:spPr/>
        <p:txBody>
          <a:bodyPr/>
          <a:lstStyle/>
          <a:p>
            <a:fld id="{725CEE3F-E9BC-9F42-9FEE-5AAD149E4BE7}" type="slidenum">
              <a:rPr lang="en-US" smtClean="0"/>
              <a:t>12</a:t>
            </a:fld>
            <a:endParaRPr lang="en-US"/>
          </a:p>
        </p:txBody>
      </p:sp>
    </p:spTree>
    <p:extLst>
      <p:ext uri="{BB962C8B-B14F-4D97-AF65-F5344CB8AC3E}">
        <p14:creationId xmlns:p14="http://schemas.microsoft.com/office/powerpoint/2010/main" val="37908046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01CFD-79F7-8693-60A2-E037FDD26A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05BD2E-51FD-4182-68C6-3BFCB8371E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372862-A817-387F-A338-C02BCF1009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CB3B2D-34E6-D8F1-73B2-C39AE315B8B0}"/>
              </a:ext>
            </a:extLst>
          </p:cNvPr>
          <p:cNvSpPr>
            <a:spLocks noGrp="1"/>
          </p:cNvSpPr>
          <p:nvPr>
            <p:ph type="sldNum" sz="quarter" idx="5"/>
          </p:nvPr>
        </p:nvSpPr>
        <p:spPr/>
        <p:txBody>
          <a:bodyPr/>
          <a:lstStyle/>
          <a:p>
            <a:fld id="{725CEE3F-E9BC-9F42-9FEE-5AAD149E4BE7}" type="slidenum">
              <a:rPr lang="en-US" smtClean="0"/>
              <a:t>14</a:t>
            </a:fld>
            <a:endParaRPr lang="en-US"/>
          </a:p>
        </p:txBody>
      </p:sp>
    </p:spTree>
    <p:extLst>
      <p:ext uri="{BB962C8B-B14F-4D97-AF65-F5344CB8AC3E}">
        <p14:creationId xmlns:p14="http://schemas.microsoft.com/office/powerpoint/2010/main" val="2891460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E4B11-94D0-A70A-F620-19C4DE702D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2E4F1F-ECA9-DA55-1707-17F89428D4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6C3375-6E1E-A2E3-2013-19B3FDC29C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7FFD37-CE40-462A-6F49-DFEC998C8340}"/>
              </a:ext>
            </a:extLst>
          </p:cNvPr>
          <p:cNvSpPr>
            <a:spLocks noGrp="1"/>
          </p:cNvSpPr>
          <p:nvPr>
            <p:ph type="sldNum" sz="quarter" idx="5"/>
          </p:nvPr>
        </p:nvSpPr>
        <p:spPr/>
        <p:txBody>
          <a:bodyPr/>
          <a:lstStyle/>
          <a:p>
            <a:fld id="{725CEE3F-E9BC-9F42-9FEE-5AAD149E4BE7}" type="slidenum">
              <a:rPr lang="en-US" smtClean="0"/>
              <a:t>15</a:t>
            </a:fld>
            <a:endParaRPr lang="en-US"/>
          </a:p>
        </p:txBody>
      </p:sp>
    </p:spTree>
    <p:extLst>
      <p:ext uri="{BB962C8B-B14F-4D97-AF65-F5344CB8AC3E}">
        <p14:creationId xmlns:p14="http://schemas.microsoft.com/office/powerpoint/2010/main" val="19096884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5CEE3F-E9BC-9F42-9FEE-5AAD149E4BE7}" type="slidenum">
              <a:rPr lang="en-US" smtClean="0"/>
              <a:t>16</a:t>
            </a:fld>
            <a:endParaRPr lang="en-US"/>
          </a:p>
        </p:txBody>
      </p:sp>
    </p:spTree>
    <p:extLst>
      <p:ext uri="{BB962C8B-B14F-4D97-AF65-F5344CB8AC3E}">
        <p14:creationId xmlns:p14="http://schemas.microsoft.com/office/powerpoint/2010/main" val="9470570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E1B7E-00EF-1B1E-3398-00AA0B44E2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39C114-0EFB-9F5D-6324-BC23733CAD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8D48C7-05EF-CFEE-C7B5-475B6ADBE5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4D0356-5DE1-3C54-5681-63A70FA53498}"/>
              </a:ext>
            </a:extLst>
          </p:cNvPr>
          <p:cNvSpPr>
            <a:spLocks noGrp="1"/>
          </p:cNvSpPr>
          <p:nvPr>
            <p:ph type="sldNum" sz="quarter" idx="5"/>
          </p:nvPr>
        </p:nvSpPr>
        <p:spPr/>
        <p:txBody>
          <a:bodyPr/>
          <a:lstStyle/>
          <a:p>
            <a:fld id="{725CEE3F-E9BC-9F42-9FEE-5AAD149E4BE7}" type="slidenum">
              <a:rPr lang="en-US" smtClean="0"/>
              <a:t>17</a:t>
            </a:fld>
            <a:endParaRPr lang="en-US"/>
          </a:p>
        </p:txBody>
      </p:sp>
    </p:spTree>
    <p:extLst>
      <p:ext uri="{BB962C8B-B14F-4D97-AF65-F5344CB8AC3E}">
        <p14:creationId xmlns:p14="http://schemas.microsoft.com/office/powerpoint/2010/main" val="35793193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5E3E6-C10F-5969-8FAF-1C75BBA4F2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EC5242-0957-5546-476B-12B7CCC8F9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82690A-0CFC-78F0-227C-F02B0AE1FF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C06572-4747-73AA-463D-95C797A66BF1}"/>
              </a:ext>
            </a:extLst>
          </p:cNvPr>
          <p:cNvSpPr>
            <a:spLocks noGrp="1"/>
          </p:cNvSpPr>
          <p:nvPr>
            <p:ph type="sldNum" sz="quarter" idx="5"/>
          </p:nvPr>
        </p:nvSpPr>
        <p:spPr/>
        <p:txBody>
          <a:bodyPr/>
          <a:lstStyle/>
          <a:p>
            <a:fld id="{725CEE3F-E9BC-9F42-9FEE-5AAD149E4BE7}" type="slidenum">
              <a:rPr lang="en-US" smtClean="0"/>
              <a:t>18</a:t>
            </a:fld>
            <a:endParaRPr lang="en-US"/>
          </a:p>
        </p:txBody>
      </p:sp>
    </p:spTree>
    <p:extLst>
      <p:ext uri="{BB962C8B-B14F-4D97-AF65-F5344CB8AC3E}">
        <p14:creationId xmlns:p14="http://schemas.microsoft.com/office/powerpoint/2010/main" val="26017306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497F9-2F5B-10C7-0C31-15AF49AEA8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C0C5D9-BCBB-629A-5D92-FDADAEE6BB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E9543F-1C95-BA26-E6FB-05BA80D84C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E2FDC6-51C9-2B47-4377-26C8E906C355}"/>
              </a:ext>
            </a:extLst>
          </p:cNvPr>
          <p:cNvSpPr>
            <a:spLocks noGrp="1"/>
          </p:cNvSpPr>
          <p:nvPr>
            <p:ph type="sldNum" sz="quarter" idx="5"/>
          </p:nvPr>
        </p:nvSpPr>
        <p:spPr/>
        <p:txBody>
          <a:bodyPr/>
          <a:lstStyle/>
          <a:p>
            <a:fld id="{725CEE3F-E9BC-9F42-9FEE-5AAD149E4BE7}" type="slidenum">
              <a:rPr lang="en-US" smtClean="0"/>
              <a:t>19</a:t>
            </a:fld>
            <a:endParaRPr lang="en-US"/>
          </a:p>
        </p:txBody>
      </p:sp>
    </p:spTree>
    <p:extLst>
      <p:ext uri="{BB962C8B-B14F-4D97-AF65-F5344CB8AC3E}">
        <p14:creationId xmlns:p14="http://schemas.microsoft.com/office/powerpoint/2010/main" val="8643705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77B42-36A6-B4F6-17D6-4CAA837210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2F2933-D613-3167-1588-0708E9757A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07C6DE-7E41-C3E6-D6E2-C923AA5003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2C1AFC-8698-3101-FCAF-7BDE2E8D2FE3}"/>
              </a:ext>
            </a:extLst>
          </p:cNvPr>
          <p:cNvSpPr>
            <a:spLocks noGrp="1"/>
          </p:cNvSpPr>
          <p:nvPr>
            <p:ph type="sldNum" sz="quarter" idx="5"/>
          </p:nvPr>
        </p:nvSpPr>
        <p:spPr/>
        <p:txBody>
          <a:bodyPr/>
          <a:lstStyle/>
          <a:p>
            <a:fld id="{725CEE3F-E9BC-9F42-9FEE-5AAD149E4BE7}" type="slidenum">
              <a:rPr lang="en-US" smtClean="0"/>
              <a:t>21</a:t>
            </a:fld>
            <a:endParaRPr lang="en-US"/>
          </a:p>
        </p:txBody>
      </p:sp>
    </p:spTree>
    <p:extLst>
      <p:ext uri="{BB962C8B-B14F-4D97-AF65-F5344CB8AC3E}">
        <p14:creationId xmlns:p14="http://schemas.microsoft.com/office/powerpoint/2010/main" val="18349325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51A96-7843-A525-4137-8FBC6CA63D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E95818-30EA-9899-419C-743D904FA2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EC9648-768C-8BEF-A97A-8BD63253BD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80FF6A-FD8D-ED5E-28EB-40B90A5E2FB5}"/>
              </a:ext>
            </a:extLst>
          </p:cNvPr>
          <p:cNvSpPr>
            <a:spLocks noGrp="1"/>
          </p:cNvSpPr>
          <p:nvPr>
            <p:ph type="sldNum" sz="quarter" idx="5"/>
          </p:nvPr>
        </p:nvSpPr>
        <p:spPr/>
        <p:txBody>
          <a:bodyPr/>
          <a:lstStyle/>
          <a:p>
            <a:fld id="{725CEE3F-E9BC-9F42-9FEE-5AAD149E4BE7}" type="slidenum">
              <a:rPr lang="en-US" smtClean="0"/>
              <a:t>22</a:t>
            </a:fld>
            <a:endParaRPr lang="en-US"/>
          </a:p>
        </p:txBody>
      </p:sp>
    </p:spTree>
    <p:extLst>
      <p:ext uri="{BB962C8B-B14F-4D97-AF65-F5344CB8AC3E}">
        <p14:creationId xmlns:p14="http://schemas.microsoft.com/office/powerpoint/2010/main" val="30449167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823FC-9EB6-09C9-1EFB-CBFCCCDBC4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175DB4-9335-144D-766B-C22442C0A2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FFED2-0C26-5604-1E07-89C0043394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C59B13-38C9-8829-C527-9F580B185A91}"/>
              </a:ext>
            </a:extLst>
          </p:cNvPr>
          <p:cNvSpPr>
            <a:spLocks noGrp="1"/>
          </p:cNvSpPr>
          <p:nvPr>
            <p:ph type="sldNum" sz="quarter" idx="5"/>
          </p:nvPr>
        </p:nvSpPr>
        <p:spPr/>
        <p:txBody>
          <a:bodyPr/>
          <a:lstStyle/>
          <a:p>
            <a:fld id="{725CEE3F-E9BC-9F42-9FEE-5AAD149E4BE7}" type="slidenum">
              <a:rPr lang="en-US" smtClean="0"/>
              <a:t>24</a:t>
            </a:fld>
            <a:endParaRPr lang="en-US"/>
          </a:p>
        </p:txBody>
      </p:sp>
    </p:spTree>
    <p:extLst>
      <p:ext uri="{BB962C8B-B14F-4D97-AF65-F5344CB8AC3E}">
        <p14:creationId xmlns:p14="http://schemas.microsoft.com/office/powerpoint/2010/main" val="8800694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C6827-262E-6BA8-E7AC-C2366F5297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892F9C-9D65-DCE2-D375-7DEFB8AD70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B492A0-EFB4-FC87-ED9D-4EF59A70CF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5F34B6-6C6C-EDAE-176A-CBB972BA793A}"/>
              </a:ext>
            </a:extLst>
          </p:cNvPr>
          <p:cNvSpPr>
            <a:spLocks noGrp="1"/>
          </p:cNvSpPr>
          <p:nvPr>
            <p:ph type="sldNum" sz="quarter" idx="5"/>
          </p:nvPr>
        </p:nvSpPr>
        <p:spPr/>
        <p:txBody>
          <a:bodyPr/>
          <a:lstStyle/>
          <a:p>
            <a:fld id="{725CEE3F-E9BC-9F42-9FEE-5AAD149E4BE7}" type="slidenum">
              <a:rPr lang="en-US" smtClean="0"/>
              <a:t>25</a:t>
            </a:fld>
            <a:endParaRPr lang="en-US"/>
          </a:p>
        </p:txBody>
      </p:sp>
    </p:spTree>
    <p:extLst>
      <p:ext uri="{BB962C8B-B14F-4D97-AF65-F5344CB8AC3E}">
        <p14:creationId xmlns:p14="http://schemas.microsoft.com/office/powerpoint/2010/main" val="18348816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BBD9C-1D1A-AEB1-9423-4F75762D43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A7DF0B-03A2-3604-A541-664E51517A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E109E-78A4-FEF0-7FCB-3A56FB73E7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728965-2E46-10E3-92BE-437689BE7C8E}"/>
              </a:ext>
            </a:extLst>
          </p:cNvPr>
          <p:cNvSpPr>
            <a:spLocks noGrp="1"/>
          </p:cNvSpPr>
          <p:nvPr>
            <p:ph type="sldNum" sz="quarter" idx="5"/>
          </p:nvPr>
        </p:nvSpPr>
        <p:spPr/>
        <p:txBody>
          <a:bodyPr/>
          <a:lstStyle/>
          <a:p>
            <a:fld id="{725CEE3F-E9BC-9F42-9FEE-5AAD149E4BE7}" type="slidenum">
              <a:rPr lang="en-US" smtClean="0"/>
              <a:t>27</a:t>
            </a:fld>
            <a:endParaRPr lang="en-US"/>
          </a:p>
        </p:txBody>
      </p:sp>
    </p:spTree>
    <p:extLst>
      <p:ext uri="{BB962C8B-B14F-4D97-AF65-F5344CB8AC3E}">
        <p14:creationId xmlns:p14="http://schemas.microsoft.com/office/powerpoint/2010/main" val="22429218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5FA18-1616-6209-68F1-E87B85C650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BC782D-29DB-097F-B462-1E392D44BF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4F1FE-48B6-03FA-6EF7-6832B39338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3FA67A-3271-7DB1-677B-ECC369ECEEB4}"/>
              </a:ext>
            </a:extLst>
          </p:cNvPr>
          <p:cNvSpPr>
            <a:spLocks noGrp="1"/>
          </p:cNvSpPr>
          <p:nvPr>
            <p:ph type="sldNum" sz="quarter" idx="5"/>
          </p:nvPr>
        </p:nvSpPr>
        <p:spPr/>
        <p:txBody>
          <a:bodyPr/>
          <a:lstStyle/>
          <a:p>
            <a:fld id="{725CEE3F-E9BC-9F42-9FEE-5AAD149E4BE7}" type="slidenum">
              <a:rPr lang="en-US" smtClean="0"/>
              <a:t>28</a:t>
            </a:fld>
            <a:endParaRPr lang="en-US"/>
          </a:p>
        </p:txBody>
      </p:sp>
    </p:spTree>
    <p:extLst>
      <p:ext uri="{BB962C8B-B14F-4D97-AF65-F5344CB8AC3E}">
        <p14:creationId xmlns:p14="http://schemas.microsoft.com/office/powerpoint/2010/main" val="19217352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7D7DB-8A81-5EC3-4248-FA57DB8571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9BDF6-28C1-2AB9-D3CD-56C1CD830E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115167-A2FA-C5A9-675F-E6598312E2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17498A-A7CC-A6EE-8B9C-1F12DEDE0C46}"/>
              </a:ext>
            </a:extLst>
          </p:cNvPr>
          <p:cNvSpPr>
            <a:spLocks noGrp="1"/>
          </p:cNvSpPr>
          <p:nvPr>
            <p:ph type="sldNum" sz="quarter" idx="5"/>
          </p:nvPr>
        </p:nvSpPr>
        <p:spPr/>
        <p:txBody>
          <a:bodyPr/>
          <a:lstStyle/>
          <a:p>
            <a:fld id="{725CEE3F-E9BC-9F42-9FEE-5AAD149E4BE7}" type="slidenum">
              <a:rPr lang="en-US" smtClean="0"/>
              <a:t>30</a:t>
            </a:fld>
            <a:endParaRPr lang="en-US"/>
          </a:p>
        </p:txBody>
      </p:sp>
    </p:spTree>
    <p:extLst>
      <p:ext uri="{BB962C8B-B14F-4D97-AF65-F5344CB8AC3E}">
        <p14:creationId xmlns:p14="http://schemas.microsoft.com/office/powerpoint/2010/main" val="13951084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280F8-6547-E319-DDE7-91463BE04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92054A-8F09-48D9-ED41-5FF061B5AC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8CA7FB-F401-1717-F827-3536B91594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882979-7CBF-ED04-96B6-8DCEF88696E7}"/>
              </a:ext>
            </a:extLst>
          </p:cNvPr>
          <p:cNvSpPr>
            <a:spLocks noGrp="1"/>
          </p:cNvSpPr>
          <p:nvPr>
            <p:ph type="sldNum" sz="quarter" idx="5"/>
          </p:nvPr>
        </p:nvSpPr>
        <p:spPr/>
        <p:txBody>
          <a:bodyPr/>
          <a:lstStyle/>
          <a:p>
            <a:fld id="{725CEE3F-E9BC-9F42-9FEE-5AAD149E4BE7}" type="slidenum">
              <a:rPr lang="en-US" smtClean="0"/>
              <a:t>31</a:t>
            </a:fld>
            <a:endParaRPr lang="en-US"/>
          </a:p>
        </p:txBody>
      </p:sp>
    </p:spTree>
    <p:extLst>
      <p:ext uri="{BB962C8B-B14F-4D97-AF65-F5344CB8AC3E}">
        <p14:creationId xmlns:p14="http://schemas.microsoft.com/office/powerpoint/2010/main" val="9140101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01E4E-B3BB-1D58-16B1-6DBB91DC12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E3AC0D-90E0-264D-8BC9-B5605A04B4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D8E526-2796-1E8D-1032-B1551DA258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908314-F893-0DDE-CC7B-3DAA3151DB3B}"/>
              </a:ext>
            </a:extLst>
          </p:cNvPr>
          <p:cNvSpPr>
            <a:spLocks noGrp="1"/>
          </p:cNvSpPr>
          <p:nvPr>
            <p:ph type="sldNum" sz="quarter" idx="5"/>
          </p:nvPr>
        </p:nvSpPr>
        <p:spPr/>
        <p:txBody>
          <a:bodyPr/>
          <a:lstStyle/>
          <a:p>
            <a:fld id="{725CEE3F-E9BC-9F42-9FEE-5AAD149E4BE7}" type="slidenum">
              <a:rPr lang="en-US" smtClean="0"/>
              <a:t>32</a:t>
            </a:fld>
            <a:endParaRPr lang="en-US"/>
          </a:p>
        </p:txBody>
      </p:sp>
    </p:spTree>
    <p:extLst>
      <p:ext uri="{BB962C8B-B14F-4D97-AF65-F5344CB8AC3E}">
        <p14:creationId xmlns:p14="http://schemas.microsoft.com/office/powerpoint/2010/main" val="38997665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DA416-E3F2-8324-35C7-307ADFAA3F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778C26-5B0C-471F-4ABF-5639CC2FAE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83E80D-9DE2-137B-30B7-72B9EF7DB1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2B7595-7119-B111-9EE3-D2CF3F1F41B7}"/>
              </a:ext>
            </a:extLst>
          </p:cNvPr>
          <p:cNvSpPr>
            <a:spLocks noGrp="1"/>
          </p:cNvSpPr>
          <p:nvPr>
            <p:ph type="sldNum" sz="quarter" idx="5"/>
          </p:nvPr>
        </p:nvSpPr>
        <p:spPr/>
        <p:txBody>
          <a:bodyPr/>
          <a:lstStyle/>
          <a:p>
            <a:fld id="{725CEE3F-E9BC-9F42-9FEE-5AAD149E4BE7}" type="slidenum">
              <a:rPr lang="en-US" smtClean="0"/>
              <a:t>34</a:t>
            </a:fld>
            <a:endParaRPr lang="en-US"/>
          </a:p>
        </p:txBody>
      </p:sp>
    </p:spTree>
    <p:extLst>
      <p:ext uri="{BB962C8B-B14F-4D97-AF65-F5344CB8AC3E}">
        <p14:creationId xmlns:p14="http://schemas.microsoft.com/office/powerpoint/2010/main" val="12893630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6054D-43DC-5086-D03C-B3C6F8224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F85F41-DE26-6470-B8A1-DB5BC7D2F3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AACA71-2220-DF1A-2030-F4A2118BA5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12FA39-BD97-4A42-000F-D307EF42A53E}"/>
              </a:ext>
            </a:extLst>
          </p:cNvPr>
          <p:cNvSpPr>
            <a:spLocks noGrp="1"/>
          </p:cNvSpPr>
          <p:nvPr>
            <p:ph type="sldNum" sz="quarter" idx="5"/>
          </p:nvPr>
        </p:nvSpPr>
        <p:spPr/>
        <p:txBody>
          <a:bodyPr/>
          <a:lstStyle/>
          <a:p>
            <a:fld id="{725CEE3F-E9BC-9F42-9FEE-5AAD149E4BE7}" type="slidenum">
              <a:rPr lang="en-US" smtClean="0"/>
              <a:t>35</a:t>
            </a:fld>
            <a:endParaRPr lang="en-US"/>
          </a:p>
        </p:txBody>
      </p:sp>
    </p:spTree>
    <p:extLst>
      <p:ext uri="{BB962C8B-B14F-4D97-AF65-F5344CB8AC3E}">
        <p14:creationId xmlns:p14="http://schemas.microsoft.com/office/powerpoint/2010/main" val="2323859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65E72-43E0-7A25-CAF5-76C1E8552C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EC38C8D-D7BA-9B15-4B2B-0F179E6C15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164882-618E-9052-4C44-1EC62DCA6419}"/>
              </a:ext>
            </a:extLst>
          </p:cNvPr>
          <p:cNvSpPr>
            <a:spLocks noGrp="1"/>
          </p:cNvSpPr>
          <p:nvPr>
            <p:ph type="dt" sz="half" idx="10"/>
          </p:nvPr>
        </p:nvSpPr>
        <p:spPr/>
        <p:txBody>
          <a:bodyPr/>
          <a:lstStyle/>
          <a:p>
            <a:fld id="{C2DDA70C-32A2-E540-8569-3129A4615290}" type="datetimeFigureOut">
              <a:rPr lang="en-US" smtClean="0"/>
              <a:t>2/14/26</a:t>
            </a:fld>
            <a:endParaRPr lang="en-US"/>
          </a:p>
        </p:txBody>
      </p:sp>
      <p:sp>
        <p:nvSpPr>
          <p:cNvPr id="5" name="Footer Placeholder 4">
            <a:extLst>
              <a:ext uri="{FF2B5EF4-FFF2-40B4-BE49-F238E27FC236}">
                <a16:creationId xmlns:a16="http://schemas.microsoft.com/office/drawing/2014/main" id="{5FE8306A-D467-BCE2-EEF9-A2222FE261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519327-F407-C5CA-B8DB-447E18F06CF7}"/>
              </a:ext>
            </a:extLst>
          </p:cNvPr>
          <p:cNvSpPr>
            <a:spLocks noGrp="1"/>
          </p:cNvSpPr>
          <p:nvPr>
            <p:ph type="sldNum" sz="quarter" idx="12"/>
          </p:nvPr>
        </p:nvSpPr>
        <p:spPr/>
        <p:txBody>
          <a:bodyPr/>
          <a:lstStyle/>
          <a:p>
            <a:fld id="{75C15CDA-9A00-F640-BEC4-12025F7E63F7}" type="slidenum">
              <a:rPr lang="en-US" smtClean="0"/>
              <a:t>‹#›</a:t>
            </a:fld>
            <a:endParaRPr lang="en-US"/>
          </a:p>
        </p:txBody>
      </p:sp>
    </p:spTree>
    <p:extLst>
      <p:ext uri="{BB962C8B-B14F-4D97-AF65-F5344CB8AC3E}">
        <p14:creationId xmlns:p14="http://schemas.microsoft.com/office/powerpoint/2010/main" val="705973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068AD-B1F9-1B9A-4ED9-4632641E03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69EFC9-4FAD-5498-9871-3D83EFAFAD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7C22D7-F804-F333-4951-80ACEF3478FC}"/>
              </a:ext>
            </a:extLst>
          </p:cNvPr>
          <p:cNvSpPr>
            <a:spLocks noGrp="1"/>
          </p:cNvSpPr>
          <p:nvPr>
            <p:ph type="dt" sz="half" idx="10"/>
          </p:nvPr>
        </p:nvSpPr>
        <p:spPr/>
        <p:txBody>
          <a:bodyPr/>
          <a:lstStyle/>
          <a:p>
            <a:fld id="{C2DDA70C-32A2-E540-8569-3129A4615290}" type="datetimeFigureOut">
              <a:rPr lang="en-US" smtClean="0"/>
              <a:t>2/14/26</a:t>
            </a:fld>
            <a:endParaRPr lang="en-US"/>
          </a:p>
        </p:txBody>
      </p:sp>
      <p:sp>
        <p:nvSpPr>
          <p:cNvPr id="5" name="Footer Placeholder 4">
            <a:extLst>
              <a:ext uri="{FF2B5EF4-FFF2-40B4-BE49-F238E27FC236}">
                <a16:creationId xmlns:a16="http://schemas.microsoft.com/office/drawing/2014/main" id="{75E689C6-21F2-4255-3679-E4E1591EF1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0C0881-33F0-257C-61F4-5EA9455B0DF4}"/>
              </a:ext>
            </a:extLst>
          </p:cNvPr>
          <p:cNvSpPr>
            <a:spLocks noGrp="1"/>
          </p:cNvSpPr>
          <p:nvPr>
            <p:ph type="sldNum" sz="quarter" idx="12"/>
          </p:nvPr>
        </p:nvSpPr>
        <p:spPr/>
        <p:txBody>
          <a:bodyPr/>
          <a:lstStyle/>
          <a:p>
            <a:fld id="{75C15CDA-9A00-F640-BEC4-12025F7E63F7}" type="slidenum">
              <a:rPr lang="en-US" smtClean="0"/>
              <a:t>‹#›</a:t>
            </a:fld>
            <a:endParaRPr lang="en-US"/>
          </a:p>
        </p:txBody>
      </p:sp>
    </p:spTree>
    <p:extLst>
      <p:ext uri="{BB962C8B-B14F-4D97-AF65-F5344CB8AC3E}">
        <p14:creationId xmlns:p14="http://schemas.microsoft.com/office/powerpoint/2010/main" val="1481404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1C30E-C050-6E8A-740F-6E6DF16609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D1B4C0-AF24-F9AB-3A7E-7192481CD72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0560E5-F6A7-3FF1-AB08-65CDA33C340B}"/>
              </a:ext>
            </a:extLst>
          </p:cNvPr>
          <p:cNvSpPr>
            <a:spLocks noGrp="1"/>
          </p:cNvSpPr>
          <p:nvPr>
            <p:ph type="dt" sz="half" idx="10"/>
          </p:nvPr>
        </p:nvSpPr>
        <p:spPr/>
        <p:txBody>
          <a:bodyPr/>
          <a:lstStyle/>
          <a:p>
            <a:fld id="{C2DDA70C-32A2-E540-8569-3129A4615290}" type="datetimeFigureOut">
              <a:rPr lang="en-US" smtClean="0"/>
              <a:t>2/14/26</a:t>
            </a:fld>
            <a:endParaRPr lang="en-US"/>
          </a:p>
        </p:txBody>
      </p:sp>
      <p:sp>
        <p:nvSpPr>
          <p:cNvPr id="5" name="Footer Placeholder 4">
            <a:extLst>
              <a:ext uri="{FF2B5EF4-FFF2-40B4-BE49-F238E27FC236}">
                <a16:creationId xmlns:a16="http://schemas.microsoft.com/office/drawing/2014/main" id="{224D9C38-86F6-C501-AC46-6F402E9FD0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170D3C-6D2D-70CC-0987-40B28CE6F35B}"/>
              </a:ext>
            </a:extLst>
          </p:cNvPr>
          <p:cNvSpPr>
            <a:spLocks noGrp="1"/>
          </p:cNvSpPr>
          <p:nvPr>
            <p:ph type="sldNum" sz="quarter" idx="12"/>
          </p:nvPr>
        </p:nvSpPr>
        <p:spPr/>
        <p:txBody>
          <a:bodyPr/>
          <a:lstStyle/>
          <a:p>
            <a:fld id="{75C15CDA-9A00-F640-BEC4-12025F7E63F7}" type="slidenum">
              <a:rPr lang="en-US" smtClean="0"/>
              <a:t>‹#›</a:t>
            </a:fld>
            <a:endParaRPr lang="en-US"/>
          </a:p>
        </p:txBody>
      </p:sp>
    </p:spTree>
    <p:extLst>
      <p:ext uri="{BB962C8B-B14F-4D97-AF65-F5344CB8AC3E}">
        <p14:creationId xmlns:p14="http://schemas.microsoft.com/office/powerpoint/2010/main" val="2174959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3A3A1-2474-1E68-4F56-956BDC9051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322B89-2447-55E5-F090-1FEC3348DE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E466ED-D345-4624-25E2-4703A5276C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6F9FCCF-FD9B-725B-DC14-19EFBCCA3370}"/>
              </a:ext>
            </a:extLst>
          </p:cNvPr>
          <p:cNvSpPr>
            <a:spLocks noGrp="1"/>
          </p:cNvSpPr>
          <p:nvPr>
            <p:ph type="dt" sz="half" idx="10"/>
          </p:nvPr>
        </p:nvSpPr>
        <p:spPr/>
        <p:txBody>
          <a:bodyPr/>
          <a:lstStyle/>
          <a:p>
            <a:fld id="{C2DDA70C-32A2-E540-8569-3129A4615290}" type="datetimeFigureOut">
              <a:rPr lang="en-US" smtClean="0"/>
              <a:t>2/14/26</a:t>
            </a:fld>
            <a:endParaRPr lang="en-US"/>
          </a:p>
        </p:txBody>
      </p:sp>
      <p:sp>
        <p:nvSpPr>
          <p:cNvPr id="6" name="Footer Placeholder 5">
            <a:extLst>
              <a:ext uri="{FF2B5EF4-FFF2-40B4-BE49-F238E27FC236}">
                <a16:creationId xmlns:a16="http://schemas.microsoft.com/office/drawing/2014/main" id="{F9D1CC7C-6422-FCD1-1100-69BA29FACF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CB50C3-A7BB-E604-BD2D-02E12CA11B58}"/>
              </a:ext>
            </a:extLst>
          </p:cNvPr>
          <p:cNvSpPr>
            <a:spLocks noGrp="1"/>
          </p:cNvSpPr>
          <p:nvPr>
            <p:ph type="sldNum" sz="quarter" idx="12"/>
          </p:nvPr>
        </p:nvSpPr>
        <p:spPr/>
        <p:txBody>
          <a:bodyPr/>
          <a:lstStyle/>
          <a:p>
            <a:fld id="{75C15CDA-9A00-F640-BEC4-12025F7E63F7}" type="slidenum">
              <a:rPr lang="en-US" smtClean="0"/>
              <a:t>‹#›</a:t>
            </a:fld>
            <a:endParaRPr lang="en-US"/>
          </a:p>
        </p:txBody>
      </p:sp>
    </p:spTree>
    <p:extLst>
      <p:ext uri="{BB962C8B-B14F-4D97-AF65-F5344CB8AC3E}">
        <p14:creationId xmlns:p14="http://schemas.microsoft.com/office/powerpoint/2010/main" val="24034206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B6891-E726-49F2-D576-C61F75AF4C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DFFB4B-3E4B-6551-61F9-31968558CB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C8A37C-CF2E-EC21-0911-3B5176967D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6D9F1D-E4F4-93D7-518E-5E596B36BA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005E13-8544-E8AF-7E70-3D09506860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A5FDC9D-5A2C-0B76-5D68-27693F901110}"/>
              </a:ext>
            </a:extLst>
          </p:cNvPr>
          <p:cNvSpPr>
            <a:spLocks noGrp="1"/>
          </p:cNvSpPr>
          <p:nvPr>
            <p:ph type="dt" sz="half" idx="10"/>
          </p:nvPr>
        </p:nvSpPr>
        <p:spPr/>
        <p:txBody>
          <a:bodyPr/>
          <a:lstStyle/>
          <a:p>
            <a:fld id="{C2DDA70C-32A2-E540-8569-3129A4615290}" type="datetimeFigureOut">
              <a:rPr lang="en-US" smtClean="0"/>
              <a:t>2/14/26</a:t>
            </a:fld>
            <a:endParaRPr lang="en-US"/>
          </a:p>
        </p:txBody>
      </p:sp>
      <p:sp>
        <p:nvSpPr>
          <p:cNvPr id="8" name="Footer Placeholder 7">
            <a:extLst>
              <a:ext uri="{FF2B5EF4-FFF2-40B4-BE49-F238E27FC236}">
                <a16:creationId xmlns:a16="http://schemas.microsoft.com/office/drawing/2014/main" id="{D5DC28FF-CC40-3B7B-BE22-B5EF80CD74E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D59EE4-5EC3-F9AC-FB25-B2DE92902E92}"/>
              </a:ext>
            </a:extLst>
          </p:cNvPr>
          <p:cNvSpPr>
            <a:spLocks noGrp="1"/>
          </p:cNvSpPr>
          <p:nvPr>
            <p:ph type="sldNum" sz="quarter" idx="12"/>
          </p:nvPr>
        </p:nvSpPr>
        <p:spPr/>
        <p:txBody>
          <a:bodyPr/>
          <a:lstStyle/>
          <a:p>
            <a:fld id="{75C15CDA-9A00-F640-BEC4-12025F7E63F7}" type="slidenum">
              <a:rPr lang="en-US" smtClean="0"/>
              <a:t>‹#›</a:t>
            </a:fld>
            <a:endParaRPr lang="en-US"/>
          </a:p>
        </p:txBody>
      </p:sp>
    </p:spTree>
    <p:extLst>
      <p:ext uri="{BB962C8B-B14F-4D97-AF65-F5344CB8AC3E}">
        <p14:creationId xmlns:p14="http://schemas.microsoft.com/office/powerpoint/2010/main" val="3132195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B98C6-F0B7-C86D-1721-0FC597819A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32998E-D2F9-D56A-CAD9-C9BD7555F048}"/>
              </a:ext>
            </a:extLst>
          </p:cNvPr>
          <p:cNvSpPr>
            <a:spLocks noGrp="1"/>
          </p:cNvSpPr>
          <p:nvPr>
            <p:ph type="dt" sz="half" idx="10"/>
          </p:nvPr>
        </p:nvSpPr>
        <p:spPr/>
        <p:txBody>
          <a:bodyPr/>
          <a:lstStyle/>
          <a:p>
            <a:fld id="{C2DDA70C-32A2-E540-8569-3129A4615290}" type="datetimeFigureOut">
              <a:rPr lang="en-US" smtClean="0"/>
              <a:t>2/14/26</a:t>
            </a:fld>
            <a:endParaRPr lang="en-US"/>
          </a:p>
        </p:txBody>
      </p:sp>
      <p:sp>
        <p:nvSpPr>
          <p:cNvPr id="4" name="Footer Placeholder 3">
            <a:extLst>
              <a:ext uri="{FF2B5EF4-FFF2-40B4-BE49-F238E27FC236}">
                <a16:creationId xmlns:a16="http://schemas.microsoft.com/office/drawing/2014/main" id="{1F34034E-2FDE-62D3-F507-AB420C2A05D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BDF1EE3-A8C1-B656-FFB0-934ABFE9EF55}"/>
              </a:ext>
            </a:extLst>
          </p:cNvPr>
          <p:cNvSpPr>
            <a:spLocks noGrp="1"/>
          </p:cNvSpPr>
          <p:nvPr>
            <p:ph type="sldNum" sz="quarter" idx="12"/>
          </p:nvPr>
        </p:nvSpPr>
        <p:spPr/>
        <p:txBody>
          <a:bodyPr/>
          <a:lstStyle/>
          <a:p>
            <a:fld id="{75C15CDA-9A00-F640-BEC4-12025F7E63F7}" type="slidenum">
              <a:rPr lang="en-US" smtClean="0"/>
              <a:t>‹#›</a:t>
            </a:fld>
            <a:endParaRPr lang="en-US"/>
          </a:p>
        </p:txBody>
      </p:sp>
    </p:spTree>
    <p:extLst>
      <p:ext uri="{BB962C8B-B14F-4D97-AF65-F5344CB8AC3E}">
        <p14:creationId xmlns:p14="http://schemas.microsoft.com/office/powerpoint/2010/main" val="1200000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0E2A1A-1F4C-7F2C-616F-C13C8C5C9E81}"/>
              </a:ext>
            </a:extLst>
          </p:cNvPr>
          <p:cNvSpPr>
            <a:spLocks noGrp="1"/>
          </p:cNvSpPr>
          <p:nvPr>
            <p:ph type="dt" sz="half" idx="10"/>
          </p:nvPr>
        </p:nvSpPr>
        <p:spPr/>
        <p:txBody>
          <a:bodyPr/>
          <a:lstStyle/>
          <a:p>
            <a:fld id="{C2DDA70C-32A2-E540-8569-3129A4615290}" type="datetimeFigureOut">
              <a:rPr lang="en-US" smtClean="0"/>
              <a:t>2/14/26</a:t>
            </a:fld>
            <a:endParaRPr lang="en-US"/>
          </a:p>
        </p:txBody>
      </p:sp>
      <p:sp>
        <p:nvSpPr>
          <p:cNvPr id="3" name="Footer Placeholder 2">
            <a:extLst>
              <a:ext uri="{FF2B5EF4-FFF2-40B4-BE49-F238E27FC236}">
                <a16:creationId xmlns:a16="http://schemas.microsoft.com/office/drawing/2014/main" id="{3C29EECE-2212-1607-3033-77141290063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78F9442-1EB7-CA66-3EDE-60DE848D7546}"/>
              </a:ext>
            </a:extLst>
          </p:cNvPr>
          <p:cNvSpPr>
            <a:spLocks noGrp="1"/>
          </p:cNvSpPr>
          <p:nvPr>
            <p:ph type="sldNum" sz="quarter" idx="12"/>
          </p:nvPr>
        </p:nvSpPr>
        <p:spPr/>
        <p:txBody>
          <a:bodyPr/>
          <a:lstStyle/>
          <a:p>
            <a:fld id="{75C15CDA-9A00-F640-BEC4-12025F7E63F7}" type="slidenum">
              <a:rPr lang="en-US" smtClean="0"/>
              <a:t>‹#›</a:t>
            </a:fld>
            <a:endParaRPr lang="en-US"/>
          </a:p>
        </p:txBody>
      </p:sp>
    </p:spTree>
    <p:extLst>
      <p:ext uri="{BB962C8B-B14F-4D97-AF65-F5344CB8AC3E}">
        <p14:creationId xmlns:p14="http://schemas.microsoft.com/office/powerpoint/2010/main" val="3926665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89135-FAEC-EF28-8FF6-088927DE80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06604E7-3AC3-FD92-4056-157806353B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4ADD9E5-3AFB-DBF3-21AD-3F329D0450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8BC250-AA18-E4AC-8D61-C1C8AE73D330}"/>
              </a:ext>
            </a:extLst>
          </p:cNvPr>
          <p:cNvSpPr>
            <a:spLocks noGrp="1"/>
          </p:cNvSpPr>
          <p:nvPr>
            <p:ph type="dt" sz="half" idx="10"/>
          </p:nvPr>
        </p:nvSpPr>
        <p:spPr/>
        <p:txBody>
          <a:bodyPr/>
          <a:lstStyle/>
          <a:p>
            <a:fld id="{C2DDA70C-32A2-E540-8569-3129A4615290}" type="datetimeFigureOut">
              <a:rPr lang="en-US" smtClean="0"/>
              <a:t>2/14/26</a:t>
            </a:fld>
            <a:endParaRPr lang="en-US"/>
          </a:p>
        </p:txBody>
      </p:sp>
      <p:sp>
        <p:nvSpPr>
          <p:cNvPr id="6" name="Footer Placeholder 5">
            <a:extLst>
              <a:ext uri="{FF2B5EF4-FFF2-40B4-BE49-F238E27FC236}">
                <a16:creationId xmlns:a16="http://schemas.microsoft.com/office/drawing/2014/main" id="{42F3DF98-1E17-F917-3DC8-2C83584E08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FDCE39-1AA0-0593-0434-2F05A38858EB}"/>
              </a:ext>
            </a:extLst>
          </p:cNvPr>
          <p:cNvSpPr>
            <a:spLocks noGrp="1"/>
          </p:cNvSpPr>
          <p:nvPr>
            <p:ph type="sldNum" sz="quarter" idx="12"/>
          </p:nvPr>
        </p:nvSpPr>
        <p:spPr/>
        <p:txBody>
          <a:bodyPr/>
          <a:lstStyle/>
          <a:p>
            <a:fld id="{75C15CDA-9A00-F640-BEC4-12025F7E63F7}" type="slidenum">
              <a:rPr lang="en-US" smtClean="0"/>
              <a:t>‹#›</a:t>
            </a:fld>
            <a:endParaRPr lang="en-US"/>
          </a:p>
        </p:txBody>
      </p:sp>
    </p:spTree>
    <p:extLst>
      <p:ext uri="{BB962C8B-B14F-4D97-AF65-F5344CB8AC3E}">
        <p14:creationId xmlns:p14="http://schemas.microsoft.com/office/powerpoint/2010/main" val="499223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57213-427F-488B-A3E5-D0FD241F15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715EBD-7829-A0DE-F71D-50AF640436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CFBC846-9334-E7F9-80EE-F3309D6C6A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6DA7C4-8D02-72AE-5D3F-A70DBEE4B7C6}"/>
              </a:ext>
            </a:extLst>
          </p:cNvPr>
          <p:cNvSpPr>
            <a:spLocks noGrp="1"/>
          </p:cNvSpPr>
          <p:nvPr>
            <p:ph type="dt" sz="half" idx="10"/>
          </p:nvPr>
        </p:nvSpPr>
        <p:spPr/>
        <p:txBody>
          <a:bodyPr/>
          <a:lstStyle/>
          <a:p>
            <a:fld id="{C2DDA70C-32A2-E540-8569-3129A4615290}" type="datetimeFigureOut">
              <a:rPr lang="en-US" smtClean="0"/>
              <a:t>2/14/26</a:t>
            </a:fld>
            <a:endParaRPr lang="en-US"/>
          </a:p>
        </p:txBody>
      </p:sp>
      <p:sp>
        <p:nvSpPr>
          <p:cNvPr id="6" name="Footer Placeholder 5">
            <a:extLst>
              <a:ext uri="{FF2B5EF4-FFF2-40B4-BE49-F238E27FC236}">
                <a16:creationId xmlns:a16="http://schemas.microsoft.com/office/drawing/2014/main" id="{0DB74D1C-EC05-9A0A-103F-099CFE0E74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34777C-52BE-5338-F390-A6EE76C4577A}"/>
              </a:ext>
            </a:extLst>
          </p:cNvPr>
          <p:cNvSpPr>
            <a:spLocks noGrp="1"/>
          </p:cNvSpPr>
          <p:nvPr>
            <p:ph type="sldNum" sz="quarter" idx="12"/>
          </p:nvPr>
        </p:nvSpPr>
        <p:spPr/>
        <p:txBody>
          <a:bodyPr/>
          <a:lstStyle/>
          <a:p>
            <a:fld id="{75C15CDA-9A00-F640-BEC4-12025F7E63F7}" type="slidenum">
              <a:rPr lang="en-US" smtClean="0"/>
              <a:t>‹#›</a:t>
            </a:fld>
            <a:endParaRPr lang="en-US"/>
          </a:p>
        </p:txBody>
      </p:sp>
    </p:spTree>
    <p:extLst>
      <p:ext uri="{BB962C8B-B14F-4D97-AF65-F5344CB8AC3E}">
        <p14:creationId xmlns:p14="http://schemas.microsoft.com/office/powerpoint/2010/main" val="3220230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AC088-E67B-31A8-6D2E-DD937934C0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D5822BB-5C29-07A9-F3EE-676A529806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99856B-DE69-6617-DCE6-537C1448E5D7}"/>
              </a:ext>
            </a:extLst>
          </p:cNvPr>
          <p:cNvSpPr>
            <a:spLocks noGrp="1"/>
          </p:cNvSpPr>
          <p:nvPr>
            <p:ph type="dt" sz="half" idx="10"/>
          </p:nvPr>
        </p:nvSpPr>
        <p:spPr/>
        <p:txBody>
          <a:bodyPr/>
          <a:lstStyle/>
          <a:p>
            <a:fld id="{C2DDA70C-32A2-E540-8569-3129A4615290}" type="datetimeFigureOut">
              <a:rPr lang="en-US" smtClean="0"/>
              <a:t>2/14/26</a:t>
            </a:fld>
            <a:endParaRPr lang="en-US"/>
          </a:p>
        </p:txBody>
      </p:sp>
      <p:sp>
        <p:nvSpPr>
          <p:cNvPr id="5" name="Footer Placeholder 4">
            <a:extLst>
              <a:ext uri="{FF2B5EF4-FFF2-40B4-BE49-F238E27FC236}">
                <a16:creationId xmlns:a16="http://schemas.microsoft.com/office/drawing/2014/main" id="{31506FFE-F441-C2C4-12C9-FBB46CA251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4E3314-04E6-0E09-C180-AA5CEB88408E}"/>
              </a:ext>
            </a:extLst>
          </p:cNvPr>
          <p:cNvSpPr>
            <a:spLocks noGrp="1"/>
          </p:cNvSpPr>
          <p:nvPr>
            <p:ph type="sldNum" sz="quarter" idx="12"/>
          </p:nvPr>
        </p:nvSpPr>
        <p:spPr/>
        <p:txBody>
          <a:bodyPr/>
          <a:lstStyle/>
          <a:p>
            <a:fld id="{75C15CDA-9A00-F640-BEC4-12025F7E63F7}" type="slidenum">
              <a:rPr lang="en-US" smtClean="0"/>
              <a:t>‹#›</a:t>
            </a:fld>
            <a:endParaRPr lang="en-US"/>
          </a:p>
        </p:txBody>
      </p:sp>
    </p:spTree>
    <p:extLst>
      <p:ext uri="{BB962C8B-B14F-4D97-AF65-F5344CB8AC3E}">
        <p14:creationId xmlns:p14="http://schemas.microsoft.com/office/powerpoint/2010/main" val="2456658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AB0666-8F9C-EB96-C958-C11DEB74541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6C506DF-4395-4F72-087E-20F9C0D888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96A471-A309-9B62-5F2C-C9ADA7203118}"/>
              </a:ext>
            </a:extLst>
          </p:cNvPr>
          <p:cNvSpPr>
            <a:spLocks noGrp="1"/>
          </p:cNvSpPr>
          <p:nvPr>
            <p:ph type="dt" sz="half" idx="10"/>
          </p:nvPr>
        </p:nvSpPr>
        <p:spPr/>
        <p:txBody>
          <a:bodyPr/>
          <a:lstStyle/>
          <a:p>
            <a:fld id="{C2DDA70C-32A2-E540-8569-3129A4615290}" type="datetimeFigureOut">
              <a:rPr lang="en-US" smtClean="0"/>
              <a:t>2/14/26</a:t>
            </a:fld>
            <a:endParaRPr lang="en-US"/>
          </a:p>
        </p:txBody>
      </p:sp>
      <p:sp>
        <p:nvSpPr>
          <p:cNvPr id="5" name="Footer Placeholder 4">
            <a:extLst>
              <a:ext uri="{FF2B5EF4-FFF2-40B4-BE49-F238E27FC236}">
                <a16:creationId xmlns:a16="http://schemas.microsoft.com/office/drawing/2014/main" id="{6ADEA2FC-243F-9703-BC94-7A39462CBA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E1A0A8-08F2-CEC5-8C93-13387986FF19}"/>
              </a:ext>
            </a:extLst>
          </p:cNvPr>
          <p:cNvSpPr>
            <a:spLocks noGrp="1"/>
          </p:cNvSpPr>
          <p:nvPr>
            <p:ph type="sldNum" sz="quarter" idx="12"/>
          </p:nvPr>
        </p:nvSpPr>
        <p:spPr/>
        <p:txBody>
          <a:bodyPr/>
          <a:lstStyle/>
          <a:p>
            <a:fld id="{75C15CDA-9A00-F640-BEC4-12025F7E63F7}" type="slidenum">
              <a:rPr lang="en-US" smtClean="0"/>
              <a:t>‹#›</a:t>
            </a:fld>
            <a:endParaRPr lang="en-US"/>
          </a:p>
        </p:txBody>
      </p:sp>
    </p:spTree>
    <p:extLst>
      <p:ext uri="{BB962C8B-B14F-4D97-AF65-F5344CB8AC3E}">
        <p14:creationId xmlns:p14="http://schemas.microsoft.com/office/powerpoint/2010/main" val="2465372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53E8CF-2B70-D402-3E72-59A29FC86A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1273928-6FCE-02F4-24FF-F005714346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BC1201-4FFE-88D2-548C-9181811CAD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DDA70C-32A2-E540-8569-3129A4615290}" type="datetimeFigureOut">
              <a:rPr lang="en-US" smtClean="0"/>
              <a:t>2/14/26</a:t>
            </a:fld>
            <a:endParaRPr lang="en-US"/>
          </a:p>
        </p:txBody>
      </p:sp>
      <p:sp>
        <p:nvSpPr>
          <p:cNvPr id="5" name="Footer Placeholder 4">
            <a:extLst>
              <a:ext uri="{FF2B5EF4-FFF2-40B4-BE49-F238E27FC236}">
                <a16:creationId xmlns:a16="http://schemas.microsoft.com/office/drawing/2014/main" id="{94E2083B-BA58-9D4B-4495-C098B6AD62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59771FC-7E6D-E840-504E-DDD8355054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C15CDA-9A00-F640-BEC4-12025F7E63F7}" type="slidenum">
              <a:rPr lang="en-US" smtClean="0"/>
              <a:t>‹#›</a:t>
            </a:fld>
            <a:endParaRPr lang="en-US"/>
          </a:p>
        </p:txBody>
      </p:sp>
    </p:spTree>
    <p:extLst>
      <p:ext uri="{BB962C8B-B14F-4D97-AF65-F5344CB8AC3E}">
        <p14:creationId xmlns:p14="http://schemas.microsoft.com/office/powerpoint/2010/main" val="32459351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E9A7D5B-BB93-00A9-9B8A-970DB87A9B3E}"/>
              </a:ext>
            </a:extLst>
          </p:cNvPr>
          <p:cNvSpPr>
            <a:spLocks noGrp="1"/>
          </p:cNvSpPr>
          <p:nvPr>
            <p:ph type="ctrTitle"/>
          </p:nvPr>
        </p:nvSpPr>
        <p:spPr>
          <a:xfrm>
            <a:off x="1314824" y="735106"/>
            <a:ext cx="10053763" cy="2928470"/>
          </a:xfrm>
        </p:spPr>
        <p:txBody>
          <a:bodyPr anchor="b">
            <a:normAutofit/>
          </a:bodyPr>
          <a:lstStyle/>
          <a:p>
            <a:pPr algn="l"/>
            <a:r>
              <a:rPr lang="en-US" sz="4800" dirty="0">
                <a:solidFill>
                  <a:srgbClr val="FFFFFF"/>
                </a:solidFill>
              </a:rPr>
              <a:t>Analytics of heart attack patients in MIMIC III database</a:t>
            </a:r>
          </a:p>
        </p:txBody>
      </p:sp>
      <p:sp>
        <p:nvSpPr>
          <p:cNvPr id="3" name="Subtitle 2">
            <a:extLst>
              <a:ext uri="{FF2B5EF4-FFF2-40B4-BE49-F238E27FC236}">
                <a16:creationId xmlns:a16="http://schemas.microsoft.com/office/drawing/2014/main" id="{914886D0-50AE-ABEC-C684-4D0858CFB057}"/>
              </a:ext>
            </a:extLst>
          </p:cNvPr>
          <p:cNvSpPr>
            <a:spLocks noGrp="1"/>
          </p:cNvSpPr>
          <p:nvPr>
            <p:ph type="subTitle" idx="1"/>
          </p:nvPr>
        </p:nvSpPr>
        <p:spPr>
          <a:xfrm>
            <a:off x="1350682" y="4620127"/>
            <a:ext cx="10005951" cy="1925052"/>
          </a:xfrm>
        </p:spPr>
        <p:txBody>
          <a:bodyPr anchor="ctr">
            <a:normAutofit/>
          </a:bodyPr>
          <a:lstStyle/>
          <a:p>
            <a:pPr algn="l"/>
            <a:r>
              <a:rPr lang="en-US" sz="1700" dirty="0"/>
              <a:t>By</a:t>
            </a:r>
          </a:p>
          <a:p>
            <a:pPr algn="l"/>
            <a:r>
              <a:rPr lang="en-US" sz="1700" dirty="0"/>
              <a:t>Sritama Paul</a:t>
            </a:r>
          </a:p>
          <a:p>
            <a:pPr algn="l"/>
            <a:r>
              <a:rPr lang="en-US" sz="1700" dirty="0"/>
              <a:t>AI 395T | AI In Healthcare </a:t>
            </a:r>
          </a:p>
          <a:p>
            <a:pPr algn="l"/>
            <a:r>
              <a:rPr lang="en-US" sz="1700" dirty="0"/>
              <a:t>University of Texas at Austin</a:t>
            </a:r>
          </a:p>
          <a:p>
            <a:pPr algn="l"/>
            <a:r>
              <a:rPr lang="en-US" sz="1700" dirty="0"/>
              <a:t>Spring 2026</a:t>
            </a:r>
          </a:p>
        </p:txBody>
      </p:sp>
    </p:spTree>
    <p:extLst>
      <p:ext uri="{BB962C8B-B14F-4D97-AF65-F5344CB8AC3E}">
        <p14:creationId xmlns:p14="http://schemas.microsoft.com/office/powerpoint/2010/main" val="1338364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5B1576-51C8-5E7F-8573-21CD488A72D0}"/>
            </a:ext>
          </a:extLst>
        </p:cNvPr>
        <p:cNvGrpSpPr/>
        <p:nvPr/>
      </p:nvGrpSpPr>
      <p:grpSpPr>
        <a:xfrm>
          <a:off x="0" y="0"/>
          <a:ext cx="0" cy="0"/>
          <a:chOff x="0" y="0"/>
          <a:chExt cx="0" cy="0"/>
        </a:xfrm>
      </p:grpSpPr>
      <p:sp useBgFill="1">
        <p:nvSpPr>
          <p:cNvPr id="78" name="Rectangle 7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0" name="Rectangle 7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Freeform: Shape 8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0" name="Rectangle 8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9F1689-3FF9-1CAE-28F2-A286DA68291B}"/>
              </a:ext>
            </a:extLst>
          </p:cNvPr>
          <p:cNvSpPr>
            <a:spLocks noGrp="1"/>
          </p:cNvSpPr>
          <p:nvPr>
            <p:ph type="ctrTitle"/>
          </p:nvPr>
        </p:nvSpPr>
        <p:spPr>
          <a:xfrm>
            <a:off x="466722" y="586855"/>
            <a:ext cx="3201366" cy="3387497"/>
          </a:xfrm>
        </p:spPr>
        <p:txBody>
          <a:bodyPr vert="horz" lIns="91440" tIns="45720" rIns="91440" bIns="45720" rtlCol="0" anchor="b">
            <a:normAutofit/>
          </a:bodyPr>
          <a:lstStyle/>
          <a:p>
            <a:pPr algn="r"/>
            <a:r>
              <a:rPr lang="en-US" sz="4000" kern="1200">
                <a:solidFill>
                  <a:srgbClr val="FFFFFF"/>
                </a:solidFill>
                <a:latin typeface="+mj-lt"/>
                <a:ea typeface="+mj-ea"/>
                <a:cs typeface="+mj-cs"/>
              </a:rPr>
              <a:t>Overview</a:t>
            </a:r>
          </a:p>
        </p:txBody>
      </p:sp>
      <p:sp>
        <p:nvSpPr>
          <p:cNvPr id="3" name="Subtitle 2">
            <a:extLst>
              <a:ext uri="{FF2B5EF4-FFF2-40B4-BE49-F238E27FC236}">
                <a16:creationId xmlns:a16="http://schemas.microsoft.com/office/drawing/2014/main" id="{E99187E3-A068-675B-CC1C-57DAE813CE69}"/>
              </a:ext>
            </a:extLst>
          </p:cNvPr>
          <p:cNvSpPr>
            <a:spLocks noGrp="1"/>
          </p:cNvSpPr>
          <p:nvPr>
            <p:ph type="subTitle" idx="1"/>
          </p:nvPr>
        </p:nvSpPr>
        <p:spPr>
          <a:xfrm>
            <a:off x="4367696" y="511389"/>
            <a:ext cx="7357582" cy="6044156"/>
          </a:xfrm>
        </p:spPr>
        <p:txBody>
          <a:bodyPr vert="horz" lIns="91440" tIns="45720" rIns="91440" bIns="45720" rtlCol="0" anchor="ctr">
            <a:normAutofit/>
          </a:bodyPr>
          <a:lstStyle/>
          <a:p>
            <a:pPr indent="-228600" algn="l">
              <a:buFont typeface="Arial" panose="020B0604020202020204" pitchFamily="34" charset="0"/>
              <a:buChar char="•"/>
            </a:pPr>
            <a:r>
              <a:rPr lang="en-US" sz="2000" dirty="0"/>
              <a:t>This study provides an overview of patients hospitalized with Acute Myocardial Infarction (AMI)(ICD-9 code 410.xx) which is commonly known as heart attack.</a:t>
            </a:r>
          </a:p>
          <a:p>
            <a:pPr indent="-228600" algn="l">
              <a:buFont typeface="Arial" panose="020B0604020202020204" pitchFamily="34" charset="0"/>
              <a:buChar char="•"/>
            </a:pPr>
            <a:r>
              <a:rPr lang="en-US" sz="2000" dirty="0"/>
              <a:t>We first define the AMI cohort and describe key demographics such as age and gender at first admission.</a:t>
            </a:r>
          </a:p>
          <a:p>
            <a:pPr indent="-228600" algn="l">
              <a:buFont typeface="Arial" panose="020B0604020202020204" pitchFamily="34" charset="0"/>
              <a:buChar char="•"/>
            </a:pPr>
            <a:r>
              <a:rPr lang="en-US" sz="2000" dirty="0"/>
              <a:t>Then the queries examine healthcare utilization patterns, including insurance distribution, hospital length of stay, and ICU utilization across age groups.</a:t>
            </a:r>
          </a:p>
          <a:p>
            <a:pPr indent="-228600" algn="l">
              <a:buFont typeface="Arial" panose="020B0604020202020204" pitchFamily="34" charset="0"/>
              <a:buChar char="•"/>
            </a:pPr>
            <a:r>
              <a:rPr lang="en-US" sz="2000" dirty="0"/>
              <a:t>The results reveal that AMI patients were predominantly older adults, with Medicare as the primary insurance provider. Almost all patients required ICU-level care.</a:t>
            </a:r>
          </a:p>
          <a:p>
            <a:pPr indent="-228600" algn="l">
              <a:buFont typeface="Arial" panose="020B0604020202020204" pitchFamily="34" charset="0"/>
              <a:buChar char="•"/>
            </a:pPr>
            <a:r>
              <a:rPr lang="en-US" sz="2000" dirty="0"/>
              <a:t>Finally, we explore treatment patterns and outcomes through commonly prescribed medications, frequently ordered lab tests, in-hospital mortality, and 30-day readmission metrics.</a:t>
            </a:r>
          </a:p>
          <a:p>
            <a:pPr indent="-228600" algn="l">
              <a:buFont typeface="Arial" panose="020B0604020202020204" pitchFamily="34" charset="0"/>
              <a:buChar char="•"/>
            </a:pPr>
            <a:r>
              <a:rPr lang="en-US" sz="2000" dirty="0"/>
              <a:t>Together, these queries provide a structured, end-to-end view of AMI hospitalizations, linking patient characteristics, treatment patterns, resource use, and indicate the effectiveness of the care provided through readmission statistics.</a:t>
            </a:r>
          </a:p>
        </p:txBody>
      </p:sp>
    </p:spTree>
    <p:extLst>
      <p:ext uri="{BB962C8B-B14F-4D97-AF65-F5344CB8AC3E}">
        <p14:creationId xmlns:p14="http://schemas.microsoft.com/office/powerpoint/2010/main" val="3046753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3" name="Rectangle 6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Rectangle 66">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Freeform: Shape 70">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549C819-2F8E-0CA2-24C1-895EF5162F22}"/>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Queries</a:t>
            </a:r>
          </a:p>
        </p:txBody>
      </p:sp>
      <p:graphicFrame>
        <p:nvGraphicFramePr>
          <p:cNvPr id="5" name="Content Placeholder 4">
            <a:extLst>
              <a:ext uri="{FF2B5EF4-FFF2-40B4-BE49-F238E27FC236}">
                <a16:creationId xmlns:a16="http://schemas.microsoft.com/office/drawing/2014/main" id="{EFEA7F76-B9D4-B35D-8B50-05006F08381E}"/>
              </a:ext>
            </a:extLst>
          </p:cNvPr>
          <p:cNvGraphicFramePr>
            <a:graphicFrameLocks noGrp="1"/>
          </p:cNvGraphicFramePr>
          <p:nvPr>
            <p:ph idx="1"/>
            <p:extLst>
              <p:ext uri="{D42A27DB-BD31-4B8C-83A1-F6EECF244321}">
                <p14:modId xmlns:p14="http://schemas.microsoft.com/office/powerpoint/2010/main" val="1065448732"/>
              </p:ext>
              <p:ext uri="{E7BDC344-281C-4309-B0C6-D0EE65EED2A8}">
                <p202:designPr xmlns:p202="http://schemas.microsoft.com/office/powerpoint/2020/02/main">
                  <p202:designTagLst>
                    <p202:designTag name="ARCH:1:CLS" val="StackedSequentialRowTable"/>
                  </p202:designTagLst>
                </p202:designPr>
              </p:ext>
            </p:extLst>
          </p:nvPr>
        </p:nvGraphicFramePr>
        <p:xfrm>
          <a:off x="4709929" y="467208"/>
          <a:ext cx="6810747" cy="5923590"/>
        </p:xfrm>
        <a:graphic>
          <a:graphicData uri="http://schemas.openxmlformats.org/drawingml/2006/table">
            <a:tbl>
              <a:tblPr bandRow="1">
                <a:noFill/>
                <a:tableStyleId>{5C22544A-7EE6-4342-B048-85BDC9FD1C3A}</a:tableStyleId>
              </a:tblPr>
              <a:tblGrid>
                <a:gridCol w="1584443">
                  <a:extLst>
                    <a:ext uri="{9D8B030D-6E8A-4147-A177-3AD203B41FA5}">
                      <a16:colId xmlns:a16="http://schemas.microsoft.com/office/drawing/2014/main" val="799075573"/>
                    </a:ext>
                  </a:extLst>
                </a:gridCol>
                <a:gridCol w="5226304">
                  <a:extLst>
                    <a:ext uri="{9D8B030D-6E8A-4147-A177-3AD203B41FA5}">
                      <a16:colId xmlns:a16="http://schemas.microsoft.com/office/drawing/2014/main" val="111629342"/>
                    </a:ext>
                  </a:extLst>
                </a:gridCol>
              </a:tblGrid>
              <a:tr h="592359">
                <a:tc>
                  <a:txBody>
                    <a:bodyPr/>
                    <a:lstStyle/>
                    <a:p>
                      <a:pPr algn="ctr">
                        <a:buNone/>
                      </a:pPr>
                      <a:r>
                        <a:rPr lang="en-US" sz="2400" b="1" cap="none" spc="0" dirty="0">
                          <a:solidFill>
                            <a:schemeClr val="accent1"/>
                          </a:solidFill>
                        </a:rPr>
                        <a:t>01</a:t>
                      </a:r>
                    </a:p>
                  </a:txBody>
                  <a:tcPr marL="101741" marR="101741" marT="101741" marB="101741"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lgn="l">
                        <a:buNone/>
                      </a:pPr>
                      <a:r>
                        <a:rPr lang="en-US" sz="2000" b="0" cap="none" spc="0" dirty="0">
                          <a:solidFill>
                            <a:schemeClr val="tx1"/>
                          </a:solidFill>
                        </a:rPr>
                        <a:t>Define AMI Cohort </a:t>
                      </a:r>
                    </a:p>
                  </a:txBody>
                  <a:tcPr marL="101741" marR="101741" marT="101741" marB="101741"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1279419680"/>
                  </a:ext>
                </a:extLst>
              </a:tr>
              <a:tr h="592359">
                <a:tc>
                  <a:txBody>
                    <a:bodyPr/>
                    <a:lstStyle/>
                    <a:p>
                      <a:pPr algn="ctr">
                        <a:buNone/>
                      </a:pPr>
                      <a:r>
                        <a:rPr lang="en-US" sz="2400" b="1" cap="none" spc="0">
                          <a:solidFill>
                            <a:schemeClr val="accent1"/>
                          </a:solidFill>
                        </a:rPr>
                        <a:t>02</a:t>
                      </a:r>
                    </a:p>
                  </a:txBody>
                  <a:tcPr marL="101741" marR="101741" marT="101741" marB="10174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US" sz="2000" b="0" cap="none" spc="0" dirty="0">
                          <a:solidFill>
                            <a:schemeClr val="tx1"/>
                          </a:solidFill>
                        </a:rPr>
                        <a:t>Average Age at First Admission</a:t>
                      </a:r>
                    </a:p>
                  </a:txBody>
                  <a:tcPr marL="101741" marR="101741" marT="101741" marB="10174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122404483"/>
                  </a:ext>
                </a:extLst>
              </a:tr>
              <a:tr h="592359">
                <a:tc>
                  <a:txBody>
                    <a:bodyPr/>
                    <a:lstStyle/>
                    <a:p>
                      <a:pPr algn="ctr">
                        <a:buNone/>
                      </a:pPr>
                      <a:r>
                        <a:rPr lang="en-US" sz="2400" b="1" cap="none" spc="0">
                          <a:solidFill>
                            <a:schemeClr val="accent1"/>
                          </a:solidFill>
                        </a:rPr>
                        <a:t>03</a:t>
                      </a:r>
                    </a:p>
                  </a:txBody>
                  <a:tcPr marL="101741" marR="101741" marT="101741" marB="10174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US" sz="2000" b="0" cap="none" spc="0">
                          <a:solidFill>
                            <a:schemeClr val="tx1"/>
                          </a:solidFill>
                        </a:rPr>
                        <a:t>Insurance Distribution</a:t>
                      </a:r>
                    </a:p>
                  </a:txBody>
                  <a:tcPr marL="101741" marR="101741" marT="101741" marB="10174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882144648"/>
                  </a:ext>
                </a:extLst>
              </a:tr>
              <a:tr h="592359">
                <a:tc>
                  <a:txBody>
                    <a:bodyPr/>
                    <a:lstStyle/>
                    <a:p>
                      <a:pPr algn="ctr">
                        <a:buNone/>
                      </a:pPr>
                      <a:r>
                        <a:rPr lang="en-US" sz="2400" b="1" cap="none" spc="0">
                          <a:solidFill>
                            <a:schemeClr val="accent1"/>
                          </a:solidFill>
                        </a:rPr>
                        <a:t>04</a:t>
                      </a:r>
                    </a:p>
                  </a:txBody>
                  <a:tcPr marL="101741" marR="101741" marT="101741" marB="10174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US" sz="2000" b="0" cap="none" spc="0" dirty="0">
                          <a:solidFill>
                            <a:schemeClr val="tx1"/>
                          </a:solidFill>
                        </a:rPr>
                        <a:t>Length of Stay (LOS) Statistics</a:t>
                      </a:r>
                    </a:p>
                  </a:txBody>
                  <a:tcPr marL="101741" marR="101741" marT="101741" marB="10174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449302216"/>
                  </a:ext>
                </a:extLst>
              </a:tr>
              <a:tr h="592359">
                <a:tc>
                  <a:txBody>
                    <a:bodyPr/>
                    <a:lstStyle/>
                    <a:p>
                      <a:pPr algn="ctr">
                        <a:buNone/>
                      </a:pPr>
                      <a:r>
                        <a:rPr lang="en-US" sz="2400" b="1" cap="none" spc="0">
                          <a:solidFill>
                            <a:schemeClr val="accent1"/>
                          </a:solidFill>
                        </a:rPr>
                        <a:t>05</a:t>
                      </a:r>
                    </a:p>
                  </a:txBody>
                  <a:tcPr marL="101741" marR="101741" marT="101741" marB="10174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US" sz="2000" b="0" cap="none" spc="0" dirty="0">
                          <a:solidFill>
                            <a:schemeClr val="tx1"/>
                          </a:solidFill>
                        </a:rPr>
                        <a:t>ICU Utilization By Age Group </a:t>
                      </a:r>
                    </a:p>
                  </a:txBody>
                  <a:tcPr marL="101741" marR="101741" marT="101741" marB="10174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629924806"/>
                  </a:ext>
                </a:extLst>
              </a:tr>
              <a:tr h="592359">
                <a:tc>
                  <a:txBody>
                    <a:bodyPr/>
                    <a:lstStyle/>
                    <a:p>
                      <a:pPr algn="ctr">
                        <a:buNone/>
                      </a:pPr>
                      <a:r>
                        <a:rPr lang="en-US" sz="2400" b="1" cap="none" spc="0">
                          <a:solidFill>
                            <a:schemeClr val="accent1"/>
                          </a:solidFill>
                        </a:rPr>
                        <a:t>06</a:t>
                      </a:r>
                    </a:p>
                  </a:txBody>
                  <a:tcPr marL="101741" marR="101741" marT="101741" marB="10174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US" sz="2000" b="0" cap="none" spc="0">
                          <a:solidFill>
                            <a:schemeClr val="tx1"/>
                          </a:solidFill>
                        </a:rPr>
                        <a:t>In-Hospital Mortality</a:t>
                      </a:r>
                    </a:p>
                  </a:txBody>
                  <a:tcPr marL="101741" marR="101741" marT="101741" marB="10174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281217150"/>
                  </a:ext>
                </a:extLst>
              </a:tr>
              <a:tr h="592359">
                <a:tc>
                  <a:txBody>
                    <a:bodyPr/>
                    <a:lstStyle/>
                    <a:p>
                      <a:pPr algn="ctr">
                        <a:buNone/>
                      </a:pPr>
                      <a:r>
                        <a:rPr lang="en-US" sz="2400" b="1" cap="none" spc="0">
                          <a:solidFill>
                            <a:schemeClr val="accent1"/>
                          </a:solidFill>
                        </a:rPr>
                        <a:t>07</a:t>
                      </a:r>
                    </a:p>
                  </a:txBody>
                  <a:tcPr marL="101741" marR="101741" marT="101741" marB="10174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US" sz="2000" b="0" cap="none" spc="0" dirty="0">
                          <a:solidFill>
                            <a:schemeClr val="tx1"/>
                          </a:solidFill>
                        </a:rPr>
                        <a:t>Top Cardiac Medications</a:t>
                      </a:r>
                    </a:p>
                  </a:txBody>
                  <a:tcPr marL="101741" marR="101741" marT="101741" marB="10174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792973025"/>
                  </a:ext>
                </a:extLst>
              </a:tr>
              <a:tr h="592359">
                <a:tc>
                  <a:txBody>
                    <a:bodyPr/>
                    <a:lstStyle/>
                    <a:p>
                      <a:pPr algn="ctr">
                        <a:buNone/>
                      </a:pPr>
                      <a:r>
                        <a:rPr lang="en-US" sz="2400" b="1" cap="none" spc="0">
                          <a:solidFill>
                            <a:schemeClr val="accent1"/>
                          </a:solidFill>
                        </a:rPr>
                        <a:t>08</a:t>
                      </a:r>
                    </a:p>
                  </a:txBody>
                  <a:tcPr marL="101741" marR="101741" marT="101741" marB="10174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US" sz="2000" b="0" cap="none" spc="0" dirty="0">
                          <a:solidFill>
                            <a:schemeClr val="tx1"/>
                          </a:solidFill>
                        </a:rPr>
                        <a:t>Top 10 Most Frequently Ordered Lab Tests</a:t>
                      </a:r>
                    </a:p>
                  </a:txBody>
                  <a:tcPr marL="101741" marR="101741" marT="101741" marB="10174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4044243297"/>
                  </a:ext>
                </a:extLst>
              </a:tr>
              <a:tr h="592359">
                <a:tc>
                  <a:txBody>
                    <a:bodyPr/>
                    <a:lstStyle/>
                    <a:p>
                      <a:pPr algn="ctr">
                        <a:buNone/>
                      </a:pPr>
                      <a:r>
                        <a:rPr lang="en-US" sz="2400" b="1" cap="none" spc="0">
                          <a:solidFill>
                            <a:schemeClr val="accent1"/>
                          </a:solidFill>
                        </a:rPr>
                        <a:t>09</a:t>
                      </a:r>
                    </a:p>
                  </a:txBody>
                  <a:tcPr marL="101741" marR="101741" marT="101741" marB="10174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US" sz="2000" b="0" cap="none" spc="0" dirty="0">
                          <a:solidFill>
                            <a:schemeClr val="tx1"/>
                          </a:solidFill>
                        </a:rPr>
                        <a:t>Patient Level Readmission Data</a:t>
                      </a:r>
                    </a:p>
                  </a:txBody>
                  <a:tcPr marL="101741" marR="101741" marT="101741" marB="10174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588678260"/>
                  </a:ext>
                </a:extLst>
              </a:tr>
              <a:tr h="592359">
                <a:tc>
                  <a:txBody>
                    <a:bodyPr/>
                    <a:lstStyle/>
                    <a:p>
                      <a:pPr algn="ctr">
                        <a:buNone/>
                      </a:pPr>
                      <a:r>
                        <a:rPr lang="en-US" sz="2400" b="1" cap="none" spc="0">
                          <a:solidFill>
                            <a:schemeClr val="accent1"/>
                          </a:solidFill>
                        </a:rPr>
                        <a:t>10</a:t>
                      </a:r>
                    </a:p>
                  </a:txBody>
                  <a:tcPr marL="101741" marR="101741" marT="101741" marB="101741"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lgn="l">
                        <a:buNone/>
                      </a:pPr>
                      <a:r>
                        <a:rPr lang="en-US" sz="2000" b="0" cap="none" spc="0" dirty="0">
                          <a:solidFill>
                            <a:schemeClr val="tx1"/>
                          </a:solidFill>
                        </a:rPr>
                        <a:t>Overall 30-Day Readmission Rate</a:t>
                      </a:r>
                    </a:p>
                  </a:txBody>
                  <a:tcPr marL="101741" marR="101741" marT="101741" marB="101741"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3836504394"/>
                  </a:ext>
                </a:extLst>
              </a:tr>
            </a:tbl>
          </a:graphicData>
        </a:graphic>
      </p:graphicFrame>
    </p:spTree>
    <p:extLst>
      <p:ext uri="{BB962C8B-B14F-4D97-AF65-F5344CB8AC3E}">
        <p14:creationId xmlns:p14="http://schemas.microsoft.com/office/powerpoint/2010/main" val="1170542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0C52A3-7F82-DE2D-53A9-4B801535D346}"/>
              </a:ext>
            </a:extLst>
          </p:cNvPr>
          <p:cNvSpPr>
            <a:spLocks noGrp="1"/>
          </p:cNvSpPr>
          <p:nvPr>
            <p:ph type="title"/>
          </p:nvPr>
        </p:nvSpPr>
        <p:spPr>
          <a:xfrm>
            <a:off x="586478" y="1683756"/>
            <a:ext cx="3115265" cy="2396359"/>
          </a:xfrm>
        </p:spPr>
        <p:txBody>
          <a:bodyPr anchor="b">
            <a:normAutofit/>
          </a:bodyPr>
          <a:lstStyle/>
          <a:p>
            <a:pPr algn="r"/>
            <a:r>
              <a:rPr lang="en-US" sz="4000" dirty="0">
                <a:solidFill>
                  <a:srgbClr val="FFFFFF"/>
                </a:solidFill>
              </a:rPr>
              <a:t>01. Define AMI Cohort</a:t>
            </a:r>
          </a:p>
        </p:txBody>
      </p:sp>
      <p:graphicFrame>
        <p:nvGraphicFramePr>
          <p:cNvPr id="5" name="Content Placeholder 2">
            <a:extLst>
              <a:ext uri="{FF2B5EF4-FFF2-40B4-BE49-F238E27FC236}">
                <a16:creationId xmlns:a16="http://schemas.microsoft.com/office/drawing/2014/main" id="{DAD864F5-4915-1BCC-3108-CB83533D2C80}"/>
              </a:ext>
            </a:extLst>
          </p:cNvPr>
          <p:cNvGraphicFramePr>
            <a:graphicFrameLocks noGrp="1"/>
          </p:cNvGraphicFramePr>
          <p:nvPr>
            <p:ph idx="1"/>
            <p:extLst>
              <p:ext uri="{D42A27DB-BD31-4B8C-83A1-F6EECF244321}">
                <p14:modId xmlns:p14="http://schemas.microsoft.com/office/powerpoint/2010/main" val="2998907454"/>
              </p:ext>
            </p:extLst>
          </p:nvPr>
        </p:nvGraphicFramePr>
        <p:xfrm>
          <a:off x="4624302" y="750440"/>
          <a:ext cx="6947583" cy="56249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9579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68B26-6C28-708F-444E-69F89921CCAD}"/>
              </a:ext>
            </a:extLst>
          </p:cNvPr>
          <p:cNvSpPr>
            <a:spLocks noGrp="1"/>
          </p:cNvSpPr>
          <p:nvPr>
            <p:ph type="title"/>
          </p:nvPr>
        </p:nvSpPr>
        <p:spPr>
          <a:xfrm>
            <a:off x="609601" y="502020"/>
            <a:ext cx="5850512" cy="609328"/>
          </a:xfrm>
        </p:spPr>
        <p:txBody>
          <a:bodyPr vert="horz" lIns="91440" tIns="45720" rIns="91440" bIns="45720" rtlCol="0" anchor="b">
            <a:normAutofit fontScale="90000"/>
          </a:bodyPr>
          <a:lstStyle/>
          <a:p>
            <a:r>
              <a:rPr lang="en-US" sz="4000" kern="1200" dirty="0">
                <a:solidFill>
                  <a:schemeClr val="tx1"/>
                </a:solidFill>
                <a:latin typeface="+mj-lt"/>
                <a:ea typeface="+mj-ea"/>
                <a:cs typeface="+mj-cs"/>
              </a:rPr>
              <a:t>Query 1 Statement</a:t>
            </a:r>
          </a:p>
        </p:txBody>
      </p:sp>
      <p:sp>
        <p:nvSpPr>
          <p:cNvPr id="3" name="Content Placeholder 2">
            <a:extLst>
              <a:ext uri="{FF2B5EF4-FFF2-40B4-BE49-F238E27FC236}">
                <a16:creationId xmlns:a16="http://schemas.microsoft.com/office/drawing/2014/main" id="{51903391-571F-5D38-8587-9636937D9176}"/>
              </a:ext>
            </a:extLst>
          </p:cNvPr>
          <p:cNvSpPr>
            <a:spLocks noGrp="1"/>
          </p:cNvSpPr>
          <p:nvPr>
            <p:ph sz="half" idx="1"/>
          </p:nvPr>
        </p:nvSpPr>
        <p:spPr>
          <a:xfrm>
            <a:off x="609600" y="1252025"/>
            <a:ext cx="6733735" cy="5148341"/>
          </a:xfrm>
        </p:spPr>
        <p:txBody>
          <a:bodyPr vert="horz" lIns="91440" tIns="45720" rIns="91440" bIns="45720" rtlCol="0" anchor="t">
            <a:normAutofit fontScale="85000" lnSpcReduction="20000"/>
          </a:bodyPr>
          <a:lstStyle/>
          <a:p>
            <a:pPr marL="0"/>
            <a:endParaRPr lang="en-US" sz="800" dirty="0"/>
          </a:p>
          <a:p>
            <a:pPr marL="0" indent="0">
              <a:buNone/>
            </a:pPr>
            <a:r>
              <a:rPr lang="en-US" sz="2000" dirty="0"/>
              <a:t>WITH </a:t>
            </a:r>
            <a:r>
              <a:rPr lang="en-US" sz="2000" dirty="0" err="1"/>
              <a:t>ami_admissions</a:t>
            </a:r>
            <a:r>
              <a:rPr lang="en-US" sz="2000" dirty="0"/>
              <a:t> AS (</a:t>
            </a:r>
          </a:p>
          <a:p>
            <a:pPr marL="0" indent="0">
              <a:buNone/>
            </a:pPr>
            <a:r>
              <a:rPr lang="en-US" sz="2000" dirty="0"/>
              <a:t>  SELECT DISTINCT </a:t>
            </a:r>
            <a:r>
              <a:rPr lang="en-US" sz="2000" dirty="0" err="1"/>
              <a:t>d.subject_id</a:t>
            </a:r>
            <a:r>
              <a:rPr lang="en-US" sz="2000" dirty="0"/>
              <a:t>, </a:t>
            </a:r>
            <a:r>
              <a:rPr lang="en-US" sz="2000" dirty="0" err="1"/>
              <a:t>d.hadm_id</a:t>
            </a:r>
            <a:endParaRPr lang="en-US" sz="2000" dirty="0"/>
          </a:p>
          <a:p>
            <a:pPr marL="0" indent="0">
              <a:buNone/>
            </a:pPr>
            <a:r>
              <a:rPr lang="en-US" sz="2000" dirty="0"/>
              <a:t>  FROM `</a:t>
            </a:r>
            <a:r>
              <a:rPr lang="en-US" sz="2000" dirty="0" err="1"/>
              <a:t>physionet-data.mimiciii_clinical.diagnoses_icd</a:t>
            </a:r>
            <a:r>
              <a:rPr lang="en-US" sz="2000" dirty="0"/>
              <a:t>` d</a:t>
            </a:r>
          </a:p>
          <a:p>
            <a:pPr marL="0" indent="0">
              <a:buNone/>
            </a:pPr>
            <a:r>
              <a:rPr lang="en-US" sz="2000" dirty="0"/>
              <a:t>  JOIN `</a:t>
            </a:r>
            <a:r>
              <a:rPr lang="en-US" sz="2000" dirty="0" err="1"/>
              <a:t>physionet-data.mimiciii_clinical.admissions</a:t>
            </a:r>
            <a:r>
              <a:rPr lang="en-US" sz="2000" dirty="0"/>
              <a:t>` a</a:t>
            </a:r>
          </a:p>
          <a:p>
            <a:pPr marL="0" indent="0">
              <a:buNone/>
            </a:pPr>
            <a:r>
              <a:rPr lang="en-US" sz="2000" dirty="0"/>
              <a:t>      USING (</a:t>
            </a:r>
            <a:r>
              <a:rPr lang="en-US" sz="2000" dirty="0" err="1"/>
              <a:t>hadm_id</a:t>
            </a:r>
            <a:r>
              <a:rPr lang="en-US" sz="2000" dirty="0"/>
              <a:t>)</a:t>
            </a:r>
          </a:p>
          <a:p>
            <a:pPr marL="0" indent="0">
              <a:buNone/>
            </a:pPr>
            <a:r>
              <a:rPr lang="en-US" sz="2000" dirty="0"/>
              <a:t>  WHERE d.icd9_code LIKE '410%'</a:t>
            </a:r>
          </a:p>
          <a:p>
            <a:pPr marL="0" indent="0">
              <a:buNone/>
            </a:pPr>
            <a:r>
              <a:rPr lang="en-US" sz="2000" dirty="0"/>
              <a:t>)</a:t>
            </a:r>
          </a:p>
          <a:p>
            <a:pPr marL="0" indent="0">
              <a:buNone/>
            </a:pPr>
            <a:endParaRPr lang="en-US" sz="2000" dirty="0"/>
          </a:p>
          <a:p>
            <a:pPr marL="0" indent="0">
              <a:buNone/>
            </a:pPr>
            <a:r>
              <a:rPr lang="en-US" sz="2000" dirty="0"/>
              <a:t>SELECT</a:t>
            </a:r>
          </a:p>
          <a:p>
            <a:pPr marL="0" indent="0">
              <a:buNone/>
            </a:pPr>
            <a:r>
              <a:rPr lang="en-US" sz="2000" dirty="0"/>
              <a:t>    </a:t>
            </a:r>
            <a:r>
              <a:rPr lang="en-US" sz="2000" dirty="0" err="1"/>
              <a:t>a.subject_id</a:t>
            </a:r>
            <a:r>
              <a:rPr lang="en-US" sz="2000" dirty="0"/>
              <a:t>,</a:t>
            </a:r>
          </a:p>
          <a:p>
            <a:pPr marL="0" indent="0">
              <a:buNone/>
            </a:pPr>
            <a:r>
              <a:rPr lang="en-US" sz="2000" dirty="0"/>
              <a:t>    </a:t>
            </a:r>
            <a:r>
              <a:rPr lang="en-US" sz="2000" dirty="0" err="1"/>
              <a:t>a.hadm_id</a:t>
            </a:r>
            <a:endParaRPr lang="en-US" sz="2000" dirty="0"/>
          </a:p>
          <a:p>
            <a:pPr marL="0" indent="0">
              <a:buNone/>
            </a:pPr>
            <a:r>
              <a:rPr lang="en-US" sz="2000" dirty="0"/>
              <a:t>FROM </a:t>
            </a:r>
            <a:r>
              <a:rPr lang="en-US" sz="2000" dirty="0" err="1"/>
              <a:t>ami_admissions</a:t>
            </a:r>
            <a:r>
              <a:rPr lang="en-US" sz="2000" dirty="0"/>
              <a:t> a</a:t>
            </a:r>
          </a:p>
          <a:p>
            <a:pPr marL="0" indent="0">
              <a:buNone/>
            </a:pPr>
            <a:r>
              <a:rPr lang="en-US" sz="2000" dirty="0"/>
              <a:t>JOIN `</a:t>
            </a:r>
            <a:r>
              <a:rPr lang="en-US" sz="2000" dirty="0" err="1"/>
              <a:t>physionet-data.mimiciii_clinical.admissions</a:t>
            </a:r>
            <a:r>
              <a:rPr lang="en-US" sz="2000" dirty="0"/>
              <a:t>` </a:t>
            </a:r>
            <a:r>
              <a:rPr lang="en-US" sz="2000" dirty="0" err="1"/>
              <a:t>adm</a:t>
            </a:r>
            <a:endParaRPr lang="en-US" sz="2000" dirty="0"/>
          </a:p>
          <a:p>
            <a:pPr marL="0" indent="0">
              <a:buNone/>
            </a:pPr>
            <a:r>
              <a:rPr lang="en-US" sz="2000" dirty="0"/>
              <a:t>    USING (</a:t>
            </a:r>
            <a:r>
              <a:rPr lang="en-US" sz="2000" dirty="0" err="1"/>
              <a:t>hadm_id</a:t>
            </a:r>
            <a:r>
              <a:rPr lang="en-US" sz="2000" dirty="0"/>
              <a:t>)</a:t>
            </a:r>
          </a:p>
          <a:p>
            <a:pPr marL="0" indent="0">
              <a:buNone/>
            </a:pPr>
            <a:r>
              <a:rPr lang="en-US" sz="2000" dirty="0"/>
              <a:t>ORDER BY </a:t>
            </a:r>
            <a:r>
              <a:rPr lang="en-US" sz="2000" dirty="0" err="1"/>
              <a:t>a.subject_id</a:t>
            </a:r>
            <a:r>
              <a:rPr lang="en-US" sz="2000" dirty="0"/>
              <a:t>, </a:t>
            </a:r>
            <a:r>
              <a:rPr lang="en-US" sz="2000" dirty="0" err="1"/>
              <a:t>a.hadm_id</a:t>
            </a:r>
            <a:r>
              <a:rPr lang="en-US" sz="2000" dirty="0"/>
              <a:t>;</a:t>
            </a:r>
          </a:p>
          <a:p>
            <a:pPr marL="0"/>
            <a:endParaRPr lang="en-US" sz="800" dirty="0"/>
          </a:p>
          <a:p>
            <a:pPr marL="0"/>
            <a:endParaRPr lang="en-US" sz="800" dirty="0"/>
          </a:p>
        </p:txBody>
      </p:sp>
      <p:sp>
        <p:nvSpPr>
          <p:cNvPr id="57" name="Rectangle 56">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60">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0" name="Graphic 49" descr="Employee Badge">
            <a:extLst>
              <a:ext uri="{FF2B5EF4-FFF2-40B4-BE49-F238E27FC236}">
                <a16:creationId xmlns:a16="http://schemas.microsoft.com/office/drawing/2014/main" id="{4E9AE6C1-88C0-3017-3A0B-425F36DB0F3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52935" y="1252025"/>
            <a:ext cx="4170530" cy="4170530"/>
          </a:xfrm>
          <a:prstGeom prst="rect">
            <a:avLst/>
          </a:prstGeom>
        </p:spPr>
      </p:pic>
    </p:spTree>
    <p:extLst>
      <p:ext uri="{BB962C8B-B14F-4D97-AF65-F5344CB8AC3E}">
        <p14:creationId xmlns:p14="http://schemas.microsoft.com/office/powerpoint/2010/main" val="712368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A6641D-8C29-1B7E-D53E-8BE36E20D11D}"/>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81C181-05C4-BDB0-7F39-E7B3CFAB8951}"/>
              </a:ext>
            </a:extLst>
          </p:cNvPr>
          <p:cNvSpPr>
            <a:spLocks noGrp="1"/>
          </p:cNvSpPr>
          <p:nvPr>
            <p:ph type="title"/>
          </p:nvPr>
        </p:nvSpPr>
        <p:spPr>
          <a:xfrm>
            <a:off x="1136397" y="502020"/>
            <a:ext cx="5323715" cy="1047380"/>
          </a:xfrm>
        </p:spPr>
        <p:txBody>
          <a:bodyPr vert="horz" lIns="91440" tIns="45720" rIns="91440" bIns="45720" rtlCol="0" anchor="b">
            <a:normAutofit/>
          </a:bodyPr>
          <a:lstStyle/>
          <a:p>
            <a:r>
              <a:rPr lang="en-US" sz="4000" kern="1200" dirty="0">
                <a:solidFill>
                  <a:schemeClr val="tx1"/>
                </a:solidFill>
                <a:latin typeface="+mj-lt"/>
                <a:ea typeface="+mj-ea"/>
                <a:cs typeface="+mj-cs"/>
              </a:rPr>
              <a:t>Query 1 Result</a:t>
            </a:r>
          </a:p>
        </p:txBody>
      </p:sp>
      <p:sp>
        <p:nvSpPr>
          <p:cNvPr id="13" name="Rectangle 1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screenshot of a web page&#10;&#10;AI-generated content may be incorrect.">
            <a:extLst>
              <a:ext uri="{FF2B5EF4-FFF2-40B4-BE49-F238E27FC236}">
                <a16:creationId xmlns:a16="http://schemas.microsoft.com/office/drawing/2014/main" id="{5C5024F6-5000-DE3D-6916-6C352C80A732}"/>
              </a:ext>
            </a:extLst>
          </p:cNvPr>
          <p:cNvPicPr>
            <a:picLocks noChangeAspect="1"/>
          </p:cNvPicPr>
          <p:nvPr/>
        </p:nvPicPr>
        <p:blipFill>
          <a:blip r:embed="rId3"/>
          <a:stretch>
            <a:fillRect/>
          </a:stretch>
        </p:blipFill>
        <p:spPr>
          <a:xfrm>
            <a:off x="858128" y="2051420"/>
            <a:ext cx="10660787" cy="3464752"/>
          </a:xfrm>
          <a:prstGeom prst="rect">
            <a:avLst/>
          </a:prstGeom>
        </p:spPr>
      </p:pic>
    </p:spTree>
    <p:extLst>
      <p:ext uri="{BB962C8B-B14F-4D97-AF65-F5344CB8AC3E}">
        <p14:creationId xmlns:p14="http://schemas.microsoft.com/office/powerpoint/2010/main" val="3392115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FFFA01-2236-0D79-A46F-F030F5BEB48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156FA2E-58EF-6995-927D-7C114496F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AB0B6DF-3688-D1F4-9F5D-D5A6237184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6D3C72B-76BF-D4B7-F379-50F5D689CA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9EBAF73-1DDE-5BC9-6E8A-1853AA307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B7C1F4FF-0328-B374-C999-50411888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39967F95-D3C2-D7AE-E233-661E3F27CA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1EF6DD-C486-0EFF-1366-046F60ED0E70}"/>
              </a:ext>
            </a:extLst>
          </p:cNvPr>
          <p:cNvSpPr>
            <a:spLocks noGrp="1"/>
          </p:cNvSpPr>
          <p:nvPr>
            <p:ph type="title"/>
          </p:nvPr>
        </p:nvSpPr>
        <p:spPr>
          <a:xfrm>
            <a:off x="586478" y="1683756"/>
            <a:ext cx="3115265" cy="2396359"/>
          </a:xfrm>
        </p:spPr>
        <p:txBody>
          <a:bodyPr anchor="b">
            <a:normAutofit/>
          </a:bodyPr>
          <a:lstStyle/>
          <a:p>
            <a:pPr algn="r"/>
            <a:r>
              <a:rPr lang="en-US" sz="4000" dirty="0">
                <a:solidFill>
                  <a:srgbClr val="FFFFFF"/>
                </a:solidFill>
              </a:rPr>
              <a:t>02. Average Age at First Admission </a:t>
            </a:r>
          </a:p>
        </p:txBody>
      </p:sp>
      <p:graphicFrame>
        <p:nvGraphicFramePr>
          <p:cNvPr id="5" name="Content Placeholder 2">
            <a:extLst>
              <a:ext uri="{FF2B5EF4-FFF2-40B4-BE49-F238E27FC236}">
                <a16:creationId xmlns:a16="http://schemas.microsoft.com/office/drawing/2014/main" id="{87CF8FA6-B1C0-7B04-74D4-C221AFF1C09A}"/>
              </a:ext>
            </a:extLst>
          </p:cNvPr>
          <p:cNvGraphicFramePr>
            <a:graphicFrameLocks noGrp="1"/>
          </p:cNvGraphicFramePr>
          <p:nvPr>
            <p:ph idx="1"/>
            <p:extLst>
              <p:ext uri="{D42A27DB-BD31-4B8C-83A1-F6EECF244321}">
                <p14:modId xmlns:p14="http://schemas.microsoft.com/office/powerpoint/2010/main" val="3220824730"/>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52293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025668-75A0-0F2D-D74D-AB10690DC1F9}"/>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58CD45B8-5880-F4ED-E89E-ED3E56525B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3E33D0-190C-040F-FBBD-07637AD637AF}"/>
              </a:ext>
            </a:extLst>
          </p:cNvPr>
          <p:cNvSpPr>
            <a:spLocks noGrp="1"/>
          </p:cNvSpPr>
          <p:nvPr>
            <p:ph type="title"/>
          </p:nvPr>
        </p:nvSpPr>
        <p:spPr>
          <a:xfrm>
            <a:off x="609601" y="127001"/>
            <a:ext cx="5850512" cy="660400"/>
          </a:xfrm>
        </p:spPr>
        <p:txBody>
          <a:bodyPr vert="horz" lIns="91440" tIns="45720" rIns="91440" bIns="45720" rtlCol="0" anchor="b">
            <a:normAutofit/>
          </a:bodyPr>
          <a:lstStyle/>
          <a:p>
            <a:r>
              <a:rPr lang="en-US" sz="4000" kern="1200" dirty="0">
                <a:solidFill>
                  <a:schemeClr val="tx1"/>
                </a:solidFill>
                <a:latin typeface="+mj-lt"/>
                <a:ea typeface="+mj-ea"/>
                <a:cs typeface="+mj-cs"/>
              </a:rPr>
              <a:t>Query 2 Statement</a:t>
            </a:r>
          </a:p>
        </p:txBody>
      </p:sp>
      <p:sp>
        <p:nvSpPr>
          <p:cNvPr id="3" name="Content Placeholder 2">
            <a:extLst>
              <a:ext uri="{FF2B5EF4-FFF2-40B4-BE49-F238E27FC236}">
                <a16:creationId xmlns:a16="http://schemas.microsoft.com/office/drawing/2014/main" id="{60CA0B1C-32BA-70C1-B20D-9C23ADACBED4}"/>
              </a:ext>
            </a:extLst>
          </p:cNvPr>
          <p:cNvSpPr>
            <a:spLocks noGrp="1"/>
          </p:cNvSpPr>
          <p:nvPr>
            <p:ph sz="half" idx="1"/>
          </p:nvPr>
        </p:nvSpPr>
        <p:spPr>
          <a:xfrm>
            <a:off x="304800" y="930677"/>
            <a:ext cx="7579600" cy="5711423"/>
          </a:xfrm>
        </p:spPr>
        <p:txBody>
          <a:bodyPr vert="horz" lIns="91440" tIns="45720" rIns="91440" bIns="45720" rtlCol="0" anchor="t">
            <a:normAutofit fontScale="85000" lnSpcReduction="10000"/>
          </a:bodyPr>
          <a:lstStyle/>
          <a:p>
            <a:pPr marL="0" indent="0">
              <a:buNone/>
            </a:pPr>
            <a:r>
              <a:rPr lang="en-US" sz="1800" dirty="0"/>
              <a:t>WITH </a:t>
            </a:r>
            <a:r>
              <a:rPr lang="en-US" sz="1800" dirty="0" err="1"/>
              <a:t>first_ami_admission</a:t>
            </a:r>
            <a:r>
              <a:rPr lang="en-US" sz="1800" dirty="0"/>
              <a:t> AS (</a:t>
            </a:r>
          </a:p>
          <a:p>
            <a:pPr marL="0" indent="0">
              <a:buNone/>
            </a:pPr>
            <a:r>
              <a:rPr lang="en-US" sz="1800" dirty="0"/>
              <a:t>    SELECT </a:t>
            </a:r>
            <a:r>
              <a:rPr lang="en-US" sz="1800" dirty="0" err="1"/>
              <a:t>a.subject_id</a:t>
            </a:r>
            <a:r>
              <a:rPr lang="en-US" sz="1800" dirty="0"/>
              <a:t>, </a:t>
            </a:r>
            <a:r>
              <a:rPr lang="en-US" sz="1800" dirty="0" err="1"/>
              <a:t>a.hadm_id</a:t>
            </a:r>
            <a:r>
              <a:rPr lang="en-US" sz="1800" dirty="0"/>
              <a:t>, </a:t>
            </a:r>
            <a:r>
              <a:rPr lang="en-US" sz="1800" dirty="0" err="1"/>
              <a:t>a.admittime</a:t>
            </a:r>
            <a:r>
              <a:rPr lang="en-US" sz="1800" dirty="0"/>
              <a:t>, </a:t>
            </a:r>
            <a:r>
              <a:rPr lang="en-US" sz="1800" dirty="0" err="1"/>
              <a:t>p.gender</a:t>
            </a:r>
            <a:r>
              <a:rPr lang="en-US" sz="1800" dirty="0"/>
              <a:t>,  </a:t>
            </a:r>
            <a:r>
              <a:rPr lang="en-US" sz="1800" dirty="0" err="1"/>
              <a:t>p.dob</a:t>
            </a:r>
            <a:r>
              <a:rPr lang="en-US" sz="1800" dirty="0"/>
              <a:t>, ROW_NUMBER() OVER (</a:t>
            </a:r>
          </a:p>
          <a:p>
            <a:pPr marL="0" indent="0">
              <a:buNone/>
            </a:pPr>
            <a:r>
              <a:rPr lang="en-US" sz="1800" dirty="0"/>
              <a:t>        PARTITION BY </a:t>
            </a:r>
            <a:r>
              <a:rPr lang="en-US" sz="1800" dirty="0" err="1"/>
              <a:t>a.subject_id</a:t>
            </a:r>
            <a:endParaRPr lang="en-US" sz="1800" dirty="0"/>
          </a:p>
          <a:p>
            <a:pPr marL="0" indent="0">
              <a:buNone/>
            </a:pPr>
            <a:r>
              <a:rPr lang="en-US" sz="1800" dirty="0"/>
              <a:t>        ORDER BY </a:t>
            </a:r>
            <a:r>
              <a:rPr lang="en-US" sz="1800" dirty="0" err="1"/>
              <a:t>a.admittime</a:t>
            </a:r>
            <a:r>
              <a:rPr lang="en-US" sz="1800" dirty="0"/>
              <a:t> ASC, </a:t>
            </a:r>
            <a:r>
              <a:rPr lang="en-US" sz="1800" dirty="0" err="1"/>
              <a:t>a.hadm_id</a:t>
            </a:r>
            <a:r>
              <a:rPr lang="en-US" sz="1800" dirty="0"/>
              <a:t> ASC</a:t>
            </a:r>
          </a:p>
          <a:p>
            <a:pPr marL="0" indent="0">
              <a:buNone/>
            </a:pPr>
            <a:r>
              <a:rPr lang="en-US" sz="1800" dirty="0"/>
              <a:t>    ) AS </a:t>
            </a:r>
            <a:r>
              <a:rPr lang="en-US" sz="1800" dirty="0" err="1"/>
              <a:t>rn</a:t>
            </a:r>
            <a:endParaRPr lang="en-US" sz="1800" dirty="0"/>
          </a:p>
          <a:p>
            <a:pPr marL="0" indent="0">
              <a:buNone/>
            </a:pPr>
            <a:r>
              <a:rPr lang="en-US" sz="1800" dirty="0"/>
              <a:t>    FROM `</a:t>
            </a:r>
            <a:r>
              <a:rPr lang="en-US" sz="1800" dirty="0" err="1"/>
              <a:t>physionet-data.mimiciii_clinical.admissions</a:t>
            </a:r>
            <a:r>
              <a:rPr lang="en-US" sz="1800" dirty="0"/>
              <a:t>` a</a:t>
            </a:r>
          </a:p>
          <a:p>
            <a:pPr marL="0" indent="0">
              <a:buNone/>
            </a:pPr>
            <a:r>
              <a:rPr lang="en-US" sz="1800" dirty="0"/>
              <a:t>    JOIN `</a:t>
            </a:r>
            <a:r>
              <a:rPr lang="en-US" sz="1800" dirty="0" err="1"/>
              <a:t>physionet-data.mimiciii_clinical.patients</a:t>
            </a:r>
            <a:r>
              <a:rPr lang="en-US" sz="1800" dirty="0"/>
              <a:t>` p</a:t>
            </a:r>
          </a:p>
          <a:p>
            <a:pPr marL="0" indent="0">
              <a:buNone/>
            </a:pPr>
            <a:r>
              <a:rPr lang="en-US" sz="1800" dirty="0"/>
              <a:t>        USING (</a:t>
            </a:r>
            <a:r>
              <a:rPr lang="en-US" sz="1800" dirty="0" err="1"/>
              <a:t>subject_id</a:t>
            </a:r>
            <a:r>
              <a:rPr lang="en-US" sz="1800" dirty="0"/>
              <a:t>)</a:t>
            </a:r>
          </a:p>
          <a:p>
            <a:pPr marL="0" indent="0">
              <a:buNone/>
            </a:pPr>
            <a:r>
              <a:rPr lang="en-US" sz="1800" dirty="0"/>
              <a:t>    JOIN `</a:t>
            </a:r>
            <a:r>
              <a:rPr lang="en-US" sz="1800" dirty="0" err="1"/>
              <a:t>physionet-data.mimiciii_clinical.diagnoses_icd</a:t>
            </a:r>
            <a:r>
              <a:rPr lang="en-US" sz="1800" dirty="0"/>
              <a:t>` d</a:t>
            </a:r>
          </a:p>
          <a:p>
            <a:pPr marL="0" indent="0">
              <a:buNone/>
            </a:pPr>
            <a:r>
              <a:rPr lang="en-US" sz="1800" dirty="0"/>
              <a:t>        USING (</a:t>
            </a:r>
            <a:r>
              <a:rPr lang="en-US" sz="1800" dirty="0" err="1"/>
              <a:t>hadm_id</a:t>
            </a:r>
            <a:r>
              <a:rPr lang="en-US" sz="1800" dirty="0"/>
              <a:t>)</a:t>
            </a:r>
          </a:p>
          <a:p>
            <a:pPr marL="0" indent="0">
              <a:buNone/>
            </a:pPr>
            <a:r>
              <a:rPr lang="en-US" sz="1800" dirty="0"/>
              <a:t>    WHERE d.icd9_code LIKE '410%'  AND </a:t>
            </a:r>
            <a:r>
              <a:rPr lang="en-US" sz="1800" dirty="0" err="1"/>
              <a:t>a.admittime</a:t>
            </a:r>
            <a:r>
              <a:rPr lang="en-US" sz="1800" dirty="0"/>
              <a:t> IS NOT NULL</a:t>
            </a:r>
          </a:p>
          <a:p>
            <a:pPr marL="0" indent="0">
              <a:buNone/>
            </a:pPr>
            <a:r>
              <a:rPr lang="en-US" sz="1800" dirty="0"/>
              <a:t>)</a:t>
            </a:r>
          </a:p>
          <a:p>
            <a:pPr marL="0" indent="0">
              <a:buNone/>
            </a:pPr>
            <a:endParaRPr lang="en-US" sz="1800" dirty="0"/>
          </a:p>
          <a:p>
            <a:pPr marL="0" indent="0">
              <a:buNone/>
            </a:pPr>
            <a:r>
              <a:rPr lang="en-US" sz="1800" dirty="0"/>
              <a:t>SELECT gender, </a:t>
            </a:r>
          </a:p>
          <a:p>
            <a:pPr marL="0" indent="0">
              <a:buNone/>
            </a:pPr>
            <a:r>
              <a:rPr lang="en-US" sz="1800" dirty="0"/>
              <a:t>ROUND(AVG(DATE_DIFF(DATE(</a:t>
            </a:r>
            <a:r>
              <a:rPr lang="en-US" sz="1800" dirty="0" err="1"/>
              <a:t>admittime</a:t>
            </a:r>
            <a:r>
              <a:rPr lang="en-US" sz="1800" dirty="0"/>
              <a:t>), DATE(dob), YEAR)), 2) AS </a:t>
            </a:r>
            <a:r>
              <a:rPr lang="en-US" sz="1800" dirty="0" err="1"/>
              <a:t>avg_age_at_first_ami</a:t>
            </a:r>
            <a:endParaRPr lang="en-US" sz="1800" dirty="0"/>
          </a:p>
          <a:p>
            <a:pPr marL="0" indent="0">
              <a:buNone/>
            </a:pPr>
            <a:r>
              <a:rPr lang="en-US" sz="1800" dirty="0"/>
              <a:t>FROM </a:t>
            </a:r>
            <a:r>
              <a:rPr lang="en-US" sz="1800" dirty="0" err="1"/>
              <a:t>first_ami_admission</a:t>
            </a:r>
            <a:endParaRPr lang="en-US" sz="1800" dirty="0"/>
          </a:p>
          <a:p>
            <a:pPr marL="0" indent="0">
              <a:buNone/>
            </a:pPr>
            <a:r>
              <a:rPr lang="en-US" sz="1800" dirty="0"/>
              <a:t>WHERE </a:t>
            </a:r>
            <a:r>
              <a:rPr lang="en-US" sz="1800" dirty="0" err="1"/>
              <a:t>rn</a:t>
            </a:r>
            <a:r>
              <a:rPr lang="en-US" sz="1800" dirty="0"/>
              <a:t> = 1 AND DATE_DIFF(DATE(</a:t>
            </a:r>
            <a:r>
              <a:rPr lang="en-US" sz="1800" dirty="0" err="1"/>
              <a:t>admittime</a:t>
            </a:r>
            <a:r>
              <a:rPr lang="en-US" sz="1800" dirty="0"/>
              <a:t>), DATE(dob), YEAR) &lt; 120</a:t>
            </a:r>
          </a:p>
          <a:p>
            <a:pPr marL="0" indent="0">
              <a:buNone/>
            </a:pPr>
            <a:r>
              <a:rPr lang="en-US" sz="1800" dirty="0"/>
              <a:t>GROUP BY gender;</a:t>
            </a:r>
          </a:p>
          <a:p>
            <a:pPr marL="0" indent="0">
              <a:buNone/>
            </a:pPr>
            <a:endParaRPr lang="en-US" sz="2000" dirty="0"/>
          </a:p>
          <a:p>
            <a:pPr marL="0"/>
            <a:endParaRPr lang="en-US" sz="800" dirty="0"/>
          </a:p>
          <a:p>
            <a:pPr marL="0"/>
            <a:endParaRPr lang="en-US" sz="800" dirty="0"/>
          </a:p>
        </p:txBody>
      </p:sp>
      <p:sp>
        <p:nvSpPr>
          <p:cNvPr id="57" name="Rectangle 56">
            <a:extLst>
              <a:ext uri="{FF2B5EF4-FFF2-40B4-BE49-F238E27FC236}">
                <a16:creationId xmlns:a16="http://schemas.microsoft.com/office/drawing/2014/main" id="{FA506C3F-4891-27D0-1A4D-ADA23C141F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4C4ECABF-0DF5-1702-6FF9-408AD1E247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60">
            <a:extLst>
              <a:ext uri="{FF2B5EF4-FFF2-40B4-BE49-F238E27FC236}">
                <a16:creationId xmlns:a16="http://schemas.microsoft.com/office/drawing/2014/main" id="{C1A9604D-1970-236F-8DED-846563276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A9C9B717-8548-7269-744F-2EBDF6569A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0" name="Graphic 49" descr="Employee Badge">
            <a:extLst>
              <a:ext uri="{FF2B5EF4-FFF2-40B4-BE49-F238E27FC236}">
                <a16:creationId xmlns:a16="http://schemas.microsoft.com/office/drawing/2014/main" id="{55A585F0-B938-961A-6A35-5A5E6C8360B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52935" y="1252025"/>
            <a:ext cx="4170530" cy="4170530"/>
          </a:xfrm>
          <a:prstGeom prst="rect">
            <a:avLst/>
          </a:prstGeom>
        </p:spPr>
      </p:pic>
    </p:spTree>
    <p:extLst>
      <p:ext uri="{BB962C8B-B14F-4D97-AF65-F5344CB8AC3E}">
        <p14:creationId xmlns:p14="http://schemas.microsoft.com/office/powerpoint/2010/main" val="1193969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B89446-6AEF-5051-992A-C429D4AAEB8B}"/>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409430-5491-688D-3485-AFF002E06A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0985C1-2150-38D6-0F00-6065B0537BB3}"/>
              </a:ext>
            </a:extLst>
          </p:cNvPr>
          <p:cNvSpPr>
            <a:spLocks noGrp="1"/>
          </p:cNvSpPr>
          <p:nvPr>
            <p:ph type="title"/>
          </p:nvPr>
        </p:nvSpPr>
        <p:spPr>
          <a:xfrm>
            <a:off x="1136397" y="502020"/>
            <a:ext cx="5323715" cy="945780"/>
          </a:xfrm>
        </p:spPr>
        <p:txBody>
          <a:bodyPr vert="horz" lIns="91440" tIns="45720" rIns="91440" bIns="45720" rtlCol="0" anchor="b">
            <a:normAutofit/>
          </a:bodyPr>
          <a:lstStyle/>
          <a:p>
            <a:r>
              <a:rPr lang="en-US" sz="4000" kern="1200" dirty="0">
                <a:solidFill>
                  <a:schemeClr val="tx1"/>
                </a:solidFill>
                <a:latin typeface="+mj-lt"/>
                <a:ea typeface="+mj-ea"/>
                <a:cs typeface="+mj-cs"/>
              </a:rPr>
              <a:t>Query 2 Result</a:t>
            </a:r>
          </a:p>
        </p:txBody>
      </p:sp>
      <p:sp>
        <p:nvSpPr>
          <p:cNvPr id="13" name="Rectangle 12">
            <a:extLst>
              <a:ext uri="{FF2B5EF4-FFF2-40B4-BE49-F238E27FC236}">
                <a16:creationId xmlns:a16="http://schemas.microsoft.com/office/drawing/2014/main" id="{D1F7D183-78F6-4569-F6F0-8E244F724B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23B0053-F49F-06B9-6BD9-71E46FB86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1172433F-9E21-F1A4-B334-2CF2DEE48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70CF7316-9449-B119-75EE-585DF94AED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Content Placeholder 19" descr="A screenshot of a computer&#10;&#10;AI-generated content may be incorrect.">
            <a:extLst>
              <a:ext uri="{FF2B5EF4-FFF2-40B4-BE49-F238E27FC236}">
                <a16:creationId xmlns:a16="http://schemas.microsoft.com/office/drawing/2014/main" id="{B0CC1155-638E-60FB-EC4B-852B2E622F7A}"/>
              </a:ext>
            </a:extLst>
          </p:cNvPr>
          <p:cNvPicPr>
            <a:picLocks noGrp="1" noChangeAspect="1"/>
          </p:cNvPicPr>
          <p:nvPr>
            <p:ph sz="half" idx="1"/>
          </p:nvPr>
        </p:nvPicPr>
        <p:blipFill>
          <a:blip r:embed="rId3"/>
          <a:stretch>
            <a:fillRect/>
          </a:stretch>
        </p:blipFill>
        <p:spPr>
          <a:xfrm>
            <a:off x="457200" y="2267579"/>
            <a:ext cx="11180712" cy="2012321"/>
          </a:xfrm>
          <a:prstGeom prst="rect">
            <a:avLst/>
          </a:prstGeom>
        </p:spPr>
      </p:pic>
    </p:spTree>
    <p:extLst>
      <p:ext uri="{BB962C8B-B14F-4D97-AF65-F5344CB8AC3E}">
        <p14:creationId xmlns:p14="http://schemas.microsoft.com/office/powerpoint/2010/main" val="3819289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677D72-2972-7155-4EE2-EF8C835F8EB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63B29B5-D6E0-58A2-CE9C-CCD5B997B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C9912C7-958B-2E51-35DF-8EC7415F45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FA2B983-5EDF-1352-80B5-DCA953625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543F277-4259-D8D6-CE16-6F1ACEF7A6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20816CF-6747-3151-F9D9-034E3D8467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3643C2B1-EAD9-6C3D-97F3-6BA5F8D8D0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888F88-C5ED-3BA8-826E-F63B4CF10804}"/>
              </a:ext>
            </a:extLst>
          </p:cNvPr>
          <p:cNvSpPr>
            <a:spLocks noGrp="1"/>
          </p:cNvSpPr>
          <p:nvPr>
            <p:ph type="title"/>
          </p:nvPr>
        </p:nvSpPr>
        <p:spPr>
          <a:xfrm>
            <a:off x="445168" y="1683756"/>
            <a:ext cx="3256575" cy="2396359"/>
          </a:xfrm>
        </p:spPr>
        <p:txBody>
          <a:bodyPr anchor="b">
            <a:normAutofit/>
          </a:bodyPr>
          <a:lstStyle/>
          <a:p>
            <a:pPr algn="r"/>
            <a:r>
              <a:rPr lang="en-US" sz="4000" dirty="0">
                <a:solidFill>
                  <a:srgbClr val="FFFFFF"/>
                </a:solidFill>
              </a:rPr>
              <a:t>03. Insurance Distribution</a:t>
            </a:r>
          </a:p>
        </p:txBody>
      </p:sp>
      <p:graphicFrame>
        <p:nvGraphicFramePr>
          <p:cNvPr id="5" name="Content Placeholder 2">
            <a:extLst>
              <a:ext uri="{FF2B5EF4-FFF2-40B4-BE49-F238E27FC236}">
                <a16:creationId xmlns:a16="http://schemas.microsoft.com/office/drawing/2014/main" id="{B5103780-1837-C404-025F-3D7E37919D0D}"/>
              </a:ext>
            </a:extLst>
          </p:cNvPr>
          <p:cNvGraphicFramePr>
            <a:graphicFrameLocks noGrp="1"/>
          </p:cNvGraphicFramePr>
          <p:nvPr>
            <p:ph idx="1"/>
            <p:extLst>
              <p:ext uri="{D42A27DB-BD31-4B8C-83A1-F6EECF244321}">
                <p14:modId xmlns:p14="http://schemas.microsoft.com/office/powerpoint/2010/main" val="926498978"/>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33424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4C3205-50AC-29CD-5256-78228D25F359}"/>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AAB3CDA6-31C1-1A39-2618-8B3476401F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56F4D2-632C-E0D5-8885-CF3F9C710352}"/>
              </a:ext>
            </a:extLst>
          </p:cNvPr>
          <p:cNvSpPr>
            <a:spLocks noGrp="1"/>
          </p:cNvSpPr>
          <p:nvPr>
            <p:ph type="title"/>
          </p:nvPr>
        </p:nvSpPr>
        <p:spPr>
          <a:xfrm>
            <a:off x="457200" y="533400"/>
            <a:ext cx="5850512" cy="660400"/>
          </a:xfrm>
        </p:spPr>
        <p:txBody>
          <a:bodyPr vert="horz" lIns="91440" tIns="45720" rIns="91440" bIns="45720" rtlCol="0" anchor="b">
            <a:normAutofit/>
          </a:bodyPr>
          <a:lstStyle/>
          <a:p>
            <a:r>
              <a:rPr lang="en-US" sz="4000" kern="1200" dirty="0">
                <a:solidFill>
                  <a:schemeClr val="tx1"/>
                </a:solidFill>
                <a:latin typeface="+mj-lt"/>
                <a:ea typeface="+mj-ea"/>
                <a:cs typeface="+mj-cs"/>
              </a:rPr>
              <a:t>Query 3 Statement</a:t>
            </a:r>
          </a:p>
        </p:txBody>
      </p:sp>
      <p:sp>
        <p:nvSpPr>
          <p:cNvPr id="3" name="Content Placeholder 2">
            <a:extLst>
              <a:ext uri="{FF2B5EF4-FFF2-40B4-BE49-F238E27FC236}">
                <a16:creationId xmlns:a16="http://schemas.microsoft.com/office/drawing/2014/main" id="{F38D9E20-E23C-1089-4EEE-C291AC6C9F5A}"/>
              </a:ext>
            </a:extLst>
          </p:cNvPr>
          <p:cNvSpPr>
            <a:spLocks noGrp="1"/>
          </p:cNvSpPr>
          <p:nvPr>
            <p:ph sz="half" idx="1"/>
          </p:nvPr>
        </p:nvSpPr>
        <p:spPr>
          <a:xfrm>
            <a:off x="749300" y="1727200"/>
            <a:ext cx="6273800" cy="4597400"/>
          </a:xfrm>
        </p:spPr>
        <p:txBody>
          <a:bodyPr vert="horz" lIns="91440" tIns="45720" rIns="91440" bIns="45720" rtlCol="0" anchor="t">
            <a:normAutofit/>
          </a:bodyPr>
          <a:lstStyle/>
          <a:p>
            <a:pPr marL="0" indent="0">
              <a:buNone/>
            </a:pPr>
            <a:r>
              <a:rPr lang="en-US" sz="1800" dirty="0"/>
              <a:t>SELECT</a:t>
            </a:r>
          </a:p>
          <a:p>
            <a:pPr marL="0" indent="0">
              <a:buNone/>
            </a:pPr>
            <a:r>
              <a:rPr lang="en-US" sz="1800" dirty="0"/>
              <a:t>    UPPER(TRIM(</a:t>
            </a:r>
            <a:r>
              <a:rPr lang="en-US" sz="1800" dirty="0" err="1"/>
              <a:t>a.insurance</a:t>
            </a:r>
            <a:r>
              <a:rPr lang="en-US" sz="1800" dirty="0"/>
              <a:t>)) AS </a:t>
            </a:r>
            <a:r>
              <a:rPr lang="en-US" sz="1800" dirty="0" err="1"/>
              <a:t>insurance_type</a:t>
            </a:r>
            <a:r>
              <a:rPr lang="en-US" sz="1800" dirty="0"/>
              <a:t>,</a:t>
            </a:r>
          </a:p>
          <a:p>
            <a:pPr marL="0" indent="0">
              <a:buNone/>
            </a:pPr>
            <a:r>
              <a:rPr lang="en-US" sz="1800" dirty="0"/>
              <a:t>    COUNT(DISTINCT </a:t>
            </a:r>
            <a:r>
              <a:rPr lang="en-US" sz="1800" dirty="0" err="1"/>
              <a:t>a.hadm_id</a:t>
            </a:r>
            <a:r>
              <a:rPr lang="en-US" sz="1800" dirty="0"/>
              <a:t>) AS </a:t>
            </a:r>
            <a:r>
              <a:rPr lang="en-US" sz="1800" dirty="0" err="1"/>
              <a:t>admission_count</a:t>
            </a:r>
            <a:endParaRPr lang="en-US" sz="1800" dirty="0"/>
          </a:p>
          <a:p>
            <a:pPr marL="0" indent="0">
              <a:buNone/>
            </a:pPr>
            <a:r>
              <a:rPr lang="en-US" sz="1800" dirty="0"/>
              <a:t>FROM `</a:t>
            </a:r>
            <a:r>
              <a:rPr lang="en-US" sz="1800" dirty="0" err="1"/>
              <a:t>physionet-data.mimiciii_clinical.admissions</a:t>
            </a:r>
            <a:r>
              <a:rPr lang="en-US" sz="1800" dirty="0"/>
              <a:t>` a</a:t>
            </a:r>
          </a:p>
          <a:p>
            <a:pPr marL="0" indent="0">
              <a:buNone/>
            </a:pPr>
            <a:r>
              <a:rPr lang="en-US" sz="1800" dirty="0"/>
              <a:t>JOIN `</a:t>
            </a:r>
            <a:r>
              <a:rPr lang="en-US" sz="1800" dirty="0" err="1"/>
              <a:t>physionet-data.mimiciii_clinical.diagnoses_icd</a:t>
            </a:r>
            <a:r>
              <a:rPr lang="en-US" sz="1800" dirty="0"/>
              <a:t>` d</a:t>
            </a:r>
          </a:p>
          <a:p>
            <a:pPr marL="0" indent="0">
              <a:buNone/>
            </a:pPr>
            <a:r>
              <a:rPr lang="en-US" sz="1800" dirty="0"/>
              <a:t>  USING (</a:t>
            </a:r>
            <a:r>
              <a:rPr lang="en-US" sz="1800" dirty="0" err="1"/>
              <a:t>hadm_id</a:t>
            </a:r>
            <a:r>
              <a:rPr lang="en-US" sz="1800" dirty="0"/>
              <a:t>)</a:t>
            </a:r>
          </a:p>
          <a:p>
            <a:pPr marL="0" indent="0">
              <a:buNone/>
            </a:pPr>
            <a:r>
              <a:rPr lang="en-US" sz="1800" dirty="0"/>
              <a:t>WHERE d.icd9_code LIKE '410%'</a:t>
            </a:r>
          </a:p>
          <a:p>
            <a:pPr marL="0" indent="0">
              <a:buNone/>
            </a:pPr>
            <a:r>
              <a:rPr lang="en-US" sz="1800" dirty="0"/>
              <a:t>GROUP BY </a:t>
            </a:r>
            <a:r>
              <a:rPr lang="en-US" sz="1800" dirty="0" err="1"/>
              <a:t>insurance_type</a:t>
            </a:r>
            <a:endParaRPr lang="en-US" sz="1800" dirty="0"/>
          </a:p>
          <a:p>
            <a:pPr marL="0" indent="0">
              <a:buNone/>
            </a:pPr>
            <a:r>
              <a:rPr lang="en-US" sz="1800" dirty="0"/>
              <a:t>ORDER BY </a:t>
            </a:r>
            <a:r>
              <a:rPr lang="en-US" sz="1800" dirty="0" err="1"/>
              <a:t>admission_count</a:t>
            </a:r>
            <a:r>
              <a:rPr lang="en-US" sz="1800" dirty="0"/>
              <a:t> DESC;</a:t>
            </a:r>
          </a:p>
          <a:p>
            <a:pPr marL="0" indent="0">
              <a:buNone/>
            </a:pPr>
            <a:endParaRPr lang="en-US" sz="2000" dirty="0"/>
          </a:p>
          <a:p>
            <a:pPr marL="0"/>
            <a:endParaRPr lang="en-US" sz="800" dirty="0"/>
          </a:p>
          <a:p>
            <a:pPr marL="0"/>
            <a:endParaRPr lang="en-US" sz="800" dirty="0"/>
          </a:p>
        </p:txBody>
      </p:sp>
      <p:sp>
        <p:nvSpPr>
          <p:cNvPr id="57" name="Rectangle 56">
            <a:extLst>
              <a:ext uri="{FF2B5EF4-FFF2-40B4-BE49-F238E27FC236}">
                <a16:creationId xmlns:a16="http://schemas.microsoft.com/office/drawing/2014/main" id="{1BB659B2-1450-12DA-D16E-D4E4D246D9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55D25036-901B-52CA-3ADD-A7D20833AC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60">
            <a:extLst>
              <a:ext uri="{FF2B5EF4-FFF2-40B4-BE49-F238E27FC236}">
                <a16:creationId xmlns:a16="http://schemas.microsoft.com/office/drawing/2014/main" id="{E3247730-C4C9-243A-F40D-0E83A6DD69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9C5FC4C8-4462-D114-1324-CDA72FF16D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0" name="Graphic 49" descr="Employee Badge">
            <a:extLst>
              <a:ext uri="{FF2B5EF4-FFF2-40B4-BE49-F238E27FC236}">
                <a16:creationId xmlns:a16="http://schemas.microsoft.com/office/drawing/2014/main" id="{1B02DF0C-9B29-E842-408D-8BC642DCB83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52935" y="1252025"/>
            <a:ext cx="4170530" cy="4170530"/>
          </a:xfrm>
          <a:prstGeom prst="rect">
            <a:avLst/>
          </a:prstGeom>
        </p:spPr>
      </p:pic>
    </p:spTree>
    <p:extLst>
      <p:ext uri="{BB962C8B-B14F-4D97-AF65-F5344CB8AC3E}">
        <p14:creationId xmlns:p14="http://schemas.microsoft.com/office/powerpoint/2010/main" val="1542547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57C0FD-6A17-02F9-BDED-9E6393320F0D}"/>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85F2984-58B2-9A4D-159A-A8E3980422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880604-0AE2-613C-E1B4-09A0001D17C9}"/>
              </a:ext>
            </a:extLst>
          </p:cNvPr>
          <p:cNvSpPr>
            <a:spLocks noGrp="1"/>
          </p:cNvSpPr>
          <p:nvPr>
            <p:ph type="title"/>
          </p:nvPr>
        </p:nvSpPr>
        <p:spPr>
          <a:xfrm>
            <a:off x="1136397" y="502020"/>
            <a:ext cx="5323715" cy="945780"/>
          </a:xfrm>
        </p:spPr>
        <p:txBody>
          <a:bodyPr vert="horz" lIns="91440" tIns="45720" rIns="91440" bIns="45720" rtlCol="0" anchor="b">
            <a:normAutofit/>
          </a:bodyPr>
          <a:lstStyle/>
          <a:p>
            <a:r>
              <a:rPr lang="en-US" sz="4000" kern="1200" dirty="0">
                <a:solidFill>
                  <a:schemeClr val="tx1"/>
                </a:solidFill>
                <a:latin typeface="+mj-lt"/>
                <a:ea typeface="+mj-ea"/>
                <a:cs typeface="+mj-cs"/>
              </a:rPr>
              <a:t>Query 3 Result</a:t>
            </a:r>
          </a:p>
        </p:txBody>
      </p:sp>
      <p:sp>
        <p:nvSpPr>
          <p:cNvPr id="13" name="Rectangle 12">
            <a:extLst>
              <a:ext uri="{FF2B5EF4-FFF2-40B4-BE49-F238E27FC236}">
                <a16:creationId xmlns:a16="http://schemas.microsoft.com/office/drawing/2014/main" id="{027E7AEB-5E82-6AC2-9695-4EA6ACE28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E670893-62AC-DC5E-CB41-BD4021533E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60250297-96FE-4064-269E-A22C95E98E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96865962-1B36-379B-F31B-87883315D3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Content Placeholder 5" descr="A screenshot of a computer&#10;&#10;AI-generated content may be incorrect.">
            <a:extLst>
              <a:ext uri="{FF2B5EF4-FFF2-40B4-BE49-F238E27FC236}">
                <a16:creationId xmlns:a16="http://schemas.microsoft.com/office/drawing/2014/main" id="{810EE0AD-F0A8-1F28-01EB-8A8D4039B023}"/>
              </a:ext>
            </a:extLst>
          </p:cNvPr>
          <p:cNvPicPr>
            <a:picLocks noGrp="1" noChangeAspect="1"/>
          </p:cNvPicPr>
          <p:nvPr>
            <p:ph sz="half" idx="1"/>
          </p:nvPr>
        </p:nvPicPr>
        <p:blipFill>
          <a:blip r:embed="rId3"/>
          <a:stretch>
            <a:fillRect/>
          </a:stretch>
        </p:blipFill>
        <p:spPr>
          <a:xfrm>
            <a:off x="838199" y="1843791"/>
            <a:ext cx="8080949" cy="3102964"/>
          </a:xfrm>
          <a:prstGeom prst="rect">
            <a:avLst/>
          </a:prstGeom>
        </p:spPr>
      </p:pic>
    </p:spTree>
    <p:extLst>
      <p:ext uri="{BB962C8B-B14F-4D97-AF65-F5344CB8AC3E}">
        <p14:creationId xmlns:p14="http://schemas.microsoft.com/office/powerpoint/2010/main" val="40715410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FAD155-F1A1-8274-C7BF-3ED0B65B6BD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CED2242-1964-9AF6-BD5D-C1DBB0B488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CCE993F-2173-B9AB-F2E4-1DC34BEB6D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1692F8-2AA9-011C-4C6A-8F757481D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DC9774B-501D-D7BE-B510-AE8629D36C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91FEE017-8979-9BA5-3DE8-6A12D951EA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BE6F429B-A368-522C-520B-7D1905836F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4B71EB-27BD-FF5B-AB65-772E4D98D16D}"/>
              </a:ext>
            </a:extLst>
          </p:cNvPr>
          <p:cNvSpPr>
            <a:spLocks noGrp="1"/>
          </p:cNvSpPr>
          <p:nvPr>
            <p:ph type="title"/>
          </p:nvPr>
        </p:nvSpPr>
        <p:spPr>
          <a:xfrm>
            <a:off x="445168" y="1683756"/>
            <a:ext cx="3256575" cy="2396359"/>
          </a:xfrm>
        </p:spPr>
        <p:txBody>
          <a:bodyPr anchor="b">
            <a:normAutofit/>
          </a:bodyPr>
          <a:lstStyle/>
          <a:p>
            <a:pPr algn="r"/>
            <a:r>
              <a:rPr lang="en-US" sz="4000" dirty="0">
                <a:solidFill>
                  <a:srgbClr val="FFFFFF"/>
                </a:solidFill>
              </a:rPr>
              <a:t>04. Length of Stay (LOS) Statistics</a:t>
            </a:r>
          </a:p>
        </p:txBody>
      </p:sp>
      <p:graphicFrame>
        <p:nvGraphicFramePr>
          <p:cNvPr id="5" name="Content Placeholder 2">
            <a:extLst>
              <a:ext uri="{FF2B5EF4-FFF2-40B4-BE49-F238E27FC236}">
                <a16:creationId xmlns:a16="http://schemas.microsoft.com/office/drawing/2014/main" id="{149A58E4-6C81-6927-1007-A3F5D52FF4A9}"/>
              </a:ext>
            </a:extLst>
          </p:cNvPr>
          <p:cNvGraphicFramePr>
            <a:graphicFrameLocks noGrp="1"/>
          </p:cNvGraphicFramePr>
          <p:nvPr>
            <p:ph idx="1"/>
            <p:extLst>
              <p:ext uri="{D42A27DB-BD31-4B8C-83A1-F6EECF244321}">
                <p14:modId xmlns:p14="http://schemas.microsoft.com/office/powerpoint/2010/main" val="775676721"/>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98823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ED23E2-6975-5C33-63E4-A9E4B889C0C5}"/>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D7089C03-9317-1FAD-69B1-9980FC6CA2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29F293-99C6-19DF-BEA7-03A621C040AC}"/>
              </a:ext>
            </a:extLst>
          </p:cNvPr>
          <p:cNvSpPr>
            <a:spLocks noGrp="1"/>
          </p:cNvSpPr>
          <p:nvPr>
            <p:ph type="title"/>
          </p:nvPr>
        </p:nvSpPr>
        <p:spPr>
          <a:xfrm>
            <a:off x="457200" y="215900"/>
            <a:ext cx="5850512" cy="660400"/>
          </a:xfrm>
        </p:spPr>
        <p:txBody>
          <a:bodyPr vert="horz" lIns="91440" tIns="45720" rIns="91440" bIns="45720" rtlCol="0" anchor="b">
            <a:normAutofit/>
          </a:bodyPr>
          <a:lstStyle/>
          <a:p>
            <a:r>
              <a:rPr lang="en-US" sz="4000" kern="1200" dirty="0">
                <a:solidFill>
                  <a:schemeClr val="tx1"/>
                </a:solidFill>
                <a:latin typeface="+mj-lt"/>
                <a:ea typeface="+mj-ea"/>
                <a:cs typeface="+mj-cs"/>
              </a:rPr>
              <a:t>Query 4 Statement</a:t>
            </a:r>
          </a:p>
        </p:txBody>
      </p:sp>
      <p:sp>
        <p:nvSpPr>
          <p:cNvPr id="3" name="Content Placeholder 2">
            <a:extLst>
              <a:ext uri="{FF2B5EF4-FFF2-40B4-BE49-F238E27FC236}">
                <a16:creationId xmlns:a16="http://schemas.microsoft.com/office/drawing/2014/main" id="{B603B4FD-A183-ECF1-E6C4-DBF14E958F8B}"/>
              </a:ext>
            </a:extLst>
          </p:cNvPr>
          <p:cNvSpPr>
            <a:spLocks noGrp="1"/>
          </p:cNvSpPr>
          <p:nvPr>
            <p:ph sz="half" idx="1"/>
          </p:nvPr>
        </p:nvSpPr>
        <p:spPr>
          <a:xfrm>
            <a:off x="622300" y="990600"/>
            <a:ext cx="7262100" cy="5651501"/>
          </a:xfrm>
        </p:spPr>
        <p:txBody>
          <a:bodyPr vert="horz" lIns="91440" tIns="45720" rIns="91440" bIns="45720" rtlCol="0" anchor="t">
            <a:normAutofit fontScale="92500" lnSpcReduction="20000"/>
          </a:bodyPr>
          <a:lstStyle/>
          <a:p>
            <a:pPr marL="0" indent="0">
              <a:buNone/>
            </a:pPr>
            <a:r>
              <a:rPr lang="en-US" sz="1800" dirty="0"/>
              <a:t>SELECT </a:t>
            </a:r>
            <a:r>
              <a:rPr lang="en-US" sz="1800" dirty="0" err="1"/>
              <a:t>p.gender</a:t>
            </a:r>
            <a:r>
              <a:rPr lang="en-US" sz="1800" dirty="0"/>
              <a:t>,</a:t>
            </a:r>
          </a:p>
          <a:p>
            <a:pPr marL="0" indent="0">
              <a:buNone/>
            </a:pPr>
            <a:r>
              <a:rPr lang="en-US" sz="1800" dirty="0"/>
              <a:t>    ROUND(AVG(</a:t>
            </a:r>
            <a:r>
              <a:rPr lang="en-US" sz="1800" dirty="0" err="1"/>
              <a:t>los_days</a:t>
            </a:r>
            <a:r>
              <a:rPr lang="en-US" sz="1800" dirty="0"/>
              <a:t>), 2) AS </a:t>
            </a:r>
            <a:r>
              <a:rPr lang="en-US" sz="1800" dirty="0" err="1"/>
              <a:t>avg_los_days</a:t>
            </a:r>
            <a:r>
              <a:rPr lang="en-US" sz="1800" dirty="0"/>
              <a:t>,</a:t>
            </a:r>
          </a:p>
          <a:p>
            <a:pPr marL="0" indent="0">
              <a:buNone/>
            </a:pPr>
            <a:r>
              <a:rPr lang="en-US" sz="1800" dirty="0"/>
              <a:t>    MIN(</a:t>
            </a:r>
            <a:r>
              <a:rPr lang="en-US" sz="1800" dirty="0" err="1"/>
              <a:t>los_days</a:t>
            </a:r>
            <a:r>
              <a:rPr lang="en-US" sz="1800" dirty="0"/>
              <a:t>) AS </a:t>
            </a:r>
            <a:r>
              <a:rPr lang="en-US" sz="1800" dirty="0" err="1"/>
              <a:t>min_los_days</a:t>
            </a:r>
            <a:r>
              <a:rPr lang="en-US" sz="1800" dirty="0"/>
              <a:t>,</a:t>
            </a:r>
          </a:p>
          <a:p>
            <a:pPr marL="0" indent="0">
              <a:buNone/>
            </a:pPr>
            <a:r>
              <a:rPr lang="en-US" sz="1800" dirty="0"/>
              <a:t>    MAX(</a:t>
            </a:r>
            <a:r>
              <a:rPr lang="en-US" sz="1800" dirty="0" err="1"/>
              <a:t>los_days</a:t>
            </a:r>
            <a:r>
              <a:rPr lang="en-US" sz="1800" dirty="0"/>
              <a:t>) AS </a:t>
            </a:r>
            <a:r>
              <a:rPr lang="en-US" sz="1800" dirty="0" err="1"/>
              <a:t>max_los_days</a:t>
            </a:r>
            <a:endParaRPr lang="en-US" sz="1800" dirty="0"/>
          </a:p>
          <a:p>
            <a:pPr marL="0" indent="0">
              <a:buNone/>
            </a:pPr>
            <a:r>
              <a:rPr lang="en-US" sz="1800" dirty="0"/>
              <a:t>FROM (</a:t>
            </a:r>
          </a:p>
          <a:p>
            <a:pPr marL="0" indent="0">
              <a:buNone/>
            </a:pPr>
            <a:r>
              <a:rPr lang="en-US" sz="1800" dirty="0"/>
              <a:t>    SELECT </a:t>
            </a:r>
            <a:r>
              <a:rPr lang="en-US" sz="1800" dirty="0" err="1"/>
              <a:t>a.hadm_id</a:t>
            </a:r>
            <a:r>
              <a:rPr lang="en-US" sz="1800" dirty="0"/>
              <a:t>, </a:t>
            </a:r>
            <a:r>
              <a:rPr lang="en-US" sz="1800" dirty="0" err="1"/>
              <a:t>a.subject_id</a:t>
            </a:r>
            <a:r>
              <a:rPr lang="en-US" sz="1800" dirty="0"/>
              <a:t>,</a:t>
            </a:r>
          </a:p>
          <a:p>
            <a:pPr marL="0" indent="0">
              <a:buNone/>
            </a:pPr>
            <a:r>
              <a:rPr lang="en-US" sz="1800" dirty="0"/>
              <a:t>      DATETIME_DIFF(</a:t>
            </a:r>
            <a:r>
              <a:rPr lang="en-US" sz="1800" dirty="0" err="1"/>
              <a:t>a.dischtime</a:t>
            </a:r>
            <a:r>
              <a:rPr lang="en-US" sz="1800" dirty="0"/>
              <a:t>, </a:t>
            </a:r>
            <a:r>
              <a:rPr lang="en-US" sz="1800" dirty="0" err="1"/>
              <a:t>a.admittime</a:t>
            </a:r>
            <a:r>
              <a:rPr lang="en-US" sz="1800" dirty="0"/>
              <a:t>, DAY) AS </a:t>
            </a:r>
            <a:r>
              <a:rPr lang="en-US" sz="1800" dirty="0" err="1"/>
              <a:t>los_days</a:t>
            </a:r>
            <a:endParaRPr lang="en-US" sz="1800" dirty="0"/>
          </a:p>
          <a:p>
            <a:pPr marL="0" indent="0">
              <a:buNone/>
            </a:pPr>
            <a:r>
              <a:rPr lang="en-US" sz="1800" dirty="0"/>
              <a:t>    FROM `</a:t>
            </a:r>
            <a:r>
              <a:rPr lang="en-US" sz="1800" dirty="0" err="1"/>
              <a:t>physionet-data.mimiciii_clinical.admissions</a:t>
            </a:r>
            <a:r>
              <a:rPr lang="en-US" sz="1800" dirty="0"/>
              <a:t>` a</a:t>
            </a:r>
          </a:p>
          <a:p>
            <a:pPr marL="0" indent="0">
              <a:buNone/>
            </a:pPr>
            <a:r>
              <a:rPr lang="en-US" sz="1800" dirty="0"/>
              <a:t>    JOIN `</a:t>
            </a:r>
            <a:r>
              <a:rPr lang="en-US" sz="1800" dirty="0" err="1"/>
              <a:t>physionet-data.mimiciii_clinical.diagnoses_icd</a:t>
            </a:r>
            <a:r>
              <a:rPr lang="en-US" sz="1800" dirty="0"/>
              <a:t>` d</a:t>
            </a:r>
          </a:p>
          <a:p>
            <a:pPr marL="0" indent="0">
              <a:buNone/>
            </a:pPr>
            <a:r>
              <a:rPr lang="en-US" sz="1800" dirty="0"/>
              <a:t>        ON </a:t>
            </a:r>
            <a:r>
              <a:rPr lang="en-US" sz="1800" dirty="0" err="1"/>
              <a:t>a.hadm_id</a:t>
            </a:r>
            <a:r>
              <a:rPr lang="en-US" sz="1800" dirty="0"/>
              <a:t> = </a:t>
            </a:r>
            <a:r>
              <a:rPr lang="en-US" sz="1800" dirty="0" err="1"/>
              <a:t>d.hadm_id</a:t>
            </a:r>
            <a:endParaRPr lang="en-US" sz="1800" dirty="0"/>
          </a:p>
          <a:p>
            <a:pPr marL="0" indent="0">
              <a:buNone/>
            </a:pPr>
            <a:r>
              <a:rPr lang="en-US" sz="1800" dirty="0"/>
              <a:t>    WHERE d.icd9_code LIKE '410%'</a:t>
            </a:r>
          </a:p>
          <a:p>
            <a:pPr marL="0" indent="0">
              <a:buNone/>
            </a:pPr>
            <a:r>
              <a:rPr lang="en-US" sz="1800" dirty="0"/>
              <a:t>      AND </a:t>
            </a:r>
            <a:r>
              <a:rPr lang="en-US" sz="1800" dirty="0" err="1"/>
              <a:t>a.dischtime</a:t>
            </a:r>
            <a:r>
              <a:rPr lang="en-US" sz="1800" dirty="0"/>
              <a:t> IS NOT NULL</a:t>
            </a:r>
          </a:p>
          <a:p>
            <a:pPr marL="0" indent="0">
              <a:buNone/>
            </a:pPr>
            <a:r>
              <a:rPr lang="en-US" sz="1800" dirty="0"/>
              <a:t>      AND </a:t>
            </a:r>
            <a:r>
              <a:rPr lang="en-US" sz="1800" dirty="0" err="1"/>
              <a:t>a.admittime</a:t>
            </a:r>
            <a:r>
              <a:rPr lang="en-US" sz="1800" dirty="0"/>
              <a:t> IS NOT NULL</a:t>
            </a:r>
          </a:p>
          <a:p>
            <a:pPr marL="0" indent="0">
              <a:buNone/>
            </a:pPr>
            <a:r>
              <a:rPr lang="en-US" sz="1800" dirty="0"/>
              <a:t>) sub</a:t>
            </a:r>
          </a:p>
          <a:p>
            <a:pPr marL="0" indent="0">
              <a:buNone/>
            </a:pPr>
            <a:r>
              <a:rPr lang="en-US" sz="1800" dirty="0"/>
              <a:t>JOIN `</a:t>
            </a:r>
            <a:r>
              <a:rPr lang="en-US" sz="1800" dirty="0" err="1"/>
              <a:t>physionet-data.mimiciii_clinical.patients</a:t>
            </a:r>
            <a:r>
              <a:rPr lang="en-US" sz="1800" dirty="0"/>
              <a:t>` p</a:t>
            </a:r>
          </a:p>
          <a:p>
            <a:pPr marL="0" indent="0">
              <a:buNone/>
            </a:pPr>
            <a:r>
              <a:rPr lang="en-US" sz="1800" dirty="0"/>
              <a:t>    ON </a:t>
            </a:r>
            <a:r>
              <a:rPr lang="en-US" sz="1800" dirty="0" err="1"/>
              <a:t>sub.subject_id</a:t>
            </a:r>
            <a:r>
              <a:rPr lang="en-US" sz="1800" dirty="0"/>
              <a:t> = </a:t>
            </a:r>
            <a:r>
              <a:rPr lang="en-US" sz="1800" dirty="0" err="1"/>
              <a:t>p.subject_id</a:t>
            </a:r>
            <a:endParaRPr lang="en-US" sz="1800" dirty="0"/>
          </a:p>
          <a:p>
            <a:pPr marL="0" indent="0">
              <a:buNone/>
            </a:pPr>
            <a:r>
              <a:rPr lang="en-US" sz="1800" dirty="0"/>
              <a:t>GROUP BY </a:t>
            </a:r>
            <a:r>
              <a:rPr lang="en-US" sz="1800" dirty="0" err="1"/>
              <a:t>p.gender</a:t>
            </a:r>
            <a:endParaRPr lang="en-US" sz="1800" dirty="0"/>
          </a:p>
          <a:p>
            <a:pPr marL="0" indent="0">
              <a:buNone/>
            </a:pPr>
            <a:r>
              <a:rPr lang="en-US" sz="1800" dirty="0"/>
              <a:t>ORDER BY </a:t>
            </a:r>
            <a:r>
              <a:rPr lang="en-US" sz="1800" dirty="0" err="1"/>
              <a:t>avg_los_days</a:t>
            </a:r>
            <a:r>
              <a:rPr lang="en-US" sz="1800" dirty="0"/>
              <a:t> DESC;</a:t>
            </a:r>
          </a:p>
          <a:p>
            <a:pPr marL="0" indent="0">
              <a:buNone/>
            </a:pPr>
            <a:endParaRPr lang="en-US" sz="2000" dirty="0"/>
          </a:p>
          <a:p>
            <a:pPr marL="0"/>
            <a:endParaRPr lang="en-US" sz="800" dirty="0"/>
          </a:p>
          <a:p>
            <a:pPr marL="0"/>
            <a:endParaRPr lang="en-US" sz="800" dirty="0"/>
          </a:p>
        </p:txBody>
      </p:sp>
      <p:sp>
        <p:nvSpPr>
          <p:cNvPr id="57" name="Rectangle 56">
            <a:extLst>
              <a:ext uri="{FF2B5EF4-FFF2-40B4-BE49-F238E27FC236}">
                <a16:creationId xmlns:a16="http://schemas.microsoft.com/office/drawing/2014/main" id="{7B23C809-755A-6191-8F92-78996242D0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DC4F1C3E-6E62-7CD6-0047-B2C1C3E12F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60">
            <a:extLst>
              <a:ext uri="{FF2B5EF4-FFF2-40B4-BE49-F238E27FC236}">
                <a16:creationId xmlns:a16="http://schemas.microsoft.com/office/drawing/2014/main" id="{EE67A063-C4E0-8785-CC18-282063E11C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431F3DA0-16C6-B186-B51A-EDFCEC6412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0" name="Graphic 49" descr="Employee Badge">
            <a:extLst>
              <a:ext uri="{FF2B5EF4-FFF2-40B4-BE49-F238E27FC236}">
                <a16:creationId xmlns:a16="http://schemas.microsoft.com/office/drawing/2014/main" id="{007887B2-E728-85DC-C768-9057867B098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52935" y="1252025"/>
            <a:ext cx="4170530" cy="4170530"/>
          </a:xfrm>
          <a:prstGeom prst="rect">
            <a:avLst/>
          </a:prstGeom>
        </p:spPr>
      </p:pic>
    </p:spTree>
    <p:extLst>
      <p:ext uri="{BB962C8B-B14F-4D97-AF65-F5344CB8AC3E}">
        <p14:creationId xmlns:p14="http://schemas.microsoft.com/office/powerpoint/2010/main" val="1010322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AC33CC-5DE4-AB59-AA51-19E48853B19C}"/>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B4B4569-D3A6-6F72-BC2F-8A7A07520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342E2C-54C0-FF54-9EEC-A3AFDA2603F3}"/>
              </a:ext>
            </a:extLst>
          </p:cNvPr>
          <p:cNvSpPr>
            <a:spLocks noGrp="1"/>
          </p:cNvSpPr>
          <p:nvPr>
            <p:ph type="title"/>
          </p:nvPr>
        </p:nvSpPr>
        <p:spPr>
          <a:xfrm>
            <a:off x="1136397" y="502020"/>
            <a:ext cx="5323715" cy="945780"/>
          </a:xfrm>
        </p:spPr>
        <p:txBody>
          <a:bodyPr vert="horz" lIns="91440" tIns="45720" rIns="91440" bIns="45720" rtlCol="0" anchor="b">
            <a:normAutofit/>
          </a:bodyPr>
          <a:lstStyle/>
          <a:p>
            <a:r>
              <a:rPr lang="en-US" sz="4000" kern="1200" dirty="0">
                <a:solidFill>
                  <a:schemeClr val="tx1"/>
                </a:solidFill>
                <a:latin typeface="+mj-lt"/>
                <a:ea typeface="+mj-ea"/>
                <a:cs typeface="+mj-cs"/>
              </a:rPr>
              <a:t>Query 4 Result</a:t>
            </a:r>
          </a:p>
        </p:txBody>
      </p:sp>
      <p:sp>
        <p:nvSpPr>
          <p:cNvPr id="13" name="Rectangle 12">
            <a:extLst>
              <a:ext uri="{FF2B5EF4-FFF2-40B4-BE49-F238E27FC236}">
                <a16:creationId xmlns:a16="http://schemas.microsoft.com/office/drawing/2014/main" id="{BD5DB28F-5842-C4DB-3821-12094D940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B17ADE5-43ED-7DBD-F03C-0BE9F556F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A6D51173-52D8-008B-30E4-9AE223296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7022F7F5-BCFC-3123-5449-5D6BD1E7B1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Content Placeholder 11" descr="A screenshot of a computer&#10;&#10;AI-generated content may be incorrect.">
            <a:extLst>
              <a:ext uri="{FF2B5EF4-FFF2-40B4-BE49-F238E27FC236}">
                <a16:creationId xmlns:a16="http://schemas.microsoft.com/office/drawing/2014/main" id="{549B6197-DECA-26B4-35F0-9C4E6D1F39FB}"/>
              </a:ext>
            </a:extLst>
          </p:cNvPr>
          <p:cNvPicPr>
            <a:picLocks noGrp="1" noChangeAspect="1"/>
          </p:cNvPicPr>
          <p:nvPr>
            <p:ph sz="half" idx="1"/>
          </p:nvPr>
        </p:nvPicPr>
        <p:blipFill>
          <a:blip r:embed="rId3"/>
          <a:stretch>
            <a:fillRect/>
          </a:stretch>
        </p:blipFill>
        <p:spPr>
          <a:xfrm>
            <a:off x="914399" y="2030747"/>
            <a:ext cx="10197307" cy="2301410"/>
          </a:xfrm>
          <a:prstGeom prst="rect">
            <a:avLst/>
          </a:prstGeom>
        </p:spPr>
      </p:pic>
    </p:spTree>
    <p:extLst>
      <p:ext uri="{BB962C8B-B14F-4D97-AF65-F5344CB8AC3E}">
        <p14:creationId xmlns:p14="http://schemas.microsoft.com/office/powerpoint/2010/main" val="2503144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F7EE4C-325B-291D-80D9-0904EE6D5B3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7F409FA-2B14-F749-CC2C-5C239149F7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E284910-F4FB-8628-2672-283942A351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FB5AB2D-2157-638D-F923-B26346B7B8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E52EA0D-CADF-A315-6473-8DBE89BD8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B791D2E1-0631-0D66-56A5-9DA52DA7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5A171BEE-ADEE-6F07-BC32-E922B43A1B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EF5AE4-8E22-54E5-8DE8-12329F36066F}"/>
              </a:ext>
            </a:extLst>
          </p:cNvPr>
          <p:cNvSpPr>
            <a:spLocks noGrp="1"/>
          </p:cNvSpPr>
          <p:nvPr>
            <p:ph type="title"/>
          </p:nvPr>
        </p:nvSpPr>
        <p:spPr>
          <a:xfrm>
            <a:off x="445168" y="1683756"/>
            <a:ext cx="3256575" cy="2396359"/>
          </a:xfrm>
        </p:spPr>
        <p:txBody>
          <a:bodyPr anchor="b">
            <a:normAutofit/>
          </a:bodyPr>
          <a:lstStyle/>
          <a:p>
            <a:pPr algn="r"/>
            <a:r>
              <a:rPr lang="en-US" sz="4000" dirty="0">
                <a:solidFill>
                  <a:srgbClr val="FFFFFF"/>
                </a:solidFill>
              </a:rPr>
              <a:t>05. ICU Utilization by Age Group</a:t>
            </a:r>
          </a:p>
        </p:txBody>
      </p:sp>
      <p:graphicFrame>
        <p:nvGraphicFramePr>
          <p:cNvPr id="5" name="Content Placeholder 2">
            <a:extLst>
              <a:ext uri="{FF2B5EF4-FFF2-40B4-BE49-F238E27FC236}">
                <a16:creationId xmlns:a16="http://schemas.microsoft.com/office/drawing/2014/main" id="{DFC76C9D-6F06-9162-228C-9BCA87ADE548}"/>
              </a:ext>
            </a:extLst>
          </p:cNvPr>
          <p:cNvGraphicFramePr>
            <a:graphicFrameLocks noGrp="1"/>
          </p:cNvGraphicFramePr>
          <p:nvPr>
            <p:ph idx="1"/>
            <p:extLst>
              <p:ext uri="{D42A27DB-BD31-4B8C-83A1-F6EECF244321}">
                <p14:modId xmlns:p14="http://schemas.microsoft.com/office/powerpoint/2010/main" val="2936365911"/>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36613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82E5C0-1401-89E3-B262-681B66ADD07C}"/>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AF462718-AABE-8940-66AE-B7AC01B55A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910299-B659-E263-C61F-6D157C8B76C6}"/>
              </a:ext>
            </a:extLst>
          </p:cNvPr>
          <p:cNvSpPr>
            <a:spLocks noGrp="1"/>
          </p:cNvSpPr>
          <p:nvPr>
            <p:ph type="title"/>
          </p:nvPr>
        </p:nvSpPr>
        <p:spPr>
          <a:xfrm>
            <a:off x="457200" y="375725"/>
            <a:ext cx="5850512" cy="660400"/>
          </a:xfrm>
        </p:spPr>
        <p:txBody>
          <a:bodyPr vert="horz" lIns="91440" tIns="45720" rIns="91440" bIns="45720" rtlCol="0" anchor="b">
            <a:normAutofit/>
          </a:bodyPr>
          <a:lstStyle/>
          <a:p>
            <a:r>
              <a:rPr lang="en-US" sz="4000" kern="1200" dirty="0">
                <a:solidFill>
                  <a:schemeClr val="tx1"/>
                </a:solidFill>
                <a:latin typeface="+mj-lt"/>
                <a:ea typeface="+mj-ea"/>
                <a:cs typeface="+mj-cs"/>
              </a:rPr>
              <a:t>Query 5 Statement</a:t>
            </a:r>
          </a:p>
        </p:txBody>
      </p:sp>
      <p:sp>
        <p:nvSpPr>
          <p:cNvPr id="3" name="Content Placeholder 2">
            <a:extLst>
              <a:ext uri="{FF2B5EF4-FFF2-40B4-BE49-F238E27FC236}">
                <a16:creationId xmlns:a16="http://schemas.microsoft.com/office/drawing/2014/main" id="{57E97315-CF33-99AB-7ED3-8329BFD2A2BA}"/>
              </a:ext>
            </a:extLst>
          </p:cNvPr>
          <p:cNvSpPr>
            <a:spLocks noGrp="1"/>
          </p:cNvSpPr>
          <p:nvPr>
            <p:ph sz="half" idx="1"/>
          </p:nvPr>
        </p:nvSpPr>
        <p:spPr>
          <a:xfrm>
            <a:off x="330200" y="1252025"/>
            <a:ext cx="7554200" cy="5390075"/>
          </a:xfrm>
        </p:spPr>
        <p:txBody>
          <a:bodyPr vert="horz" lIns="91440" tIns="45720" rIns="91440" bIns="45720" rtlCol="0" anchor="t">
            <a:normAutofit/>
          </a:bodyPr>
          <a:lstStyle/>
          <a:p>
            <a:pPr marL="0" indent="0">
              <a:buNone/>
            </a:pPr>
            <a:r>
              <a:rPr lang="en-US" sz="1800" dirty="0"/>
              <a:t>WITH </a:t>
            </a:r>
            <a:r>
              <a:rPr lang="en-US" sz="1800" dirty="0" err="1"/>
              <a:t>ami_with_age</a:t>
            </a:r>
            <a:r>
              <a:rPr lang="en-US" sz="1800" dirty="0"/>
              <a:t> AS (</a:t>
            </a:r>
          </a:p>
          <a:p>
            <a:pPr marL="0" indent="0">
              <a:buNone/>
            </a:pPr>
            <a:r>
              <a:rPr lang="en-US" sz="1800" dirty="0"/>
              <a:t>    SELECT</a:t>
            </a:r>
          </a:p>
          <a:p>
            <a:pPr marL="0" indent="0">
              <a:buNone/>
            </a:pPr>
            <a:r>
              <a:rPr lang="en-US" sz="1800" dirty="0"/>
              <a:t>        </a:t>
            </a:r>
            <a:r>
              <a:rPr lang="en-US" sz="1800" dirty="0" err="1"/>
              <a:t>a.hadm_id</a:t>
            </a:r>
            <a:r>
              <a:rPr lang="en-US" sz="1800" dirty="0"/>
              <a:t>, </a:t>
            </a:r>
            <a:r>
              <a:rPr lang="en-US" sz="1800" dirty="0" err="1"/>
              <a:t>a.subject_id</a:t>
            </a:r>
            <a:r>
              <a:rPr lang="en-US" sz="1800" dirty="0"/>
              <a:t>,</a:t>
            </a:r>
          </a:p>
          <a:p>
            <a:pPr marL="0" indent="0">
              <a:buNone/>
            </a:pPr>
            <a:r>
              <a:rPr lang="en-US" sz="1800" dirty="0"/>
              <a:t>DATE_DIFF(DATE(</a:t>
            </a:r>
            <a:r>
              <a:rPr lang="en-US" sz="1800" dirty="0" err="1"/>
              <a:t>a.admittime</a:t>
            </a:r>
            <a:r>
              <a:rPr lang="en-US" sz="1800" dirty="0"/>
              <a:t>), DATE(</a:t>
            </a:r>
            <a:r>
              <a:rPr lang="en-US" sz="1800" dirty="0" err="1"/>
              <a:t>p.dob</a:t>
            </a:r>
            <a:r>
              <a:rPr lang="en-US" sz="1800" dirty="0"/>
              <a:t>), YEAR) AS </a:t>
            </a:r>
            <a:r>
              <a:rPr lang="en-US" sz="1800" dirty="0" err="1"/>
              <a:t>age_at_admission</a:t>
            </a:r>
            <a:endParaRPr lang="en-US" sz="1800" dirty="0"/>
          </a:p>
          <a:p>
            <a:pPr marL="0" indent="0">
              <a:buNone/>
            </a:pPr>
            <a:r>
              <a:rPr lang="en-US" sz="1800" dirty="0"/>
              <a:t>    FROM `</a:t>
            </a:r>
            <a:r>
              <a:rPr lang="en-US" sz="1800" dirty="0" err="1"/>
              <a:t>physionet-data.mimiciii_clinical.admissions</a:t>
            </a:r>
            <a:r>
              <a:rPr lang="en-US" sz="1800" dirty="0"/>
              <a:t>` a</a:t>
            </a:r>
          </a:p>
          <a:p>
            <a:pPr marL="0" indent="0">
              <a:buNone/>
            </a:pPr>
            <a:r>
              <a:rPr lang="en-US" sz="1800" dirty="0"/>
              <a:t>    JOIN `</a:t>
            </a:r>
            <a:r>
              <a:rPr lang="en-US" sz="1800" dirty="0" err="1"/>
              <a:t>physionet-data.mimiciii_clinical.diagnoses_icd</a:t>
            </a:r>
            <a:r>
              <a:rPr lang="en-US" sz="1800" dirty="0"/>
              <a:t>` d</a:t>
            </a:r>
          </a:p>
          <a:p>
            <a:pPr marL="0" indent="0">
              <a:buNone/>
            </a:pPr>
            <a:r>
              <a:rPr lang="en-US" sz="1800" dirty="0"/>
              <a:t>        ON </a:t>
            </a:r>
            <a:r>
              <a:rPr lang="en-US" sz="1800" dirty="0" err="1"/>
              <a:t>a.hadm_id</a:t>
            </a:r>
            <a:r>
              <a:rPr lang="en-US" sz="1800" dirty="0"/>
              <a:t> = </a:t>
            </a:r>
            <a:r>
              <a:rPr lang="en-US" sz="1800" dirty="0" err="1"/>
              <a:t>d.hadm_id</a:t>
            </a:r>
            <a:endParaRPr lang="en-US" sz="1800" dirty="0"/>
          </a:p>
          <a:p>
            <a:pPr marL="0" indent="0">
              <a:buNone/>
            </a:pPr>
            <a:r>
              <a:rPr lang="en-US" sz="1800" dirty="0"/>
              <a:t>    JOIN `</a:t>
            </a:r>
            <a:r>
              <a:rPr lang="en-US" sz="1800" dirty="0" err="1"/>
              <a:t>physionet-data.mimiciii_clinical.patients</a:t>
            </a:r>
            <a:r>
              <a:rPr lang="en-US" sz="1800" dirty="0"/>
              <a:t>` p</a:t>
            </a:r>
          </a:p>
          <a:p>
            <a:pPr marL="0" indent="0">
              <a:buNone/>
            </a:pPr>
            <a:r>
              <a:rPr lang="en-US" sz="1800" dirty="0"/>
              <a:t>        ON </a:t>
            </a:r>
            <a:r>
              <a:rPr lang="en-US" sz="1800" dirty="0" err="1"/>
              <a:t>a.subject_id</a:t>
            </a:r>
            <a:r>
              <a:rPr lang="en-US" sz="1800" dirty="0"/>
              <a:t> = </a:t>
            </a:r>
            <a:r>
              <a:rPr lang="en-US" sz="1800" dirty="0" err="1"/>
              <a:t>p.subject_id</a:t>
            </a:r>
            <a:endParaRPr lang="en-US" sz="1800" dirty="0"/>
          </a:p>
          <a:p>
            <a:pPr marL="0" indent="0">
              <a:buNone/>
            </a:pPr>
            <a:r>
              <a:rPr lang="en-US" sz="1800" dirty="0"/>
              <a:t>    WHERE d.icd9_code LIKE '410%'</a:t>
            </a:r>
          </a:p>
          <a:p>
            <a:pPr marL="0" indent="0">
              <a:buNone/>
            </a:pPr>
            <a:r>
              <a:rPr lang="en-US" sz="1800" dirty="0"/>
              <a:t>      AND </a:t>
            </a:r>
            <a:r>
              <a:rPr lang="en-US" sz="1800" dirty="0" err="1"/>
              <a:t>a.admittime</a:t>
            </a:r>
            <a:r>
              <a:rPr lang="en-US" sz="1800" dirty="0"/>
              <a:t> IS NOT NULL</a:t>
            </a:r>
          </a:p>
          <a:p>
            <a:pPr marL="0" indent="0">
              <a:buNone/>
            </a:pPr>
            <a:r>
              <a:rPr lang="en-US" sz="1800" dirty="0"/>
              <a:t>      AND DATE_DIFF(DATE(</a:t>
            </a:r>
            <a:r>
              <a:rPr lang="en-US" sz="1800" dirty="0" err="1"/>
              <a:t>a.admittime</a:t>
            </a:r>
            <a:r>
              <a:rPr lang="en-US" sz="1800" dirty="0"/>
              <a:t>), DATE(</a:t>
            </a:r>
            <a:r>
              <a:rPr lang="en-US" sz="1800" dirty="0" err="1"/>
              <a:t>p.dob</a:t>
            </a:r>
            <a:r>
              <a:rPr lang="en-US" sz="1800" dirty="0"/>
              <a:t>), YEAR) &lt; 120</a:t>
            </a:r>
          </a:p>
          <a:p>
            <a:pPr marL="0" indent="0">
              <a:buNone/>
            </a:pPr>
            <a:r>
              <a:rPr lang="en-US" sz="1800" dirty="0"/>
              <a:t>)</a:t>
            </a:r>
          </a:p>
          <a:p>
            <a:pPr marL="0" indent="0">
              <a:buNone/>
            </a:pPr>
            <a:endParaRPr lang="en-US" sz="2000" dirty="0"/>
          </a:p>
          <a:p>
            <a:pPr marL="0"/>
            <a:endParaRPr lang="en-US" sz="800" dirty="0"/>
          </a:p>
          <a:p>
            <a:pPr marL="0"/>
            <a:endParaRPr lang="en-US" sz="800" dirty="0"/>
          </a:p>
        </p:txBody>
      </p:sp>
      <p:sp>
        <p:nvSpPr>
          <p:cNvPr id="57" name="Rectangle 56">
            <a:extLst>
              <a:ext uri="{FF2B5EF4-FFF2-40B4-BE49-F238E27FC236}">
                <a16:creationId xmlns:a16="http://schemas.microsoft.com/office/drawing/2014/main" id="{B9891042-B64D-203C-700B-6F364226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036B9940-FBFE-C28C-A231-F0BA9C15AB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60">
            <a:extLst>
              <a:ext uri="{FF2B5EF4-FFF2-40B4-BE49-F238E27FC236}">
                <a16:creationId xmlns:a16="http://schemas.microsoft.com/office/drawing/2014/main" id="{C4688FAC-B2E5-D39F-C01A-CE24D14483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3B2E45A6-C52B-A266-7FD7-36BAE6700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0" name="Graphic 49" descr="Employee Badge">
            <a:extLst>
              <a:ext uri="{FF2B5EF4-FFF2-40B4-BE49-F238E27FC236}">
                <a16:creationId xmlns:a16="http://schemas.microsoft.com/office/drawing/2014/main" id="{BC4B19E3-3A47-4177-F2D6-9C3F62501D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52935" y="1252025"/>
            <a:ext cx="4170530" cy="4170530"/>
          </a:xfrm>
          <a:prstGeom prst="rect">
            <a:avLst/>
          </a:prstGeom>
        </p:spPr>
      </p:pic>
    </p:spTree>
    <p:extLst>
      <p:ext uri="{BB962C8B-B14F-4D97-AF65-F5344CB8AC3E}">
        <p14:creationId xmlns:p14="http://schemas.microsoft.com/office/powerpoint/2010/main" val="12450419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822F4F-1212-A42B-E987-4581A9DB0062}"/>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2F055805-E4B7-F3BD-A40C-4C9C409482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915E06-6469-2458-AA2F-C6495FA5E195}"/>
              </a:ext>
            </a:extLst>
          </p:cNvPr>
          <p:cNvSpPr>
            <a:spLocks noGrp="1"/>
          </p:cNvSpPr>
          <p:nvPr>
            <p:ph type="title"/>
          </p:nvPr>
        </p:nvSpPr>
        <p:spPr>
          <a:xfrm>
            <a:off x="457200" y="375725"/>
            <a:ext cx="7023100" cy="660400"/>
          </a:xfrm>
        </p:spPr>
        <p:txBody>
          <a:bodyPr vert="horz" lIns="91440" tIns="45720" rIns="91440" bIns="45720" rtlCol="0" anchor="b">
            <a:normAutofit/>
          </a:bodyPr>
          <a:lstStyle/>
          <a:p>
            <a:r>
              <a:rPr lang="en-US" sz="4000" kern="1200" dirty="0">
                <a:solidFill>
                  <a:schemeClr val="tx1"/>
                </a:solidFill>
                <a:latin typeface="+mj-lt"/>
                <a:ea typeface="+mj-ea"/>
                <a:cs typeface="+mj-cs"/>
              </a:rPr>
              <a:t>Query 5 Statement…continued</a:t>
            </a:r>
          </a:p>
        </p:txBody>
      </p:sp>
      <p:sp>
        <p:nvSpPr>
          <p:cNvPr id="3" name="Content Placeholder 2">
            <a:extLst>
              <a:ext uri="{FF2B5EF4-FFF2-40B4-BE49-F238E27FC236}">
                <a16:creationId xmlns:a16="http://schemas.microsoft.com/office/drawing/2014/main" id="{9E15CE52-545A-0BF8-222C-C463D4A0989E}"/>
              </a:ext>
            </a:extLst>
          </p:cNvPr>
          <p:cNvSpPr>
            <a:spLocks noGrp="1"/>
          </p:cNvSpPr>
          <p:nvPr>
            <p:ph sz="half" idx="1"/>
          </p:nvPr>
        </p:nvSpPr>
        <p:spPr>
          <a:xfrm>
            <a:off x="292100" y="1252025"/>
            <a:ext cx="7762698" cy="5390075"/>
          </a:xfrm>
        </p:spPr>
        <p:txBody>
          <a:bodyPr vert="horz" lIns="91440" tIns="45720" rIns="91440" bIns="45720" rtlCol="0" anchor="t">
            <a:normAutofit fontScale="92500" lnSpcReduction="20000"/>
          </a:bodyPr>
          <a:lstStyle/>
          <a:p>
            <a:pPr marL="0" indent="0">
              <a:buNone/>
            </a:pPr>
            <a:r>
              <a:rPr lang="en-US" sz="1800" dirty="0"/>
              <a:t>SELECT</a:t>
            </a:r>
          </a:p>
          <a:p>
            <a:pPr marL="0" indent="0">
              <a:buNone/>
            </a:pPr>
            <a:r>
              <a:rPr lang="en-US" sz="1800" dirty="0"/>
              <a:t>    CASE</a:t>
            </a:r>
          </a:p>
          <a:p>
            <a:pPr marL="0" indent="0">
              <a:buNone/>
            </a:pPr>
            <a:r>
              <a:rPr lang="en-US" sz="1800" dirty="0"/>
              <a:t>        WHEN </a:t>
            </a:r>
            <a:r>
              <a:rPr lang="en-US" sz="1800" dirty="0" err="1"/>
              <a:t>age_at_admission</a:t>
            </a:r>
            <a:r>
              <a:rPr lang="en-US" sz="1800" dirty="0"/>
              <a:t> &lt; 40 THEN '&lt;40'</a:t>
            </a:r>
          </a:p>
          <a:p>
            <a:pPr marL="0" indent="0">
              <a:buNone/>
            </a:pPr>
            <a:r>
              <a:rPr lang="en-US" sz="1800" dirty="0"/>
              <a:t>        WHEN </a:t>
            </a:r>
            <a:r>
              <a:rPr lang="en-US" sz="1800" dirty="0" err="1"/>
              <a:t>age_at_admission</a:t>
            </a:r>
            <a:r>
              <a:rPr lang="en-US" sz="1800" dirty="0"/>
              <a:t> BETWEEN 40 AND 49 THEN '40-49'</a:t>
            </a:r>
          </a:p>
          <a:p>
            <a:pPr marL="0" indent="0">
              <a:buNone/>
            </a:pPr>
            <a:r>
              <a:rPr lang="en-US" sz="1800" dirty="0"/>
              <a:t>        WHEN </a:t>
            </a:r>
            <a:r>
              <a:rPr lang="en-US" sz="1800" dirty="0" err="1"/>
              <a:t>age_at_admission</a:t>
            </a:r>
            <a:r>
              <a:rPr lang="en-US" sz="1800" dirty="0"/>
              <a:t> BETWEEN 50 AND 59 THEN '50-59'</a:t>
            </a:r>
          </a:p>
          <a:p>
            <a:pPr marL="0" indent="0">
              <a:buNone/>
            </a:pPr>
            <a:r>
              <a:rPr lang="en-US" sz="1800" dirty="0"/>
              <a:t>        WHEN </a:t>
            </a:r>
            <a:r>
              <a:rPr lang="en-US" sz="1800" dirty="0" err="1"/>
              <a:t>age_at_admission</a:t>
            </a:r>
            <a:r>
              <a:rPr lang="en-US" sz="1800" dirty="0"/>
              <a:t> BETWEEN 60 AND 69 THEN '60-69'</a:t>
            </a:r>
          </a:p>
          <a:p>
            <a:pPr marL="0" indent="0">
              <a:buNone/>
            </a:pPr>
            <a:r>
              <a:rPr lang="en-US" sz="1800" dirty="0"/>
              <a:t>        WHEN </a:t>
            </a:r>
            <a:r>
              <a:rPr lang="en-US" sz="1800" dirty="0" err="1"/>
              <a:t>age_at_admission</a:t>
            </a:r>
            <a:r>
              <a:rPr lang="en-US" sz="1800" dirty="0"/>
              <a:t> BETWEEN 70 AND 79 THEN '70-79'</a:t>
            </a:r>
          </a:p>
          <a:p>
            <a:pPr marL="0" indent="0">
              <a:buNone/>
            </a:pPr>
            <a:r>
              <a:rPr lang="en-US" sz="1800" dirty="0"/>
              <a:t>        ELSE '80+'</a:t>
            </a:r>
          </a:p>
          <a:p>
            <a:pPr marL="0" indent="0">
              <a:buNone/>
            </a:pPr>
            <a:r>
              <a:rPr lang="en-US" sz="1800" dirty="0"/>
              <a:t>    END AS </a:t>
            </a:r>
            <a:r>
              <a:rPr lang="en-US" sz="1800" dirty="0" err="1"/>
              <a:t>age_group</a:t>
            </a:r>
            <a:r>
              <a:rPr lang="en-US" sz="1800" dirty="0"/>
              <a:t>,</a:t>
            </a:r>
          </a:p>
          <a:p>
            <a:pPr marL="0" indent="0">
              <a:buNone/>
            </a:pPr>
            <a:r>
              <a:rPr lang="en-US" sz="1800" dirty="0"/>
              <a:t>    COUNT(DISTINCT </a:t>
            </a:r>
            <a:r>
              <a:rPr lang="en-US" sz="1800" dirty="0" err="1"/>
              <a:t>a.hadm_id</a:t>
            </a:r>
            <a:r>
              <a:rPr lang="en-US" sz="1800" dirty="0"/>
              <a:t>) AS </a:t>
            </a:r>
            <a:r>
              <a:rPr lang="en-US" sz="1800" dirty="0" err="1"/>
              <a:t>total_ami_admissions</a:t>
            </a:r>
            <a:r>
              <a:rPr lang="en-US" sz="1800" dirty="0"/>
              <a:t>,</a:t>
            </a:r>
          </a:p>
          <a:p>
            <a:pPr marL="0" indent="0">
              <a:buNone/>
            </a:pPr>
            <a:r>
              <a:rPr lang="en-US" sz="1800" dirty="0"/>
              <a:t>    COUNT(DISTINCT </a:t>
            </a:r>
            <a:r>
              <a:rPr lang="en-US" sz="1800" dirty="0" err="1"/>
              <a:t>i.hadm_id</a:t>
            </a:r>
            <a:r>
              <a:rPr lang="en-US" sz="1800" dirty="0"/>
              <a:t>) AS </a:t>
            </a:r>
            <a:r>
              <a:rPr lang="en-US" sz="1800" dirty="0" err="1"/>
              <a:t>icu_admissions</a:t>
            </a:r>
            <a:r>
              <a:rPr lang="en-US" sz="1800" dirty="0"/>
              <a:t>,</a:t>
            </a:r>
          </a:p>
          <a:p>
            <a:pPr marL="0" indent="0">
              <a:buNone/>
            </a:pPr>
            <a:r>
              <a:rPr lang="en-US" sz="1800" dirty="0"/>
              <a:t>    ROUND(COUNT(DISTINCT </a:t>
            </a:r>
            <a:r>
              <a:rPr lang="en-US" sz="1800" dirty="0" err="1"/>
              <a:t>i.hadm_id</a:t>
            </a:r>
            <a:r>
              <a:rPr lang="en-US" sz="1800" dirty="0"/>
              <a:t>) * 100.0 / COUNT(DISTINCT </a:t>
            </a:r>
            <a:r>
              <a:rPr lang="en-US" sz="1800" dirty="0" err="1"/>
              <a:t>a.hadm_id</a:t>
            </a:r>
            <a:r>
              <a:rPr lang="en-US" sz="1800" dirty="0"/>
              <a:t>), 2) AS </a:t>
            </a:r>
            <a:r>
              <a:rPr lang="en-US" sz="1800" dirty="0" err="1"/>
              <a:t>icu_utilization_pct</a:t>
            </a:r>
            <a:endParaRPr lang="en-US" sz="1800" dirty="0"/>
          </a:p>
          <a:p>
            <a:pPr marL="0" indent="0">
              <a:buNone/>
            </a:pPr>
            <a:r>
              <a:rPr lang="en-US" sz="1800" dirty="0"/>
              <a:t>FROM </a:t>
            </a:r>
            <a:r>
              <a:rPr lang="en-US" sz="1800" dirty="0" err="1"/>
              <a:t>ami_with_age</a:t>
            </a:r>
            <a:r>
              <a:rPr lang="en-US" sz="1800" dirty="0"/>
              <a:t> a</a:t>
            </a:r>
          </a:p>
          <a:p>
            <a:pPr marL="0" indent="0">
              <a:buNone/>
            </a:pPr>
            <a:r>
              <a:rPr lang="en-US" sz="1800" dirty="0"/>
              <a:t>LEFT JOIN `</a:t>
            </a:r>
            <a:r>
              <a:rPr lang="en-US" sz="1800" dirty="0" err="1"/>
              <a:t>physionet-data.mimiciii_clinical.icustays</a:t>
            </a:r>
            <a:r>
              <a:rPr lang="en-US" sz="1800" dirty="0"/>
              <a:t>` </a:t>
            </a:r>
            <a:r>
              <a:rPr lang="en-US" sz="1800" dirty="0" err="1"/>
              <a:t>i</a:t>
            </a:r>
            <a:endParaRPr lang="en-US" sz="1800" dirty="0"/>
          </a:p>
          <a:p>
            <a:pPr marL="0" indent="0">
              <a:buNone/>
            </a:pPr>
            <a:r>
              <a:rPr lang="en-US" sz="1800" dirty="0"/>
              <a:t>    ON </a:t>
            </a:r>
            <a:r>
              <a:rPr lang="en-US" sz="1800" dirty="0" err="1"/>
              <a:t>a.hadm_id</a:t>
            </a:r>
            <a:r>
              <a:rPr lang="en-US" sz="1800" dirty="0"/>
              <a:t> = </a:t>
            </a:r>
            <a:r>
              <a:rPr lang="en-US" sz="1800" dirty="0" err="1"/>
              <a:t>i.hadm_id</a:t>
            </a:r>
            <a:endParaRPr lang="en-US" sz="1800" dirty="0"/>
          </a:p>
          <a:p>
            <a:pPr marL="0" indent="0">
              <a:buNone/>
            </a:pPr>
            <a:r>
              <a:rPr lang="en-US" sz="1800" dirty="0"/>
              <a:t>GROUP BY </a:t>
            </a:r>
            <a:r>
              <a:rPr lang="en-US" sz="1800" dirty="0" err="1"/>
              <a:t>age_group</a:t>
            </a:r>
            <a:endParaRPr lang="en-US" sz="1800" dirty="0"/>
          </a:p>
          <a:p>
            <a:pPr marL="0" indent="0">
              <a:buNone/>
            </a:pPr>
            <a:r>
              <a:rPr lang="en-US" sz="1800" dirty="0"/>
              <a:t>ORDER BY </a:t>
            </a:r>
            <a:r>
              <a:rPr lang="en-US" sz="1800" dirty="0" err="1"/>
              <a:t>icu_admissions</a:t>
            </a:r>
            <a:r>
              <a:rPr lang="en-US" sz="1800" dirty="0"/>
              <a:t> desc;</a:t>
            </a:r>
          </a:p>
          <a:p>
            <a:pPr marL="0" indent="0">
              <a:buNone/>
            </a:pPr>
            <a:endParaRPr lang="en-US" sz="2000" dirty="0"/>
          </a:p>
          <a:p>
            <a:pPr marL="0"/>
            <a:endParaRPr lang="en-US" sz="800" dirty="0"/>
          </a:p>
          <a:p>
            <a:pPr marL="0"/>
            <a:endParaRPr lang="en-US" sz="800" dirty="0"/>
          </a:p>
        </p:txBody>
      </p:sp>
      <p:sp>
        <p:nvSpPr>
          <p:cNvPr id="57" name="Rectangle 56">
            <a:extLst>
              <a:ext uri="{FF2B5EF4-FFF2-40B4-BE49-F238E27FC236}">
                <a16:creationId xmlns:a16="http://schemas.microsoft.com/office/drawing/2014/main" id="{0D635E4F-55DD-5D7D-FDBB-76DD7D12B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8F110955-B3BB-B2EC-7AF6-17048BFBBF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60">
            <a:extLst>
              <a:ext uri="{FF2B5EF4-FFF2-40B4-BE49-F238E27FC236}">
                <a16:creationId xmlns:a16="http://schemas.microsoft.com/office/drawing/2014/main" id="{AE9F2359-4FF4-85E9-72D9-1E2057223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58683FF8-FF7E-A9D7-B909-73468494AF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0" name="Graphic 49" descr="Employee Badge">
            <a:extLst>
              <a:ext uri="{FF2B5EF4-FFF2-40B4-BE49-F238E27FC236}">
                <a16:creationId xmlns:a16="http://schemas.microsoft.com/office/drawing/2014/main" id="{8D4D7E1E-DBFA-9D4F-539A-8C55A8B85B4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52935" y="1252025"/>
            <a:ext cx="4170530" cy="4170530"/>
          </a:xfrm>
          <a:prstGeom prst="rect">
            <a:avLst/>
          </a:prstGeom>
        </p:spPr>
      </p:pic>
    </p:spTree>
    <p:extLst>
      <p:ext uri="{BB962C8B-B14F-4D97-AF65-F5344CB8AC3E}">
        <p14:creationId xmlns:p14="http://schemas.microsoft.com/office/powerpoint/2010/main" val="33728881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15D9DD-2881-3FF2-8C26-55831B6B5BE4}"/>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40A4F06-F410-0A67-7E95-95E44D55A9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8B03D1-B2D1-630F-509D-8670FA8ADFC2}"/>
              </a:ext>
            </a:extLst>
          </p:cNvPr>
          <p:cNvSpPr>
            <a:spLocks noGrp="1"/>
          </p:cNvSpPr>
          <p:nvPr>
            <p:ph type="title"/>
          </p:nvPr>
        </p:nvSpPr>
        <p:spPr>
          <a:xfrm>
            <a:off x="1136397" y="502020"/>
            <a:ext cx="5323715" cy="945780"/>
          </a:xfrm>
        </p:spPr>
        <p:txBody>
          <a:bodyPr vert="horz" lIns="91440" tIns="45720" rIns="91440" bIns="45720" rtlCol="0" anchor="b">
            <a:normAutofit/>
          </a:bodyPr>
          <a:lstStyle/>
          <a:p>
            <a:r>
              <a:rPr lang="en-US" sz="4000" kern="1200" dirty="0">
                <a:solidFill>
                  <a:schemeClr val="tx1"/>
                </a:solidFill>
                <a:latin typeface="+mj-lt"/>
                <a:ea typeface="+mj-ea"/>
                <a:cs typeface="+mj-cs"/>
              </a:rPr>
              <a:t>Query 5 Result</a:t>
            </a:r>
          </a:p>
        </p:txBody>
      </p:sp>
      <p:sp>
        <p:nvSpPr>
          <p:cNvPr id="13" name="Rectangle 12">
            <a:extLst>
              <a:ext uri="{FF2B5EF4-FFF2-40B4-BE49-F238E27FC236}">
                <a16:creationId xmlns:a16="http://schemas.microsoft.com/office/drawing/2014/main" id="{1FA38701-E9D8-75F9-B0E0-9D374B7E01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13DCF24-8744-FEFC-8330-E283F4144A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2B2DE14F-0525-0E23-5BB9-DE7734667E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AAC9A91C-FC4F-FEFF-4A18-3E06229E5A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Content Placeholder 9" descr="A screenshot of a computer&#10;&#10;AI-generated content may be incorrect.">
            <a:extLst>
              <a:ext uri="{FF2B5EF4-FFF2-40B4-BE49-F238E27FC236}">
                <a16:creationId xmlns:a16="http://schemas.microsoft.com/office/drawing/2014/main" id="{9D96FB65-6A23-7654-4AB9-A362739B7DE5}"/>
              </a:ext>
            </a:extLst>
          </p:cNvPr>
          <p:cNvPicPr>
            <a:picLocks noGrp="1" noChangeAspect="1"/>
          </p:cNvPicPr>
          <p:nvPr>
            <p:ph sz="half" idx="1"/>
          </p:nvPr>
        </p:nvPicPr>
        <p:blipFill>
          <a:blip r:embed="rId3"/>
          <a:stretch>
            <a:fillRect/>
          </a:stretch>
        </p:blipFill>
        <p:spPr>
          <a:xfrm>
            <a:off x="914400" y="2223852"/>
            <a:ext cx="10043410" cy="2584701"/>
          </a:xfrm>
          <a:prstGeom prst="rect">
            <a:avLst/>
          </a:prstGeom>
        </p:spPr>
      </p:pic>
    </p:spTree>
    <p:extLst>
      <p:ext uri="{BB962C8B-B14F-4D97-AF65-F5344CB8AC3E}">
        <p14:creationId xmlns:p14="http://schemas.microsoft.com/office/powerpoint/2010/main" val="36630861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DA44D0-7CAD-3487-0027-2EA51D80ACB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97CFC-152F-6B0C-3915-8FCB916F7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D66D7A9-D68B-C96D-4CB1-09432A4312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40D5C99-5413-A7B9-4EDA-08166E940A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18AA870-C6E7-9250-5596-0D69FDBBD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DAB9D78D-B8F5-3DB2-8FDD-2519A317E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C0C5ACFC-70CE-2F7D-0F56-7760A3DB1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0686D1-2539-3CAB-BEA0-481A4ECC7A78}"/>
              </a:ext>
            </a:extLst>
          </p:cNvPr>
          <p:cNvSpPr>
            <a:spLocks noGrp="1"/>
          </p:cNvSpPr>
          <p:nvPr>
            <p:ph type="title"/>
          </p:nvPr>
        </p:nvSpPr>
        <p:spPr>
          <a:xfrm>
            <a:off x="445168" y="1683756"/>
            <a:ext cx="3256575" cy="2396359"/>
          </a:xfrm>
        </p:spPr>
        <p:txBody>
          <a:bodyPr anchor="b">
            <a:normAutofit/>
          </a:bodyPr>
          <a:lstStyle/>
          <a:p>
            <a:pPr algn="r"/>
            <a:r>
              <a:rPr lang="en-US" sz="4000" dirty="0">
                <a:solidFill>
                  <a:srgbClr val="FFFFFF"/>
                </a:solidFill>
              </a:rPr>
              <a:t>06. In-Hospital Mortality</a:t>
            </a:r>
          </a:p>
        </p:txBody>
      </p:sp>
      <p:graphicFrame>
        <p:nvGraphicFramePr>
          <p:cNvPr id="5" name="Content Placeholder 2">
            <a:extLst>
              <a:ext uri="{FF2B5EF4-FFF2-40B4-BE49-F238E27FC236}">
                <a16:creationId xmlns:a16="http://schemas.microsoft.com/office/drawing/2014/main" id="{CE108DD6-E4A9-0C65-D13D-F28B99EB1C62}"/>
              </a:ext>
            </a:extLst>
          </p:cNvPr>
          <p:cNvGraphicFramePr>
            <a:graphicFrameLocks noGrp="1"/>
          </p:cNvGraphicFramePr>
          <p:nvPr>
            <p:ph idx="1"/>
            <p:extLst>
              <p:ext uri="{D42A27DB-BD31-4B8C-83A1-F6EECF244321}">
                <p14:modId xmlns:p14="http://schemas.microsoft.com/office/powerpoint/2010/main" val="2645818332"/>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899520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C941C9-6F16-547B-AA13-33B1FA912F9A}"/>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C3DD484D-D099-0339-2665-0D588E2B60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A8E27B-B2EA-58A0-26BF-BE2FFA5A502A}"/>
              </a:ext>
            </a:extLst>
          </p:cNvPr>
          <p:cNvSpPr>
            <a:spLocks noGrp="1"/>
          </p:cNvSpPr>
          <p:nvPr>
            <p:ph type="title"/>
          </p:nvPr>
        </p:nvSpPr>
        <p:spPr>
          <a:xfrm>
            <a:off x="457200" y="375725"/>
            <a:ext cx="5850512" cy="660400"/>
          </a:xfrm>
        </p:spPr>
        <p:txBody>
          <a:bodyPr vert="horz" lIns="91440" tIns="45720" rIns="91440" bIns="45720" rtlCol="0" anchor="b">
            <a:normAutofit/>
          </a:bodyPr>
          <a:lstStyle/>
          <a:p>
            <a:r>
              <a:rPr lang="en-US" sz="4000" kern="1200" dirty="0">
                <a:solidFill>
                  <a:schemeClr val="tx1"/>
                </a:solidFill>
                <a:latin typeface="+mj-lt"/>
                <a:ea typeface="+mj-ea"/>
                <a:cs typeface="+mj-cs"/>
              </a:rPr>
              <a:t>Query 6 Statement</a:t>
            </a:r>
          </a:p>
        </p:txBody>
      </p:sp>
      <p:sp>
        <p:nvSpPr>
          <p:cNvPr id="3" name="Content Placeholder 2">
            <a:extLst>
              <a:ext uri="{FF2B5EF4-FFF2-40B4-BE49-F238E27FC236}">
                <a16:creationId xmlns:a16="http://schemas.microsoft.com/office/drawing/2014/main" id="{0F166E8D-B957-5F55-0CDB-BC610BDC0DAC}"/>
              </a:ext>
            </a:extLst>
          </p:cNvPr>
          <p:cNvSpPr>
            <a:spLocks noGrp="1"/>
          </p:cNvSpPr>
          <p:nvPr>
            <p:ph sz="half" idx="1"/>
          </p:nvPr>
        </p:nvSpPr>
        <p:spPr>
          <a:xfrm>
            <a:off x="622300" y="1252025"/>
            <a:ext cx="7043833" cy="5390075"/>
          </a:xfrm>
        </p:spPr>
        <p:txBody>
          <a:bodyPr vert="horz" lIns="91440" tIns="45720" rIns="91440" bIns="45720" rtlCol="0" anchor="t">
            <a:normAutofit/>
          </a:bodyPr>
          <a:lstStyle/>
          <a:p>
            <a:pPr marL="0" indent="0">
              <a:buNone/>
            </a:pPr>
            <a:r>
              <a:rPr lang="en-US" sz="1800" dirty="0"/>
              <a:t>SELECT</a:t>
            </a:r>
          </a:p>
          <a:p>
            <a:pPr marL="0" indent="0">
              <a:buNone/>
            </a:pPr>
            <a:r>
              <a:rPr lang="en-US" sz="1800" dirty="0"/>
              <a:t>    CASE</a:t>
            </a:r>
          </a:p>
          <a:p>
            <a:pPr marL="0" indent="0">
              <a:buNone/>
            </a:pPr>
            <a:r>
              <a:rPr lang="en-US" sz="1800" dirty="0"/>
              <a:t>      WHEN </a:t>
            </a:r>
            <a:r>
              <a:rPr lang="en-US" sz="1800" dirty="0" err="1"/>
              <a:t>hospital_expire_flag</a:t>
            </a:r>
            <a:r>
              <a:rPr lang="en-US" sz="1800" dirty="0"/>
              <a:t> = 1 THEN 'Expired'</a:t>
            </a:r>
          </a:p>
          <a:p>
            <a:pPr marL="0" indent="0">
              <a:buNone/>
            </a:pPr>
            <a:r>
              <a:rPr lang="en-US" sz="1800" dirty="0"/>
              <a:t>      ELSE 'Survived'</a:t>
            </a:r>
          </a:p>
          <a:p>
            <a:pPr marL="0" indent="0">
              <a:buNone/>
            </a:pPr>
            <a:r>
              <a:rPr lang="en-US" sz="1800" dirty="0"/>
              <a:t>    END AS outcome,</a:t>
            </a:r>
          </a:p>
          <a:p>
            <a:pPr marL="0" indent="0">
              <a:buNone/>
            </a:pPr>
            <a:r>
              <a:rPr lang="en-US" sz="1800" dirty="0"/>
              <a:t>    COUNT(*) AS </a:t>
            </a:r>
            <a:r>
              <a:rPr lang="en-US" sz="1800" dirty="0" err="1"/>
              <a:t>admission_count</a:t>
            </a:r>
            <a:endParaRPr lang="en-US" sz="1800" dirty="0"/>
          </a:p>
          <a:p>
            <a:pPr marL="0" indent="0">
              <a:buNone/>
            </a:pPr>
            <a:r>
              <a:rPr lang="en-US" sz="1800" dirty="0"/>
              <a:t>FROM `</a:t>
            </a:r>
            <a:r>
              <a:rPr lang="en-US" sz="1800" dirty="0" err="1"/>
              <a:t>physionet-data.mimiciii_clinical.admissions</a:t>
            </a:r>
            <a:r>
              <a:rPr lang="en-US" sz="1800" dirty="0"/>
              <a:t>` a</a:t>
            </a:r>
          </a:p>
          <a:p>
            <a:pPr marL="0" indent="0">
              <a:buNone/>
            </a:pPr>
            <a:r>
              <a:rPr lang="en-US" sz="1800" dirty="0"/>
              <a:t>JOIN `</a:t>
            </a:r>
            <a:r>
              <a:rPr lang="en-US" sz="1800" dirty="0" err="1"/>
              <a:t>physionet-data.mimiciii_clinical.diagnoses_icd</a:t>
            </a:r>
            <a:r>
              <a:rPr lang="en-US" sz="1800" dirty="0"/>
              <a:t>` d</a:t>
            </a:r>
          </a:p>
          <a:p>
            <a:pPr marL="0" indent="0">
              <a:buNone/>
            </a:pPr>
            <a:r>
              <a:rPr lang="en-US" sz="1800" dirty="0"/>
              <a:t>  USING (</a:t>
            </a:r>
            <a:r>
              <a:rPr lang="en-US" sz="1800" dirty="0" err="1"/>
              <a:t>hadm_id</a:t>
            </a:r>
            <a:r>
              <a:rPr lang="en-US" sz="1800" dirty="0"/>
              <a:t>)</a:t>
            </a:r>
          </a:p>
          <a:p>
            <a:pPr marL="0" indent="0">
              <a:buNone/>
            </a:pPr>
            <a:r>
              <a:rPr lang="en-US" sz="1800" dirty="0"/>
              <a:t>WHERE d.icd9_code LIKE '410%'</a:t>
            </a:r>
          </a:p>
          <a:p>
            <a:pPr marL="0" indent="0">
              <a:buNone/>
            </a:pPr>
            <a:r>
              <a:rPr lang="en-US" sz="1800" dirty="0"/>
              <a:t>GROUP BY outcome</a:t>
            </a:r>
          </a:p>
          <a:p>
            <a:pPr marL="0" indent="0">
              <a:buNone/>
            </a:pPr>
            <a:r>
              <a:rPr lang="en-US" sz="1800" dirty="0"/>
              <a:t>ORDER BY </a:t>
            </a:r>
            <a:r>
              <a:rPr lang="en-US" sz="1800" dirty="0" err="1"/>
              <a:t>admission_count</a:t>
            </a:r>
            <a:r>
              <a:rPr lang="en-US" sz="1800" dirty="0"/>
              <a:t> DESC;</a:t>
            </a:r>
          </a:p>
          <a:p>
            <a:pPr marL="0" indent="0">
              <a:buNone/>
            </a:pPr>
            <a:endParaRPr lang="en-US" sz="2000" dirty="0"/>
          </a:p>
          <a:p>
            <a:pPr marL="0"/>
            <a:endParaRPr lang="en-US" sz="800" dirty="0"/>
          </a:p>
          <a:p>
            <a:pPr marL="0"/>
            <a:endParaRPr lang="en-US" sz="800" dirty="0"/>
          </a:p>
        </p:txBody>
      </p:sp>
      <p:sp>
        <p:nvSpPr>
          <p:cNvPr id="57" name="Rectangle 56">
            <a:extLst>
              <a:ext uri="{FF2B5EF4-FFF2-40B4-BE49-F238E27FC236}">
                <a16:creationId xmlns:a16="http://schemas.microsoft.com/office/drawing/2014/main" id="{B814AC83-DCCF-7DAA-8C83-7C678EFB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13BB465E-A5BA-1DE3-9925-BC6FEF17BD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60">
            <a:extLst>
              <a:ext uri="{FF2B5EF4-FFF2-40B4-BE49-F238E27FC236}">
                <a16:creationId xmlns:a16="http://schemas.microsoft.com/office/drawing/2014/main" id="{25D6C571-8AF0-FFE0-CDD6-CE33438C6C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DB95BA38-0CD1-31CA-F0A4-077A90742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0" name="Graphic 49" descr="Employee Badge">
            <a:extLst>
              <a:ext uri="{FF2B5EF4-FFF2-40B4-BE49-F238E27FC236}">
                <a16:creationId xmlns:a16="http://schemas.microsoft.com/office/drawing/2014/main" id="{B2E83C90-ABAB-8370-131C-A6CC92A130E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52935" y="1252025"/>
            <a:ext cx="4170530" cy="4170530"/>
          </a:xfrm>
          <a:prstGeom prst="rect">
            <a:avLst/>
          </a:prstGeom>
        </p:spPr>
      </p:pic>
    </p:spTree>
    <p:extLst>
      <p:ext uri="{BB962C8B-B14F-4D97-AF65-F5344CB8AC3E}">
        <p14:creationId xmlns:p14="http://schemas.microsoft.com/office/powerpoint/2010/main" val="26504894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D06CA1-55BC-938C-A755-BF8AC65A1777}"/>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BC9CAB7-549F-0222-D2F0-12BBE88D08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313470-63B0-5CA7-5520-9EC71C0596D2}"/>
              </a:ext>
            </a:extLst>
          </p:cNvPr>
          <p:cNvSpPr>
            <a:spLocks noGrp="1"/>
          </p:cNvSpPr>
          <p:nvPr>
            <p:ph type="title"/>
          </p:nvPr>
        </p:nvSpPr>
        <p:spPr>
          <a:xfrm>
            <a:off x="1136397" y="502020"/>
            <a:ext cx="5323715" cy="945780"/>
          </a:xfrm>
        </p:spPr>
        <p:txBody>
          <a:bodyPr vert="horz" lIns="91440" tIns="45720" rIns="91440" bIns="45720" rtlCol="0" anchor="b">
            <a:normAutofit/>
          </a:bodyPr>
          <a:lstStyle/>
          <a:p>
            <a:r>
              <a:rPr lang="en-US" sz="4000" kern="1200" dirty="0">
                <a:solidFill>
                  <a:schemeClr val="tx1"/>
                </a:solidFill>
                <a:latin typeface="+mj-lt"/>
                <a:ea typeface="+mj-ea"/>
                <a:cs typeface="+mj-cs"/>
              </a:rPr>
              <a:t>Query 6 Result</a:t>
            </a:r>
          </a:p>
        </p:txBody>
      </p:sp>
      <p:sp>
        <p:nvSpPr>
          <p:cNvPr id="13" name="Rectangle 12">
            <a:extLst>
              <a:ext uri="{FF2B5EF4-FFF2-40B4-BE49-F238E27FC236}">
                <a16:creationId xmlns:a16="http://schemas.microsoft.com/office/drawing/2014/main" id="{A18809F8-1EAC-E433-894E-5D4A4EE35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5EA63BD-101C-B18F-43DA-1815EA252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B773DFE0-4827-1D18-7A58-E534E43DED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F92B57CF-BAF4-6D96-A9FE-B58BB93087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Content Placeholder 5" descr="A screenshot of a computer&#10;&#10;AI-generated content may be incorrect.">
            <a:extLst>
              <a:ext uri="{FF2B5EF4-FFF2-40B4-BE49-F238E27FC236}">
                <a16:creationId xmlns:a16="http://schemas.microsoft.com/office/drawing/2014/main" id="{3FD029B3-8D83-F1A6-314A-914F491CC42E}"/>
              </a:ext>
            </a:extLst>
          </p:cNvPr>
          <p:cNvPicPr>
            <a:picLocks noGrp="1" noChangeAspect="1"/>
          </p:cNvPicPr>
          <p:nvPr>
            <p:ph sz="half" idx="1"/>
          </p:nvPr>
        </p:nvPicPr>
        <p:blipFill>
          <a:blip r:embed="rId3"/>
          <a:stretch>
            <a:fillRect/>
          </a:stretch>
        </p:blipFill>
        <p:spPr>
          <a:xfrm>
            <a:off x="914400" y="2310824"/>
            <a:ext cx="10138892" cy="1943675"/>
          </a:xfrm>
          <a:prstGeom prst="rect">
            <a:avLst/>
          </a:prstGeom>
        </p:spPr>
      </p:pic>
    </p:spTree>
    <p:extLst>
      <p:ext uri="{BB962C8B-B14F-4D97-AF65-F5344CB8AC3E}">
        <p14:creationId xmlns:p14="http://schemas.microsoft.com/office/powerpoint/2010/main" val="22902343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7CF2D8-80C0-041E-331D-A44ABEC975A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171085B-F953-8CA4-DB1B-874FDC64D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2D45FBD-311E-3E1C-B767-FA747C84DF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B19AF64-45BD-C799-F79E-527EC444A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B0011DE-6505-4846-C97A-9044A25302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5723777B-4A61-A5B7-07D9-AF855CD6ED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2BF4B80D-0F33-2872-CBDE-E47958B6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0E23AF-0B53-DED3-FC48-7A7C2B5152D2}"/>
              </a:ext>
            </a:extLst>
          </p:cNvPr>
          <p:cNvSpPr>
            <a:spLocks noGrp="1"/>
          </p:cNvSpPr>
          <p:nvPr>
            <p:ph type="title"/>
          </p:nvPr>
        </p:nvSpPr>
        <p:spPr>
          <a:xfrm>
            <a:off x="445168" y="1683756"/>
            <a:ext cx="3256575" cy="2396359"/>
          </a:xfrm>
        </p:spPr>
        <p:txBody>
          <a:bodyPr anchor="b">
            <a:normAutofit/>
          </a:bodyPr>
          <a:lstStyle/>
          <a:p>
            <a:pPr algn="r"/>
            <a:r>
              <a:rPr lang="en-US" sz="4000" dirty="0">
                <a:solidFill>
                  <a:srgbClr val="FFFFFF"/>
                </a:solidFill>
              </a:rPr>
              <a:t>07. Top Cardiac Medications</a:t>
            </a:r>
          </a:p>
        </p:txBody>
      </p:sp>
      <p:graphicFrame>
        <p:nvGraphicFramePr>
          <p:cNvPr id="5" name="Content Placeholder 2">
            <a:extLst>
              <a:ext uri="{FF2B5EF4-FFF2-40B4-BE49-F238E27FC236}">
                <a16:creationId xmlns:a16="http://schemas.microsoft.com/office/drawing/2014/main" id="{871CD5F3-EB51-C930-0390-92ABE9747B65}"/>
              </a:ext>
            </a:extLst>
          </p:cNvPr>
          <p:cNvGraphicFramePr>
            <a:graphicFrameLocks noGrp="1"/>
          </p:cNvGraphicFramePr>
          <p:nvPr>
            <p:ph idx="1"/>
            <p:extLst>
              <p:ext uri="{D42A27DB-BD31-4B8C-83A1-F6EECF244321}">
                <p14:modId xmlns:p14="http://schemas.microsoft.com/office/powerpoint/2010/main" val="10259781"/>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52784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DA7D5F-1938-8DA9-9C4D-15D2838C48BA}"/>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2035B2CB-64A2-7015-84FC-818EDED09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2E97B7-083F-0A39-CAE3-BD2C64CF4DC4}"/>
              </a:ext>
            </a:extLst>
          </p:cNvPr>
          <p:cNvSpPr>
            <a:spLocks noGrp="1"/>
          </p:cNvSpPr>
          <p:nvPr>
            <p:ph type="title"/>
          </p:nvPr>
        </p:nvSpPr>
        <p:spPr>
          <a:xfrm>
            <a:off x="457200" y="375725"/>
            <a:ext cx="5850512" cy="660400"/>
          </a:xfrm>
        </p:spPr>
        <p:txBody>
          <a:bodyPr vert="horz" lIns="91440" tIns="45720" rIns="91440" bIns="45720" rtlCol="0" anchor="b">
            <a:normAutofit/>
          </a:bodyPr>
          <a:lstStyle/>
          <a:p>
            <a:r>
              <a:rPr lang="en-US" sz="4000" kern="1200" dirty="0">
                <a:solidFill>
                  <a:schemeClr val="tx1"/>
                </a:solidFill>
                <a:latin typeface="+mj-lt"/>
                <a:ea typeface="+mj-ea"/>
                <a:cs typeface="+mj-cs"/>
              </a:rPr>
              <a:t>Query 7 Statement</a:t>
            </a:r>
          </a:p>
        </p:txBody>
      </p:sp>
      <p:sp>
        <p:nvSpPr>
          <p:cNvPr id="3" name="Content Placeholder 2">
            <a:extLst>
              <a:ext uri="{FF2B5EF4-FFF2-40B4-BE49-F238E27FC236}">
                <a16:creationId xmlns:a16="http://schemas.microsoft.com/office/drawing/2014/main" id="{415CB586-0238-267A-25DA-B90D58C69197}"/>
              </a:ext>
            </a:extLst>
          </p:cNvPr>
          <p:cNvSpPr>
            <a:spLocks noGrp="1"/>
          </p:cNvSpPr>
          <p:nvPr>
            <p:ph sz="half" idx="1"/>
          </p:nvPr>
        </p:nvSpPr>
        <p:spPr>
          <a:xfrm>
            <a:off x="622300" y="1252025"/>
            <a:ext cx="7043833" cy="5390075"/>
          </a:xfrm>
        </p:spPr>
        <p:txBody>
          <a:bodyPr vert="horz" lIns="91440" tIns="45720" rIns="91440" bIns="45720" rtlCol="0" anchor="t">
            <a:normAutofit/>
          </a:bodyPr>
          <a:lstStyle/>
          <a:p>
            <a:pPr marL="0" indent="0">
              <a:buNone/>
            </a:pPr>
            <a:r>
              <a:rPr lang="en-US" sz="1800" dirty="0"/>
              <a:t>SELECT</a:t>
            </a:r>
          </a:p>
          <a:p>
            <a:pPr marL="0" indent="0">
              <a:buNone/>
            </a:pPr>
            <a:r>
              <a:rPr lang="en-US" sz="1800" dirty="0"/>
              <a:t>    </a:t>
            </a:r>
            <a:r>
              <a:rPr lang="en-US" sz="1800" dirty="0" err="1"/>
              <a:t>p.drug</a:t>
            </a:r>
            <a:r>
              <a:rPr lang="en-US" sz="1800" dirty="0"/>
              <a:t>,</a:t>
            </a:r>
          </a:p>
          <a:p>
            <a:pPr marL="0" indent="0">
              <a:buNone/>
            </a:pPr>
            <a:r>
              <a:rPr lang="en-US" sz="1800" dirty="0"/>
              <a:t>    COUNT(*) AS </a:t>
            </a:r>
            <a:r>
              <a:rPr lang="en-US" sz="1800" dirty="0" err="1"/>
              <a:t>prescription_count</a:t>
            </a:r>
            <a:endParaRPr lang="en-US" sz="1800" dirty="0"/>
          </a:p>
          <a:p>
            <a:pPr marL="0" indent="0">
              <a:buNone/>
            </a:pPr>
            <a:r>
              <a:rPr lang="en-US" sz="1800" dirty="0"/>
              <a:t>FROM `</a:t>
            </a:r>
            <a:r>
              <a:rPr lang="en-US" sz="1800" dirty="0" err="1"/>
              <a:t>physionet-data.mimiciii_clinical.prescriptions</a:t>
            </a:r>
            <a:r>
              <a:rPr lang="en-US" sz="1800" dirty="0"/>
              <a:t>` p</a:t>
            </a:r>
          </a:p>
          <a:p>
            <a:pPr marL="0" indent="0">
              <a:buNone/>
            </a:pPr>
            <a:r>
              <a:rPr lang="en-US" sz="1800" dirty="0"/>
              <a:t>JOIN `</a:t>
            </a:r>
            <a:r>
              <a:rPr lang="en-US" sz="1800" dirty="0" err="1"/>
              <a:t>physionet-data.mimiciii_clinical.diagnoses_icd</a:t>
            </a:r>
            <a:r>
              <a:rPr lang="en-US" sz="1800" dirty="0"/>
              <a:t>` d</a:t>
            </a:r>
          </a:p>
          <a:p>
            <a:pPr marL="0" indent="0">
              <a:buNone/>
            </a:pPr>
            <a:r>
              <a:rPr lang="en-US" sz="1800" dirty="0"/>
              <a:t>  USING (</a:t>
            </a:r>
            <a:r>
              <a:rPr lang="en-US" sz="1800" dirty="0" err="1"/>
              <a:t>hadm_id</a:t>
            </a:r>
            <a:r>
              <a:rPr lang="en-US" sz="1800" dirty="0"/>
              <a:t>)</a:t>
            </a:r>
          </a:p>
          <a:p>
            <a:pPr marL="0" indent="0">
              <a:buNone/>
            </a:pPr>
            <a:r>
              <a:rPr lang="en-US" sz="1800" dirty="0"/>
              <a:t>WHERE d.icd9_code LIKE '410%'</a:t>
            </a:r>
          </a:p>
          <a:p>
            <a:pPr marL="0" indent="0">
              <a:buNone/>
            </a:pPr>
            <a:r>
              <a:rPr lang="en-US" sz="1800" dirty="0"/>
              <a:t>GROUP BY </a:t>
            </a:r>
            <a:r>
              <a:rPr lang="en-US" sz="1800" dirty="0" err="1"/>
              <a:t>p.drug</a:t>
            </a:r>
            <a:endParaRPr lang="en-US" sz="1800" dirty="0"/>
          </a:p>
          <a:p>
            <a:pPr marL="0" indent="0">
              <a:buNone/>
            </a:pPr>
            <a:r>
              <a:rPr lang="en-US" sz="1800" dirty="0"/>
              <a:t>ORDER BY </a:t>
            </a:r>
            <a:r>
              <a:rPr lang="en-US" sz="1800" dirty="0" err="1"/>
              <a:t>prescription_count</a:t>
            </a:r>
            <a:r>
              <a:rPr lang="en-US" sz="1800" dirty="0"/>
              <a:t> DESC</a:t>
            </a:r>
          </a:p>
          <a:p>
            <a:pPr marL="0" indent="0">
              <a:buNone/>
            </a:pPr>
            <a:r>
              <a:rPr lang="en-US" sz="1800" dirty="0"/>
              <a:t>LIMIT 10;</a:t>
            </a:r>
          </a:p>
          <a:p>
            <a:pPr marL="0" indent="0">
              <a:buNone/>
            </a:pPr>
            <a:endParaRPr lang="en-US" sz="1800" dirty="0"/>
          </a:p>
          <a:p>
            <a:pPr marL="0" indent="0">
              <a:buNone/>
            </a:pPr>
            <a:endParaRPr lang="en-US" sz="2000" dirty="0"/>
          </a:p>
          <a:p>
            <a:pPr marL="0"/>
            <a:endParaRPr lang="en-US" sz="800" dirty="0"/>
          </a:p>
          <a:p>
            <a:pPr marL="0"/>
            <a:endParaRPr lang="en-US" sz="800" dirty="0"/>
          </a:p>
        </p:txBody>
      </p:sp>
      <p:sp>
        <p:nvSpPr>
          <p:cNvPr id="57" name="Rectangle 56">
            <a:extLst>
              <a:ext uri="{FF2B5EF4-FFF2-40B4-BE49-F238E27FC236}">
                <a16:creationId xmlns:a16="http://schemas.microsoft.com/office/drawing/2014/main" id="{208D031B-A475-4B45-4534-A0649BEC6C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9B7EB5CA-A996-2800-B4AE-B8FC54979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60">
            <a:extLst>
              <a:ext uri="{FF2B5EF4-FFF2-40B4-BE49-F238E27FC236}">
                <a16:creationId xmlns:a16="http://schemas.microsoft.com/office/drawing/2014/main" id="{8EFE0541-B8B0-20B5-B16C-75DC63860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746AA260-F0F5-625E-C120-AB1D70FE0D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0" name="Graphic 49" descr="Employee Badge">
            <a:extLst>
              <a:ext uri="{FF2B5EF4-FFF2-40B4-BE49-F238E27FC236}">
                <a16:creationId xmlns:a16="http://schemas.microsoft.com/office/drawing/2014/main" id="{D6202738-2893-367A-62B2-EBFD500AA8C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52935" y="1252025"/>
            <a:ext cx="4170530" cy="4170530"/>
          </a:xfrm>
          <a:prstGeom prst="rect">
            <a:avLst/>
          </a:prstGeom>
        </p:spPr>
      </p:pic>
    </p:spTree>
    <p:extLst>
      <p:ext uri="{BB962C8B-B14F-4D97-AF65-F5344CB8AC3E}">
        <p14:creationId xmlns:p14="http://schemas.microsoft.com/office/powerpoint/2010/main" val="26150094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707C92-DFF7-D974-E0A4-D6FD76F8B032}"/>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D4706C3-2B7C-7C3F-C926-6BD6810A5E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6FCB35-958E-E6D7-4BAE-E989D4A5EA5C}"/>
              </a:ext>
            </a:extLst>
          </p:cNvPr>
          <p:cNvSpPr>
            <a:spLocks noGrp="1"/>
          </p:cNvSpPr>
          <p:nvPr>
            <p:ph type="title"/>
          </p:nvPr>
        </p:nvSpPr>
        <p:spPr>
          <a:xfrm>
            <a:off x="772285" y="495135"/>
            <a:ext cx="5323715" cy="945780"/>
          </a:xfrm>
        </p:spPr>
        <p:txBody>
          <a:bodyPr vert="horz" lIns="91440" tIns="45720" rIns="91440" bIns="45720" rtlCol="0" anchor="b">
            <a:normAutofit/>
          </a:bodyPr>
          <a:lstStyle/>
          <a:p>
            <a:r>
              <a:rPr lang="en-US" sz="4000" kern="1200" dirty="0">
                <a:solidFill>
                  <a:schemeClr val="tx1"/>
                </a:solidFill>
                <a:latin typeface="+mj-lt"/>
                <a:ea typeface="+mj-ea"/>
                <a:cs typeface="+mj-cs"/>
              </a:rPr>
              <a:t>Query 7 Result</a:t>
            </a:r>
          </a:p>
        </p:txBody>
      </p:sp>
      <p:sp>
        <p:nvSpPr>
          <p:cNvPr id="13" name="Rectangle 12">
            <a:extLst>
              <a:ext uri="{FF2B5EF4-FFF2-40B4-BE49-F238E27FC236}">
                <a16:creationId xmlns:a16="http://schemas.microsoft.com/office/drawing/2014/main" id="{23E01F76-BFE1-8B5A-9182-627D0AB85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45B9EB8-57BB-7D90-610C-4E2780F277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7ED11C0-315F-C345-7A38-A031C296A4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8089506B-C618-39B6-A1C0-73ACBE6EE4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4" descr="A screenshot of a computer&#10;&#10;AI-generated content may be incorrect.">
            <a:extLst>
              <a:ext uri="{FF2B5EF4-FFF2-40B4-BE49-F238E27FC236}">
                <a16:creationId xmlns:a16="http://schemas.microsoft.com/office/drawing/2014/main" id="{FD757058-7025-035C-7655-B78B2E6F1B4A}"/>
              </a:ext>
            </a:extLst>
          </p:cNvPr>
          <p:cNvPicPr>
            <a:picLocks noGrp="1" noChangeAspect="1"/>
          </p:cNvPicPr>
          <p:nvPr>
            <p:ph sz="half" idx="1"/>
          </p:nvPr>
        </p:nvPicPr>
        <p:blipFill>
          <a:blip r:embed="rId3"/>
          <a:stretch>
            <a:fillRect/>
          </a:stretch>
        </p:blipFill>
        <p:spPr>
          <a:xfrm>
            <a:off x="695270" y="1913816"/>
            <a:ext cx="8957057" cy="3204284"/>
          </a:xfrm>
          <a:prstGeom prst="rect">
            <a:avLst/>
          </a:prstGeom>
        </p:spPr>
      </p:pic>
    </p:spTree>
    <p:extLst>
      <p:ext uri="{BB962C8B-B14F-4D97-AF65-F5344CB8AC3E}">
        <p14:creationId xmlns:p14="http://schemas.microsoft.com/office/powerpoint/2010/main" val="7843999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CB3009-0C54-84A5-D2A3-A74270F668E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433697B-CEF2-D773-B453-7AEB3405FB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18280A0-5296-6D85-D96A-48F06F130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60C8739-073B-5B9E-CD1D-4544577DF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BF18946-5478-09F7-8E6A-21E434E1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B9199560-E529-97C0-FD70-5A09954B3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D558F10C-0EE4-14EA-F66E-01C6365D39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F60CBF-2C08-D093-4ADE-B464EED311D1}"/>
              </a:ext>
            </a:extLst>
          </p:cNvPr>
          <p:cNvSpPr>
            <a:spLocks noGrp="1"/>
          </p:cNvSpPr>
          <p:nvPr>
            <p:ph type="title"/>
          </p:nvPr>
        </p:nvSpPr>
        <p:spPr>
          <a:xfrm>
            <a:off x="445168" y="1683756"/>
            <a:ext cx="3256575" cy="2396359"/>
          </a:xfrm>
        </p:spPr>
        <p:txBody>
          <a:bodyPr anchor="b">
            <a:normAutofit fontScale="90000"/>
          </a:bodyPr>
          <a:lstStyle/>
          <a:p>
            <a:pPr algn="r"/>
            <a:r>
              <a:rPr lang="en-US" sz="4000" dirty="0">
                <a:solidFill>
                  <a:srgbClr val="FFFFFF"/>
                </a:solidFill>
              </a:rPr>
              <a:t>08. Top 10 Most Frequently Ordered Lab Tests</a:t>
            </a:r>
          </a:p>
        </p:txBody>
      </p:sp>
      <p:graphicFrame>
        <p:nvGraphicFramePr>
          <p:cNvPr id="5" name="Content Placeholder 2">
            <a:extLst>
              <a:ext uri="{FF2B5EF4-FFF2-40B4-BE49-F238E27FC236}">
                <a16:creationId xmlns:a16="http://schemas.microsoft.com/office/drawing/2014/main" id="{1331BE87-7551-A2A2-8038-F013AA5A7428}"/>
              </a:ext>
            </a:extLst>
          </p:cNvPr>
          <p:cNvGraphicFramePr>
            <a:graphicFrameLocks noGrp="1"/>
          </p:cNvGraphicFramePr>
          <p:nvPr>
            <p:ph idx="1"/>
            <p:extLst>
              <p:ext uri="{D42A27DB-BD31-4B8C-83A1-F6EECF244321}">
                <p14:modId xmlns:p14="http://schemas.microsoft.com/office/powerpoint/2010/main" val="616365871"/>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746476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A00346-C467-D91D-3851-11012C99F650}"/>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0558A5C7-6AAD-33BE-0354-8B0412B5F6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51BCE2-AB5E-2D88-3053-0D3C6D316DEC}"/>
              </a:ext>
            </a:extLst>
          </p:cNvPr>
          <p:cNvSpPr>
            <a:spLocks noGrp="1"/>
          </p:cNvSpPr>
          <p:nvPr>
            <p:ph type="title"/>
          </p:nvPr>
        </p:nvSpPr>
        <p:spPr>
          <a:xfrm>
            <a:off x="457200" y="375725"/>
            <a:ext cx="5850512" cy="660400"/>
          </a:xfrm>
        </p:spPr>
        <p:txBody>
          <a:bodyPr vert="horz" lIns="91440" tIns="45720" rIns="91440" bIns="45720" rtlCol="0" anchor="b">
            <a:normAutofit/>
          </a:bodyPr>
          <a:lstStyle/>
          <a:p>
            <a:r>
              <a:rPr lang="en-US" sz="4000" kern="1200" dirty="0">
                <a:solidFill>
                  <a:schemeClr val="tx1"/>
                </a:solidFill>
                <a:latin typeface="+mj-lt"/>
                <a:ea typeface="+mj-ea"/>
                <a:cs typeface="+mj-cs"/>
              </a:rPr>
              <a:t>Query 8 Statement</a:t>
            </a:r>
          </a:p>
        </p:txBody>
      </p:sp>
      <p:sp>
        <p:nvSpPr>
          <p:cNvPr id="3" name="Content Placeholder 2">
            <a:extLst>
              <a:ext uri="{FF2B5EF4-FFF2-40B4-BE49-F238E27FC236}">
                <a16:creationId xmlns:a16="http://schemas.microsoft.com/office/drawing/2014/main" id="{9F0FA419-8082-C7B5-4E09-401F27CCF5C4}"/>
              </a:ext>
            </a:extLst>
          </p:cNvPr>
          <p:cNvSpPr>
            <a:spLocks noGrp="1"/>
          </p:cNvSpPr>
          <p:nvPr>
            <p:ph sz="half" idx="1"/>
          </p:nvPr>
        </p:nvSpPr>
        <p:spPr>
          <a:xfrm>
            <a:off x="457200" y="1252025"/>
            <a:ext cx="7208933" cy="5390075"/>
          </a:xfrm>
        </p:spPr>
        <p:txBody>
          <a:bodyPr vert="horz" lIns="91440" tIns="45720" rIns="91440" bIns="45720" rtlCol="0" anchor="t">
            <a:normAutofit/>
          </a:bodyPr>
          <a:lstStyle/>
          <a:p>
            <a:pPr marL="0" indent="0">
              <a:buNone/>
            </a:pPr>
            <a:r>
              <a:rPr lang="en-US" sz="1800" dirty="0"/>
              <a:t>SELECT</a:t>
            </a:r>
          </a:p>
          <a:p>
            <a:pPr marL="0" indent="0">
              <a:buNone/>
            </a:pPr>
            <a:r>
              <a:rPr lang="en-US" sz="1800" dirty="0"/>
              <a:t>    </a:t>
            </a:r>
            <a:r>
              <a:rPr lang="en-US" sz="1800" dirty="0" err="1"/>
              <a:t>di.label</a:t>
            </a:r>
            <a:r>
              <a:rPr lang="en-US" sz="1800" dirty="0"/>
              <a:t> AS </a:t>
            </a:r>
            <a:r>
              <a:rPr lang="en-US" sz="1800" dirty="0" err="1"/>
              <a:t>lab_test_name</a:t>
            </a:r>
            <a:r>
              <a:rPr lang="en-US" sz="1800" dirty="0"/>
              <a:t>,</a:t>
            </a:r>
          </a:p>
          <a:p>
            <a:pPr marL="0" indent="0">
              <a:buNone/>
            </a:pPr>
            <a:r>
              <a:rPr lang="en-US" sz="1800" dirty="0"/>
              <a:t>    COUNT(*) AS </a:t>
            </a:r>
            <a:r>
              <a:rPr lang="en-US" sz="1800" dirty="0" err="1"/>
              <a:t>total_orders</a:t>
            </a:r>
            <a:endParaRPr lang="en-US" sz="1800" dirty="0"/>
          </a:p>
          <a:p>
            <a:pPr marL="0" indent="0">
              <a:buNone/>
            </a:pPr>
            <a:r>
              <a:rPr lang="en-US" sz="1800" dirty="0"/>
              <a:t>FROM `</a:t>
            </a:r>
            <a:r>
              <a:rPr lang="en-US" sz="1800" dirty="0" err="1"/>
              <a:t>physionet-data.mimiciii_clinical.labevents</a:t>
            </a:r>
            <a:r>
              <a:rPr lang="en-US" sz="1800" dirty="0"/>
              <a:t>` l</a:t>
            </a:r>
          </a:p>
          <a:p>
            <a:pPr marL="0" indent="0">
              <a:buNone/>
            </a:pPr>
            <a:r>
              <a:rPr lang="en-US" sz="1800" dirty="0"/>
              <a:t>JOIN `</a:t>
            </a:r>
            <a:r>
              <a:rPr lang="en-US" sz="1800" dirty="0" err="1"/>
              <a:t>physionet-data.mimiciii_clinical.d_labitems</a:t>
            </a:r>
            <a:r>
              <a:rPr lang="en-US" sz="1800" dirty="0"/>
              <a:t>` di</a:t>
            </a:r>
          </a:p>
          <a:p>
            <a:pPr marL="0" indent="0">
              <a:buNone/>
            </a:pPr>
            <a:r>
              <a:rPr lang="en-US" sz="1800" dirty="0"/>
              <a:t>    ON </a:t>
            </a:r>
            <a:r>
              <a:rPr lang="en-US" sz="1800" dirty="0" err="1"/>
              <a:t>l.itemid</a:t>
            </a:r>
            <a:r>
              <a:rPr lang="en-US" sz="1800" dirty="0"/>
              <a:t> = </a:t>
            </a:r>
            <a:r>
              <a:rPr lang="en-US" sz="1800" dirty="0" err="1"/>
              <a:t>di.itemid</a:t>
            </a:r>
            <a:endParaRPr lang="en-US" sz="1800" dirty="0"/>
          </a:p>
          <a:p>
            <a:pPr marL="0" indent="0">
              <a:buNone/>
            </a:pPr>
            <a:r>
              <a:rPr lang="en-US" sz="1800" dirty="0"/>
              <a:t>JOIN `</a:t>
            </a:r>
            <a:r>
              <a:rPr lang="en-US" sz="1800" dirty="0" err="1"/>
              <a:t>physionet-data.mimiciii_clinical.diagnoses_icd</a:t>
            </a:r>
            <a:r>
              <a:rPr lang="en-US" sz="1800" dirty="0"/>
              <a:t>` d</a:t>
            </a:r>
          </a:p>
          <a:p>
            <a:pPr marL="0" indent="0">
              <a:buNone/>
            </a:pPr>
            <a:r>
              <a:rPr lang="en-US" sz="1800" dirty="0"/>
              <a:t>    ON </a:t>
            </a:r>
            <a:r>
              <a:rPr lang="en-US" sz="1800" dirty="0" err="1"/>
              <a:t>l.hadm_id</a:t>
            </a:r>
            <a:r>
              <a:rPr lang="en-US" sz="1800" dirty="0"/>
              <a:t> = </a:t>
            </a:r>
            <a:r>
              <a:rPr lang="en-US" sz="1800" dirty="0" err="1"/>
              <a:t>d.hadm_id</a:t>
            </a:r>
            <a:endParaRPr lang="en-US" sz="1800" dirty="0"/>
          </a:p>
          <a:p>
            <a:pPr marL="0" indent="0">
              <a:buNone/>
            </a:pPr>
            <a:r>
              <a:rPr lang="en-US" sz="1800" dirty="0"/>
              <a:t>WHERE d.icd9_code LIKE '410%'</a:t>
            </a:r>
          </a:p>
          <a:p>
            <a:pPr marL="0" indent="0">
              <a:buNone/>
            </a:pPr>
            <a:r>
              <a:rPr lang="en-US" sz="1800" dirty="0"/>
              <a:t>  AND </a:t>
            </a:r>
            <a:r>
              <a:rPr lang="en-US" sz="1800" dirty="0" err="1"/>
              <a:t>l.valuenum</a:t>
            </a:r>
            <a:r>
              <a:rPr lang="en-US" sz="1800" dirty="0"/>
              <a:t> IS NOT NULL</a:t>
            </a:r>
          </a:p>
          <a:p>
            <a:pPr marL="0" indent="0">
              <a:buNone/>
            </a:pPr>
            <a:r>
              <a:rPr lang="en-US" sz="1800" dirty="0"/>
              <a:t>GROUP BY </a:t>
            </a:r>
            <a:r>
              <a:rPr lang="en-US" sz="1800" dirty="0" err="1"/>
              <a:t>di.label</a:t>
            </a:r>
            <a:endParaRPr lang="en-US" sz="1800" dirty="0"/>
          </a:p>
          <a:p>
            <a:pPr marL="0" indent="0">
              <a:buNone/>
            </a:pPr>
            <a:r>
              <a:rPr lang="en-US" sz="1800" dirty="0"/>
              <a:t>ORDER BY </a:t>
            </a:r>
            <a:r>
              <a:rPr lang="en-US" sz="1800" dirty="0" err="1"/>
              <a:t>total_orders</a:t>
            </a:r>
            <a:r>
              <a:rPr lang="en-US" sz="1800" dirty="0"/>
              <a:t> DESC</a:t>
            </a:r>
          </a:p>
          <a:p>
            <a:pPr marL="0" indent="0">
              <a:buNone/>
            </a:pPr>
            <a:r>
              <a:rPr lang="en-US" sz="1800" dirty="0"/>
              <a:t>LIMIT 10;</a:t>
            </a:r>
          </a:p>
          <a:p>
            <a:pPr marL="0" indent="0">
              <a:buNone/>
            </a:pPr>
            <a:endParaRPr lang="en-US" sz="1800" dirty="0"/>
          </a:p>
          <a:p>
            <a:pPr marL="0" indent="0">
              <a:buNone/>
            </a:pPr>
            <a:endParaRPr lang="en-US" sz="2000" dirty="0"/>
          </a:p>
          <a:p>
            <a:pPr marL="0"/>
            <a:endParaRPr lang="en-US" sz="800" dirty="0"/>
          </a:p>
          <a:p>
            <a:pPr marL="0"/>
            <a:endParaRPr lang="en-US" sz="800" dirty="0"/>
          </a:p>
        </p:txBody>
      </p:sp>
      <p:sp>
        <p:nvSpPr>
          <p:cNvPr id="57" name="Rectangle 56">
            <a:extLst>
              <a:ext uri="{FF2B5EF4-FFF2-40B4-BE49-F238E27FC236}">
                <a16:creationId xmlns:a16="http://schemas.microsoft.com/office/drawing/2014/main" id="{D65F1E31-EC13-B6A8-FC3F-8B0E573AE2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67739728-A214-CF7C-1314-CFC4FFB65E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60">
            <a:extLst>
              <a:ext uri="{FF2B5EF4-FFF2-40B4-BE49-F238E27FC236}">
                <a16:creationId xmlns:a16="http://schemas.microsoft.com/office/drawing/2014/main" id="{FB72C3E4-924E-7712-ACC7-1DA683A4D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9A1C4BA9-E98A-4B40-3308-DEB942065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0" name="Graphic 49" descr="Employee Badge">
            <a:extLst>
              <a:ext uri="{FF2B5EF4-FFF2-40B4-BE49-F238E27FC236}">
                <a16:creationId xmlns:a16="http://schemas.microsoft.com/office/drawing/2014/main" id="{D5E7227A-D802-C5D6-8DFA-E752701D18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52935" y="1252025"/>
            <a:ext cx="4170530" cy="4170530"/>
          </a:xfrm>
          <a:prstGeom prst="rect">
            <a:avLst/>
          </a:prstGeom>
        </p:spPr>
      </p:pic>
    </p:spTree>
    <p:extLst>
      <p:ext uri="{BB962C8B-B14F-4D97-AF65-F5344CB8AC3E}">
        <p14:creationId xmlns:p14="http://schemas.microsoft.com/office/powerpoint/2010/main" val="27475361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99526F-635D-009D-2110-DE82C5BA863D}"/>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3C5B77-E8AC-39A8-5218-B6EC43DFA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1EF4B9-EB6D-4321-4A6A-17AB2934CD19}"/>
              </a:ext>
            </a:extLst>
          </p:cNvPr>
          <p:cNvSpPr>
            <a:spLocks noGrp="1"/>
          </p:cNvSpPr>
          <p:nvPr>
            <p:ph type="title"/>
          </p:nvPr>
        </p:nvSpPr>
        <p:spPr>
          <a:xfrm>
            <a:off x="772285" y="495135"/>
            <a:ext cx="5323715" cy="945780"/>
          </a:xfrm>
        </p:spPr>
        <p:txBody>
          <a:bodyPr vert="horz" lIns="91440" tIns="45720" rIns="91440" bIns="45720" rtlCol="0" anchor="b">
            <a:normAutofit/>
          </a:bodyPr>
          <a:lstStyle/>
          <a:p>
            <a:r>
              <a:rPr lang="en-US" sz="4000" kern="1200" dirty="0">
                <a:solidFill>
                  <a:schemeClr val="tx1"/>
                </a:solidFill>
                <a:latin typeface="+mj-lt"/>
                <a:ea typeface="+mj-ea"/>
                <a:cs typeface="+mj-cs"/>
              </a:rPr>
              <a:t>Query 8 Result</a:t>
            </a:r>
          </a:p>
        </p:txBody>
      </p:sp>
      <p:sp>
        <p:nvSpPr>
          <p:cNvPr id="13" name="Rectangle 12">
            <a:extLst>
              <a:ext uri="{FF2B5EF4-FFF2-40B4-BE49-F238E27FC236}">
                <a16:creationId xmlns:a16="http://schemas.microsoft.com/office/drawing/2014/main" id="{FD2B1CC3-7FC4-2091-3AA7-213BEB887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369B5BC-EEEF-B4D0-1146-73ABEBE95A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FE63B4B9-54B4-D270-69E5-D268B5B13B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7F18EFC9-9308-AE91-1E7A-E5DE294E2E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Content Placeholder 9" descr="A screenshot of a computer&#10;&#10;AI-generated content may be incorrect.">
            <a:extLst>
              <a:ext uri="{FF2B5EF4-FFF2-40B4-BE49-F238E27FC236}">
                <a16:creationId xmlns:a16="http://schemas.microsoft.com/office/drawing/2014/main" id="{C5F3E3F2-1DA3-BD0E-ED34-0562DF8684E9}"/>
              </a:ext>
            </a:extLst>
          </p:cNvPr>
          <p:cNvPicPr>
            <a:picLocks noGrp="1" noChangeAspect="1"/>
          </p:cNvPicPr>
          <p:nvPr>
            <p:ph sz="half" idx="1"/>
          </p:nvPr>
        </p:nvPicPr>
        <p:blipFill>
          <a:blip r:embed="rId3"/>
          <a:stretch>
            <a:fillRect/>
          </a:stretch>
        </p:blipFill>
        <p:spPr>
          <a:xfrm>
            <a:off x="838200" y="2053652"/>
            <a:ext cx="9506402" cy="2923082"/>
          </a:xfrm>
          <a:prstGeom prst="rect">
            <a:avLst/>
          </a:prstGeom>
        </p:spPr>
      </p:pic>
    </p:spTree>
    <p:extLst>
      <p:ext uri="{BB962C8B-B14F-4D97-AF65-F5344CB8AC3E}">
        <p14:creationId xmlns:p14="http://schemas.microsoft.com/office/powerpoint/2010/main" val="29651718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06635F-E9C1-151B-5D8C-587A1EBF621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93A65E-50A4-4E95-CF06-EC02B529B4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CCB835A-198A-3061-EA58-ECB8109B48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5D2D8AA-5B5F-19AF-F046-B36C136D44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1F0D8FF-7D29-081B-C163-AB124ECE44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84DC46EC-D0D9-FDF3-B23A-CA922E30B6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8C2716AE-594A-F14D-13B6-853F5B7D33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6AF6CD-D0E5-D7E9-4385-D504945E41FA}"/>
              </a:ext>
            </a:extLst>
          </p:cNvPr>
          <p:cNvSpPr>
            <a:spLocks noGrp="1"/>
          </p:cNvSpPr>
          <p:nvPr>
            <p:ph type="title"/>
          </p:nvPr>
        </p:nvSpPr>
        <p:spPr>
          <a:xfrm>
            <a:off x="445168" y="1683756"/>
            <a:ext cx="3256575" cy="2396359"/>
          </a:xfrm>
        </p:spPr>
        <p:txBody>
          <a:bodyPr anchor="b">
            <a:normAutofit/>
          </a:bodyPr>
          <a:lstStyle/>
          <a:p>
            <a:pPr algn="r"/>
            <a:r>
              <a:rPr lang="en-US" sz="4000" dirty="0">
                <a:solidFill>
                  <a:srgbClr val="FFFFFF"/>
                </a:solidFill>
              </a:rPr>
              <a:t>09. Patient Level Readmission Data</a:t>
            </a:r>
          </a:p>
        </p:txBody>
      </p:sp>
      <p:graphicFrame>
        <p:nvGraphicFramePr>
          <p:cNvPr id="5" name="Content Placeholder 2">
            <a:extLst>
              <a:ext uri="{FF2B5EF4-FFF2-40B4-BE49-F238E27FC236}">
                <a16:creationId xmlns:a16="http://schemas.microsoft.com/office/drawing/2014/main" id="{0FB18A32-C03A-EF44-2AE2-CB9F44825F45}"/>
              </a:ext>
            </a:extLst>
          </p:cNvPr>
          <p:cNvGraphicFramePr>
            <a:graphicFrameLocks noGrp="1"/>
          </p:cNvGraphicFramePr>
          <p:nvPr>
            <p:ph idx="1"/>
            <p:extLst>
              <p:ext uri="{D42A27DB-BD31-4B8C-83A1-F6EECF244321}">
                <p14:modId xmlns:p14="http://schemas.microsoft.com/office/powerpoint/2010/main" val="2241958472"/>
              </p:ext>
            </p:extLst>
          </p:nvPr>
        </p:nvGraphicFramePr>
        <p:xfrm>
          <a:off x="4905052" y="750440"/>
          <a:ext cx="6666833" cy="58662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564362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132763-0093-D9F3-A462-D5C56D975A0C}"/>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E4B8BF20-DE07-BC30-CAEC-A09BD7A047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D10088-45D0-9E1E-7672-D0088216841A}"/>
              </a:ext>
            </a:extLst>
          </p:cNvPr>
          <p:cNvSpPr>
            <a:spLocks noGrp="1"/>
          </p:cNvSpPr>
          <p:nvPr>
            <p:ph type="title"/>
          </p:nvPr>
        </p:nvSpPr>
        <p:spPr>
          <a:xfrm>
            <a:off x="457200" y="375725"/>
            <a:ext cx="5850512" cy="660400"/>
          </a:xfrm>
        </p:spPr>
        <p:txBody>
          <a:bodyPr vert="horz" lIns="91440" tIns="45720" rIns="91440" bIns="45720" rtlCol="0" anchor="b">
            <a:normAutofit/>
          </a:bodyPr>
          <a:lstStyle/>
          <a:p>
            <a:r>
              <a:rPr lang="en-US" sz="4000" kern="1200" dirty="0">
                <a:solidFill>
                  <a:schemeClr val="tx1"/>
                </a:solidFill>
                <a:latin typeface="+mj-lt"/>
                <a:ea typeface="+mj-ea"/>
                <a:cs typeface="+mj-cs"/>
              </a:rPr>
              <a:t>Query 9 Statement</a:t>
            </a:r>
          </a:p>
        </p:txBody>
      </p:sp>
      <p:sp>
        <p:nvSpPr>
          <p:cNvPr id="3" name="Content Placeholder 2">
            <a:extLst>
              <a:ext uri="{FF2B5EF4-FFF2-40B4-BE49-F238E27FC236}">
                <a16:creationId xmlns:a16="http://schemas.microsoft.com/office/drawing/2014/main" id="{D7D2E998-8CA9-65C7-5895-AE2C8A085368}"/>
              </a:ext>
            </a:extLst>
          </p:cNvPr>
          <p:cNvSpPr>
            <a:spLocks noGrp="1"/>
          </p:cNvSpPr>
          <p:nvPr>
            <p:ph sz="half" idx="1"/>
          </p:nvPr>
        </p:nvSpPr>
        <p:spPr>
          <a:xfrm>
            <a:off x="457200" y="1252025"/>
            <a:ext cx="7208933" cy="5390075"/>
          </a:xfrm>
        </p:spPr>
        <p:txBody>
          <a:bodyPr vert="horz" lIns="91440" tIns="45720" rIns="91440" bIns="45720" rtlCol="0" anchor="t">
            <a:normAutofit fontScale="77500" lnSpcReduction="20000"/>
          </a:bodyPr>
          <a:lstStyle/>
          <a:p>
            <a:pPr marL="0" indent="0">
              <a:buNone/>
            </a:pPr>
            <a:r>
              <a:rPr lang="en-US" sz="2100" dirty="0"/>
              <a:t>WITH </a:t>
            </a:r>
            <a:r>
              <a:rPr lang="en-US" sz="2100" dirty="0" err="1"/>
              <a:t>admissions_with_lag</a:t>
            </a:r>
            <a:r>
              <a:rPr lang="en-US" sz="2100" dirty="0"/>
              <a:t> AS (</a:t>
            </a:r>
          </a:p>
          <a:p>
            <a:pPr marL="0" indent="0">
              <a:buNone/>
            </a:pPr>
            <a:r>
              <a:rPr lang="en-US" sz="2100" dirty="0"/>
              <a:t>    SELECT </a:t>
            </a:r>
            <a:r>
              <a:rPr lang="en-US" sz="2100" dirty="0" err="1"/>
              <a:t>a.subject_id</a:t>
            </a:r>
            <a:r>
              <a:rPr lang="en-US" sz="2100" dirty="0"/>
              <a:t>, </a:t>
            </a:r>
            <a:r>
              <a:rPr lang="en-US" sz="2100" dirty="0" err="1"/>
              <a:t>a.hadm_id</a:t>
            </a:r>
            <a:r>
              <a:rPr lang="en-US" sz="2100" dirty="0"/>
              <a:t>, </a:t>
            </a:r>
            <a:r>
              <a:rPr lang="en-US" sz="2100" dirty="0" err="1"/>
              <a:t>a.admittime</a:t>
            </a:r>
            <a:r>
              <a:rPr lang="en-US" sz="2100" dirty="0"/>
              <a:t>, LAG(</a:t>
            </a:r>
            <a:r>
              <a:rPr lang="en-US" sz="2100" dirty="0" err="1"/>
              <a:t>a.admittime</a:t>
            </a:r>
            <a:r>
              <a:rPr lang="en-US" sz="2100" dirty="0"/>
              <a:t>) OVER (</a:t>
            </a:r>
          </a:p>
          <a:p>
            <a:pPr marL="0" indent="0">
              <a:buNone/>
            </a:pPr>
            <a:r>
              <a:rPr lang="en-US" sz="2100" dirty="0"/>
              <a:t>            PARTITION BY </a:t>
            </a:r>
            <a:r>
              <a:rPr lang="en-US" sz="2100" dirty="0" err="1"/>
              <a:t>a.subject_id</a:t>
            </a:r>
            <a:endParaRPr lang="en-US" sz="2100" dirty="0"/>
          </a:p>
          <a:p>
            <a:pPr marL="0" indent="0">
              <a:buNone/>
            </a:pPr>
            <a:r>
              <a:rPr lang="en-US" sz="2100" dirty="0"/>
              <a:t>            ORDER BY </a:t>
            </a:r>
            <a:r>
              <a:rPr lang="en-US" sz="2100" dirty="0" err="1"/>
              <a:t>a.admittime</a:t>
            </a:r>
            <a:r>
              <a:rPr lang="en-US" sz="2100" dirty="0"/>
              <a:t>, </a:t>
            </a:r>
            <a:r>
              <a:rPr lang="en-US" sz="2100" dirty="0" err="1"/>
              <a:t>a.hadm_id</a:t>
            </a:r>
            <a:endParaRPr lang="en-US" sz="2100" dirty="0"/>
          </a:p>
          <a:p>
            <a:pPr marL="0" indent="0">
              <a:buNone/>
            </a:pPr>
            <a:r>
              <a:rPr lang="en-US" sz="2100" dirty="0"/>
              <a:t>        ) AS </a:t>
            </a:r>
            <a:r>
              <a:rPr lang="en-US" sz="2100" dirty="0" err="1"/>
              <a:t>previous_admission</a:t>
            </a:r>
            <a:endParaRPr lang="en-US" sz="2100" dirty="0"/>
          </a:p>
          <a:p>
            <a:pPr marL="0" indent="0">
              <a:buNone/>
            </a:pPr>
            <a:r>
              <a:rPr lang="en-US" sz="2100" dirty="0"/>
              <a:t>    FROM `</a:t>
            </a:r>
            <a:r>
              <a:rPr lang="en-US" sz="2100" dirty="0" err="1"/>
              <a:t>physionet-data.mimiciii_clinical.admissions</a:t>
            </a:r>
            <a:r>
              <a:rPr lang="en-US" sz="2100" dirty="0"/>
              <a:t>` a</a:t>
            </a:r>
          </a:p>
          <a:p>
            <a:pPr marL="0" indent="0">
              <a:buNone/>
            </a:pPr>
            <a:r>
              <a:rPr lang="en-US" sz="2100" dirty="0"/>
              <a:t>    JOIN `</a:t>
            </a:r>
            <a:r>
              <a:rPr lang="en-US" sz="2100" dirty="0" err="1"/>
              <a:t>physionet-data.mimiciii_clinical.diagnoses_icd</a:t>
            </a:r>
            <a:r>
              <a:rPr lang="en-US" sz="2100" dirty="0"/>
              <a:t>` d</a:t>
            </a:r>
          </a:p>
          <a:p>
            <a:pPr marL="0" indent="0">
              <a:buNone/>
            </a:pPr>
            <a:r>
              <a:rPr lang="en-US" sz="2100" dirty="0"/>
              <a:t>        ON </a:t>
            </a:r>
            <a:r>
              <a:rPr lang="en-US" sz="2100" dirty="0" err="1"/>
              <a:t>a.hadm_id</a:t>
            </a:r>
            <a:r>
              <a:rPr lang="en-US" sz="2100" dirty="0"/>
              <a:t> = </a:t>
            </a:r>
            <a:r>
              <a:rPr lang="en-US" sz="2100" dirty="0" err="1"/>
              <a:t>d.hadm_id</a:t>
            </a:r>
            <a:endParaRPr lang="en-US" sz="2100" dirty="0"/>
          </a:p>
          <a:p>
            <a:pPr marL="0" indent="0">
              <a:buNone/>
            </a:pPr>
            <a:r>
              <a:rPr lang="en-US" sz="2100" dirty="0"/>
              <a:t>    WHERE d.icd9_code LIKE '410%'</a:t>
            </a:r>
          </a:p>
          <a:p>
            <a:pPr marL="0" indent="0">
              <a:buNone/>
            </a:pPr>
            <a:r>
              <a:rPr lang="en-US" sz="2100" dirty="0"/>
              <a:t>),</a:t>
            </a:r>
          </a:p>
          <a:p>
            <a:pPr marL="0" indent="0">
              <a:buNone/>
            </a:pPr>
            <a:endParaRPr lang="en-US" sz="2100" dirty="0"/>
          </a:p>
          <a:p>
            <a:pPr marL="0" indent="0">
              <a:buNone/>
            </a:pPr>
            <a:r>
              <a:rPr lang="en-US" sz="2100" dirty="0" err="1"/>
              <a:t>latest_admission_per_patient</a:t>
            </a:r>
            <a:r>
              <a:rPr lang="en-US" sz="2100" dirty="0"/>
              <a:t> AS (</a:t>
            </a:r>
          </a:p>
          <a:p>
            <a:pPr marL="0" indent="0">
              <a:buNone/>
            </a:pPr>
            <a:r>
              <a:rPr lang="en-US" sz="2100" dirty="0"/>
              <a:t>    SELECT *, ROW_NUMBER() OVER (</a:t>
            </a:r>
          </a:p>
          <a:p>
            <a:pPr marL="0" indent="0">
              <a:buNone/>
            </a:pPr>
            <a:r>
              <a:rPr lang="en-US" sz="2100" dirty="0"/>
              <a:t>            PARTITION BY </a:t>
            </a:r>
            <a:r>
              <a:rPr lang="en-US" sz="2100" dirty="0" err="1"/>
              <a:t>subject_id</a:t>
            </a:r>
            <a:endParaRPr lang="en-US" sz="2100" dirty="0"/>
          </a:p>
          <a:p>
            <a:pPr marL="0" indent="0">
              <a:buNone/>
            </a:pPr>
            <a:r>
              <a:rPr lang="en-US" sz="2100" dirty="0"/>
              <a:t>            ORDER BY </a:t>
            </a:r>
            <a:r>
              <a:rPr lang="en-US" sz="2100" dirty="0" err="1"/>
              <a:t>admittime</a:t>
            </a:r>
            <a:r>
              <a:rPr lang="en-US" sz="2100" dirty="0"/>
              <a:t> DESC, </a:t>
            </a:r>
            <a:r>
              <a:rPr lang="en-US" sz="2100" dirty="0" err="1"/>
              <a:t>hadm_id</a:t>
            </a:r>
            <a:r>
              <a:rPr lang="en-US" sz="2100" dirty="0"/>
              <a:t> DESC</a:t>
            </a:r>
          </a:p>
          <a:p>
            <a:pPr marL="0" indent="0">
              <a:buNone/>
            </a:pPr>
            <a:r>
              <a:rPr lang="en-US" sz="2100" dirty="0"/>
              <a:t>        ) AS </a:t>
            </a:r>
            <a:r>
              <a:rPr lang="en-US" sz="2100" dirty="0" err="1"/>
              <a:t>rn</a:t>
            </a:r>
            <a:endParaRPr lang="en-US" sz="2100" dirty="0"/>
          </a:p>
          <a:p>
            <a:pPr marL="0" indent="0">
              <a:buNone/>
            </a:pPr>
            <a:r>
              <a:rPr lang="en-US" sz="2100" dirty="0"/>
              <a:t>    FROM </a:t>
            </a:r>
            <a:r>
              <a:rPr lang="en-US" sz="2100" dirty="0" err="1"/>
              <a:t>admissions_with_lag</a:t>
            </a:r>
            <a:endParaRPr lang="en-US" sz="2100" dirty="0"/>
          </a:p>
          <a:p>
            <a:pPr marL="0" indent="0">
              <a:buNone/>
            </a:pPr>
            <a:r>
              <a:rPr lang="en-US" sz="2100" dirty="0"/>
              <a:t>)</a:t>
            </a:r>
          </a:p>
          <a:p>
            <a:pPr marL="0" indent="0">
              <a:buNone/>
            </a:pPr>
            <a:endParaRPr lang="en-US" sz="1800" dirty="0"/>
          </a:p>
          <a:p>
            <a:pPr marL="0" indent="0">
              <a:buNone/>
            </a:pPr>
            <a:endParaRPr lang="en-US" sz="2000" dirty="0"/>
          </a:p>
          <a:p>
            <a:pPr marL="0"/>
            <a:endParaRPr lang="en-US" sz="800" dirty="0"/>
          </a:p>
          <a:p>
            <a:pPr marL="0"/>
            <a:endParaRPr lang="en-US" sz="800" dirty="0"/>
          </a:p>
        </p:txBody>
      </p:sp>
      <p:sp>
        <p:nvSpPr>
          <p:cNvPr id="57" name="Rectangle 56">
            <a:extLst>
              <a:ext uri="{FF2B5EF4-FFF2-40B4-BE49-F238E27FC236}">
                <a16:creationId xmlns:a16="http://schemas.microsoft.com/office/drawing/2014/main" id="{E2E46F6C-F5D5-3EF7-99A1-E1D0FF539B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F098690E-2A48-0A21-E633-3C7DD8E73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60">
            <a:extLst>
              <a:ext uri="{FF2B5EF4-FFF2-40B4-BE49-F238E27FC236}">
                <a16:creationId xmlns:a16="http://schemas.microsoft.com/office/drawing/2014/main" id="{9CC2A19D-0DB8-CFE3-3CB5-52FBFA632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CFEC86EB-3DA6-DE65-4070-8526D50A53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0" name="Graphic 49" descr="Employee Badge">
            <a:extLst>
              <a:ext uri="{FF2B5EF4-FFF2-40B4-BE49-F238E27FC236}">
                <a16:creationId xmlns:a16="http://schemas.microsoft.com/office/drawing/2014/main" id="{897700F0-9BED-54B9-E269-B3388776BEB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52935" y="1252025"/>
            <a:ext cx="4170530" cy="4170530"/>
          </a:xfrm>
          <a:prstGeom prst="rect">
            <a:avLst/>
          </a:prstGeom>
        </p:spPr>
      </p:pic>
    </p:spTree>
    <p:extLst>
      <p:ext uri="{BB962C8B-B14F-4D97-AF65-F5344CB8AC3E}">
        <p14:creationId xmlns:p14="http://schemas.microsoft.com/office/powerpoint/2010/main" val="33946208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8BA0DC-0A24-EB56-6586-E75D9954AF0F}"/>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D5E8F27A-605E-1D25-8609-C9CDDA66D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5E3B79-0D28-5BC2-3CBE-1E242279E595}"/>
              </a:ext>
            </a:extLst>
          </p:cNvPr>
          <p:cNvSpPr>
            <a:spLocks noGrp="1"/>
          </p:cNvSpPr>
          <p:nvPr>
            <p:ph type="title"/>
          </p:nvPr>
        </p:nvSpPr>
        <p:spPr>
          <a:xfrm>
            <a:off x="457200" y="375725"/>
            <a:ext cx="5850512" cy="660400"/>
          </a:xfrm>
        </p:spPr>
        <p:txBody>
          <a:bodyPr vert="horz" lIns="91440" tIns="45720" rIns="91440" bIns="45720" rtlCol="0" anchor="b">
            <a:normAutofit fontScale="90000"/>
          </a:bodyPr>
          <a:lstStyle/>
          <a:p>
            <a:r>
              <a:rPr lang="en-US" sz="4000" kern="1200" dirty="0">
                <a:solidFill>
                  <a:schemeClr val="tx1"/>
                </a:solidFill>
                <a:latin typeface="+mj-lt"/>
                <a:ea typeface="+mj-ea"/>
                <a:cs typeface="+mj-cs"/>
              </a:rPr>
              <a:t>Query 9 </a:t>
            </a:r>
            <a:r>
              <a:rPr lang="en-US" sz="4000" kern="1200" dirty="0" err="1">
                <a:solidFill>
                  <a:schemeClr val="tx1"/>
                </a:solidFill>
                <a:latin typeface="+mj-lt"/>
                <a:ea typeface="+mj-ea"/>
                <a:cs typeface="+mj-cs"/>
              </a:rPr>
              <a:t>Statement..continued</a:t>
            </a:r>
            <a:endParaRPr lang="en-US" sz="4000" kern="1200" dirty="0">
              <a:solidFill>
                <a:schemeClr val="tx1"/>
              </a:solidFill>
              <a:latin typeface="+mj-lt"/>
              <a:ea typeface="+mj-ea"/>
              <a:cs typeface="+mj-cs"/>
            </a:endParaRPr>
          </a:p>
        </p:txBody>
      </p:sp>
      <p:sp>
        <p:nvSpPr>
          <p:cNvPr id="3" name="Content Placeholder 2">
            <a:extLst>
              <a:ext uri="{FF2B5EF4-FFF2-40B4-BE49-F238E27FC236}">
                <a16:creationId xmlns:a16="http://schemas.microsoft.com/office/drawing/2014/main" id="{2E9FC88B-F961-9822-1542-B22C3A72BC4B}"/>
              </a:ext>
            </a:extLst>
          </p:cNvPr>
          <p:cNvSpPr>
            <a:spLocks noGrp="1"/>
          </p:cNvSpPr>
          <p:nvPr>
            <p:ph sz="half" idx="1"/>
          </p:nvPr>
        </p:nvSpPr>
        <p:spPr>
          <a:xfrm>
            <a:off x="457200" y="1252025"/>
            <a:ext cx="7208933" cy="5390075"/>
          </a:xfrm>
        </p:spPr>
        <p:txBody>
          <a:bodyPr vert="horz" lIns="91440" tIns="45720" rIns="91440" bIns="45720" rtlCol="0" anchor="t">
            <a:normAutofit/>
          </a:bodyPr>
          <a:lstStyle/>
          <a:p>
            <a:pPr marL="0" indent="0">
              <a:buNone/>
            </a:pPr>
            <a:r>
              <a:rPr lang="en-US" sz="1800" dirty="0"/>
              <a:t>SELECT </a:t>
            </a:r>
            <a:r>
              <a:rPr lang="en-US" sz="1800" dirty="0" err="1"/>
              <a:t>subject_id</a:t>
            </a:r>
            <a:r>
              <a:rPr lang="en-US" sz="1800" dirty="0"/>
              <a:t>, </a:t>
            </a:r>
            <a:r>
              <a:rPr lang="en-US" sz="1800" dirty="0" err="1"/>
              <a:t>hadm_id</a:t>
            </a:r>
            <a:r>
              <a:rPr lang="en-US" sz="1800" dirty="0"/>
              <a:t> AS </a:t>
            </a:r>
            <a:r>
              <a:rPr lang="en-US" sz="1800" dirty="0" err="1"/>
              <a:t>latest_hadm_id</a:t>
            </a:r>
            <a:r>
              <a:rPr lang="en-US" sz="1800" dirty="0"/>
              <a:t>, </a:t>
            </a:r>
          </a:p>
          <a:p>
            <a:pPr marL="0" indent="0">
              <a:buNone/>
            </a:pPr>
            <a:r>
              <a:rPr lang="en-US" sz="1800" dirty="0" err="1"/>
              <a:t>admittime</a:t>
            </a:r>
            <a:r>
              <a:rPr lang="en-US" sz="1800" dirty="0"/>
              <a:t> AS </a:t>
            </a:r>
            <a:r>
              <a:rPr lang="en-US" sz="1800" dirty="0" err="1"/>
              <a:t>latest_admission</a:t>
            </a:r>
            <a:r>
              <a:rPr lang="en-US" sz="1800" dirty="0"/>
              <a:t>, </a:t>
            </a:r>
            <a:r>
              <a:rPr lang="en-US" sz="1800" dirty="0" err="1"/>
              <a:t>previous_admission</a:t>
            </a:r>
            <a:r>
              <a:rPr lang="en-US" sz="1800" dirty="0"/>
              <a:t>,</a:t>
            </a:r>
          </a:p>
          <a:p>
            <a:pPr marL="0" indent="0">
              <a:buNone/>
            </a:pPr>
            <a:r>
              <a:rPr lang="en-US" sz="1800" dirty="0"/>
              <a:t> DATE_DIFF(DATE(</a:t>
            </a:r>
            <a:r>
              <a:rPr lang="en-US" sz="1800" dirty="0" err="1"/>
              <a:t>admittime</a:t>
            </a:r>
            <a:r>
              <a:rPr lang="en-US" sz="1800" dirty="0"/>
              <a:t>), DATE(</a:t>
            </a:r>
            <a:r>
              <a:rPr lang="en-US" sz="1800" dirty="0" err="1"/>
              <a:t>previous_admission</a:t>
            </a:r>
            <a:r>
              <a:rPr lang="en-US" sz="1800" dirty="0"/>
              <a:t>), DAY) AS </a:t>
            </a:r>
            <a:r>
              <a:rPr lang="en-US" sz="1800" dirty="0" err="1"/>
              <a:t>days_between_admissions</a:t>
            </a:r>
            <a:r>
              <a:rPr lang="en-US" sz="1800" dirty="0"/>
              <a:t>,</a:t>
            </a:r>
          </a:p>
          <a:p>
            <a:pPr marL="0" indent="0">
              <a:buNone/>
            </a:pPr>
            <a:r>
              <a:rPr lang="en-US" sz="1800" dirty="0"/>
              <a:t>    CASE</a:t>
            </a:r>
          </a:p>
          <a:p>
            <a:pPr marL="0" indent="0">
              <a:buNone/>
            </a:pPr>
            <a:r>
              <a:rPr lang="en-US" sz="1800" dirty="0"/>
              <a:t>        WHEN DATE_DIFF(DATE(</a:t>
            </a:r>
            <a:r>
              <a:rPr lang="en-US" sz="1800" dirty="0" err="1"/>
              <a:t>admittime</a:t>
            </a:r>
            <a:r>
              <a:rPr lang="en-US" sz="1800" dirty="0"/>
              <a:t>), DATE(</a:t>
            </a:r>
            <a:r>
              <a:rPr lang="en-US" sz="1800" dirty="0" err="1"/>
              <a:t>previous_admission</a:t>
            </a:r>
            <a:r>
              <a:rPr lang="en-US" sz="1800" dirty="0"/>
              <a:t>), DAY) &lt;= 30</a:t>
            </a:r>
          </a:p>
          <a:p>
            <a:pPr marL="0" indent="0">
              <a:buNone/>
            </a:pPr>
            <a:r>
              <a:rPr lang="en-US" sz="1800" dirty="0"/>
              <a:t>        THEN 'Y'</a:t>
            </a:r>
          </a:p>
          <a:p>
            <a:pPr marL="0" indent="0">
              <a:buNone/>
            </a:pPr>
            <a:r>
              <a:rPr lang="en-US" sz="1800" dirty="0"/>
              <a:t>        ELSE 'N'</a:t>
            </a:r>
          </a:p>
          <a:p>
            <a:pPr marL="0" indent="0">
              <a:buNone/>
            </a:pPr>
            <a:r>
              <a:rPr lang="en-US" sz="1800" dirty="0"/>
              <a:t>    END AS readmitted_within_30d</a:t>
            </a:r>
          </a:p>
          <a:p>
            <a:pPr marL="0" indent="0">
              <a:buNone/>
            </a:pPr>
            <a:r>
              <a:rPr lang="en-US" sz="1800" dirty="0"/>
              <a:t>FROM </a:t>
            </a:r>
            <a:r>
              <a:rPr lang="en-US" sz="1800" dirty="0" err="1"/>
              <a:t>latest_admission_per_patient</a:t>
            </a:r>
            <a:endParaRPr lang="en-US" sz="1800" dirty="0"/>
          </a:p>
          <a:p>
            <a:pPr marL="0" indent="0">
              <a:buNone/>
            </a:pPr>
            <a:r>
              <a:rPr lang="en-US" sz="1800" dirty="0"/>
              <a:t>WHERE </a:t>
            </a:r>
            <a:r>
              <a:rPr lang="en-US" sz="1800" dirty="0" err="1"/>
              <a:t>rn</a:t>
            </a:r>
            <a:r>
              <a:rPr lang="en-US" sz="1800" dirty="0"/>
              <a:t> = 1 AND </a:t>
            </a:r>
            <a:r>
              <a:rPr lang="en-US" sz="1800" dirty="0" err="1"/>
              <a:t>previous_admission</a:t>
            </a:r>
            <a:r>
              <a:rPr lang="en-US" sz="1800" dirty="0"/>
              <a:t> IS NOT NULL</a:t>
            </a:r>
          </a:p>
          <a:p>
            <a:pPr marL="0" indent="0">
              <a:buNone/>
            </a:pPr>
            <a:r>
              <a:rPr lang="en-US" sz="1800" dirty="0"/>
              <a:t>ORDER BY </a:t>
            </a:r>
            <a:r>
              <a:rPr lang="en-US" sz="1800" dirty="0" err="1"/>
              <a:t>days_between_admissions</a:t>
            </a:r>
            <a:r>
              <a:rPr lang="en-US" sz="1800" dirty="0"/>
              <a:t> ASC, </a:t>
            </a:r>
            <a:r>
              <a:rPr lang="en-US" sz="1800" dirty="0" err="1"/>
              <a:t>latest_hadm_id</a:t>
            </a:r>
            <a:r>
              <a:rPr lang="en-US" sz="1800" dirty="0"/>
              <a:t> DESC, </a:t>
            </a:r>
            <a:r>
              <a:rPr lang="en-US" sz="1800" dirty="0" err="1"/>
              <a:t>subject_id</a:t>
            </a:r>
            <a:r>
              <a:rPr lang="en-US" sz="1800" dirty="0"/>
              <a:t> ASC;</a:t>
            </a:r>
          </a:p>
          <a:p>
            <a:pPr marL="0" indent="0">
              <a:buNone/>
            </a:pPr>
            <a:endParaRPr lang="en-US" sz="1800" dirty="0"/>
          </a:p>
          <a:p>
            <a:pPr marL="0" indent="0">
              <a:buNone/>
            </a:pPr>
            <a:endParaRPr lang="en-US" sz="2000" dirty="0"/>
          </a:p>
          <a:p>
            <a:pPr marL="0"/>
            <a:endParaRPr lang="en-US" sz="800" dirty="0"/>
          </a:p>
          <a:p>
            <a:pPr marL="0"/>
            <a:endParaRPr lang="en-US" sz="800" dirty="0"/>
          </a:p>
        </p:txBody>
      </p:sp>
      <p:sp>
        <p:nvSpPr>
          <p:cNvPr id="57" name="Rectangle 56">
            <a:extLst>
              <a:ext uri="{FF2B5EF4-FFF2-40B4-BE49-F238E27FC236}">
                <a16:creationId xmlns:a16="http://schemas.microsoft.com/office/drawing/2014/main" id="{0C7F33D5-E396-2AFC-76E5-A56C643429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90AC1E97-5103-C729-CC80-49E29193B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60">
            <a:extLst>
              <a:ext uri="{FF2B5EF4-FFF2-40B4-BE49-F238E27FC236}">
                <a16:creationId xmlns:a16="http://schemas.microsoft.com/office/drawing/2014/main" id="{C46F7E63-EEB5-91F4-02ED-85D69BC6A9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890289FA-7996-A0F4-8082-90FD30981F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0" name="Graphic 49" descr="Employee Badge">
            <a:extLst>
              <a:ext uri="{FF2B5EF4-FFF2-40B4-BE49-F238E27FC236}">
                <a16:creationId xmlns:a16="http://schemas.microsoft.com/office/drawing/2014/main" id="{8B11D77C-46C7-B11C-5869-CBC64427C3A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52935" y="1252025"/>
            <a:ext cx="4170530" cy="4170530"/>
          </a:xfrm>
          <a:prstGeom prst="rect">
            <a:avLst/>
          </a:prstGeom>
        </p:spPr>
      </p:pic>
    </p:spTree>
    <p:extLst>
      <p:ext uri="{BB962C8B-B14F-4D97-AF65-F5344CB8AC3E}">
        <p14:creationId xmlns:p14="http://schemas.microsoft.com/office/powerpoint/2010/main" val="38131224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04F59C-CB55-E79C-AE3F-5797A24C9DF5}"/>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8862EA1-E46A-9569-A23A-96E38E6198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A050DC-3AB7-1AF1-FC60-4F820A4804A4}"/>
              </a:ext>
            </a:extLst>
          </p:cNvPr>
          <p:cNvSpPr>
            <a:spLocks noGrp="1"/>
          </p:cNvSpPr>
          <p:nvPr>
            <p:ph type="title"/>
          </p:nvPr>
        </p:nvSpPr>
        <p:spPr>
          <a:xfrm>
            <a:off x="772285" y="495135"/>
            <a:ext cx="5323715" cy="945780"/>
          </a:xfrm>
        </p:spPr>
        <p:txBody>
          <a:bodyPr vert="horz" lIns="91440" tIns="45720" rIns="91440" bIns="45720" rtlCol="0" anchor="b">
            <a:normAutofit/>
          </a:bodyPr>
          <a:lstStyle/>
          <a:p>
            <a:r>
              <a:rPr lang="en-US" sz="4000" kern="1200" dirty="0">
                <a:solidFill>
                  <a:schemeClr val="tx1"/>
                </a:solidFill>
                <a:latin typeface="+mj-lt"/>
                <a:ea typeface="+mj-ea"/>
                <a:cs typeface="+mj-cs"/>
              </a:rPr>
              <a:t>Query 9 Result</a:t>
            </a:r>
          </a:p>
        </p:txBody>
      </p:sp>
      <p:sp>
        <p:nvSpPr>
          <p:cNvPr id="13" name="Rectangle 12">
            <a:extLst>
              <a:ext uri="{FF2B5EF4-FFF2-40B4-BE49-F238E27FC236}">
                <a16:creationId xmlns:a16="http://schemas.microsoft.com/office/drawing/2014/main" id="{40E8B4A5-0919-A237-D573-87DE5180E3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2D18FAB-EC14-15AB-DDFE-6AD47182B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0309A4CD-7124-793F-046F-0EFC2EC12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C30DF259-11E2-CFD2-035E-31E5B4BC5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4" descr="A screenshot of a computer&#10;&#10;AI-generated content may be incorrect.">
            <a:extLst>
              <a:ext uri="{FF2B5EF4-FFF2-40B4-BE49-F238E27FC236}">
                <a16:creationId xmlns:a16="http://schemas.microsoft.com/office/drawing/2014/main" id="{2C3AAC67-05D3-7E43-B4F7-9C439D5CE875}"/>
              </a:ext>
            </a:extLst>
          </p:cNvPr>
          <p:cNvPicPr>
            <a:picLocks noGrp="1" noChangeAspect="1"/>
          </p:cNvPicPr>
          <p:nvPr>
            <p:ph sz="half" idx="1"/>
          </p:nvPr>
        </p:nvPicPr>
        <p:blipFill>
          <a:blip r:embed="rId3"/>
          <a:stretch>
            <a:fillRect/>
          </a:stretch>
        </p:blipFill>
        <p:spPr>
          <a:xfrm>
            <a:off x="652653" y="1753960"/>
            <a:ext cx="10470049" cy="3690183"/>
          </a:xfrm>
          <a:prstGeom prst="rect">
            <a:avLst/>
          </a:prstGeom>
        </p:spPr>
      </p:pic>
    </p:spTree>
    <p:extLst>
      <p:ext uri="{BB962C8B-B14F-4D97-AF65-F5344CB8AC3E}">
        <p14:creationId xmlns:p14="http://schemas.microsoft.com/office/powerpoint/2010/main" val="36271962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19A09A-1F63-6066-CB52-2DA0B26EBAD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D2F7B85-432C-BCAA-3039-A48E8BAB2E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80AA65-0303-9A2E-8DC3-4BCE5AF19D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51ABDAD-4D36-AF59-C44E-470E912755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EF06378-3A46-D951-9A79-04F36C9C41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D495E9B-33DC-4F77-E0EA-0B470A4CB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EEF6ACC1-AB5E-D20C-41C5-17321458F8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59B76C-BC56-6D70-B48B-C8246146D037}"/>
              </a:ext>
            </a:extLst>
          </p:cNvPr>
          <p:cNvSpPr>
            <a:spLocks noGrp="1"/>
          </p:cNvSpPr>
          <p:nvPr>
            <p:ph type="title"/>
          </p:nvPr>
        </p:nvSpPr>
        <p:spPr>
          <a:xfrm>
            <a:off x="445168" y="1683756"/>
            <a:ext cx="3256575" cy="2396359"/>
          </a:xfrm>
        </p:spPr>
        <p:txBody>
          <a:bodyPr anchor="b">
            <a:normAutofit/>
          </a:bodyPr>
          <a:lstStyle/>
          <a:p>
            <a:pPr algn="r"/>
            <a:r>
              <a:rPr lang="en-US" sz="4000" dirty="0">
                <a:solidFill>
                  <a:srgbClr val="FFFFFF"/>
                </a:solidFill>
              </a:rPr>
              <a:t>10. Overall  30-Day Readmission Rate</a:t>
            </a:r>
          </a:p>
        </p:txBody>
      </p:sp>
      <p:graphicFrame>
        <p:nvGraphicFramePr>
          <p:cNvPr id="5" name="Content Placeholder 2">
            <a:extLst>
              <a:ext uri="{FF2B5EF4-FFF2-40B4-BE49-F238E27FC236}">
                <a16:creationId xmlns:a16="http://schemas.microsoft.com/office/drawing/2014/main" id="{6636C1F4-F425-0588-8E79-EB267D96B911}"/>
              </a:ext>
            </a:extLst>
          </p:cNvPr>
          <p:cNvGraphicFramePr>
            <a:graphicFrameLocks noGrp="1"/>
          </p:cNvGraphicFramePr>
          <p:nvPr>
            <p:ph idx="1"/>
            <p:extLst>
              <p:ext uri="{D42A27DB-BD31-4B8C-83A1-F6EECF244321}">
                <p14:modId xmlns:p14="http://schemas.microsoft.com/office/powerpoint/2010/main" val="565242137"/>
              </p:ext>
            </p:extLst>
          </p:nvPr>
        </p:nvGraphicFramePr>
        <p:xfrm>
          <a:off x="4905052" y="355600"/>
          <a:ext cx="6666833" cy="6184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008715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5E1BC8-E150-8B9D-72AB-F0E888390899}"/>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C547E090-F5F4-ED17-870D-B64E382E5D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B3D87D-3D88-7850-549A-71B415D9837E}"/>
              </a:ext>
            </a:extLst>
          </p:cNvPr>
          <p:cNvSpPr>
            <a:spLocks noGrp="1"/>
          </p:cNvSpPr>
          <p:nvPr>
            <p:ph type="title"/>
          </p:nvPr>
        </p:nvSpPr>
        <p:spPr>
          <a:xfrm>
            <a:off x="457200" y="375725"/>
            <a:ext cx="5850512" cy="660400"/>
          </a:xfrm>
        </p:spPr>
        <p:txBody>
          <a:bodyPr vert="horz" lIns="91440" tIns="45720" rIns="91440" bIns="45720" rtlCol="0" anchor="b">
            <a:normAutofit/>
          </a:bodyPr>
          <a:lstStyle/>
          <a:p>
            <a:r>
              <a:rPr lang="en-US" sz="4000" kern="1200" dirty="0">
                <a:solidFill>
                  <a:schemeClr val="tx1"/>
                </a:solidFill>
                <a:latin typeface="+mj-lt"/>
                <a:ea typeface="+mj-ea"/>
                <a:cs typeface="+mj-cs"/>
              </a:rPr>
              <a:t>Query 10 Statement</a:t>
            </a:r>
          </a:p>
        </p:txBody>
      </p:sp>
      <p:sp>
        <p:nvSpPr>
          <p:cNvPr id="3" name="Content Placeholder 2">
            <a:extLst>
              <a:ext uri="{FF2B5EF4-FFF2-40B4-BE49-F238E27FC236}">
                <a16:creationId xmlns:a16="http://schemas.microsoft.com/office/drawing/2014/main" id="{A842B6EA-28FB-F5AE-455B-E1A61A437B1D}"/>
              </a:ext>
            </a:extLst>
          </p:cNvPr>
          <p:cNvSpPr>
            <a:spLocks noGrp="1"/>
          </p:cNvSpPr>
          <p:nvPr>
            <p:ph sz="half" idx="1"/>
          </p:nvPr>
        </p:nvSpPr>
        <p:spPr>
          <a:xfrm>
            <a:off x="457200" y="1252025"/>
            <a:ext cx="7208933" cy="5390075"/>
          </a:xfrm>
        </p:spPr>
        <p:txBody>
          <a:bodyPr vert="horz" lIns="91440" tIns="45720" rIns="91440" bIns="45720" rtlCol="0" anchor="t">
            <a:normAutofit fontScale="77500" lnSpcReduction="20000"/>
          </a:bodyPr>
          <a:lstStyle/>
          <a:p>
            <a:pPr marL="0" indent="0">
              <a:buNone/>
            </a:pPr>
            <a:r>
              <a:rPr lang="en-US" sz="1800" dirty="0"/>
              <a:t>WITH readmissions AS (</a:t>
            </a:r>
          </a:p>
          <a:p>
            <a:pPr marL="0" indent="0">
              <a:buNone/>
            </a:pPr>
            <a:r>
              <a:rPr lang="en-US" sz="1800" dirty="0"/>
              <a:t>  SELECT </a:t>
            </a:r>
            <a:r>
              <a:rPr lang="en-US" sz="1800" dirty="0" err="1"/>
              <a:t>a.subject_id</a:t>
            </a:r>
            <a:r>
              <a:rPr lang="en-US" sz="1800" dirty="0"/>
              <a:t>, LAG(</a:t>
            </a:r>
            <a:r>
              <a:rPr lang="en-US" sz="1800" dirty="0" err="1"/>
              <a:t>a.admittime</a:t>
            </a:r>
            <a:r>
              <a:rPr lang="en-US" sz="1800" dirty="0"/>
              <a:t>) OVER (</a:t>
            </a:r>
          </a:p>
          <a:p>
            <a:pPr marL="0" indent="0">
              <a:buNone/>
            </a:pPr>
            <a:r>
              <a:rPr lang="en-US" sz="1800" dirty="0"/>
              <a:t>          PARTITION BY </a:t>
            </a:r>
            <a:r>
              <a:rPr lang="en-US" sz="1800" dirty="0" err="1"/>
              <a:t>a.subject_id</a:t>
            </a:r>
            <a:endParaRPr lang="en-US" sz="1800" dirty="0"/>
          </a:p>
          <a:p>
            <a:pPr marL="0" indent="0">
              <a:buNone/>
            </a:pPr>
            <a:r>
              <a:rPr lang="en-US" sz="1800" dirty="0"/>
              <a:t>          ORDER BY </a:t>
            </a:r>
            <a:r>
              <a:rPr lang="en-US" sz="1800" dirty="0" err="1"/>
              <a:t>a.admittime</a:t>
            </a:r>
            <a:endParaRPr lang="en-US" sz="1800" dirty="0"/>
          </a:p>
          <a:p>
            <a:pPr marL="0" indent="0">
              <a:buNone/>
            </a:pPr>
            <a:r>
              <a:rPr lang="en-US" sz="1800" dirty="0"/>
              <a:t>      ) AS </a:t>
            </a:r>
            <a:r>
              <a:rPr lang="en-US" sz="1800" dirty="0" err="1"/>
              <a:t>prev_admit</a:t>
            </a:r>
            <a:r>
              <a:rPr lang="en-US" sz="1800" dirty="0"/>
              <a:t>,</a:t>
            </a:r>
          </a:p>
          <a:p>
            <a:pPr marL="0" indent="0">
              <a:buNone/>
            </a:pPr>
            <a:r>
              <a:rPr lang="en-US" sz="1800" dirty="0"/>
              <a:t>      </a:t>
            </a:r>
            <a:r>
              <a:rPr lang="en-US" sz="1800" dirty="0" err="1"/>
              <a:t>a.admittime</a:t>
            </a:r>
            <a:endParaRPr lang="en-US" sz="1800" dirty="0"/>
          </a:p>
          <a:p>
            <a:pPr marL="0" indent="0">
              <a:buNone/>
            </a:pPr>
            <a:r>
              <a:rPr lang="en-US" sz="1800" dirty="0"/>
              <a:t>  FROM `</a:t>
            </a:r>
            <a:r>
              <a:rPr lang="en-US" sz="1800" dirty="0" err="1"/>
              <a:t>physionet-data.mimiciii_clinical.admissions</a:t>
            </a:r>
            <a:r>
              <a:rPr lang="en-US" sz="1800" dirty="0"/>
              <a:t>` a</a:t>
            </a:r>
          </a:p>
          <a:p>
            <a:pPr marL="0" indent="0">
              <a:buNone/>
            </a:pPr>
            <a:r>
              <a:rPr lang="en-US" sz="1800" dirty="0"/>
              <a:t>  JOIN `</a:t>
            </a:r>
            <a:r>
              <a:rPr lang="en-US" sz="1800" dirty="0" err="1"/>
              <a:t>physionet-data.mimiciii_clinical.diagnoses_icd</a:t>
            </a:r>
            <a:r>
              <a:rPr lang="en-US" sz="1800" dirty="0"/>
              <a:t>` d</a:t>
            </a:r>
          </a:p>
          <a:p>
            <a:pPr marL="0" indent="0">
              <a:buNone/>
            </a:pPr>
            <a:r>
              <a:rPr lang="en-US" sz="1800" dirty="0"/>
              <a:t>      ON </a:t>
            </a:r>
            <a:r>
              <a:rPr lang="en-US" sz="1800" dirty="0" err="1"/>
              <a:t>a.hadm_id</a:t>
            </a:r>
            <a:r>
              <a:rPr lang="en-US" sz="1800" dirty="0"/>
              <a:t> = </a:t>
            </a:r>
            <a:r>
              <a:rPr lang="en-US" sz="1800" dirty="0" err="1"/>
              <a:t>d.hadm_id</a:t>
            </a:r>
            <a:endParaRPr lang="en-US" sz="1800" dirty="0"/>
          </a:p>
          <a:p>
            <a:pPr marL="0" indent="0">
              <a:buNone/>
            </a:pPr>
            <a:r>
              <a:rPr lang="en-US" sz="1800" dirty="0"/>
              <a:t>  WHERE d.icd9_code LIKE '410%'</a:t>
            </a:r>
          </a:p>
          <a:p>
            <a:pPr marL="0" indent="0">
              <a:buNone/>
            </a:pPr>
            <a:r>
              <a:rPr lang="en-US" sz="1800" dirty="0"/>
              <a:t>)</a:t>
            </a:r>
          </a:p>
          <a:p>
            <a:pPr marL="0" indent="0">
              <a:buNone/>
            </a:pPr>
            <a:endParaRPr lang="en-US" sz="1800" dirty="0"/>
          </a:p>
          <a:p>
            <a:pPr marL="0" indent="0">
              <a:buNone/>
            </a:pPr>
            <a:r>
              <a:rPr lang="en-US" sz="1800" dirty="0"/>
              <a:t>SELECT ROUND(AVG(CASE WHEN DATE_DIFF(DATE(</a:t>
            </a:r>
            <a:r>
              <a:rPr lang="en-US" sz="1800" dirty="0" err="1"/>
              <a:t>admittime</a:t>
            </a:r>
            <a:r>
              <a:rPr lang="en-US" sz="1800" dirty="0"/>
              <a:t>), DATE(</a:t>
            </a:r>
            <a:r>
              <a:rPr lang="en-US" sz="1800" dirty="0" err="1"/>
              <a:t>prev_admit</a:t>
            </a:r>
            <a:r>
              <a:rPr lang="en-US" sz="1800" dirty="0"/>
              <a:t>), DAY) &lt;= 30 </a:t>
            </a:r>
          </a:p>
          <a:p>
            <a:pPr marL="0" indent="0">
              <a:buNone/>
            </a:pPr>
            <a:r>
              <a:rPr lang="en-US" sz="1800" dirty="0"/>
              <a:t>        THEN 1 ELSE 0 </a:t>
            </a:r>
          </a:p>
          <a:p>
            <a:pPr marL="0" indent="0">
              <a:buNone/>
            </a:pPr>
            <a:r>
              <a:rPr lang="en-US" sz="1800" dirty="0"/>
              <a:t>      END</a:t>
            </a:r>
          </a:p>
          <a:p>
            <a:pPr marL="0" indent="0">
              <a:buNone/>
            </a:pPr>
            <a:r>
              <a:rPr lang="en-US" sz="1800" dirty="0"/>
              <a:t>    ) * 100, 2</a:t>
            </a:r>
          </a:p>
          <a:p>
            <a:pPr marL="0" indent="0">
              <a:buNone/>
            </a:pPr>
            <a:r>
              <a:rPr lang="en-US" sz="1800" dirty="0"/>
              <a:t>  ) AS </a:t>
            </a:r>
            <a:r>
              <a:rPr lang="en-US" sz="1800" dirty="0" err="1"/>
              <a:t>readmission_rate_pct</a:t>
            </a:r>
            <a:endParaRPr lang="en-US" sz="1800" dirty="0"/>
          </a:p>
          <a:p>
            <a:pPr marL="0" indent="0">
              <a:buNone/>
            </a:pPr>
            <a:r>
              <a:rPr lang="en-US" sz="1800" dirty="0"/>
              <a:t>FROM readmissions</a:t>
            </a:r>
          </a:p>
          <a:p>
            <a:pPr marL="0" indent="0">
              <a:buNone/>
            </a:pPr>
            <a:r>
              <a:rPr lang="en-US" sz="1800" dirty="0"/>
              <a:t>WHERE </a:t>
            </a:r>
            <a:r>
              <a:rPr lang="en-US" sz="1800" dirty="0" err="1"/>
              <a:t>prev_admit</a:t>
            </a:r>
            <a:r>
              <a:rPr lang="en-US" sz="1800" dirty="0"/>
              <a:t> IS NOT NULL;</a:t>
            </a:r>
          </a:p>
          <a:p>
            <a:pPr marL="0" indent="0">
              <a:buNone/>
            </a:pPr>
            <a:endParaRPr lang="en-US" sz="2000" dirty="0"/>
          </a:p>
          <a:p>
            <a:pPr marL="0"/>
            <a:endParaRPr lang="en-US" sz="800" dirty="0"/>
          </a:p>
          <a:p>
            <a:pPr marL="0"/>
            <a:endParaRPr lang="en-US" sz="800" dirty="0"/>
          </a:p>
        </p:txBody>
      </p:sp>
      <p:sp>
        <p:nvSpPr>
          <p:cNvPr id="57" name="Rectangle 56">
            <a:extLst>
              <a:ext uri="{FF2B5EF4-FFF2-40B4-BE49-F238E27FC236}">
                <a16:creationId xmlns:a16="http://schemas.microsoft.com/office/drawing/2014/main" id="{0FEBF235-958A-E6D0-242D-898A945A0D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60451B0C-8BA5-D5A4-3EC1-5BA2FE90A7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60">
            <a:extLst>
              <a:ext uri="{FF2B5EF4-FFF2-40B4-BE49-F238E27FC236}">
                <a16:creationId xmlns:a16="http://schemas.microsoft.com/office/drawing/2014/main" id="{50DE0E0E-56F7-CB8D-0B05-51767D5620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88AE9602-96CE-3AFD-7701-26CF9021E3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0" name="Graphic 49" descr="Employee Badge">
            <a:extLst>
              <a:ext uri="{FF2B5EF4-FFF2-40B4-BE49-F238E27FC236}">
                <a16:creationId xmlns:a16="http://schemas.microsoft.com/office/drawing/2014/main" id="{8E042407-430E-932D-AAED-F3AB727F5CA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52935" y="1252025"/>
            <a:ext cx="4170530" cy="4170530"/>
          </a:xfrm>
          <a:prstGeom prst="rect">
            <a:avLst/>
          </a:prstGeom>
        </p:spPr>
      </p:pic>
    </p:spTree>
    <p:extLst>
      <p:ext uri="{BB962C8B-B14F-4D97-AF65-F5344CB8AC3E}">
        <p14:creationId xmlns:p14="http://schemas.microsoft.com/office/powerpoint/2010/main" val="9957740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102F9D0-5F0F-AEFA-960A-67DA07796318}"/>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D645ADF-C621-5FEE-1BBF-1CDBE14224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C7EB12-B47B-8822-700A-DAFC82FB8C77}"/>
              </a:ext>
            </a:extLst>
          </p:cNvPr>
          <p:cNvSpPr>
            <a:spLocks noGrp="1"/>
          </p:cNvSpPr>
          <p:nvPr>
            <p:ph type="title"/>
          </p:nvPr>
        </p:nvSpPr>
        <p:spPr>
          <a:xfrm>
            <a:off x="772285" y="495135"/>
            <a:ext cx="5323715" cy="945780"/>
          </a:xfrm>
        </p:spPr>
        <p:txBody>
          <a:bodyPr vert="horz" lIns="91440" tIns="45720" rIns="91440" bIns="45720" rtlCol="0" anchor="b">
            <a:normAutofit/>
          </a:bodyPr>
          <a:lstStyle/>
          <a:p>
            <a:r>
              <a:rPr lang="en-US" sz="4000" kern="1200" dirty="0">
                <a:solidFill>
                  <a:schemeClr val="tx1"/>
                </a:solidFill>
                <a:latin typeface="+mj-lt"/>
                <a:ea typeface="+mj-ea"/>
                <a:cs typeface="+mj-cs"/>
              </a:rPr>
              <a:t>Query 10 Result</a:t>
            </a:r>
          </a:p>
        </p:txBody>
      </p:sp>
      <p:sp>
        <p:nvSpPr>
          <p:cNvPr id="13" name="Rectangle 12">
            <a:extLst>
              <a:ext uri="{FF2B5EF4-FFF2-40B4-BE49-F238E27FC236}">
                <a16:creationId xmlns:a16="http://schemas.microsoft.com/office/drawing/2014/main" id="{DB3A8245-64B0-BB8E-2765-45133C687F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A3C66F0-E5C6-002D-6775-C2A83F9777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0861D509-09AA-BC3B-4EF8-50693A994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B3FE38D-0D26-0597-1DB6-855DB4C678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Content Placeholder 5" descr="A screenshot of a computer&#10;&#10;AI-generated content may be incorrect.">
            <a:extLst>
              <a:ext uri="{FF2B5EF4-FFF2-40B4-BE49-F238E27FC236}">
                <a16:creationId xmlns:a16="http://schemas.microsoft.com/office/drawing/2014/main" id="{54D0DDE0-7971-B1B2-205A-B8A898F86BA5}"/>
              </a:ext>
            </a:extLst>
          </p:cNvPr>
          <p:cNvPicPr>
            <a:picLocks noGrp="1" noChangeAspect="1"/>
          </p:cNvPicPr>
          <p:nvPr>
            <p:ph sz="half" idx="1"/>
          </p:nvPr>
        </p:nvPicPr>
        <p:blipFill>
          <a:blip r:embed="rId3"/>
          <a:stretch>
            <a:fillRect/>
          </a:stretch>
        </p:blipFill>
        <p:spPr>
          <a:xfrm>
            <a:off x="772285" y="2348692"/>
            <a:ext cx="10846760" cy="2261408"/>
          </a:xfrm>
          <a:prstGeom prst="rect">
            <a:avLst/>
          </a:prstGeom>
        </p:spPr>
      </p:pic>
    </p:spTree>
    <p:extLst>
      <p:ext uri="{BB962C8B-B14F-4D97-AF65-F5344CB8AC3E}">
        <p14:creationId xmlns:p14="http://schemas.microsoft.com/office/powerpoint/2010/main" val="4037478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1297</TotalTime>
  <Words>2676</Words>
  <Application>Microsoft Macintosh PowerPoint</Application>
  <PresentationFormat>Widescreen</PresentationFormat>
  <Paragraphs>324</Paragraphs>
  <Slides>35</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Aptos</vt:lpstr>
      <vt:lpstr>Aptos Display</vt:lpstr>
      <vt:lpstr>Arial</vt:lpstr>
      <vt:lpstr>Office Theme</vt:lpstr>
      <vt:lpstr>Analytics of heart attack patients in MIMIC III database</vt:lpstr>
      <vt:lpstr>Overview</vt:lpstr>
      <vt:lpstr>Queries</vt:lpstr>
      <vt:lpstr>01. Define AMI Cohort</vt:lpstr>
      <vt:lpstr>Query 1 Statement</vt:lpstr>
      <vt:lpstr>Query 1 Result</vt:lpstr>
      <vt:lpstr>02. Average Age at First Admission </vt:lpstr>
      <vt:lpstr>Query 2 Statement</vt:lpstr>
      <vt:lpstr>Query 2 Result</vt:lpstr>
      <vt:lpstr>03. Insurance Distribution</vt:lpstr>
      <vt:lpstr>Query 3 Statement</vt:lpstr>
      <vt:lpstr>Query 3 Result</vt:lpstr>
      <vt:lpstr>04. Length of Stay (LOS) Statistics</vt:lpstr>
      <vt:lpstr>Query 4 Statement</vt:lpstr>
      <vt:lpstr>Query 4 Result</vt:lpstr>
      <vt:lpstr>05. ICU Utilization by Age Group</vt:lpstr>
      <vt:lpstr>Query 5 Statement</vt:lpstr>
      <vt:lpstr>Query 5 Statement…continued</vt:lpstr>
      <vt:lpstr>Query 5 Result</vt:lpstr>
      <vt:lpstr>06. In-Hospital Mortality</vt:lpstr>
      <vt:lpstr>Query 6 Statement</vt:lpstr>
      <vt:lpstr>Query 6 Result</vt:lpstr>
      <vt:lpstr>07. Top Cardiac Medications</vt:lpstr>
      <vt:lpstr>Query 7 Statement</vt:lpstr>
      <vt:lpstr>Query 7 Result</vt:lpstr>
      <vt:lpstr>08. Top 10 Most Frequently Ordered Lab Tests</vt:lpstr>
      <vt:lpstr>Query 8 Statement</vt:lpstr>
      <vt:lpstr>Query 8 Result</vt:lpstr>
      <vt:lpstr>09. Patient Level Readmission Data</vt:lpstr>
      <vt:lpstr>Query 9 Statement</vt:lpstr>
      <vt:lpstr>Query 9 Statement..continued</vt:lpstr>
      <vt:lpstr>Query 9 Result</vt:lpstr>
      <vt:lpstr>10. Overall  30-Day Readmission Rate</vt:lpstr>
      <vt:lpstr>Query 10 Statement</vt:lpstr>
      <vt:lpstr>Query 10 Result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Sritama Paul</dc:creator>
  <cp:lastModifiedBy>Sritama Paul</cp:lastModifiedBy>
  <cp:revision>33</cp:revision>
  <dcterms:created xsi:type="dcterms:W3CDTF">2026-02-07T20:48:50Z</dcterms:created>
  <dcterms:modified xsi:type="dcterms:W3CDTF">2026-02-15T06:40:34Z</dcterms:modified>
</cp:coreProperties>
</file>