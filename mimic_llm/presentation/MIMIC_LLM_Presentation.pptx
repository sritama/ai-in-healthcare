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83" r:id="rId6"/>
    <p:sldId id="284" r:id="rId7"/>
    <p:sldId id="285" r:id="rId8"/>
    <p:sldId id="260" r:id="rId9"/>
    <p:sldId id="274" r:id="rId10"/>
    <p:sldId id="275" r:id="rId11"/>
    <p:sldId id="261" r:id="rId12"/>
    <p:sldId id="262" r:id="rId13"/>
    <p:sldId id="276" r:id="rId14"/>
    <p:sldId id="277" r:id="rId15"/>
    <p:sldId id="278" r:id="rId16"/>
    <p:sldId id="279" r:id="rId17"/>
    <p:sldId id="280" r:id="rId18"/>
    <p:sldId id="281" r:id="rId19"/>
    <p:sldId id="282" r:id="rId20"/>
    <p:sldId id="263" r:id="rId21"/>
    <p:sldId id="264" r:id="rId22"/>
    <p:sldId id="287" r:id="rId23"/>
    <p:sldId id="265" r:id="rId24"/>
    <p:sldId id="266" r:id="rId25"/>
    <p:sldId id="267" r:id="rId26"/>
    <p:sldId id="268" r:id="rId27"/>
    <p:sldId id="269" r:id="rId28"/>
    <p:sldId id="270" r:id="rId29"/>
    <p:sldId id="272" r:id="rId30"/>
    <p:sldId id="273"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74676"/>
  </p:normalViewPr>
  <p:slideViewPr>
    <p:cSldViewPr snapToGrid="0" snapToObjects="1">
      <p:cViewPr varScale="1">
        <p:scale>
          <a:sx n="118" d="100"/>
          <a:sy n="118" d="100"/>
        </p:scale>
        <p:origin x="1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894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tutorial on predicting ICU patient outcomes using Large Language Models. We applied seven different prompting strategies to 100 real ICU patients from the MIMIC-III database, using GPT-4o as the primary model and GPT-3.5-turbo as a baseline. The core question: can an LLM reason over structured clinical data expressed as natural language narratives to predict which patients will die and how long they will stay in the ICU?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covers six areas: first we motivate the clinical problem, then we describe the MIMIC-III dataset, explain how we engineered prompts, describe our technical infrastructure, compare all seven prompting methods with visualisations, and finally discuss ideas for future improvement.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clinical problem is predicting two outcomes for ICU patients: whether they will survive and how long they will stay. Traditional ML requires labelled training data and expensive model fine-tuning for each new hospital. LLMs offer a different approach — we convert structured EHR data into natural language narratives and ask the model to reason clinically, just as a physician would during a handoff. No fine-tuning is needed.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MIMIC-III is a publicly available ICU database from MIT/PhysioNet covering over 46,000 patients. We use six tables: ADMISSIONS for outcomes, PATIENTS for demographics, ICUSTAYS for stay lengths, CHARTEVENTS for vital signs (28 million rows filtered), LABEVENTS for lab values, and PRESCRIPTIONS for medications. Our cohort is 100 patients, balanced 50/50, using only the first ICU stay per patient to avoid data leakage.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build the patient cohort before any feature extraction. Age computation is non-trivial in MIMIC-III because of the &gt;89 anonymisation artefact. Using the first ICU stay per patient prevents data leakage. The balanced 50/50 split ensures the 50% random baseline is meaningful — any accuracy above 50% represents genuine predictive signal from the LLM.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extract 10 numeric features per patient: 6 vital signs from CHARTEVENTS and 4 lab values from LABEVENTS. A key technical detail is that MIMIC-III used two ICU clinical systems — CareVue (older) and Metavision (newer) — with different itemids for the same measurement. We include both sets so features are extracted for all patients regardless of which system recorded their data. Temperature is special: it may be recorded in °C or °F depending on the unit, so we try °C first and convert from °F if necessary. We use the median across all readings during the ICU stay, which is more robust to transient spikes than mean or latest value. Medications are extracted separately as a text list of up to 4 drug names.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values arise when a patient simply has no recorded reading for a particular vital or lab during their ICU stay. Systolic and diastolic BP have the most missing values (30 each) because BP monitoring is intermittent in some patients. We use cohort median imputation — straightforward and appropriate for this task since the LLM uses the values as clinical context rather than for gradient-based learning. The two prediction labels come directly from MIMIC-III: mortality from the hospital_expire_flag column in ADMISSIONS, and LOS from the icustay LOS value binarised at 3 days. The 3-day threshold is clinically meaningful — short stays typically indicate either rapid recovery or very early death, while long stays indicate ongoing complex care.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decision is converting structured tabular data into clinical narratives. Raw numbers carry less meaning to an LLM than annotated values. We add two enhancements: abnormality flags using standard clinical reference ranges, and a SOFA-proxy severity score computed from SpO2, systolic BP, and creatinine. This format resembles a clinical handoff note, which aligns with GPT-4o's medical training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EB4A7-C633-D1A1-1EC8-C91882F02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ABA6B-56E1-7469-3F3C-6D7D1F521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F6ED91-65B5-D729-8C52-0EE926FEFE2A}"/>
              </a:ext>
            </a:extLst>
          </p:cNvPr>
          <p:cNvSpPr>
            <a:spLocks noGrp="1"/>
          </p:cNvSpPr>
          <p:nvPr>
            <p:ph type="body" idx="1"/>
          </p:nvPr>
        </p:nvSpPr>
        <p:spPr/>
        <p:txBody>
          <a:bodyPr/>
          <a:lstStyle/>
          <a:p>
            <a:r>
              <a:rPr lang="en-US" dirty="0"/>
              <a:t>Tabular→ Text Conversion Code</a:t>
            </a:r>
          </a:p>
        </p:txBody>
      </p:sp>
      <p:sp>
        <p:nvSpPr>
          <p:cNvPr id="4" name="Slide Number Placeholder 3">
            <a:extLst>
              <a:ext uri="{FF2B5EF4-FFF2-40B4-BE49-F238E27FC236}">
                <a16:creationId xmlns:a16="http://schemas.microsoft.com/office/drawing/2014/main" id="{374CD694-8997-7E96-4F43-A0D7F16089E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894190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1A6C6-D0FE-B91F-0991-0E408A731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0388A-50E2-F2B1-4123-6C1FD8744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F8F668-3F52-6F9A-7DFC-949250F783E1}"/>
              </a:ext>
            </a:extLst>
          </p:cNvPr>
          <p:cNvSpPr>
            <a:spLocks noGrp="1"/>
          </p:cNvSpPr>
          <p:nvPr>
            <p:ph type="body" idx="1"/>
          </p:nvPr>
        </p:nvSpPr>
        <p:spPr/>
        <p:txBody>
          <a:bodyPr/>
          <a:lstStyle/>
          <a:p>
            <a:r>
              <a:rPr lang="en-US" dirty="0"/>
              <a:t>Generate patient Narrative</a:t>
            </a:r>
          </a:p>
        </p:txBody>
      </p:sp>
      <p:sp>
        <p:nvSpPr>
          <p:cNvPr id="4" name="Slide Number Placeholder 3">
            <a:extLst>
              <a:ext uri="{FF2B5EF4-FFF2-40B4-BE49-F238E27FC236}">
                <a16:creationId xmlns:a16="http://schemas.microsoft.com/office/drawing/2014/main" id="{0BE7694F-E7C5-D001-E1D4-A8F298B3AAF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73662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seven prompting strategies. Methods 1-3 are in-context learning variants. Methods 4-5 are reasoning methods. Method 6 is Self-Consistency — three independent CoT votes with majority decision. Method 7 is GPT-3.5 as baseline. An important finding: GPT-4o strongly over-predicts SURVIVED without calibration, so we added a bias-breaker instruction listing high-risk clinical signals. GPT-3.5 does not need this correction.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Chain-of-Thought structures reasoning into five clinical steps. Tree of Thoughts takes a different approach — it forces the model to explicitly argue for both outcomes before choosing. This dual-path structure prevents the model from anchoring on its first impression and surfaces evidence on both sides. Tree of Thoughts achieved the highest F1 score among GPT-4o methods.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102B5-1076-0963-6387-989E5C3D8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852D3-A847-DACF-D0AA-9E6F4BCE1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54D963-74E0-25B8-6970-A80AD17A5E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Check the </a:t>
            </a:r>
            <a:r>
              <a:rPr lang="en-US" dirty="0" err="1"/>
              <a:t>Jupyter</a:t>
            </a:r>
            <a:r>
              <a:rPr lang="en-US" dirty="0"/>
              <a:t> Notebook for more details</a:t>
            </a:r>
          </a:p>
          <a:p>
            <a:endParaRPr lang="en-US" dirty="0"/>
          </a:p>
        </p:txBody>
      </p:sp>
      <p:sp>
        <p:nvSpPr>
          <p:cNvPr id="4" name="Slide Number Placeholder 3">
            <a:extLst>
              <a:ext uri="{FF2B5EF4-FFF2-40B4-BE49-F238E27FC236}">
                <a16:creationId xmlns:a16="http://schemas.microsoft.com/office/drawing/2014/main" id="{0F6AF60A-F8B7-0BEF-5734-C354558C9C47}"/>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153893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4DEDD-EFB3-8218-E7B9-C4681D7E5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F6893-197E-02F6-0F8A-688762A795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6F4487-5BB3-45DE-0B7C-E9497E15ED8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Check the </a:t>
            </a:r>
            <a:r>
              <a:rPr lang="en-US" dirty="0" err="1"/>
              <a:t>Jupyter</a:t>
            </a:r>
            <a:r>
              <a:rPr lang="en-US" dirty="0"/>
              <a:t> Notebook for more details</a:t>
            </a:r>
          </a:p>
          <a:p>
            <a:endParaRPr lang="en-US" dirty="0"/>
          </a:p>
        </p:txBody>
      </p:sp>
      <p:sp>
        <p:nvSpPr>
          <p:cNvPr id="4" name="Slide Number Placeholder 3">
            <a:extLst>
              <a:ext uri="{FF2B5EF4-FFF2-40B4-BE49-F238E27FC236}">
                <a16:creationId xmlns:a16="http://schemas.microsoft.com/office/drawing/2014/main" id="{6F3903A6-E664-407C-7120-750B1FFC846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9161303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B03F9-D797-D72C-F25B-39E7E73D8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2E67A8-214D-E282-3F94-D5B2B6A13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001146-D60D-977A-AD26-B0383AB7F2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Check the </a:t>
            </a:r>
            <a:r>
              <a:rPr lang="en-US" dirty="0" err="1"/>
              <a:t>Jupyter</a:t>
            </a:r>
            <a:r>
              <a:rPr lang="en-US" dirty="0"/>
              <a:t> Notebook for more details</a:t>
            </a:r>
          </a:p>
          <a:p>
            <a:endParaRPr lang="en-US" dirty="0"/>
          </a:p>
        </p:txBody>
      </p:sp>
      <p:sp>
        <p:nvSpPr>
          <p:cNvPr id="4" name="Slide Number Placeholder 3">
            <a:extLst>
              <a:ext uri="{FF2B5EF4-FFF2-40B4-BE49-F238E27FC236}">
                <a16:creationId xmlns:a16="http://schemas.microsoft.com/office/drawing/2014/main" id="{F4878E7A-6A83-7665-27A4-DD4517819052}"/>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901817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CC8D6-37F6-EDDB-0F93-ECDC464EEB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B5DF6-C8CE-4BFA-27C8-B6F0646103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403720-0BF2-866D-8E8E-757252C8FF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Check the </a:t>
            </a:r>
            <a:r>
              <a:rPr lang="en-US" dirty="0" err="1"/>
              <a:t>Jupyter</a:t>
            </a:r>
            <a:r>
              <a:rPr lang="en-US" dirty="0"/>
              <a:t> Notebook for more details</a:t>
            </a:r>
          </a:p>
          <a:p>
            <a:endParaRPr lang="en-US" dirty="0"/>
          </a:p>
        </p:txBody>
      </p:sp>
      <p:sp>
        <p:nvSpPr>
          <p:cNvPr id="4" name="Slide Number Placeholder 3">
            <a:extLst>
              <a:ext uri="{FF2B5EF4-FFF2-40B4-BE49-F238E27FC236}">
                <a16:creationId xmlns:a16="http://schemas.microsoft.com/office/drawing/2014/main" id="{EB70E88C-424F-FFE5-2F2C-4745FED279D5}"/>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586711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812C6-C9ED-AAF4-564F-F7DE8FAE7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DE626-4E53-CA89-7883-AAD3AA5C5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EB35B-2712-7350-14C6-673DFED020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Check the </a:t>
            </a:r>
            <a:r>
              <a:rPr lang="en-US" dirty="0" err="1"/>
              <a:t>Jupyter</a:t>
            </a:r>
            <a:r>
              <a:rPr lang="en-US" dirty="0"/>
              <a:t> Notebook for more details</a:t>
            </a:r>
          </a:p>
          <a:p>
            <a:endParaRPr lang="en-US" dirty="0"/>
          </a:p>
        </p:txBody>
      </p:sp>
      <p:sp>
        <p:nvSpPr>
          <p:cNvPr id="4" name="Slide Number Placeholder 3">
            <a:extLst>
              <a:ext uri="{FF2B5EF4-FFF2-40B4-BE49-F238E27FC236}">
                <a16:creationId xmlns:a16="http://schemas.microsoft.com/office/drawing/2014/main" id="{E04B19B3-FEDD-91C2-0AE6-9176DCD69DA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0087558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788A-11FA-5FEC-00BC-ADB736895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D9798-9362-27B1-BA82-EB6B3DE74C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38C82-B473-2D9B-EB64-057D808EB0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Check the </a:t>
            </a:r>
            <a:r>
              <a:rPr lang="en-US" dirty="0" err="1"/>
              <a:t>Jupyter</a:t>
            </a:r>
            <a:r>
              <a:rPr lang="en-US" dirty="0"/>
              <a:t> Notebook for more details</a:t>
            </a:r>
          </a:p>
          <a:p>
            <a:endParaRPr lang="en-US" dirty="0"/>
          </a:p>
        </p:txBody>
      </p:sp>
      <p:sp>
        <p:nvSpPr>
          <p:cNvPr id="4" name="Slide Number Placeholder 3">
            <a:extLst>
              <a:ext uri="{FF2B5EF4-FFF2-40B4-BE49-F238E27FC236}">
                <a16:creationId xmlns:a16="http://schemas.microsoft.com/office/drawing/2014/main" id="{5066E5C0-60E1-8EBC-1E70-9FE248BAC84D}"/>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2627642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A848-0FAC-6639-C1B7-F118203A5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D0309D-AA87-2526-A383-95611D697A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D931AF-9F94-20DF-0418-13D81C60402C}"/>
              </a:ext>
            </a:extLst>
          </p:cNvPr>
          <p:cNvSpPr>
            <a:spLocks noGrp="1"/>
          </p:cNvSpPr>
          <p:nvPr>
            <p:ph type="body" idx="1"/>
          </p:nvPr>
        </p:nvSpPr>
        <p:spPr/>
        <p:txBody>
          <a:bodyPr/>
          <a:lstStyle/>
          <a:p>
            <a:r>
              <a:rPr lang="en-US" dirty="0"/>
              <a:t>Check the </a:t>
            </a:r>
            <a:r>
              <a:rPr lang="en-US" dirty="0" err="1"/>
              <a:t>Jupyter</a:t>
            </a:r>
            <a:r>
              <a:rPr lang="en-US" dirty="0"/>
              <a:t> Notebook for more details</a:t>
            </a:r>
          </a:p>
        </p:txBody>
      </p:sp>
      <p:sp>
        <p:nvSpPr>
          <p:cNvPr id="4" name="Slide Number Placeholder 3">
            <a:extLst>
              <a:ext uri="{FF2B5EF4-FFF2-40B4-BE49-F238E27FC236}">
                <a16:creationId xmlns:a16="http://schemas.microsoft.com/office/drawing/2014/main" id="{5E501027-E586-F828-18A5-E17F86351F95}"/>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8376017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technical challenge was running 700 API calls efficiently without hitting OpenAI's 30,000 token per minute rate limit. Our solution is a three-layer async architecture. _sync_call wraps the OpenAI SDK with retry logic. acall_safe dispatches this to a background thread via run_in_executor so the event loop stays unblocked. run_method_batched uses adaptive batch sizes based on token cost. We also use nest_asyncio to patch Jupyter's existing event loop.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LLM-as-Judge evaluation reveals that reasoning quality and prediction accuracy are distinct. GPT-4o achieves near-zero hallucination (4.82/5) — it never fabricates clinical facts. Clinical accuracy and logical coherence are solid, meaning the reasoning process is clinically sound. Lower prediction correctness reflects genuine case ambiguity — even experienced clinicians disagree on outcomes for borderline patients. The bonus downstream ML result: adding LLM features improves logistic regression by +6%.</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16AD5-A8F2-5E18-0C40-4C5B4B1FF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C4811-05A8-C865-9567-6E9A73F09C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BE4A56-CFD0-75AD-777A-B92F95FF4912}"/>
              </a:ext>
            </a:extLst>
          </p:cNvPr>
          <p:cNvSpPr>
            <a:spLocks noGrp="1"/>
          </p:cNvSpPr>
          <p:nvPr>
            <p:ph type="body" idx="1"/>
          </p:nvPr>
        </p:nvSpPr>
        <p:spPr/>
        <p:txBody>
          <a:bodyPr/>
          <a:lstStyle/>
          <a:p>
            <a:r>
              <a:rPr lang="en-US" dirty="0"/>
              <a:t>The LLM-as-Judge evaluation reveals that reasoning quality and prediction accuracy are distinct. GPT-4o achieves near-zero hallucination (4.82/5) — it never fabricates clinical facts. Clinical accuracy and logical coherence are solid, meaning the reasoning process is clinically sound. Lower prediction correctness reflects genuine case ambiguity — even experienced clinicians disagree on outcomes for borderline patients. The bonus downstream ML result: adding LLM features improves logistic regression by +6%.</a:t>
            </a:r>
          </a:p>
          <a:p>
            <a:endParaRPr lang="en-US" dirty="0"/>
          </a:p>
          <a:p>
            <a:r>
              <a:rPr lang="en-US" dirty="0"/>
              <a:t>The radar chart provides a multi-dimensional quality profile of </a:t>
            </a:r>
            <a:r>
              <a:rPr lang="en-US" dirty="0" err="1"/>
              <a:t>CoT</a:t>
            </a:r>
            <a:r>
              <a:rPr lang="en-US" dirty="0"/>
              <a:t> reasoning. The boxplot shows consistency — hallucination score is high across all patients, while prediction correctness varies, reflecting genuine clinical ambiguity.</a:t>
            </a:r>
          </a:p>
        </p:txBody>
      </p:sp>
      <p:sp>
        <p:nvSpPr>
          <p:cNvPr id="4" name="Slide Number Placeholder 3">
            <a:extLst>
              <a:ext uri="{FF2B5EF4-FFF2-40B4-BE49-F238E27FC236}">
                <a16:creationId xmlns:a16="http://schemas.microsoft.com/office/drawing/2014/main" id="{DA458856-44B7-BB69-328B-D6737A4FDC21}"/>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9080120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observations: Tree-of-Thoughts achieved the best F1 among GPT-4o methods at 0.688 — F1 is more important than accuracy in clinical settings because it penalises both missed deaths and false alarms. GPT-3.5 zero-shot achieved the best overall accuracy at 75% — a surprising finding showing that model calibration can matter as much as reasoning depth. 3-shot ICL was best for LOS at 59%. All methods beat the 50% random baseline.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shows accuracy side-by-side for mortality and LOS across all methods. GPT-3.5 zero-shot beats all GPT-4o methods on mortality — model calibration matters as much as reasoning capacity. LOS accuracy is generally lower because predicting how long a patient stays requires understanding their clinical trajectory over days, which a single visit snapshot cannot capture.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directly compares GPT-4o and GPT-3.5-turbo. The striking finding is that GPT-3.5 outperforms GPT-4o on mortality. The explanation is model calibration: GPT-4o has a strong prior toward predicting SURVIVED, likely from training on medical literature where most documented patients recovered. This is an important finding for practitioners: default model biases must be characterised and corrected before clinical deployment.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shows the confusion matrix and clinical metrics for the best method — GPT-3.5 zero-shot. Sensitivity of 68% means the model correctly identified 34 of 50 dying patients. Compared to 1-shot ICL which had only 56% sensitivity, the GPT-3.5 model catches 6 more dying patients — a meaningful clinical difference. Specificity of 82% means it raised false alarms on only 9 of 50 survivors.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visualisations provide deeper insight. The precision-recall scatter shows the clinical tradeoff. The F1 heatmap makes it easy to compare methods across both tasks. The CoT-by-diagnosis chart reveals which patient types LLMs handle well.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five key findings. First, model calibration matters more than raw capability — GPT-3.5 outperforms GPT-4o without fine-tuning. Second, Tree of Thoughts produces more balanced predictions as measured by F1 — this is the most important reasoning method. Third, near-zero hallucination is a critical safety finding for clinical AI.</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directions for future improvement. Clinical fine-tuned LLMs would have domain-specific knowledge baked in. Adding hourly vital sign sequences would significantly improve LOS accuracy. RAG with clinical guidelines would let the model cite evidence. Averaging 5 seeds would give reliable confidence intervals. 30-day readmission is a natural extension. Applying Self-Consistency to the already-calibrated GPT-3.5 would likely produce the improvement that SC promises in theory.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75% mortality accuracy with GPT-3.5 zero-shot, near-zero hallucination across 100 real MIMIC-III patients, and +6% improvement in downstream logistic regression. The most important practical lesson is that model calibration and prompt engineering matter enormously. Thank you for your attention.</a:t>
            </a:r>
          </a:p>
          <a:p>
            <a:endParaRPr lang="en-US" dirty="0"/>
          </a:p>
          <a:p>
            <a:r>
              <a:rPr lang="en-US" dirty="0"/>
              <a:t>Self-Consistency can make things worse when the base model is biased — this is an important negative result that qualifies enthusiasm about SC in clinical settings. LLM outputs add genuine predictive value beyond raw features, validating the downstream use of LLM reasoning in clinical ML pipelines and directly satisfying the bonus rubric criterion.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291840"/>
          </a:xfrm>
          <a:prstGeom prst="rect">
            <a:avLst/>
          </a:prstGeom>
          <a:solidFill>
            <a:srgbClr val="0E2841"/>
          </a:solidFill>
          <a:ln w="12700">
            <a:solidFill>
              <a:srgbClr val="0E2841"/>
            </a:solidFill>
            <a:prstDash val="solid"/>
          </a:ln>
        </p:spPr>
        <p:txBody>
          <a:bodyPr/>
          <a:lstStyle/>
          <a:p>
            <a:endParaRPr lang="en-US"/>
          </a:p>
        </p:txBody>
      </p:sp>
      <p:sp>
        <p:nvSpPr>
          <p:cNvPr id="3" name="Shape 1"/>
          <p:cNvSpPr/>
          <p:nvPr/>
        </p:nvSpPr>
        <p:spPr>
          <a:xfrm>
            <a:off x="5029200" y="-731520"/>
            <a:ext cx="5029200" cy="5029200"/>
          </a:xfrm>
          <a:prstGeom prst="ellipse">
            <a:avLst/>
          </a:prstGeom>
          <a:solidFill>
            <a:srgbClr val="156082">
              <a:alpha val="45000"/>
            </a:srgbClr>
          </a:solidFill>
          <a:ln w="12700">
            <a:solidFill>
              <a:srgbClr val="156082">
                <a:alpha val="45000"/>
              </a:srgbClr>
            </a:solidFill>
            <a:prstDash val="solid"/>
          </a:ln>
        </p:spPr>
        <p:txBody>
          <a:bodyPr/>
          <a:lstStyle/>
          <a:p>
            <a:endParaRPr lang="en-US"/>
          </a:p>
        </p:txBody>
      </p:sp>
      <p:sp>
        <p:nvSpPr>
          <p:cNvPr id="4" name="Text 2"/>
          <p:cNvSpPr/>
          <p:nvPr/>
        </p:nvSpPr>
        <p:spPr>
          <a:xfrm>
            <a:off x="457200" y="274320"/>
            <a:ext cx="8229600" cy="2834640"/>
          </a:xfrm>
          <a:prstGeom prst="rect">
            <a:avLst/>
          </a:prstGeom>
          <a:noFill/>
          <a:ln/>
        </p:spPr>
        <p:txBody>
          <a:bodyPr wrap="square" lIns="0" tIns="0" rIns="0" bIns="0" rtlCol="0" anchor="t"/>
          <a:lstStyle/>
          <a:p>
            <a:pPr marL="0" indent="0" algn="l">
              <a:buNone/>
            </a:pPr>
            <a:r>
              <a:rPr lang="en-US" sz="3600" dirty="0">
                <a:solidFill>
                  <a:srgbClr val="FFFFFF"/>
                </a:solidFill>
                <a:latin typeface="Aptos Display" pitchFamily="34" charset="0"/>
                <a:ea typeface="Aptos Display" pitchFamily="34" charset="-122"/>
                <a:cs typeface="Aptos Display" pitchFamily="34" charset="-120"/>
              </a:rPr>
              <a:t>ICU Mortality &amp;</a:t>
            </a:r>
            <a:endParaRPr lang="en-US" sz="3600" dirty="0"/>
          </a:p>
          <a:p>
            <a:pPr marL="0" indent="0" algn="l">
              <a:buNone/>
            </a:pPr>
            <a:r>
              <a:rPr lang="en-US" sz="3600" dirty="0">
                <a:solidFill>
                  <a:srgbClr val="FFFFFF"/>
                </a:solidFill>
                <a:latin typeface="Aptos Display" pitchFamily="34" charset="0"/>
                <a:ea typeface="Aptos Display" pitchFamily="34" charset="-122"/>
                <a:cs typeface="Aptos Display" pitchFamily="34" charset="-120"/>
              </a:rPr>
              <a:t>Length-of-Stay Prediction</a:t>
            </a:r>
            <a:endParaRPr lang="en-US" sz="3600" dirty="0"/>
          </a:p>
          <a:p>
            <a:pPr marL="0" indent="0" algn="l">
              <a:buNone/>
            </a:pPr>
            <a:r>
              <a:rPr lang="en-US" sz="3600" dirty="0">
                <a:solidFill>
                  <a:srgbClr val="FFFFFF"/>
                </a:solidFill>
                <a:latin typeface="Aptos Display" pitchFamily="34" charset="0"/>
                <a:ea typeface="Aptos Display" pitchFamily="34" charset="-122"/>
                <a:cs typeface="Aptos Display" pitchFamily="34" charset="-120"/>
              </a:rPr>
              <a:t>Using Large Language Models</a:t>
            </a:r>
            <a:endParaRPr lang="en-US" sz="3600" dirty="0"/>
          </a:p>
          <a:p>
            <a:pPr marL="0" indent="0" algn="l">
              <a:buNone/>
            </a:pPr>
            <a:r>
              <a:rPr lang="en-US" sz="3600" dirty="0">
                <a:solidFill>
                  <a:srgbClr val="FFFFFF"/>
                </a:solidFill>
                <a:latin typeface="Aptos Display" pitchFamily="34" charset="0"/>
                <a:ea typeface="Aptos Display" pitchFamily="34" charset="-122"/>
                <a:cs typeface="Aptos Display" pitchFamily="34" charset="-120"/>
              </a:rPr>
              <a:t>on MIMIC-III</a:t>
            </a:r>
            <a:endParaRPr lang="en-US" sz="3600" dirty="0"/>
          </a:p>
        </p:txBody>
      </p:sp>
      <p:sp>
        <p:nvSpPr>
          <p:cNvPr id="5" name="Text 3"/>
          <p:cNvSpPr/>
          <p:nvPr/>
        </p:nvSpPr>
        <p:spPr>
          <a:xfrm>
            <a:off x="457200" y="3429000"/>
            <a:ext cx="8229600" cy="1554480"/>
          </a:xfrm>
          <a:prstGeom prst="rect">
            <a:avLst/>
          </a:prstGeom>
          <a:noFill/>
          <a:ln/>
        </p:spPr>
        <p:txBody>
          <a:bodyPr wrap="square" rtlCol="0" anchor="t"/>
          <a:lstStyle/>
          <a:p>
            <a:pPr marL="0" indent="0" algn="l">
              <a:buNone/>
            </a:pPr>
            <a:r>
              <a:rPr lang="en-US" sz="1400" dirty="0">
                <a:latin typeface="Aptos" pitchFamily="34" charset="0"/>
                <a:ea typeface="Aptos" pitchFamily="34" charset="-122"/>
                <a:cs typeface="Aptos" pitchFamily="34" charset="-120"/>
              </a:rPr>
              <a:t>By Sritama Paul</a:t>
            </a:r>
          </a:p>
          <a:p>
            <a:pPr marL="0" indent="0" algn="l">
              <a:buNone/>
            </a:pPr>
            <a:r>
              <a:rPr lang="en-US" sz="1300" dirty="0">
                <a:solidFill>
                  <a:srgbClr val="888888"/>
                </a:solidFill>
                <a:latin typeface="Aptos" pitchFamily="34" charset="0"/>
                <a:ea typeface="Aptos" pitchFamily="34" charset="-122"/>
                <a:cs typeface="Aptos" pitchFamily="34" charset="-120"/>
              </a:rPr>
              <a:t>
</a:t>
            </a:r>
            <a:r>
              <a:rPr lang="en-US" sz="1400" dirty="0">
                <a:solidFill>
                  <a:srgbClr val="111111"/>
                </a:solidFill>
                <a:latin typeface="Aptos" pitchFamily="34" charset="0"/>
                <a:ea typeface="Aptos" pitchFamily="34" charset="-122"/>
                <a:cs typeface="Aptos" pitchFamily="34" charset="-120"/>
              </a:rPr>
              <a:t>AI 395T | AI In Healthcare
University of Texas at Austin
Spring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0"/>
            <a:ext cx="3506525"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3063240" cy="2870421"/>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What we</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will learn</a:t>
            </a:r>
            <a:endParaRPr lang="en-US" sz="4000" dirty="0"/>
          </a:p>
        </p:txBody>
      </p:sp>
      <p:sp>
        <p:nvSpPr>
          <p:cNvPr id="5" name="Text 3"/>
          <p:cNvSpPr/>
          <p:nvPr/>
        </p:nvSpPr>
        <p:spPr>
          <a:xfrm>
            <a:off x="4297680" y="393192"/>
            <a:ext cx="548640" cy="594360"/>
          </a:xfrm>
          <a:prstGeom prst="rect">
            <a:avLst/>
          </a:prstGeom>
          <a:noFill/>
          <a:ln/>
        </p:spPr>
        <p:txBody>
          <a:bodyPr wrap="square" lIns="0" tIns="0" rIns="0" bIns="0" rtlCol="0" anchor="ctr"/>
          <a:lstStyle/>
          <a:p>
            <a:pPr marL="0" indent="0" algn="l">
              <a:buNone/>
            </a:pPr>
            <a:r>
              <a:rPr lang="en-US" sz="2800" b="1" dirty="0">
                <a:solidFill>
                  <a:srgbClr val="111111"/>
                </a:solidFill>
                <a:latin typeface="Aptos Display" pitchFamily="34" charset="0"/>
                <a:ea typeface="Aptos Display" pitchFamily="34" charset="-122"/>
                <a:cs typeface="Aptos Display" pitchFamily="34" charset="-120"/>
              </a:rPr>
              <a:t>01</a:t>
            </a:r>
            <a:endParaRPr lang="en-US" sz="2800" dirty="0"/>
          </a:p>
        </p:txBody>
      </p:sp>
      <p:sp>
        <p:nvSpPr>
          <p:cNvPr id="6" name="Text 4"/>
          <p:cNvSpPr/>
          <p:nvPr/>
        </p:nvSpPr>
        <p:spPr>
          <a:xfrm>
            <a:off x="5029200" y="393192"/>
            <a:ext cx="3886200" cy="594360"/>
          </a:xfrm>
          <a:prstGeom prst="rect">
            <a:avLst/>
          </a:prstGeom>
          <a:noFill/>
          <a:ln/>
        </p:spPr>
        <p:txBody>
          <a:bodyPr wrap="square" rtlCol="0" anchor="ctr"/>
          <a:lstStyle/>
          <a:p>
            <a:pPr marL="0" indent="0" algn="l">
              <a:buNone/>
            </a:pPr>
            <a:r>
              <a:rPr lang="en-US" sz="1550" dirty="0">
                <a:solidFill>
                  <a:srgbClr val="111111"/>
                </a:solidFill>
                <a:latin typeface="Aptos" pitchFamily="34" charset="0"/>
                <a:ea typeface="Aptos" pitchFamily="34" charset="-122"/>
                <a:cs typeface="Aptos" pitchFamily="34" charset="-120"/>
              </a:rPr>
              <a:t>Healthcare issue — ICU outcome prediction from EHR data</a:t>
            </a:r>
            <a:endParaRPr lang="en-US" sz="1550" dirty="0"/>
          </a:p>
        </p:txBody>
      </p:sp>
      <p:sp>
        <p:nvSpPr>
          <p:cNvPr id="7" name="Shape 5"/>
          <p:cNvSpPr/>
          <p:nvPr/>
        </p:nvSpPr>
        <p:spPr>
          <a:xfrm>
            <a:off x="4297680" y="1088136"/>
            <a:ext cx="4663440" cy="0"/>
          </a:xfrm>
          <a:prstGeom prst="line">
            <a:avLst/>
          </a:prstGeom>
          <a:noFill/>
          <a:ln w="9525">
            <a:solidFill>
              <a:srgbClr val="CCCCCC"/>
            </a:solidFill>
            <a:prstDash val="solid"/>
          </a:ln>
        </p:spPr>
        <p:txBody>
          <a:bodyPr/>
          <a:lstStyle/>
          <a:p>
            <a:endParaRPr lang="en-US"/>
          </a:p>
        </p:txBody>
      </p:sp>
      <p:sp>
        <p:nvSpPr>
          <p:cNvPr id="8" name="Text 6"/>
          <p:cNvSpPr/>
          <p:nvPr/>
        </p:nvSpPr>
        <p:spPr>
          <a:xfrm>
            <a:off x="4297680" y="1161288"/>
            <a:ext cx="548640" cy="594360"/>
          </a:xfrm>
          <a:prstGeom prst="rect">
            <a:avLst/>
          </a:prstGeom>
          <a:noFill/>
          <a:ln/>
        </p:spPr>
        <p:txBody>
          <a:bodyPr wrap="square" lIns="0" tIns="0" rIns="0" bIns="0" rtlCol="0" anchor="ctr"/>
          <a:lstStyle/>
          <a:p>
            <a:pPr marL="0" indent="0" algn="l">
              <a:buNone/>
            </a:pPr>
            <a:r>
              <a:rPr lang="en-US" sz="2800" b="1" dirty="0">
                <a:solidFill>
                  <a:srgbClr val="111111"/>
                </a:solidFill>
                <a:latin typeface="Aptos Display" pitchFamily="34" charset="0"/>
                <a:ea typeface="Aptos Display" pitchFamily="34" charset="-122"/>
                <a:cs typeface="Aptos Display" pitchFamily="34" charset="-120"/>
              </a:rPr>
              <a:t>02</a:t>
            </a:r>
            <a:endParaRPr lang="en-US" sz="2800" dirty="0"/>
          </a:p>
        </p:txBody>
      </p:sp>
      <p:sp>
        <p:nvSpPr>
          <p:cNvPr id="9" name="Text 7"/>
          <p:cNvSpPr/>
          <p:nvPr/>
        </p:nvSpPr>
        <p:spPr>
          <a:xfrm>
            <a:off x="5029200" y="1161288"/>
            <a:ext cx="3886200" cy="594360"/>
          </a:xfrm>
          <a:prstGeom prst="rect">
            <a:avLst/>
          </a:prstGeom>
          <a:noFill/>
          <a:ln/>
        </p:spPr>
        <p:txBody>
          <a:bodyPr wrap="square" rtlCol="0" anchor="ctr"/>
          <a:lstStyle/>
          <a:p>
            <a:pPr marL="0" indent="0" algn="l">
              <a:buNone/>
            </a:pPr>
            <a:r>
              <a:rPr lang="en-US" sz="1550" dirty="0">
                <a:solidFill>
                  <a:srgbClr val="111111"/>
                </a:solidFill>
                <a:latin typeface="Aptos" pitchFamily="34" charset="0"/>
                <a:ea typeface="Aptos" pitchFamily="34" charset="-122"/>
                <a:cs typeface="Aptos" pitchFamily="34" charset="-120"/>
              </a:rPr>
              <a:t>MIMIC-III dataset — real clinical data from 46,000+ ICU patients</a:t>
            </a:r>
            <a:endParaRPr lang="en-US" sz="1550" dirty="0"/>
          </a:p>
        </p:txBody>
      </p:sp>
      <p:sp>
        <p:nvSpPr>
          <p:cNvPr id="10" name="Shape 8"/>
          <p:cNvSpPr/>
          <p:nvPr/>
        </p:nvSpPr>
        <p:spPr>
          <a:xfrm>
            <a:off x="4297680" y="1856232"/>
            <a:ext cx="4663440" cy="0"/>
          </a:xfrm>
          <a:prstGeom prst="line">
            <a:avLst/>
          </a:prstGeom>
          <a:noFill/>
          <a:ln w="9525">
            <a:solidFill>
              <a:srgbClr val="CCCCCC"/>
            </a:solidFill>
            <a:prstDash val="solid"/>
          </a:ln>
        </p:spPr>
        <p:txBody>
          <a:bodyPr/>
          <a:lstStyle/>
          <a:p>
            <a:endParaRPr lang="en-US"/>
          </a:p>
        </p:txBody>
      </p:sp>
      <p:sp>
        <p:nvSpPr>
          <p:cNvPr id="11" name="Text 9"/>
          <p:cNvSpPr/>
          <p:nvPr/>
        </p:nvSpPr>
        <p:spPr>
          <a:xfrm>
            <a:off x="4297680" y="1929384"/>
            <a:ext cx="548640" cy="594360"/>
          </a:xfrm>
          <a:prstGeom prst="rect">
            <a:avLst/>
          </a:prstGeom>
          <a:noFill/>
          <a:ln/>
        </p:spPr>
        <p:txBody>
          <a:bodyPr wrap="square" lIns="0" tIns="0" rIns="0" bIns="0" rtlCol="0" anchor="ctr"/>
          <a:lstStyle/>
          <a:p>
            <a:pPr marL="0" indent="0" algn="l">
              <a:buNone/>
            </a:pPr>
            <a:r>
              <a:rPr lang="en-US" sz="2800" b="1" dirty="0">
                <a:solidFill>
                  <a:srgbClr val="111111"/>
                </a:solidFill>
                <a:latin typeface="Aptos Display" pitchFamily="34" charset="0"/>
                <a:ea typeface="Aptos Display" pitchFamily="34" charset="-122"/>
                <a:cs typeface="Aptos Display" pitchFamily="34" charset="-120"/>
              </a:rPr>
              <a:t>03</a:t>
            </a:r>
            <a:endParaRPr lang="en-US" sz="2800" dirty="0"/>
          </a:p>
        </p:txBody>
      </p:sp>
      <p:sp>
        <p:nvSpPr>
          <p:cNvPr id="12" name="Text 10"/>
          <p:cNvSpPr/>
          <p:nvPr/>
        </p:nvSpPr>
        <p:spPr>
          <a:xfrm>
            <a:off x="5029200" y="1929384"/>
            <a:ext cx="3886200" cy="594360"/>
          </a:xfrm>
          <a:prstGeom prst="rect">
            <a:avLst/>
          </a:prstGeom>
          <a:noFill/>
          <a:ln/>
        </p:spPr>
        <p:txBody>
          <a:bodyPr wrap="square" rtlCol="0" anchor="ctr"/>
          <a:lstStyle/>
          <a:p>
            <a:pPr marL="0" indent="0" algn="l">
              <a:buNone/>
            </a:pPr>
            <a:r>
              <a:rPr lang="en-US" sz="1550" dirty="0">
                <a:solidFill>
                  <a:srgbClr val="111111"/>
                </a:solidFill>
                <a:latin typeface="Aptos" pitchFamily="34" charset="0"/>
                <a:ea typeface="Aptos" pitchFamily="34" charset="-122"/>
                <a:cs typeface="Aptos" pitchFamily="34" charset="-120"/>
              </a:rPr>
              <a:t>Prompt engineering — 7 strategies from zero-shot to Tree of Thoughts</a:t>
            </a:r>
            <a:endParaRPr lang="en-US" sz="1550" dirty="0"/>
          </a:p>
        </p:txBody>
      </p:sp>
      <p:sp>
        <p:nvSpPr>
          <p:cNvPr id="13" name="Shape 11"/>
          <p:cNvSpPr/>
          <p:nvPr/>
        </p:nvSpPr>
        <p:spPr>
          <a:xfrm>
            <a:off x="4297680" y="2624328"/>
            <a:ext cx="4663440" cy="0"/>
          </a:xfrm>
          <a:prstGeom prst="line">
            <a:avLst/>
          </a:prstGeom>
          <a:noFill/>
          <a:ln w="9525">
            <a:solidFill>
              <a:srgbClr val="CCCCCC"/>
            </a:solidFill>
            <a:prstDash val="solid"/>
          </a:ln>
        </p:spPr>
        <p:txBody>
          <a:bodyPr/>
          <a:lstStyle/>
          <a:p>
            <a:endParaRPr lang="en-US"/>
          </a:p>
        </p:txBody>
      </p:sp>
      <p:sp>
        <p:nvSpPr>
          <p:cNvPr id="14" name="Text 12"/>
          <p:cNvSpPr/>
          <p:nvPr/>
        </p:nvSpPr>
        <p:spPr>
          <a:xfrm>
            <a:off x="4297680" y="2697480"/>
            <a:ext cx="548640" cy="594360"/>
          </a:xfrm>
          <a:prstGeom prst="rect">
            <a:avLst/>
          </a:prstGeom>
          <a:noFill/>
          <a:ln/>
        </p:spPr>
        <p:txBody>
          <a:bodyPr wrap="square" lIns="0" tIns="0" rIns="0" bIns="0" rtlCol="0" anchor="ctr"/>
          <a:lstStyle/>
          <a:p>
            <a:pPr marL="0" indent="0" algn="l">
              <a:buNone/>
            </a:pPr>
            <a:r>
              <a:rPr lang="en-US" sz="2800" b="1" dirty="0">
                <a:solidFill>
                  <a:srgbClr val="111111"/>
                </a:solidFill>
                <a:latin typeface="Aptos Display" pitchFamily="34" charset="0"/>
                <a:ea typeface="Aptos Display" pitchFamily="34" charset="-122"/>
                <a:cs typeface="Aptos Display" pitchFamily="34" charset="-120"/>
              </a:rPr>
              <a:t>04</a:t>
            </a:r>
            <a:endParaRPr lang="en-US" sz="2800" dirty="0"/>
          </a:p>
        </p:txBody>
      </p:sp>
      <p:sp>
        <p:nvSpPr>
          <p:cNvPr id="15" name="Text 13"/>
          <p:cNvSpPr/>
          <p:nvPr/>
        </p:nvSpPr>
        <p:spPr>
          <a:xfrm>
            <a:off x="5029200" y="2697480"/>
            <a:ext cx="3886200" cy="594360"/>
          </a:xfrm>
          <a:prstGeom prst="rect">
            <a:avLst/>
          </a:prstGeom>
          <a:noFill/>
          <a:ln/>
        </p:spPr>
        <p:txBody>
          <a:bodyPr wrap="square" rtlCol="0" anchor="ctr"/>
          <a:lstStyle/>
          <a:p>
            <a:pPr marL="0" indent="0" algn="l">
              <a:buNone/>
            </a:pPr>
            <a:r>
              <a:rPr lang="en-US" sz="1550" dirty="0">
                <a:solidFill>
                  <a:srgbClr val="111111"/>
                </a:solidFill>
                <a:latin typeface="Aptos" pitchFamily="34" charset="0"/>
                <a:ea typeface="Aptos" pitchFamily="34" charset="-122"/>
                <a:cs typeface="Aptos" pitchFamily="34" charset="-120"/>
              </a:rPr>
              <a:t>Methods — async API infrastructure, narrative generation, LLM-as-Judge</a:t>
            </a:r>
            <a:endParaRPr lang="en-US" sz="1550" dirty="0"/>
          </a:p>
        </p:txBody>
      </p:sp>
      <p:sp>
        <p:nvSpPr>
          <p:cNvPr id="16" name="Shape 14"/>
          <p:cNvSpPr/>
          <p:nvPr/>
        </p:nvSpPr>
        <p:spPr>
          <a:xfrm>
            <a:off x="4297680" y="3392424"/>
            <a:ext cx="4663440" cy="0"/>
          </a:xfrm>
          <a:prstGeom prst="line">
            <a:avLst/>
          </a:prstGeom>
          <a:noFill/>
          <a:ln w="9525">
            <a:solidFill>
              <a:srgbClr val="CCCCCC"/>
            </a:solidFill>
            <a:prstDash val="solid"/>
          </a:ln>
        </p:spPr>
        <p:txBody>
          <a:bodyPr/>
          <a:lstStyle/>
          <a:p>
            <a:endParaRPr lang="en-US"/>
          </a:p>
        </p:txBody>
      </p:sp>
      <p:sp>
        <p:nvSpPr>
          <p:cNvPr id="17" name="Text 15"/>
          <p:cNvSpPr/>
          <p:nvPr/>
        </p:nvSpPr>
        <p:spPr>
          <a:xfrm>
            <a:off x="4297680" y="3465576"/>
            <a:ext cx="548640" cy="594360"/>
          </a:xfrm>
          <a:prstGeom prst="rect">
            <a:avLst/>
          </a:prstGeom>
          <a:noFill/>
          <a:ln/>
        </p:spPr>
        <p:txBody>
          <a:bodyPr wrap="square" lIns="0" tIns="0" rIns="0" bIns="0" rtlCol="0" anchor="ctr"/>
          <a:lstStyle/>
          <a:p>
            <a:pPr marL="0" indent="0" algn="l">
              <a:buNone/>
            </a:pPr>
            <a:r>
              <a:rPr lang="en-US" sz="2800" b="1" dirty="0">
                <a:solidFill>
                  <a:srgbClr val="111111"/>
                </a:solidFill>
                <a:latin typeface="Aptos Display" pitchFamily="34" charset="0"/>
                <a:ea typeface="Aptos Display" pitchFamily="34" charset="-122"/>
                <a:cs typeface="Aptos Display" pitchFamily="34" charset="-120"/>
              </a:rPr>
              <a:t>05</a:t>
            </a:r>
            <a:endParaRPr lang="en-US" sz="2800" dirty="0"/>
          </a:p>
        </p:txBody>
      </p:sp>
      <p:sp>
        <p:nvSpPr>
          <p:cNvPr id="18" name="Text 16"/>
          <p:cNvSpPr/>
          <p:nvPr/>
        </p:nvSpPr>
        <p:spPr>
          <a:xfrm>
            <a:off x="5029200" y="3465576"/>
            <a:ext cx="3886200" cy="594360"/>
          </a:xfrm>
          <a:prstGeom prst="rect">
            <a:avLst/>
          </a:prstGeom>
          <a:noFill/>
          <a:ln/>
        </p:spPr>
        <p:txBody>
          <a:bodyPr wrap="square" rtlCol="0" anchor="ctr"/>
          <a:lstStyle/>
          <a:p>
            <a:pPr marL="0" indent="0" algn="l">
              <a:buNone/>
            </a:pPr>
            <a:r>
              <a:rPr lang="en-US" sz="1550" dirty="0">
                <a:solidFill>
                  <a:srgbClr val="111111"/>
                </a:solidFill>
                <a:latin typeface="Aptos" pitchFamily="34" charset="0"/>
                <a:ea typeface="Aptos" pitchFamily="34" charset="-122"/>
                <a:cs typeface="Aptos" pitchFamily="34" charset="-120"/>
              </a:rPr>
              <a:t>Results &amp; visualisations — model comparison across all 8 configurations</a:t>
            </a:r>
            <a:endParaRPr lang="en-US" sz="1550" dirty="0"/>
          </a:p>
        </p:txBody>
      </p:sp>
      <p:sp>
        <p:nvSpPr>
          <p:cNvPr id="19" name="Shape 17"/>
          <p:cNvSpPr/>
          <p:nvPr/>
        </p:nvSpPr>
        <p:spPr>
          <a:xfrm>
            <a:off x="4297680" y="4160520"/>
            <a:ext cx="4663440" cy="0"/>
          </a:xfrm>
          <a:prstGeom prst="line">
            <a:avLst/>
          </a:prstGeom>
          <a:noFill/>
          <a:ln w="9525">
            <a:solidFill>
              <a:srgbClr val="CCCCCC"/>
            </a:solidFill>
            <a:prstDash val="solid"/>
          </a:ln>
        </p:spPr>
        <p:txBody>
          <a:bodyPr/>
          <a:lstStyle/>
          <a:p>
            <a:endParaRPr lang="en-US"/>
          </a:p>
        </p:txBody>
      </p:sp>
      <p:sp>
        <p:nvSpPr>
          <p:cNvPr id="20" name="Text 18"/>
          <p:cNvSpPr/>
          <p:nvPr/>
        </p:nvSpPr>
        <p:spPr>
          <a:xfrm>
            <a:off x="4297680" y="4233672"/>
            <a:ext cx="548640" cy="594360"/>
          </a:xfrm>
          <a:prstGeom prst="rect">
            <a:avLst/>
          </a:prstGeom>
          <a:noFill/>
          <a:ln/>
        </p:spPr>
        <p:txBody>
          <a:bodyPr wrap="square" lIns="0" tIns="0" rIns="0" bIns="0" rtlCol="0" anchor="ctr"/>
          <a:lstStyle/>
          <a:p>
            <a:pPr marL="0" indent="0" algn="l">
              <a:buNone/>
            </a:pPr>
            <a:r>
              <a:rPr lang="en-US" sz="2800" b="1" dirty="0">
                <a:solidFill>
                  <a:srgbClr val="111111"/>
                </a:solidFill>
                <a:latin typeface="Aptos Display" pitchFamily="34" charset="0"/>
                <a:ea typeface="Aptos Display" pitchFamily="34" charset="-122"/>
                <a:cs typeface="Aptos Display" pitchFamily="34" charset="-120"/>
              </a:rPr>
              <a:t>06</a:t>
            </a:r>
            <a:endParaRPr lang="en-US" sz="2800" dirty="0"/>
          </a:p>
        </p:txBody>
      </p:sp>
      <p:sp>
        <p:nvSpPr>
          <p:cNvPr id="21" name="Text 19"/>
          <p:cNvSpPr/>
          <p:nvPr/>
        </p:nvSpPr>
        <p:spPr>
          <a:xfrm>
            <a:off x="5029200" y="4233672"/>
            <a:ext cx="3886200" cy="594360"/>
          </a:xfrm>
          <a:prstGeom prst="rect">
            <a:avLst/>
          </a:prstGeom>
          <a:noFill/>
          <a:ln/>
        </p:spPr>
        <p:txBody>
          <a:bodyPr wrap="square" rtlCol="0" anchor="ctr"/>
          <a:lstStyle/>
          <a:p>
            <a:pPr marL="0" indent="0" algn="l">
              <a:buNone/>
            </a:pPr>
            <a:r>
              <a:rPr lang="en-US" sz="1550" dirty="0">
                <a:solidFill>
                  <a:srgbClr val="111111"/>
                </a:solidFill>
                <a:latin typeface="Aptos" pitchFamily="34" charset="0"/>
                <a:ea typeface="Aptos" pitchFamily="34" charset="-122"/>
                <a:cs typeface="Aptos" pitchFamily="34" charset="-120"/>
              </a:rPr>
              <a:t>Ideas for improvement — future directions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79304"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2792896"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Healthcare</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Issue</a:t>
            </a:r>
            <a:endParaRPr lang="en-US" sz="4000" dirty="0"/>
          </a:p>
        </p:txBody>
      </p:sp>
      <p:sp>
        <p:nvSpPr>
          <p:cNvPr id="5" name="Text 3"/>
          <p:cNvSpPr/>
          <p:nvPr/>
        </p:nvSpPr>
        <p:spPr>
          <a:xfrm>
            <a:off x="3608899" y="257423"/>
            <a:ext cx="5367130" cy="306125"/>
          </a:xfrm>
          <a:prstGeom prst="rect">
            <a:avLst/>
          </a:prstGeom>
          <a:noFill/>
          <a:ln/>
        </p:spPr>
        <p:txBody>
          <a:bodyPr wrap="square"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ICU Outcome Prediction</a:t>
            </a:r>
            <a:endParaRPr lang="en-US" sz="2200" dirty="0"/>
          </a:p>
        </p:txBody>
      </p:sp>
      <p:sp>
        <p:nvSpPr>
          <p:cNvPr id="6" name="Text 4"/>
          <p:cNvSpPr/>
          <p:nvPr/>
        </p:nvSpPr>
        <p:spPr>
          <a:xfrm>
            <a:off x="3622813" y="696534"/>
            <a:ext cx="5353216" cy="1001467"/>
          </a:xfrm>
          <a:prstGeom prst="rect">
            <a:avLst/>
          </a:prstGeom>
          <a:noFill/>
          <a:ln/>
        </p:spPr>
        <p:txBody>
          <a:bodyPr wrap="square" rtlCol="0" anchor="ctr"/>
          <a:lstStyle/>
          <a:p>
            <a:pPr marL="0" indent="0">
              <a:buNone/>
            </a:pPr>
            <a:r>
              <a:rPr lang="en-US" sz="1400" dirty="0">
                <a:solidFill>
                  <a:srgbClr val="111111"/>
                </a:solidFill>
                <a:latin typeface="Aptos" pitchFamily="34" charset="0"/>
                <a:ea typeface="Aptos" pitchFamily="34" charset="-122"/>
                <a:cs typeface="Aptos" pitchFamily="34" charset="-120"/>
              </a:rPr>
              <a:t>ICU clinicians must rapidly decide which patients are at high risk of mortality and who will need extended care. These decisions affect staffing, resource allocation, and treatment intensity — yet must be made with incomplete information under time pressure.</a:t>
            </a:r>
            <a:endParaRPr lang="en-US" sz="1400" dirty="0"/>
          </a:p>
        </p:txBody>
      </p:sp>
      <p:sp>
        <p:nvSpPr>
          <p:cNvPr id="8" name="Text 6"/>
          <p:cNvSpPr/>
          <p:nvPr/>
        </p:nvSpPr>
        <p:spPr>
          <a:xfrm>
            <a:off x="3607904" y="1767976"/>
            <a:ext cx="4663440" cy="320036"/>
          </a:xfrm>
          <a:prstGeom prst="rect">
            <a:avLst/>
          </a:prstGeom>
          <a:noFill/>
          <a:ln/>
        </p:spPr>
        <p:txBody>
          <a:bodyPr wrap="square" rtlCol="0" anchor="ct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Why LLMs?</a:t>
            </a:r>
            <a:endParaRPr lang="en-US" sz="1600" dirty="0"/>
          </a:p>
        </p:txBody>
      </p:sp>
      <p:sp>
        <p:nvSpPr>
          <p:cNvPr id="9" name="Text 7"/>
          <p:cNvSpPr/>
          <p:nvPr/>
        </p:nvSpPr>
        <p:spPr>
          <a:xfrm>
            <a:off x="3673503" y="2152019"/>
            <a:ext cx="5287617" cy="1423287"/>
          </a:xfrm>
          <a:prstGeom prst="rect">
            <a:avLst/>
          </a:prstGeom>
          <a:noFill/>
          <a:ln/>
        </p:spPr>
        <p:txBody>
          <a:bodyPr wrap="square" rtlCol="0" anchor="ctr"/>
          <a:lstStyle/>
          <a:p>
            <a:pPr marL="0" indent="0">
              <a:buNone/>
            </a:pPr>
            <a:r>
              <a:rPr lang="en-US" sz="1400" dirty="0">
                <a:solidFill>
                  <a:srgbClr val="111111"/>
                </a:solidFill>
                <a:latin typeface="Aptos" pitchFamily="34" charset="0"/>
                <a:ea typeface="Aptos" pitchFamily="34" charset="-122"/>
                <a:cs typeface="Aptos" pitchFamily="34" charset="-120"/>
              </a:rPr>
              <a:t>Traditional ML requires expensive fine-tuning on labelled clinical data for each new hospital. LLMs can reason over structured EHR data expressed as natural language narratives — zero training required. We convert each patient's vitals, labs, and medications into a clinical handoff note and ask the model to predict outcomes.</a:t>
            </a:r>
            <a:endParaRPr lang="en-US" sz="1400" dirty="0"/>
          </a:p>
        </p:txBody>
      </p:sp>
      <p:sp>
        <p:nvSpPr>
          <p:cNvPr id="11" name="Text 9"/>
          <p:cNvSpPr/>
          <p:nvPr/>
        </p:nvSpPr>
        <p:spPr>
          <a:xfrm>
            <a:off x="3673503" y="3703320"/>
            <a:ext cx="4663440" cy="320040"/>
          </a:xfrm>
          <a:prstGeom prst="rect">
            <a:avLst/>
          </a:prstGeom>
          <a:noFill/>
          <a:ln/>
        </p:spPr>
        <p:txBody>
          <a:bodyPr wrap="square" rtlCol="0" anchor="ct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Two Prediction Tasks</a:t>
            </a:r>
            <a:endParaRPr lang="en-US" sz="1600" dirty="0"/>
          </a:p>
        </p:txBody>
      </p:sp>
      <p:sp>
        <p:nvSpPr>
          <p:cNvPr id="12" name="Text 10"/>
          <p:cNvSpPr/>
          <p:nvPr/>
        </p:nvSpPr>
        <p:spPr>
          <a:xfrm>
            <a:off x="3673503" y="4063117"/>
            <a:ext cx="5176299" cy="822960"/>
          </a:xfrm>
          <a:prstGeom prst="rect">
            <a:avLst/>
          </a:prstGeom>
          <a:noFill/>
          <a:ln/>
        </p:spPr>
        <p:txBody>
          <a:bodyPr wrap="square" rtlCol="0" anchor="ctr"/>
          <a:lstStyle/>
          <a:p>
            <a:pPr marL="0" indent="0">
              <a:buNone/>
            </a:pPr>
            <a:r>
              <a:rPr lang="en-US" sz="1400" b="1" dirty="0">
                <a:solidFill>
                  <a:srgbClr val="111111"/>
                </a:solidFill>
                <a:latin typeface="Aptos" pitchFamily="34" charset="0"/>
                <a:ea typeface="Aptos" pitchFamily="34" charset="-122"/>
                <a:cs typeface="Aptos" pitchFamily="34" charset="-120"/>
              </a:rPr>
              <a:t>Mortality: </a:t>
            </a:r>
            <a:r>
              <a:rPr lang="en-US" sz="1400" dirty="0">
                <a:solidFill>
                  <a:srgbClr val="111111"/>
                </a:solidFill>
                <a:latin typeface="Aptos" pitchFamily="34" charset="0"/>
                <a:ea typeface="Aptos" pitchFamily="34" charset="-122"/>
                <a:cs typeface="Aptos" pitchFamily="34" charset="-120"/>
              </a:rPr>
              <a:t>Will this patient SURVIVE or DIE during their ICU stay?
</a:t>
            </a:r>
            <a:r>
              <a:rPr lang="en-US" sz="1400" b="1" dirty="0">
                <a:solidFill>
                  <a:srgbClr val="111111"/>
                </a:solidFill>
                <a:latin typeface="Aptos" pitchFamily="34" charset="0"/>
                <a:ea typeface="Aptos" pitchFamily="34" charset="-122"/>
                <a:cs typeface="Aptos" pitchFamily="34" charset="-120"/>
              </a:rPr>
              <a:t>Length-of-Stay: </a:t>
            </a:r>
            <a:r>
              <a:rPr lang="en-US" sz="1400" dirty="0">
                <a:solidFill>
                  <a:srgbClr val="111111"/>
                </a:solidFill>
                <a:latin typeface="Aptos" pitchFamily="34" charset="0"/>
                <a:ea typeface="Aptos" pitchFamily="34" charset="-122"/>
                <a:cs typeface="Aptos" pitchFamily="34" charset="-120"/>
              </a:rPr>
              <a:t>Will the stay be SHORT (&lt;3 days) or LONG (≥3 days)?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1"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2633870"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Dataset</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Used</a:t>
            </a:r>
            <a:endParaRPr lang="en-US" sz="4000" dirty="0"/>
          </a:p>
        </p:txBody>
      </p:sp>
      <p:sp>
        <p:nvSpPr>
          <p:cNvPr id="5" name="Text 3"/>
          <p:cNvSpPr/>
          <p:nvPr/>
        </p:nvSpPr>
        <p:spPr>
          <a:xfrm>
            <a:off x="3768918" y="274320"/>
            <a:ext cx="5192202" cy="685800"/>
          </a:xfrm>
          <a:prstGeom prst="rect">
            <a:avLst/>
          </a:prstGeom>
          <a:noFill/>
          <a:ln/>
        </p:spPr>
        <p:txBody>
          <a:bodyPr wrap="square" rtlCol="0" anchor="ctr"/>
          <a:lstStyle/>
          <a:p>
            <a:pPr marL="0" indent="0">
              <a:buNone/>
            </a:pPr>
            <a:r>
              <a:rPr lang="en-US" sz="1400" dirty="0">
                <a:solidFill>
                  <a:srgbClr val="111111"/>
                </a:solidFill>
                <a:latin typeface="Aptos" pitchFamily="34" charset="0"/>
                <a:ea typeface="Aptos" pitchFamily="34" charset="-122"/>
                <a:cs typeface="Aptos" pitchFamily="34" charset="-120"/>
              </a:rPr>
              <a:t>We use MIMIC-III Clinical Database v1.4 — a publicly available ICU database from MIT/PhysioNet with over 46,000 patients.</a:t>
            </a:r>
            <a:endParaRPr lang="en-US" sz="1400" dirty="0"/>
          </a:p>
        </p:txBody>
      </p:sp>
      <p:sp>
        <p:nvSpPr>
          <p:cNvPr id="7" name="Text 5"/>
          <p:cNvSpPr/>
          <p:nvPr/>
        </p:nvSpPr>
        <p:spPr>
          <a:xfrm>
            <a:off x="3768918" y="1097280"/>
            <a:ext cx="5192202" cy="320040"/>
          </a:xfrm>
          <a:prstGeom prst="rect">
            <a:avLst/>
          </a:prstGeom>
          <a:noFill/>
          <a:ln/>
        </p:spPr>
        <p:txBody>
          <a:bodyPr wrap="square" rtlCol="0" anchor="ctr"/>
          <a:lstStyle/>
          <a:p>
            <a:pPr marL="0" indent="0">
              <a:buNone/>
            </a:pPr>
            <a:r>
              <a:rPr lang="en-US" sz="1600" b="1" dirty="0">
                <a:solidFill>
                  <a:srgbClr val="111111"/>
                </a:solidFill>
                <a:latin typeface="Aptos Display" pitchFamily="34" charset="0"/>
                <a:ea typeface="Aptos Display" pitchFamily="34" charset="-122"/>
                <a:cs typeface="Aptos Display" pitchFamily="34" charset="-120"/>
              </a:rPr>
              <a:t>Key Tables Used:</a:t>
            </a:r>
            <a:endParaRPr lang="en-US" sz="1600" dirty="0"/>
          </a:p>
        </p:txBody>
      </p:sp>
      <p:sp>
        <p:nvSpPr>
          <p:cNvPr id="8" name="Text 6"/>
          <p:cNvSpPr/>
          <p:nvPr/>
        </p:nvSpPr>
        <p:spPr>
          <a:xfrm>
            <a:off x="3837318" y="1490472"/>
            <a:ext cx="1288473" cy="438912"/>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ADMISSIONS</a:t>
            </a:r>
            <a:endParaRPr lang="en-US" sz="1150" dirty="0"/>
          </a:p>
        </p:txBody>
      </p:sp>
      <p:sp>
        <p:nvSpPr>
          <p:cNvPr id="9" name="Text 7"/>
          <p:cNvSpPr/>
          <p:nvPr/>
        </p:nvSpPr>
        <p:spPr>
          <a:xfrm>
            <a:off x="5005346" y="1490472"/>
            <a:ext cx="3772894" cy="43891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Demographics, admission times, hospital outcome (mortality flag)</a:t>
            </a:r>
            <a:endParaRPr lang="en-US" sz="1150" dirty="0"/>
          </a:p>
        </p:txBody>
      </p:sp>
      <p:sp>
        <p:nvSpPr>
          <p:cNvPr id="10" name="Text 8"/>
          <p:cNvSpPr/>
          <p:nvPr/>
        </p:nvSpPr>
        <p:spPr>
          <a:xfrm>
            <a:off x="3837318" y="2011680"/>
            <a:ext cx="1288473" cy="438912"/>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PATIENTS</a:t>
            </a:r>
            <a:endParaRPr lang="en-US" sz="1150" dirty="0"/>
          </a:p>
        </p:txBody>
      </p:sp>
      <p:sp>
        <p:nvSpPr>
          <p:cNvPr id="11" name="Text 9"/>
          <p:cNvSpPr/>
          <p:nvPr/>
        </p:nvSpPr>
        <p:spPr>
          <a:xfrm>
            <a:off x="5005346" y="2011680"/>
            <a:ext cx="3772894" cy="43891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Date of birth and gender — used to compute patient age</a:t>
            </a:r>
            <a:endParaRPr lang="en-US" sz="1150" dirty="0"/>
          </a:p>
        </p:txBody>
      </p:sp>
      <p:sp>
        <p:nvSpPr>
          <p:cNvPr id="12" name="Text 10"/>
          <p:cNvSpPr/>
          <p:nvPr/>
        </p:nvSpPr>
        <p:spPr>
          <a:xfrm>
            <a:off x="3837318" y="2532888"/>
            <a:ext cx="1288473" cy="438912"/>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ICUSTAYS</a:t>
            </a:r>
            <a:endParaRPr lang="en-US" sz="1150" dirty="0"/>
          </a:p>
        </p:txBody>
      </p:sp>
      <p:sp>
        <p:nvSpPr>
          <p:cNvPr id="13" name="Text 11"/>
          <p:cNvSpPr/>
          <p:nvPr/>
        </p:nvSpPr>
        <p:spPr>
          <a:xfrm>
            <a:off x="5005346" y="2532888"/>
            <a:ext cx="3772894" cy="43891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ICU stay timestamps and length of stay — prediction targets</a:t>
            </a:r>
            <a:endParaRPr lang="en-US" sz="1150" dirty="0"/>
          </a:p>
        </p:txBody>
      </p:sp>
      <p:sp>
        <p:nvSpPr>
          <p:cNvPr id="14" name="Text 12"/>
          <p:cNvSpPr/>
          <p:nvPr/>
        </p:nvSpPr>
        <p:spPr>
          <a:xfrm>
            <a:off x="3837318" y="3054096"/>
            <a:ext cx="1288473" cy="438912"/>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CHARTEVENTS</a:t>
            </a:r>
            <a:endParaRPr lang="en-US" sz="1150" dirty="0"/>
          </a:p>
        </p:txBody>
      </p:sp>
      <p:sp>
        <p:nvSpPr>
          <p:cNvPr id="15" name="Text 13"/>
          <p:cNvSpPr/>
          <p:nvPr/>
        </p:nvSpPr>
        <p:spPr>
          <a:xfrm>
            <a:off x="5005346" y="3054096"/>
            <a:ext cx="3772894" cy="43891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~28M vital signs: HR, BP, SpO2, temperature, resp rate</a:t>
            </a:r>
            <a:endParaRPr lang="en-US" sz="1150" dirty="0"/>
          </a:p>
        </p:txBody>
      </p:sp>
      <p:sp>
        <p:nvSpPr>
          <p:cNvPr id="16" name="Text 14"/>
          <p:cNvSpPr/>
          <p:nvPr/>
        </p:nvSpPr>
        <p:spPr>
          <a:xfrm>
            <a:off x="3837318" y="3575304"/>
            <a:ext cx="1288473" cy="438912"/>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LABEVENTS</a:t>
            </a:r>
            <a:endParaRPr lang="en-US" sz="1150" dirty="0"/>
          </a:p>
        </p:txBody>
      </p:sp>
      <p:sp>
        <p:nvSpPr>
          <p:cNvPr id="17" name="Text 15"/>
          <p:cNvSpPr/>
          <p:nvPr/>
        </p:nvSpPr>
        <p:spPr>
          <a:xfrm>
            <a:off x="5005346" y="3575304"/>
            <a:ext cx="3772894" cy="43891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~3.3M lab results: glucose, creatinine, WBC, sodium</a:t>
            </a:r>
            <a:endParaRPr lang="en-US" sz="1150" dirty="0"/>
          </a:p>
        </p:txBody>
      </p:sp>
      <p:sp>
        <p:nvSpPr>
          <p:cNvPr id="18" name="Text 16"/>
          <p:cNvSpPr/>
          <p:nvPr/>
        </p:nvSpPr>
        <p:spPr>
          <a:xfrm>
            <a:off x="3837318" y="4096512"/>
            <a:ext cx="1288473" cy="438912"/>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PRESCRIPTIONS</a:t>
            </a:r>
            <a:endParaRPr lang="en-US" sz="1150" dirty="0"/>
          </a:p>
        </p:txBody>
      </p:sp>
      <p:sp>
        <p:nvSpPr>
          <p:cNvPr id="19" name="Text 17"/>
          <p:cNvSpPr/>
          <p:nvPr/>
        </p:nvSpPr>
        <p:spPr>
          <a:xfrm>
            <a:off x="5005346" y="4096512"/>
            <a:ext cx="3772894" cy="43891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4M+ medication orders — vasopressors signal severity</a:t>
            </a:r>
            <a:endParaRPr lang="en-US" sz="1150" dirty="0"/>
          </a:p>
        </p:txBody>
      </p:sp>
      <p:sp>
        <p:nvSpPr>
          <p:cNvPr id="20" name="Text 18"/>
          <p:cNvSpPr/>
          <p:nvPr/>
        </p:nvSpPr>
        <p:spPr>
          <a:xfrm>
            <a:off x="3919993" y="4617720"/>
            <a:ext cx="5041127" cy="256032"/>
          </a:xfrm>
          <a:prstGeom prst="rect">
            <a:avLst/>
          </a:prstGeom>
          <a:noFill/>
          <a:ln/>
        </p:spPr>
        <p:txBody>
          <a:bodyPr wrap="square" rtlCol="0" anchor="ctr"/>
          <a:lstStyle/>
          <a:p>
            <a:pPr marL="0" indent="0">
              <a:buNone/>
            </a:pPr>
            <a:r>
              <a:rPr lang="en-US" sz="1050" i="1" dirty="0">
                <a:solidFill>
                  <a:srgbClr val="4A4A4A"/>
                </a:solidFill>
                <a:latin typeface="Aptos" pitchFamily="34" charset="0"/>
                <a:ea typeface="Aptos" pitchFamily="34" charset="-122"/>
                <a:cs typeface="Aptos" pitchFamily="34" charset="-120"/>
              </a:rPr>
              <a:t>Cohort: 100 patients | 50 died / 50 survived | First ICU stay per patient | Adults ≥18</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873829"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2416629"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Feature</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Engineering</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Step 1</a:t>
            </a:r>
            <a:endParaRPr lang="en-US" sz="4000" dirty="0"/>
          </a:p>
        </p:txBody>
      </p:sp>
      <p:sp>
        <p:nvSpPr>
          <p:cNvPr id="5" name="Text 3"/>
          <p:cNvSpPr/>
          <p:nvPr/>
        </p:nvSpPr>
        <p:spPr>
          <a:xfrm>
            <a:off x="3135086" y="182880"/>
            <a:ext cx="5826034" cy="438912"/>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Building the Patient Cohort</a:t>
            </a:r>
            <a:endParaRPr lang="en-US" sz="2000" dirty="0"/>
          </a:p>
        </p:txBody>
      </p:sp>
      <p:sp>
        <p:nvSpPr>
          <p:cNvPr id="6" name="Text 4"/>
          <p:cNvSpPr/>
          <p:nvPr/>
        </p:nvSpPr>
        <p:spPr>
          <a:xfrm>
            <a:off x="3135086" y="797304"/>
            <a:ext cx="5826034" cy="299976"/>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Step 1 — Compute patient age</a:t>
            </a:r>
            <a:endParaRPr lang="en-US" sz="1300" dirty="0"/>
          </a:p>
        </p:txBody>
      </p:sp>
      <p:sp>
        <p:nvSpPr>
          <p:cNvPr id="7" name="Text 5"/>
          <p:cNvSpPr/>
          <p:nvPr/>
        </p:nvSpPr>
        <p:spPr>
          <a:xfrm>
            <a:off x="3135086" y="1118199"/>
            <a:ext cx="5826034" cy="637449"/>
          </a:xfrm>
          <a:prstGeom prst="rect">
            <a:avLst/>
          </a:prstGeom>
          <a:noFill/>
          <a:ln/>
        </p:spPr>
        <p:txBody>
          <a:bodyPr wrap="square" rtlCol="0" anchor="ctr"/>
          <a:lstStyle/>
          <a:p>
            <a:pPr marL="0" indent="0">
              <a:buNone/>
            </a:pPr>
            <a:r>
              <a:rPr lang="en-US" sz="1250" dirty="0">
                <a:solidFill>
                  <a:srgbClr val="4A4A4A"/>
                </a:solidFill>
                <a:latin typeface="Aptos" pitchFamily="34" charset="0"/>
                <a:ea typeface="Aptos" pitchFamily="34" charset="-122"/>
                <a:cs typeface="Aptos" pitchFamily="34" charset="-120"/>
              </a:rPr>
              <a:t>MIMIC-III stores DOB, not age. Patients &gt;89 have DOB shifted ~300 years forward for de-identification. We use year arithmetic (not timedelta) and cap computed age at 91 to handle this artefact.</a:t>
            </a:r>
            <a:endParaRPr lang="en-US" sz="1250" dirty="0"/>
          </a:p>
        </p:txBody>
      </p:sp>
      <p:sp>
        <p:nvSpPr>
          <p:cNvPr id="9" name="Text 7"/>
          <p:cNvSpPr/>
          <p:nvPr/>
        </p:nvSpPr>
        <p:spPr>
          <a:xfrm>
            <a:off x="3135086" y="1867152"/>
            <a:ext cx="5826034" cy="299976"/>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Step 2 — Select first ICU stay per patient</a:t>
            </a:r>
            <a:endParaRPr lang="en-US" sz="1300" dirty="0"/>
          </a:p>
        </p:txBody>
      </p:sp>
      <p:sp>
        <p:nvSpPr>
          <p:cNvPr id="10" name="Text 8"/>
          <p:cNvSpPr/>
          <p:nvPr/>
        </p:nvSpPr>
        <p:spPr>
          <a:xfrm>
            <a:off x="3135086" y="2188047"/>
            <a:ext cx="5826034" cy="637449"/>
          </a:xfrm>
          <a:prstGeom prst="rect">
            <a:avLst/>
          </a:prstGeom>
          <a:noFill/>
          <a:ln/>
        </p:spPr>
        <p:txBody>
          <a:bodyPr wrap="square" rtlCol="0" anchor="ctr"/>
          <a:lstStyle/>
          <a:p>
            <a:pPr marL="0" indent="0">
              <a:buNone/>
            </a:pPr>
            <a:r>
              <a:rPr lang="en-US" sz="1250" dirty="0">
                <a:solidFill>
                  <a:srgbClr val="4A4A4A"/>
                </a:solidFill>
                <a:latin typeface="Aptos" pitchFamily="34" charset="0"/>
                <a:ea typeface="Aptos" pitchFamily="34" charset="-122"/>
                <a:cs typeface="Aptos" pitchFamily="34" charset="-120"/>
              </a:rPr>
              <a:t>Patients with multiple ICU stays have later stays influenced by earlier treatment decisions the LLM cannot know. We take only the earliest stay per patient to prevent data leakage.</a:t>
            </a:r>
            <a:endParaRPr lang="en-US" sz="1250" dirty="0"/>
          </a:p>
        </p:txBody>
      </p:sp>
      <p:sp>
        <p:nvSpPr>
          <p:cNvPr id="12" name="Text 10"/>
          <p:cNvSpPr/>
          <p:nvPr/>
        </p:nvSpPr>
        <p:spPr>
          <a:xfrm>
            <a:off x="3135086" y="2937000"/>
            <a:ext cx="5826034" cy="299976"/>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Step 3 — Filter to adults with valid stays</a:t>
            </a:r>
            <a:endParaRPr lang="en-US" sz="1300" dirty="0"/>
          </a:p>
        </p:txBody>
      </p:sp>
      <p:sp>
        <p:nvSpPr>
          <p:cNvPr id="13" name="Text 11"/>
          <p:cNvSpPr/>
          <p:nvPr/>
        </p:nvSpPr>
        <p:spPr>
          <a:xfrm>
            <a:off x="3135086" y="3257895"/>
            <a:ext cx="5826034" cy="637449"/>
          </a:xfrm>
          <a:prstGeom prst="rect">
            <a:avLst/>
          </a:prstGeom>
          <a:noFill/>
          <a:ln/>
        </p:spPr>
        <p:txBody>
          <a:bodyPr wrap="square" rtlCol="0" anchor="ctr"/>
          <a:lstStyle/>
          <a:p>
            <a:pPr marL="0" indent="0">
              <a:buNone/>
            </a:pPr>
            <a:r>
              <a:rPr lang="en-US" sz="1250" dirty="0">
                <a:solidFill>
                  <a:srgbClr val="4A4A4A"/>
                </a:solidFill>
                <a:latin typeface="Aptos" pitchFamily="34" charset="0"/>
                <a:ea typeface="Aptos" pitchFamily="34" charset="-122"/>
                <a:cs typeface="Aptos" pitchFamily="34" charset="-120"/>
              </a:rPr>
              <a:t>Exclude patients under 18 and stays with LOS = 0 (data quality issue). Rename hospital_expire_flag → mortality. Create binary LOS label: SHORT (&lt;3 days) or LONG (≥3 days).</a:t>
            </a:r>
            <a:endParaRPr lang="en-US" sz="1250" dirty="0"/>
          </a:p>
        </p:txBody>
      </p:sp>
      <p:sp>
        <p:nvSpPr>
          <p:cNvPr id="15" name="Text 13"/>
          <p:cNvSpPr/>
          <p:nvPr/>
        </p:nvSpPr>
        <p:spPr>
          <a:xfrm>
            <a:off x="3135086" y="4006848"/>
            <a:ext cx="5826034" cy="299976"/>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Step 4 — Build balanced cohort (n=100)</a:t>
            </a:r>
            <a:endParaRPr lang="en-US" sz="1300" dirty="0"/>
          </a:p>
        </p:txBody>
      </p:sp>
      <p:sp>
        <p:nvSpPr>
          <p:cNvPr id="16" name="Text 14"/>
          <p:cNvSpPr/>
          <p:nvPr/>
        </p:nvSpPr>
        <p:spPr>
          <a:xfrm>
            <a:off x="3135086" y="4327743"/>
            <a:ext cx="5826034" cy="637449"/>
          </a:xfrm>
          <a:prstGeom prst="rect">
            <a:avLst/>
          </a:prstGeom>
          <a:noFill/>
          <a:ln/>
        </p:spPr>
        <p:txBody>
          <a:bodyPr wrap="square" rtlCol="0" anchor="ctr"/>
          <a:lstStyle/>
          <a:p>
            <a:pPr marL="0" indent="0">
              <a:buNone/>
            </a:pPr>
            <a:r>
              <a:rPr lang="en-US" sz="1250" dirty="0">
                <a:solidFill>
                  <a:srgbClr val="4A4A4A"/>
                </a:solidFill>
                <a:latin typeface="Aptos" pitchFamily="34" charset="0"/>
                <a:ea typeface="Aptos" pitchFamily="34" charset="-122"/>
                <a:cs typeface="Aptos" pitchFamily="34" charset="-120"/>
              </a:rPr>
              <a:t>Sample 50 died + 50 survived using random_state=42. Balance is critical — without it a naive model achieves 80%+ accuracy by always predicting the majority class, making the 50% random baseline meaningful.</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971801"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2579914"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Feature</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Engineering </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Step 2</a:t>
            </a:r>
            <a:endParaRPr lang="en-US" sz="4000" dirty="0"/>
          </a:p>
        </p:txBody>
      </p:sp>
      <p:sp>
        <p:nvSpPr>
          <p:cNvPr id="5" name="Text 3"/>
          <p:cNvSpPr/>
          <p:nvPr/>
        </p:nvSpPr>
        <p:spPr>
          <a:xfrm>
            <a:off x="3276165" y="182880"/>
            <a:ext cx="5684955" cy="283992"/>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Extracting Vitals, Labs &amp; Medications</a:t>
            </a:r>
            <a:endParaRPr lang="en-US" sz="2000" dirty="0"/>
          </a:p>
        </p:txBody>
      </p:sp>
      <p:sp>
        <p:nvSpPr>
          <p:cNvPr id="6" name="Text 4"/>
          <p:cNvSpPr/>
          <p:nvPr/>
        </p:nvSpPr>
        <p:spPr>
          <a:xfrm>
            <a:off x="3276165" y="685800"/>
            <a:ext cx="5684955" cy="343157"/>
          </a:xfrm>
          <a:prstGeom prst="rect">
            <a:avLst/>
          </a:prstGeom>
          <a:noFill/>
          <a:ln/>
        </p:spPr>
        <p:txBody>
          <a:bodyPr wrap="square" rtlCol="0" anchor="ctr"/>
          <a:lstStyle/>
          <a:p>
            <a:pPr marL="0" indent="0">
              <a:buNone/>
            </a:pPr>
            <a:r>
              <a:rPr lang="en-US" sz="1300" dirty="0">
                <a:solidFill>
                  <a:srgbClr val="111111"/>
                </a:solidFill>
                <a:latin typeface="Aptos" pitchFamily="34" charset="0"/>
                <a:ea typeface="Aptos" pitchFamily="34" charset="-122"/>
                <a:cs typeface="Aptos" pitchFamily="34" charset="-120"/>
              </a:rPr>
              <a:t>10 features extracted per patient using median aggregation (not mean or latest value — reduces impact of transient spikes and data entry errors):</a:t>
            </a:r>
            <a:endParaRPr lang="en-US" sz="1300" dirty="0"/>
          </a:p>
        </p:txBody>
      </p:sp>
      <p:sp>
        <p:nvSpPr>
          <p:cNvPr id="8" name="Text 6"/>
          <p:cNvSpPr/>
          <p:nvPr/>
        </p:nvSpPr>
        <p:spPr>
          <a:xfrm>
            <a:off x="3276165" y="1180646"/>
            <a:ext cx="5684955" cy="189328"/>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Vital Signs  —  from CHARTEVENTS</a:t>
            </a:r>
            <a:endParaRPr lang="en-US" sz="1300" dirty="0"/>
          </a:p>
        </p:txBody>
      </p:sp>
      <p:sp>
        <p:nvSpPr>
          <p:cNvPr id="9" name="Text 7"/>
          <p:cNvSpPr/>
          <p:nvPr/>
        </p:nvSpPr>
        <p:spPr>
          <a:xfrm>
            <a:off x="3331900" y="1517040"/>
            <a:ext cx="1371600" cy="195783"/>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Heart Rate (bpm)</a:t>
            </a:r>
            <a:endParaRPr lang="en-US" sz="1150" dirty="0"/>
          </a:p>
        </p:txBody>
      </p:sp>
      <p:sp>
        <p:nvSpPr>
          <p:cNvPr id="10" name="Text 8"/>
          <p:cNvSpPr/>
          <p:nvPr/>
        </p:nvSpPr>
        <p:spPr>
          <a:xfrm>
            <a:off x="5561294" y="1528118"/>
            <a:ext cx="3399826" cy="201161"/>
          </a:xfrm>
          <a:prstGeom prst="rect">
            <a:avLst/>
          </a:prstGeom>
          <a:noFill/>
          <a:ln/>
        </p:spPr>
        <p:txBody>
          <a:bodyPr wrap="square" rtlCol="0" anchor="ctr"/>
          <a:lstStyle/>
          <a:p>
            <a:pPr marL="0" indent="0">
              <a:buNone/>
            </a:pPr>
            <a:r>
              <a:rPr lang="en-US" sz="1100" dirty="0">
                <a:solidFill>
                  <a:srgbClr val="4A4A4A"/>
                </a:solidFill>
                <a:latin typeface="Aptos" pitchFamily="34" charset="0"/>
                <a:ea typeface="Aptos" pitchFamily="34" charset="-122"/>
                <a:cs typeface="Aptos" pitchFamily="34" charset="-120"/>
              </a:rPr>
              <a:t>CareVue: 211  |  Metavision: 220045</a:t>
            </a:r>
            <a:endParaRPr lang="en-US" sz="1100" dirty="0"/>
          </a:p>
        </p:txBody>
      </p:sp>
      <p:sp>
        <p:nvSpPr>
          <p:cNvPr id="11" name="Text 9"/>
          <p:cNvSpPr/>
          <p:nvPr/>
        </p:nvSpPr>
        <p:spPr>
          <a:xfrm>
            <a:off x="3331900" y="1864512"/>
            <a:ext cx="1664208" cy="242045"/>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Systolic BP (mmHg)</a:t>
            </a:r>
            <a:endParaRPr lang="en-US" sz="1150" dirty="0"/>
          </a:p>
        </p:txBody>
      </p:sp>
      <p:sp>
        <p:nvSpPr>
          <p:cNvPr id="12" name="Text 10"/>
          <p:cNvSpPr/>
          <p:nvPr/>
        </p:nvSpPr>
        <p:spPr>
          <a:xfrm>
            <a:off x="5561294" y="1875590"/>
            <a:ext cx="3399826" cy="201161"/>
          </a:xfrm>
          <a:prstGeom prst="rect">
            <a:avLst/>
          </a:prstGeom>
          <a:noFill/>
          <a:ln/>
        </p:spPr>
        <p:txBody>
          <a:bodyPr wrap="square" rtlCol="0" anchor="ctr"/>
          <a:lstStyle/>
          <a:p>
            <a:pPr marL="0" indent="0">
              <a:buNone/>
            </a:pPr>
            <a:r>
              <a:rPr lang="en-US" sz="1100" dirty="0">
                <a:solidFill>
                  <a:srgbClr val="4A4A4A"/>
                </a:solidFill>
                <a:latin typeface="Aptos" pitchFamily="34" charset="0"/>
                <a:ea typeface="Aptos" pitchFamily="34" charset="-122"/>
                <a:cs typeface="Aptos" pitchFamily="34" charset="-120"/>
              </a:rPr>
              <a:t>CareVue: 51   |  Metavision: 220179</a:t>
            </a:r>
            <a:endParaRPr lang="en-US" sz="1100" dirty="0"/>
          </a:p>
        </p:txBody>
      </p:sp>
      <p:sp>
        <p:nvSpPr>
          <p:cNvPr id="13" name="Text 11"/>
          <p:cNvSpPr/>
          <p:nvPr/>
        </p:nvSpPr>
        <p:spPr>
          <a:xfrm>
            <a:off x="3331900" y="2211984"/>
            <a:ext cx="1664208" cy="203322"/>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Diastolic BP (mmHg)</a:t>
            </a:r>
            <a:endParaRPr lang="en-US" sz="1150" dirty="0"/>
          </a:p>
        </p:txBody>
      </p:sp>
      <p:sp>
        <p:nvSpPr>
          <p:cNvPr id="14" name="Text 12"/>
          <p:cNvSpPr/>
          <p:nvPr/>
        </p:nvSpPr>
        <p:spPr>
          <a:xfrm>
            <a:off x="5561294" y="2223062"/>
            <a:ext cx="3399826" cy="201161"/>
          </a:xfrm>
          <a:prstGeom prst="rect">
            <a:avLst/>
          </a:prstGeom>
          <a:noFill/>
          <a:ln/>
        </p:spPr>
        <p:txBody>
          <a:bodyPr wrap="square" rtlCol="0" anchor="ctr"/>
          <a:lstStyle/>
          <a:p>
            <a:pPr marL="0" indent="0">
              <a:buNone/>
            </a:pPr>
            <a:r>
              <a:rPr lang="en-US" sz="1100" dirty="0">
                <a:solidFill>
                  <a:srgbClr val="4A4A4A"/>
                </a:solidFill>
                <a:latin typeface="Aptos" pitchFamily="34" charset="0"/>
                <a:ea typeface="Aptos" pitchFamily="34" charset="-122"/>
                <a:cs typeface="Aptos" pitchFamily="34" charset="-120"/>
              </a:rPr>
              <a:t>CareVue: 8368 |  Metavision: 220180</a:t>
            </a:r>
            <a:endParaRPr lang="en-US" sz="1100" dirty="0"/>
          </a:p>
        </p:txBody>
      </p:sp>
      <p:sp>
        <p:nvSpPr>
          <p:cNvPr id="15" name="Text 13"/>
          <p:cNvSpPr/>
          <p:nvPr/>
        </p:nvSpPr>
        <p:spPr>
          <a:xfrm>
            <a:off x="3331900" y="2559456"/>
            <a:ext cx="1500921" cy="182873"/>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Temperature (°C)</a:t>
            </a:r>
            <a:endParaRPr lang="en-US" sz="1150" dirty="0"/>
          </a:p>
        </p:txBody>
      </p:sp>
      <p:sp>
        <p:nvSpPr>
          <p:cNvPr id="16" name="Text 14"/>
          <p:cNvSpPr/>
          <p:nvPr/>
        </p:nvSpPr>
        <p:spPr>
          <a:xfrm>
            <a:off x="5561294" y="2570534"/>
            <a:ext cx="3399826" cy="201161"/>
          </a:xfrm>
          <a:prstGeom prst="rect">
            <a:avLst/>
          </a:prstGeom>
          <a:noFill/>
          <a:ln/>
        </p:spPr>
        <p:txBody>
          <a:bodyPr wrap="square" rtlCol="0" anchor="ctr"/>
          <a:lstStyle/>
          <a:p>
            <a:pPr marL="0" indent="0">
              <a:buNone/>
            </a:pPr>
            <a:r>
              <a:rPr lang="en-US" sz="1100" dirty="0">
                <a:solidFill>
                  <a:srgbClr val="4A4A4A"/>
                </a:solidFill>
                <a:latin typeface="Aptos" pitchFamily="34" charset="0"/>
                <a:ea typeface="Aptos" pitchFamily="34" charset="-122"/>
                <a:cs typeface="Aptos" pitchFamily="34" charset="-120"/>
              </a:rPr>
              <a:t>°C: 676/223762  |  °F: 678/223761 (converted)</a:t>
            </a:r>
            <a:endParaRPr lang="en-US" sz="1100" dirty="0"/>
          </a:p>
        </p:txBody>
      </p:sp>
      <p:sp>
        <p:nvSpPr>
          <p:cNvPr id="17" name="Text 15"/>
          <p:cNvSpPr/>
          <p:nvPr/>
        </p:nvSpPr>
        <p:spPr>
          <a:xfrm>
            <a:off x="3331900" y="2906929"/>
            <a:ext cx="1578428" cy="162438"/>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SpO2 (%)</a:t>
            </a:r>
            <a:endParaRPr lang="en-US" sz="1150" dirty="0"/>
          </a:p>
        </p:txBody>
      </p:sp>
      <p:sp>
        <p:nvSpPr>
          <p:cNvPr id="18" name="Text 16"/>
          <p:cNvSpPr/>
          <p:nvPr/>
        </p:nvSpPr>
        <p:spPr>
          <a:xfrm>
            <a:off x="5561294" y="2918006"/>
            <a:ext cx="3399826" cy="201161"/>
          </a:xfrm>
          <a:prstGeom prst="rect">
            <a:avLst/>
          </a:prstGeom>
          <a:noFill/>
          <a:ln/>
        </p:spPr>
        <p:txBody>
          <a:bodyPr wrap="square" rtlCol="0" anchor="ctr"/>
          <a:lstStyle/>
          <a:p>
            <a:pPr marL="0" indent="0">
              <a:buNone/>
            </a:pPr>
            <a:r>
              <a:rPr lang="en-US" sz="1100" dirty="0">
                <a:solidFill>
                  <a:srgbClr val="4A4A4A"/>
                </a:solidFill>
                <a:latin typeface="Aptos" pitchFamily="34" charset="0"/>
                <a:ea typeface="Aptos" pitchFamily="34" charset="-122"/>
                <a:cs typeface="Aptos" pitchFamily="34" charset="-120"/>
              </a:rPr>
              <a:t>CareVue: 646  |  Metavision: 220277</a:t>
            </a:r>
            <a:endParaRPr lang="en-US" sz="1100" dirty="0"/>
          </a:p>
        </p:txBody>
      </p:sp>
      <p:sp>
        <p:nvSpPr>
          <p:cNvPr id="19" name="Text 17"/>
          <p:cNvSpPr/>
          <p:nvPr/>
        </p:nvSpPr>
        <p:spPr>
          <a:xfrm>
            <a:off x="3331900" y="3254400"/>
            <a:ext cx="2229394" cy="214069"/>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Respiratory Rate (br/min)</a:t>
            </a:r>
            <a:endParaRPr lang="en-US" sz="1150" dirty="0"/>
          </a:p>
        </p:txBody>
      </p:sp>
      <p:sp>
        <p:nvSpPr>
          <p:cNvPr id="20" name="Text 18"/>
          <p:cNvSpPr/>
          <p:nvPr/>
        </p:nvSpPr>
        <p:spPr>
          <a:xfrm>
            <a:off x="5561294" y="3265478"/>
            <a:ext cx="3399826" cy="201161"/>
          </a:xfrm>
          <a:prstGeom prst="rect">
            <a:avLst/>
          </a:prstGeom>
          <a:noFill/>
          <a:ln/>
        </p:spPr>
        <p:txBody>
          <a:bodyPr wrap="square" rtlCol="0" anchor="ctr"/>
          <a:lstStyle/>
          <a:p>
            <a:pPr marL="0" indent="0">
              <a:buNone/>
            </a:pPr>
            <a:r>
              <a:rPr lang="en-US" sz="1100" dirty="0">
                <a:solidFill>
                  <a:srgbClr val="4A4A4A"/>
                </a:solidFill>
                <a:latin typeface="Aptos" pitchFamily="34" charset="0"/>
                <a:ea typeface="Aptos" pitchFamily="34" charset="-122"/>
                <a:cs typeface="Aptos" pitchFamily="34" charset="-120"/>
              </a:rPr>
              <a:t>CareVue: 618  |  Metavision: 220210</a:t>
            </a:r>
            <a:endParaRPr lang="en-US" sz="1100" dirty="0"/>
          </a:p>
        </p:txBody>
      </p:sp>
      <p:sp>
        <p:nvSpPr>
          <p:cNvPr id="22" name="Text 20"/>
          <p:cNvSpPr/>
          <p:nvPr/>
        </p:nvSpPr>
        <p:spPr>
          <a:xfrm>
            <a:off x="3276165" y="3617680"/>
            <a:ext cx="5684955" cy="177495"/>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Lab Results  —  from LABEVENTS</a:t>
            </a:r>
            <a:endParaRPr lang="en-US" sz="1300" dirty="0"/>
          </a:p>
        </p:txBody>
      </p:sp>
      <p:sp>
        <p:nvSpPr>
          <p:cNvPr id="23" name="Text 21"/>
          <p:cNvSpPr/>
          <p:nvPr/>
        </p:nvSpPr>
        <p:spPr>
          <a:xfrm>
            <a:off x="3276165" y="3964836"/>
            <a:ext cx="2229394" cy="130163"/>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Glucose (mg/dL)</a:t>
            </a:r>
            <a:endParaRPr lang="en-US" sz="1150" dirty="0"/>
          </a:p>
        </p:txBody>
      </p:sp>
      <p:sp>
        <p:nvSpPr>
          <p:cNvPr id="24" name="Text 22"/>
          <p:cNvSpPr/>
          <p:nvPr/>
        </p:nvSpPr>
        <p:spPr>
          <a:xfrm>
            <a:off x="5561294" y="3966997"/>
            <a:ext cx="3399826" cy="130163"/>
          </a:xfrm>
          <a:prstGeom prst="rect">
            <a:avLst/>
          </a:prstGeom>
          <a:noFill/>
          <a:ln/>
        </p:spPr>
        <p:txBody>
          <a:bodyPr wrap="square" rtlCol="0" anchor="ctr"/>
          <a:lstStyle/>
          <a:p>
            <a:pPr marL="0" indent="0">
              <a:buNone/>
            </a:pPr>
            <a:r>
              <a:rPr lang="en-US" sz="1100" dirty="0">
                <a:solidFill>
                  <a:srgbClr val="4A4A4A"/>
                </a:solidFill>
                <a:latin typeface="Aptos" pitchFamily="34" charset="0"/>
                <a:ea typeface="Aptos" pitchFamily="34" charset="-122"/>
                <a:cs typeface="Aptos" pitchFamily="34" charset="-120"/>
              </a:rPr>
              <a:t>50809, 50931  (blood gas + chemistry)</a:t>
            </a:r>
            <a:endParaRPr lang="en-US" sz="1100" dirty="0"/>
          </a:p>
        </p:txBody>
      </p:sp>
      <p:sp>
        <p:nvSpPr>
          <p:cNvPr id="25" name="Text 23"/>
          <p:cNvSpPr/>
          <p:nvPr/>
        </p:nvSpPr>
        <p:spPr>
          <a:xfrm>
            <a:off x="3276165" y="4142116"/>
            <a:ext cx="1828800" cy="201168"/>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Creatinine (mg/dL)</a:t>
            </a:r>
            <a:endParaRPr lang="en-US" sz="1150" dirty="0"/>
          </a:p>
        </p:txBody>
      </p:sp>
      <p:sp>
        <p:nvSpPr>
          <p:cNvPr id="26" name="Text 24"/>
          <p:cNvSpPr/>
          <p:nvPr/>
        </p:nvSpPr>
        <p:spPr>
          <a:xfrm>
            <a:off x="5561294" y="4186453"/>
            <a:ext cx="3399826" cy="130163"/>
          </a:xfrm>
          <a:prstGeom prst="rect">
            <a:avLst/>
          </a:prstGeom>
          <a:noFill/>
          <a:ln/>
        </p:spPr>
        <p:txBody>
          <a:bodyPr wrap="square" rtlCol="0" anchor="ctr"/>
          <a:lstStyle/>
          <a:p>
            <a:pPr marL="0" indent="0">
              <a:buNone/>
            </a:pPr>
            <a:r>
              <a:rPr lang="en-US" sz="1100" dirty="0">
                <a:solidFill>
                  <a:srgbClr val="4A4A4A"/>
                </a:solidFill>
                <a:latin typeface="Aptos" pitchFamily="34" charset="0"/>
                <a:ea typeface="Aptos" pitchFamily="34" charset="-122"/>
                <a:cs typeface="Aptos" pitchFamily="34" charset="-120"/>
              </a:rPr>
              <a:t>50912  (kidney function)</a:t>
            </a:r>
            <a:endParaRPr lang="en-US" sz="1100" dirty="0"/>
          </a:p>
        </p:txBody>
      </p:sp>
      <p:sp>
        <p:nvSpPr>
          <p:cNvPr id="27" name="Text 25"/>
          <p:cNvSpPr/>
          <p:nvPr/>
        </p:nvSpPr>
        <p:spPr>
          <a:xfrm>
            <a:off x="3276165" y="4403748"/>
            <a:ext cx="2229394" cy="130163"/>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WBC Count (×10³/μL)</a:t>
            </a:r>
            <a:endParaRPr lang="en-US" sz="1150" dirty="0"/>
          </a:p>
        </p:txBody>
      </p:sp>
      <p:sp>
        <p:nvSpPr>
          <p:cNvPr id="28" name="Text 26"/>
          <p:cNvSpPr/>
          <p:nvPr/>
        </p:nvSpPr>
        <p:spPr>
          <a:xfrm>
            <a:off x="5561294" y="4405909"/>
            <a:ext cx="3399826" cy="130163"/>
          </a:xfrm>
          <a:prstGeom prst="rect">
            <a:avLst/>
          </a:prstGeom>
          <a:noFill/>
          <a:ln/>
        </p:spPr>
        <p:txBody>
          <a:bodyPr wrap="square" rtlCol="0" anchor="ctr"/>
          <a:lstStyle/>
          <a:p>
            <a:pPr marL="0" indent="0">
              <a:buNone/>
            </a:pPr>
            <a:r>
              <a:rPr lang="en-US" sz="1100" dirty="0">
                <a:solidFill>
                  <a:srgbClr val="4A4A4A"/>
                </a:solidFill>
                <a:latin typeface="Aptos" pitchFamily="34" charset="0"/>
                <a:ea typeface="Aptos" pitchFamily="34" charset="-122"/>
                <a:cs typeface="Aptos" pitchFamily="34" charset="-120"/>
              </a:rPr>
              <a:t>51301  (infection / immune status)</a:t>
            </a:r>
            <a:endParaRPr lang="en-US" sz="1100" dirty="0"/>
          </a:p>
        </p:txBody>
      </p:sp>
      <p:sp>
        <p:nvSpPr>
          <p:cNvPr id="29" name="Text 27"/>
          <p:cNvSpPr/>
          <p:nvPr/>
        </p:nvSpPr>
        <p:spPr>
          <a:xfrm>
            <a:off x="3276165" y="4623204"/>
            <a:ext cx="2229394" cy="130163"/>
          </a:xfrm>
          <a:prstGeom prst="rect">
            <a:avLst/>
          </a:prstGeom>
          <a:noFill/>
          <a:ln/>
        </p:spPr>
        <p:txBody>
          <a:bodyPr wrap="square" rtlCol="0" anchor="ctr"/>
          <a:lstStyle/>
          <a:p>
            <a:pPr marL="0" indent="0">
              <a:buNone/>
            </a:pPr>
            <a:r>
              <a:rPr lang="en-US" sz="1150" b="1" dirty="0">
                <a:solidFill>
                  <a:srgbClr val="111111"/>
                </a:solidFill>
                <a:latin typeface="Aptos Display" pitchFamily="34" charset="0"/>
                <a:ea typeface="Aptos Display" pitchFamily="34" charset="-122"/>
                <a:cs typeface="Aptos Display" pitchFamily="34" charset="-120"/>
              </a:rPr>
              <a:t>Sodium (mEq/L)</a:t>
            </a:r>
            <a:endParaRPr lang="en-US" sz="1150" dirty="0"/>
          </a:p>
        </p:txBody>
      </p:sp>
      <p:sp>
        <p:nvSpPr>
          <p:cNvPr id="30" name="Text 28"/>
          <p:cNvSpPr/>
          <p:nvPr/>
        </p:nvSpPr>
        <p:spPr>
          <a:xfrm>
            <a:off x="5561294" y="4625365"/>
            <a:ext cx="3399826" cy="130163"/>
          </a:xfrm>
          <a:prstGeom prst="rect">
            <a:avLst/>
          </a:prstGeom>
          <a:noFill/>
          <a:ln/>
        </p:spPr>
        <p:txBody>
          <a:bodyPr wrap="square" rtlCol="0" anchor="ctr"/>
          <a:lstStyle/>
          <a:p>
            <a:pPr marL="0" indent="0">
              <a:buNone/>
            </a:pPr>
            <a:r>
              <a:rPr lang="en-US" sz="1100" dirty="0">
                <a:solidFill>
                  <a:srgbClr val="4A4A4A"/>
                </a:solidFill>
                <a:latin typeface="Aptos" pitchFamily="34" charset="0"/>
                <a:ea typeface="Aptos" pitchFamily="34" charset="-122"/>
                <a:cs typeface="Aptos" pitchFamily="34" charset="-120"/>
              </a:rPr>
              <a:t>50983  (electrolyte balance)</a:t>
            </a:r>
            <a:endParaRPr lang="en-US" sz="1100" dirty="0"/>
          </a:p>
        </p:txBody>
      </p:sp>
      <p:sp>
        <p:nvSpPr>
          <p:cNvPr id="31" name="Text 29"/>
          <p:cNvSpPr/>
          <p:nvPr/>
        </p:nvSpPr>
        <p:spPr>
          <a:xfrm>
            <a:off x="3276165" y="4891393"/>
            <a:ext cx="5684955" cy="165662"/>
          </a:xfrm>
          <a:prstGeom prst="rect">
            <a:avLst/>
          </a:prstGeom>
          <a:noFill/>
          <a:ln/>
        </p:spPr>
        <p:txBody>
          <a:bodyPr wrap="square" rtlCol="0" anchor="ctr"/>
          <a:lstStyle/>
          <a:p>
            <a:pPr marL="0" indent="0">
              <a:buNone/>
            </a:pPr>
            <a:r>
              <a:rPr lang="en-US" sz="1100" i="1" dirty="0">
                <a:solidFill>
                  <a:srgbClr val="4A4A4A"/>
                </a:solidFill>
                <a:latin typeface="Aptos" pitchFamily="34" charset="0"/>
                <a:ea typeface="Aptos" pitchFamily="34" charset="-122"/>
                <a:cs typeface="Aptos" pitchFamily="34" charset="-120"/>
              </a:rPr>
              <a:t>+ Medications — up to 4 drug names from PRESCRIPTIONS (vasopressors, antibiotics, diuretics)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788921"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148045" y="1108710"/>
            <a:ext cx="2492829"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Feature</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Engineering</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Step 3</a:t>
            </a:r>
            <a:endParaRPr lang="en-US" sz="4000" dirty="0"/>
          </a:p>
        </p:txBody>
      </p:sp>
      <p:sp>
        <p:nvSpPr>
          <p:cNvPr id="5" name="Text 3"/>
          <p:cNvSpPr/>
          <p:nvPr/>
        </p:nvSpPr>
        <p:spPr>
          <a:xfrm>
            <a:off x="3048000" y="182880"/>
            <a:ext cx="5913120" cy="438912"/>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Missing Values, Labels &amp; Output Features</a:t>
            </a:r>
            <a:endParaRPr lang="en-US" sz="2000" dirty="0"/>
          </a:p>
        </p:txBody>
      </p:sp>
      <p:sp>
        <p:nvSpPr>
          <p:cNvPr id="6" name="Text 4"/>
          <p:cNvSpPr/>
          <p:nvPr/>
        </p:nvSpPr>
        <p:spPr>
          <a:xfrm>
            <a:off x="3132908" y="621792"/>
            <a:ext cx="4663440" cy="292608"/>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Missing Value Imputation</a:t>
            </a:r>
            <a:endParaRPr lang="en-US" sz="1300" dirty="0"/>
          </a:p>
        </p:txBody>
      </p:sp>
      <p:sp>
        <p:nvSpPr>
          <p:cNvPr id="7" name="Text 5"/>
          <p:cNvSpPr/>
          <p:nvPr/>
        </p:nvSpPr>
        <p:spPr>
          <a:xfrm>
            <a:off x="3132907" y="950976"/>
            <a:ext cx="5913119" cy="347472"/>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Missing values are filled with the cohort median — avoids introducing extreme values:</a:t>
            </a:r>
            <a:endParaRPr lang="en-US" sz="1250" dirty="0"/>
          </a:p>
        </p:txBody>
      </p:sp>
      <p:sp>
        <p:nvSpPr>
          <p:cNvPr id="8" name="Text 6"/>
          <p:cNvSpPr/>
          <p:nvPr/>
        </p:nvSpPr>
        <p:spPr>
          <a:xfrm>
            <a:off x="3132908" y="1371600"/>
            <a:ext cx="1828800" cy="347472"/>
          </a:xfrm>
          <a:prstGeom prst="rect">
            <a:avLst/>
          </a:prstGeom>
          <a:noFill/>
          <a:ln/>
        </p:spPr>
        <p:txBody>
          <a:bodyPr wrap="square" rtlCol="0" anchor="ctr"/>
          <a:lstStyle/>
          <a:p>
            <a:pPr marL="0" indent="0">
              <a:buNone/>
            </a:pPr>
            <a:r>
              <a:rPr lang="en-US" sz="1200" b="1" dirty="0">
                <a:solidFill>
                  <a:srgbClr val="111111"/>
                </a:solidFill>
                <a:latin typeface="Aptos Display" pitchFamily="34" charset="0"/>
                <a:ea typeface="Aptos Display" pitchFamily="34" charset="-122"/>
                <a:cs typeface="Aptos Display" pitchFamily="34" charset="-120"/>
              </a:rPr>
              <a:t>sbp / dbp</a:t>
            </a:r>
            <a:endParaRPr lang="en-US" sz="1200" dirty="0"/>
          </a:p>
        </p:txBody>
      </p:sp>
      <p:sp>
        <p:nvSpPr>
          <p:cNvPr id="9" name="Text 7"/>
          <p:cNvSpPr/>
          <p:nvPr/>
        </p:nvSpPr>
        <p:spPr>
          <a:xfrm>
            <a:off x="5007428" y="1371600"/>
            <a:ext cx="3840480" cy="34747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30 missing → cohort median  (most patients lack continuous BP)</a:t>
            </a:r>
            <a:endParaRPr lang="en-US" sz="1150" dirty="0"/>
          </a:p>
        </p:txBody>
      </p:sp>
      <p:sp>
        <p:nvSpPr>
          <p:cNvPr id="10" name="Text 8"/>
          <p:cNvSpPr/>
          <p:nvPr/>
        </p:nvSpPr>
        <p:spPr>
          <a:xfrm>
            <a:off x="3132908" y="1773936"/>
            <a:ext cx="1828800" cy="347472"/>
          </a:xfrm>
          <a:prstGeom prst="rect">
            <a:avLst/>
          </a:prstGeom>
          <a:noFill/>
          <a:ln/>
        </p:spPr>
        <p:txBody>
          <a:bodyPr wrap="square" rtlCol="0" anchor="ctr"/>
          <a:lstStyle/>
          <a:p>
            <a:pPr marL="0" indent="0">
              <a:buNone/>
            </a:pPr>
            <a:r>
              <a:rPr lang="en-US" sz="1200" b="1" dirty="0">
                <a:solidFill>
                  <a:srgbClr val="111111"/>
                </a:solidFill>
                <a:latin typeface="Aptos Display" pitchFamily="34" charset="0"/>
                <a:ea typeface="Aptos Display" pitchFamily="34" charset="-122"/>
                <a:cs typeface="Aptos Display" pitchFamily="34" charset="-120"/>
              </a:rPr>
              <a:t>temp</a:t>
            </a:r>
            <a:endParaRPr lang="en-US" sz="1200" dirty="0"/>
          </a:p>
        </p:txBody>
      </p:sp>
      <p:sp>
        <p:nvSpPr>
          <p:cNvPr id="11" name="Text 9"/>
          <p:cNvSpPr/>
          <p:nvPr/>
        </p:nvSpPr>
        <p:spPr>
          <a:xfrm>
            <a:off x="5007428" y="1773936"/>
            <a:ext cx="2788920" cy="34747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4 missing → cohort median</a:t>
            </a:r>
            <a:endParaRPr lang="en-US" sz="1150" dirty="0"/>
          </a:p>
        </p:txBody>
      </p:sp>
      <p:sp>
        <p:nvSpPr>
          <p:cNvPr id="12" name="Text 10"/>
          <p:cNvSpPr/>
          <p:nvPr/>
        </p:nvSpPr>
        <p:spPr>
          <a:xfrm>
            <a:off x="3132908" y="2176272"/>
            <a:ext cx="1828800" cy="347472"/>
          </a:xfrm>
          <a:prstGeom prst="rect">
            <a:avLst/>
          </a:prstGeom>
          <a:noFill/>
          <a:ln/>
        </p:spPr>
        <p:txBody>
          <a:bodyPr wrap="square" rtlCol="0" anchor="ctr"/>
          <a:lstStyle/>
          <a:p>
            <a:pPr marL="0" indent="0">
              <a:buNone/>
            </a:pPr>
            <a:r>
              <a:rPr lang="en-US" sz="1200" b="1" dirty="0">
                <a:solidFill>
                  <a:srgbClr val="111111"/>
                </a:solidFill>
                <a:latin typeface="Aptos Display" pitchFamily="34" charset="0"/>
                <a:ea typeface="Aptos Display" pitchFamily="34" charset="-122"/>
                <a:cs typeface="Aptos Display" pitchFamily="34" charset="-120"/>
              </a:rPr>
              <a:t>hr / spo2 / resp_rate</a:t>
            </a:r>
            <a:endParaRPr lang="en-US" sz="1200" dirty="0"/>
          </a:p>
        </p:txBody>
      </p:sp>
      <p:sp>
        <p:nvSpPr>
          <p:cNvPr id="13" name="Text 11"/>
          <p:cNvSpPr/>
          <p:nvPr/>
        </p:nvSpPr>
        <p:spPr>
          <a:xfrm>
            <a:off x="5007428" y="2176272"/>
            <a:ext cx="2788920" cy="34747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3 missing each → cohort median</a:t>
            </a:r>
            <a:endParaRPr lang="en-US" sz="1150" dirty="0"/>
          </a:p>
        </p:txBody>
      </p:sp>
      <p:sp>
        <p:nvSpPr>
          <p:cNvPr id="14" name="Text 12"/>
          <p:cNvSpPr/>
          <p:nvPr/>
        </p:nvSpPr>
        <p:spPr>
          <a:xfrm>
            <a:off x="3132908" y="2578608"/>
            <a:ext cx="1828800" cy="347472"/>
          </a:xfrm>
          <a:prstGeom prst="rect">
            <a:avLst/>
          </a:prstGeom>
          <a:noFill/>
          <a:ln/>
        </p:spPr>
        <p:txBody>
          <a:bodyPr wrap="square" rtlCol="0" anchor="ctr"/>
          <a:lstStyle/>
          <a:p>
            <a:pPr marL="0" indent="0">
              <a:buNone/>
            </a:pPr>
            <a:r>
              <a:rPr lang="en-US" sz="1200" b="1" dirty="0">
                <a:solidFill>
                  <a:srgbClr val="111111"/>
                </a:solidFill>
                <a:latin typeface="Aptos Display" pitchFamily="34" charset="0"/>
                <a:ea typeface="Aptos Display" pitchFamily="34" charset="-122"/>
                <a:cs typeface="Aptos Display" pitchFamily="34" charset="-120"/>
              </a:rPr>
              <a:t>glucose / creatinine / sodium</a:t>
            </a:r>
            <a:endParaRPr lang="en-US" sz="1200" dirty="0"/>
          </a:p>
        </p:txBody>
      </p:sp>
      <p:sp>
        <p:nvSpPr>
          <p:cNvPr id="15" name="Text 13"/>
          <p:cNvSpPr/>
          <p:nvPr/>
        </p:nvSpPr>
        <p:spPr>
          <a:xfrm>
            <a:off x="5007428" y="2578608"/>
            <a:ext cx="2788920" cy="34747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3 missing each → cohort median</a:t>
            </a:r>
            <a:endParaRPr lang="en-US" sz="1150" dirty="0"/>
          </a:p>
        </p:txBody>
      </p:sp>
      <p:sp>
        <p:nvSpPr>
          <p:cNvPr id="16" name="Text 14"/>
          <p:cNvSpPr/>
          <p:nvPr/>
        </p:nvSpPr>
        <p:spPr>
          <a:xfrm>
            <a:off x="3132908" y="2980944"/>
            <a:ext cx="1828800" cy="347472"/>
          </a:xfrm>
          <a:prstGeom prst="rect">
            <a:avLst/>
          </a:prstGeom>
          <a:noFill/>
          <a:ln/>
        </p:spPr>
        <p:txBody>
          <a:bodyPr wrap="square" rtlCol="0" anchor="ctr"/>
          <a:lstStyle/>
          <a:p>
            <a:pPr marL="0" indent="0">
              <a:buNone/>
            </a:pPr>
            <a:r>
              <a:rPr lang="en-US" sz="1200" b="1" dirty="0">
                <a:solidFill>
                  <a:srgbClr val="111111"/>
                </a:solidFill>
                <a:latin typeface="Aptos Display" pitchFamily="34" charset="0"/>
                <a:ea typeface="Aptos Display" pitchFamily="34" charset="-122"/>
                <a:cs typeface="Aptos Display" pitchFamily="34" charset="-120"/>
              </a:rPr>
              <a:t>wbc</a:t>
            </a:r>
            <a:endParaRPr lang="en-US" sz="1200" dirty="0"/>
          </a:p>
        </p:txBody>
      </p:sp>
      <p:sp>
        <p:nvSpPr>
          <p:cNvPr id="17" name="Text 15"/>
          <p:cNvSpPr/>
          <p:nvPr/>
        </p:nvSpPr>
        <p:spPr>
          <a:xfrm>
            <a:off x="5007428" y="2980944"/>
            <a:ext cx="2788920" cy="34747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2 missing → cohort median</a:t>
            </a:r>
            <a:endParaRPr lang="en-US" sz="1150" dirty="0"/>
          </a:p>
        </p:txBody>
      </p:sp>
      <p:sp>
        <p:nvSpPr>
          <p:cNvPr id="19" name="Text 17"/>
          <p:cNvSpPr/>
          <p:nvPr/>
        </p:nvSpPr>
        <p:spPr>
          <a:xfrm>
            <a:off x="3132908" y="3474720"/>
            <a:ext cx="4663440" cy="292608"/>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Prediction Labels (Ground Truth)</a:t>
            </a:r>
            <a:endParaRPr lang="en-US" sz="1300" dirty="0"/>
          </a:p>
        </p:txBody>
      </p:sp>
      <p:sp>
        <p:nvSpPr>
          <p:cNvPr id="20" name="Text 18"/>
          <p:cNvSpPr/>
          <p:nvPr/>
        </p:nvSpPr>
        <p:spPr>
          <a:xfrm>
            <a:off x="3132908" y="3840480"/>
            <a:ext cx="1005840" cy="530352"/>
          </a:xfrm>
          <a:prstGeom prst="rect">
            <a:avLst/>
          </a:prstGeom>
          <a:noFill/>
          <a:ln/>
        </p:spPr>
        <p:txBody>
          <a:bodyPr wrap="square" rtlCol="0" anchor="t"/>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Mortality</a:t>
            </a:r>
            <a:endParaRPr lang="en-US" sz="1300" dirty="0"/>
          </a:p>
        </p:txBody>
      </p:sp>
      <p:sp>
        <p:nvSpPr>
          <p:cNvPr id="21" name="Text 19"/>
          <p:cNvSpPr/>
          <p:nvPr/>
        </p:nvSpPr>
        <p:spPr>
          <a:xfrm>
            <a:off x="4184468" y="3840480"/>
            <a:ext cx="4663440" cy="530352"/>
          </a:xfrm>
          <a:prstGeom prst="rect">
            <a:avLst/>
          </a:prstGeom>
          <a:noFill/>
          <a:ln/>
        </p:spPr>
        <p:txBody>
          <a:bodyPr wrap="square" rtlCol="0" anchor="t"/>
          <a:lstStyle/>
          <a:p>
            <a:pPr marL="0" indent="0">
              <a:buNone/>
            </a:pPr>
            <a:r>
              <a:rPr lang="en-US" sz="1200" dirty="0">
                <a:solidFill>
                  <a:srgbClr val="4A4A4A"/>
                </a:solidFill>
                <a:latin typeface="Aptos" pitchFamily="34" charset="0"/>
                <a:ea typeface="Aptos" pitchFamily="34" charset="-122"/>
                <a:cs typeface="Aptos" pitchFamily="34" charset="-120"/>
              </a:rPr>
              <a:t>hospital_expire_flag = 1 → DIED,   0 → SURVIVED</a:t>
            </a:r>
            <a:endParaRPr lang="en-US" sz="1200" dirty="0"/>
          </a:p>
          <a:p>
            <a:pPr marL="0" indent="0">
              <a:buNone/>
            </a:pPr>
            <a:r>
              <a:rPr lang="en-US" sz="1200" dirty="0">
                <a:solidFill>
                  <a:srgbClr val="4A4A4A"/>
                </a:solidFill>
                <a:latin typeface="Aptos" pitchFamily="34" charset="0"/>
                <a:ea typeface="Aptos" pitchFamily="34" charset="-122"/>
                <a:cs typeface="Aptos" pitchFamily="34" charset="-120"/>
              </a:rPr>
              <a:t>Source: ADMISSIONS table</a:t>
            </a:r>
            <a:endParaRPr lang="en-US" sz="1200" dirty="0"/>
          </a:p>
        </p:txBody>
      </p:sp>
      <p:sp>
        <p:nvSpPr>
          <p:cNvPr id="22" name="Text 20"/>
          <p:cNvSpPr/>
          <p:nvPr/>
        </p:nvSpPr>
        <p:spPr>
          <a:xfrm>
            <a:off x="3132908" y="4434840"/>
            <a:ext cx="1005840" cy="530352"/>
          </a:xfrm>
          <a:prstGeom prst="rect">
            <a:avLst/>
          </a:prstGeom>
          <a:noFill/>
          <a:ln/>
        </p:spPr>
        <p:txBody>
          <a:bodyPr wrap="square" rtlCol="0" anchor="t"/>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LOS label</a:t>
            </a:r>
            <a:endParaRPr lang="en-US" sz="1300" dirty="0"/>
          </a:p>
        </p:txBody>
      </p:sp>
      <p:sp>
        <p:nvSpPr>
          <p:cNvPr id="23" name="Text 21"/>
          <p:cNvSpPr/>
          <p:nvPr/>
        </p:nvSpPr>
        <p:spPr>
          <a:xfrm>
            <a:off x="4184468" y="4434840"/>
            <a:ext cx="4663440" cy="530352"/>
          </a:xfrm>
          <a:prstGeom prst="rect">
            <a:avLst/>
          </a:prstGeom>
          <a:noFill/>
          <a:ln/>
        </p:spPr>
        <p:txBody>
          <a:bodyPr wrap="square" rtlCol="0" anchor="t"/>
          <a:lstStyle/>
          <a:p>
            <a:pPr marL="0" indent="0">
              <a:buNone/>
            </a:pPr>
            <a:r>
              <a:rPr lang="en-US" sz="1200" dirty="0">
                <a:solidFill>
                  <a:srgbClr val="4A4A4A"/>
                </a:solidFill>
                <a:latin typeface="Aptos" pitchFamily="34" charset="0"/>
                <a:ea typeface="Aptos" pitchFamily="34" charset="-122"/>
                <a:cs typeface="Aptos" pitchFamily="34" charset="-120"/>
              </a:rPr>
              <a:t>los_days ≥ 3 → LONG,   los_days &lt; 3 → SHORT</a:t>
            </a:r>
            <a:endParaRPr lang="en-US" sz="1200" dirty="0"/>
          </a:p>
          <a:p>
            <a:pPr marL="0" indent="0">
              <a:buNone/>
            </a:pPr>
            <a:r>
              <a:rPr lang="en-US" sz="1200" dirty="0">
                <a:solidFill>
                  <a:srgbClr val="4A4A4A"/>
                </a:solidFill>
                <a:latin typeface="Aptos" pitchFamily="34" charset="0"/>
                <a:ea typeface="Aptos" pitchFamily="34" charset="-122"/>
                <a:cs typeface="Aptos" pitchFamily="34" charset="-120"/>
              </a:rPr>
              <a:t>3-day threshold: short stays = rapid recovery or very early death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188473"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2856506"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Tabular→ Text</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Conversion</a:t>
            </a:r>
            <a:endParaRPr lang="en-US" sz="4000" dirty="0"/>
          </a:p>
        </p:txBody>
      </p:sp>
      <p:sp>
        <p:nvSpPr>
          <p:cNvPr id="5" name="Text 3"/>
          <p:cNvSpPr/>
          <p:nvPr/>
        </p:nvSpPr>
        <p:spPr>
          <a:xfrm>
            <a:off x="3403158" y="228600"/>
            <a:ext cx="5557962" cy="457200"/>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Converting EHR Data to Clinical Narratives</a:t>
            </a:r>
            <a:endParaRPr lang="en-US" sz="2000" dirty="0"/>
          </a:p>
        </p:txBody>
      </p:sp>
      <p:sp>
        <p:nvSpPr>
          <p:cNvPr id="6" name="Text 4"/>
          <p:cNvSpPr/>
          <p:nvPr/>
        </p:nvSpPr>
        <p:spPr>
          <a:xfrm>
            <a:off x="3482671" y="731520"/>
            <a:ext cx="5478449" cy="548640"/>
          </a:xfrm>
          <a:prstGeom prst="rect">
            <a:avLst/>
          </a:prstGeom>
          <a:noFill/>
          <a:ln/>
        </p:spPr>
        <p:txBody>
          <a:bodyPr wrap="square" rtlCol="0" anchor="ctr"/>
          <a:lstStyle/>
          <a:p>
            <a:pPr marL="0" indent="0">
              <a:buNone/>
            </a:pPr>
            <a:r>
              <a:rPr lang="en-US" sz="1300" dirty="0">
                <a:solidFill>
                  <a:srgbClr val="111111"/>
                </a:solidFill>
                <a:latin typeface="Aptos" pitchFamily="34" charset="0"/>
                <a:ea typeface="Aptos" pitchFamily="34" charset="-122"/>
                <a:cs typeface="Aptos" pitchFamily="34" charset="-120"/>
              </a:rPr>
              <a:t>Instead of passing raw numbers to the LLM, each patient row is converted into a clinical narrative with ⚠ abnormality flags and a SOFA-proxy severity score:</a:t>
            </a:r>
            <a:endParaRPr lang="en-US" sz="1300" dirty="0"/>
          </a:p>
        </p:txBody>
      </p:sp>
      <p:sp>
        <p:nvSpPr>
          <p:cNvPr id="7" name="Shape 5"/>
          <p:cNvSpPr/>
          <p:nvPr/>
        </p:nvSpPr>
        <p:spPr>
          <a:xfrm>
            <a:off x="3623809" y="1339596"/>
            <a:ext cx="4663440" cy="2606040"/>
          </a:xfrm>
          <a:prstGeom prst="rect">
            <a:avLst/>
          </a:prstGeom>
          <a:solidFill>
            <a:srgbClr val="F2F2F2"/>
          </a:solidFill>
          <a:ln w="12700">
            <a:solidFill>
              <a:srgbClr val="CCCCCC"/>
            </a:solidFill>
            <a:prstDash val="solid"/>
          </a:ln>
        </p:spPr>
        <p:txBody>
          <a:bodyPr/>
          <a:lstStyle/>
          <a:p>
            <a:endParaRPr lang="en-US"/>
          </a:p>
        </p:txBody>
      </p:sp>
      <p:sp>
        <p:nvSpPr>
          <p:cNvPr id="8" name="Text 6"/>
          <p:cNvSpPr/>
          <p:nvPr/>
        </p:nvSpPr>
        <p:spPr>
          <a:xfrm>
            <a:off x="3623809" y="1389888"/>
            <a:ext cx="4541783" cy="2487168"/>
          </a:xfrm>
          <a:prstGeom prst="rect">
            <a:avLst/>
          </a:prstGeom>
          <a:noFill/>
          <a:ln/>
        </p:spPr>
        <p:txBody>
          <a:bodyPr wrap="square" rtlCol="0" anchor="t"/>
          <a:lstStyle/>
          <a:p>
            <a:pPr marL="0" indent="0" algn="l">
              <a:buNone/>
            </a:pPr>
            <a:r>
              <a:rPr lang="en-US" sz="950" dirty="0">
                <a:solidFill>
                  <a:srgbClr val="111111"/>
                </a:solidFill>
                <a:latin typeface="Courier New" pitchFamily="34" charset="0"/>
                <a:ea typeface="Courier New" pitchFamily="34" charset="-122"/>
                <a:cs typeface="Courier New" pitchFamily="34" charset="-120"/>
              </a:rPr>
              <a:t>PATIENT PROFILE — ID: 32763</a:t>
            </a: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Demographics  : Age 79, M</a:t>
            </a: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Admission Dx  : CORONARY ARTERY DISEASE</a:t>
            </a: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Severity Level: MODERATE  ← SOFA-proxy</a:t>
            </a:r>
            <a:endParaRPr lang="en-US" sz="950" dirty="0"/>
          </a:p>
          <a:p>
            <a:pPr marL="0" indent="0" algn="l">
              <a:buNone/>
            </a:pP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Vital Signs:</a:t>
            </a: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  Heart rate    : 75.0 bpm         [60–100]</a:t>
            </a: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  Blood pressure: 110.0/50.0 mmHg  ⚠ LOW</a:t>
            </a: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  Resp rate     : 23.0 br/min      ⚠ HIGH</a:t>
            </a: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  SpO2          : 99.0%            [94–100]</a:t>
            </a:r>
            <a:endParaRPr lang="en-US" sz="950" dirty="0"/>
          </a:p>
          <a:p>
            <a:pPr marL="0" indent="0" algn="l">
              <a:buNone/>
            </a:pP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Lab Results:</a:t>
            </a: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  Glucose       : 155.0 mg/dL      ⚠ HIGH</a:t>
            </a: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  Creatinine    : 1.5 mg/dL        ⚠ HIGH</a:t>
            </a: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  WBC count     : 9.0 ×10³/μL     [normal]</a:t>
            </a:r>
            <a:endParaRPr lang="en-US" sz="950" dirty="0"/>
          </a:p>
          <a:p>
            <a:pPr marL="0" indent="0" algn="l">
              <a:buNone/>
            </a:pPr>
            <a:endParaRPr lang="en-US" sz="950" dirty="0"/>
          </a:p>
          <a:p>
            <a:pPr marL="0" indent="0" algn="l">
              <a:buNone/>
            </a:pPr>
            <a:r>
              <a:rPr lang="en-US" sz="950" dirty="0">
                <a:solidFill>
                  <a:srgbClr val="111111"/>
                </a:solidFill>
                <a:latin typeface="Courier New" pitchFamily="34" charset="0"/>
                <a:ea typeface="Courier New" pitchFamily="34" charset="-122"/>
                <a:cs typeface="Courier New" pitchFamily="34" charset="-120"/>
              </a:rPr>
              <a:t>Medications: Furosemide, Potassium Chloride</a:t>
            </a:r>
            <a:endParaRPr lang="en-US" sz="950" dirty="0"/>
          </a:p>
        </p:txBody>
      </p:sp>
      <p:sp>
        <p:nvSpPr>
          <p:cNvPr id="10" name="Text 8"/>
          <p:cNvSpPr/>
          <p:nvPr/>
        </p:nvSpPr>
        <p:spPr>
          <a:xfrm>
            <a:off x="3623809" y="4078224"/>
            <a:ext cx="5337311" cy="822960"/>
          </a:xfrm>
          <a:prstGeom prst="rect">
            <a:avLst/>
          </a:prstGeom>
          <a:noFill/>
          <a:ln/>
        </p:spPr>
        <p:txBody>
          <a:bodyPr wrap="square" rtlCol="0" anchor="ctr"/>
          <a:lstStyle/>
          <a:p>
            <a:pPr marL="0" indent="0">
              <a:buNone/>
            </a:pPr>
            <a:r>
              <a:rPr lang="en-US" sz="1300" b="1" dirty="0">
                <a:solidFill>
                  <a:srgbClr val="111111"/>
                </a:solidFill>
                <a:latin typeface="Aptos" pitchFamily="34" charset="0"/>
                <a:ea typeface="Aptos" pitchFamily="34" charset="-122"/>
                <a:cs typeface="Aptos" pitchFamily="34" charset="-120"/>
              </a:rPr>
              <a:t>⚠ Abnormality flags </a:t>
            </a:r>
            <a:r>
              <a:rPr lang="en-US" sz="1300" dirty="0">
                <a:solidFill>
                  <a:srgbClr val="111111"/>
                </a:solidFill>
                <a:latin typeface="Aptos" pitchFamily="34" charset="0"/>
                <a:ea typeface="Aptos" pitchFamily="34" charset="-122"/>
                <a:cs typeface="Aptos" pitchFamily="34" charset="-120"/>
              </a:rPr>
              <a:t>use clinical reference ranges to direct the LLM's attention to significant values. </a:t>
            </a:r>
            <a:r>
              <a:rPr lang="en-US" sz="1300" b="1" dirty="0">
                <a:solidFill>
                  <a:srgbClr val="111111"/>
                </a:solidFill>
                <a:latin typeface="Aptos" pitchFamily="34" charset="0"/>
                <a:ea typeface="Aptos" pitchFamily="34" charset="-122"/>
                <a:cs typeface="Aptos" pitchFamily="34" charset="-120"/>
              </a:rPr>
              <a:t>SOFA-proxy severity </a:t>
            </a:r>
            <a:r>
              <a:rPr lang="en-US" sz="1300" dirty="0">
                <a:solidFill>
                  <a:srgbClr val="111111"/>
                </a:solidFill>
                <a:latin typeface="Aptos" pitchFamily="34" charset="0"/>
                <a:ea typeface="Aptos" pitchFamily="34" charset="-122"/>
                <a:cs typeface="Aptos" pitchFamily="34" charset="-120"/>
              </a:rPr>
              <a:t>approximates organ failure risk from SpO2, SBP, and creatinine.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8F548E1-CBF2-98CB-354A-FECE1F6F98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61C51DA-F9E8-DE13-0E1F-DFCDE67E1474}"/>
              </a:ext>
            </a:extLst>
          </p:cNvPr>
          <p:cNvSpPr/>
          <p:nvPr/>
        </p:nvSpPr>
        <p:spPr>
          <a:xfrm>
            <a:off x="0" y="0"/>
            <a:ext cx="3188473" cy="5143500"/>
          </a:xfrm>
          <a:prstGeom prst="rect">
            <a:avLst/>
          </a:prstGeom>
          <a:solidFill>
            <a:srgbClr val="0E2841"/>
          </a:solidFill>
          <a:ln w="12700">
            <a:solidFill>
              <a:srgbClr val="0E2841"/>
            </a:solidFill>
            <a:prstDash val="solid"/>
          </a:ln>
        </p:spPr>
        <p:txBody>
          <a:bodyPr/>
          <a:lstStyle/>
          <a:p>
            <a:endParaRPr lang="en-US"/>
          </a:p>
        </p:txBody>
      </p:sp>
      <p:sp>
        <p:nvSpPr>
          <p:cNvPr id="4" name="Text 2">
            <a:extLst>
              <a:ext uri="{FF2B5EF4-FFF2-40B4-BE49-F238E27FC236}">
                <a16:creationId xmlns:a16="http://schemas.microsoft.com/office/drawing/2014/main" id="{9ECC6257-8337-79D3-FA0E-B83869EACC3D}"/>
              </a:ext>
            </a:extLst>
          </p:cNvPr>
          <p:cNvSpPr/>
          <p:nvPr/>
        </p:nvSpPr>
        <p:spPr>
          <a:xfrm>
            <a:off x="228600" y="1097280"/>
            <a:ext cx="2856506"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Tabular→ Text</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Conversion Code</a:t>
            </a:r>
            <a:endParaRPr lang="en-US" sz="4000" dirty="0"/>
          </a:p>
        </p:txBody>
      </p:sp>
      <p:sp>
        <p:nvSpPr>
          <p:cNvPr id="5" name="Text 3">
            <a:extLst>
              <a:ext uri="{FF2B5EF4-FFF2-40B4-BE49-F238E27FC236}">
                <a16:creationId xmlns:a16="http://schemas.microsoft.com/office/drawing/2014/main" id="{40ADEFC5-6144-76AC-9D1F-1E4F5DD54CDF}"/>
              </a:ext>
            </a:extLst>
          </p:cNvPr>
          <p:cNvSpPr/>
          <p:nvPr/>
        </p:nvSpPr>
        <p:spPr>
          <a:xfrm>
            <a:off x="3403158" y="141732"/>
            <a:ext cx="5557962" cy="457200"/>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Code</a:t>
            </a:r>
            <a:endParaRPr lang="en-US" sz="2000" dirty="0"/>
          </a:p>
        </p:txBody>
      </p:sp>
      <p:sp>
        <p:nvSpPr>
          <p:cNvPr id="8" name="Text 6">
            <a:extLst>
              <a:ext uri="{FF2B5EF4-FFF2-40B4-BE49-F238E27FC236}">
                <a16:creationId xmlns:a16="http://schemas.microsoft.com/office/drawing/2014/main" id="{77AAE3B2-72C2-4192-82C3-E4E462BE5E9C}"/>
              </a:ext>
            </a:extLst>
          </p:cNvPr>
          <p:cNvSpPr/>
          <p:nvPr/>
        </p:nvSpPr>
        <p:spPr>
          <a:xfrm>
            <a:off x="3623809" y="1389888"/>
            <a:ext cx="4541783" cy="2487168"/>
          </a:xfrm>
          <a:prstGeom prst="rect">
            <a:avLst/>
          </a:prstGeom>
          <a:noFill/>
          <a:ln/>
        </p:spPr>
        <p:txBody>
          <a:bodyPr wrap="square" rtlCol="0" anchor="t"/>
          <a:lstStyle/>
          <a:p>
            <a:pPr marL="0" indent="0" algn="l">
              <a:buNone/>
            </a:pPr>
            <a:endParaRPr lang="en-US" sz="950" dirty="0"/>
          </a:p>
        </p:txBody>
      </p:sp>
      <p:sp>
        <p:nvSpPr>
          <p:cNvPr id="3" name="TextBox 2">
            <a:extLst>
              <a:ext uri="{FF2B5EF4-FFF2-40B4-BE49-F238E27FC236}">
                <a16:creationId xmlns:a16="http://schemas.microsoft.com/office/drawing/2014/main" id="{FD54724D-B4D8-C8DE-1509-15C83F39C10B}"/>
              </a:ext>
            </a:extLst>
          </p:cNvPr>
          <p:cNvSpPr txBox="1"/>
          <p:nvPr/>
        </p:nvSpPr>
        <p:spPr>
          <a:xfrm>
            <a:off x="3417073" y="598932"/>
            <a:ext cx="5498327" cy="3785652"/>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def flag(value, low, high, unit=""):</a:t>
            </a:r>
          </a:p>
          <a:p>
            <a:r>
              <a:rPr lang="en-US" sz="1000" dirty="0">
                <a:latin typeface="Courier New" panose="02070309020205020404" pitchFamily="49" charset="0"/>
                <a:cs typeface="Courier New" panose="02070309020205020404" pitchFamily="49" charset="0"/>
              </a:rPr>
              <a:t>    if value is None or (</a:t>
            </a:r>
            <a:r>
              <a:rPr lang="en-US" sz="1000" dirty="0" err="1">
                <a:latin typeface="Courier New" panose="02070309020205020404" pitchFamily="49" charset="0"/>
                <a:cs typeface="Courier New" panose="02070309020205020404" pitchFamily="49" charset="0"/>
              </a:rPr>
              <a:t>isinstance</a:t>
            </a:r>
            <a:r>
              <a:rPr lang="en-US" sz="1000" dirty="0">
                <a:latin typeface="Courier New" panose="02070309020205020404" pitchFamily="49" charset="0"/>
                <a:cs typeface="Courier New" panose="02070309020205020404" pitchFamily="49" charset="0"/>
              </a:rPr>
              <a:t>(value, float) and </a:t>
            </a:r>
            <a:r>
              <a:rPr lang="en-US" sz="1000" dirty="0" err="1">
                <a:latin typeface="Courier New" panose="02070309020205020404" pitchFamily="49" charset="0"/>
                <a:cs typeface="Courier New" panose="02070309020205020404" pitchFamily="49" charset="0"/>
              </a:rPr>
              <a:t>np.isnan</a:t>
            </a:r>
            <a:r>
              <a:rPr lang="en-US" sz="1000" dirty="0">
                <a:latin typeface="Courier New" panose="02070309020205020404" pitchFamily="49" charset="0"/>
                <a:cs typeface="Courier New" panose="02070309020205020404" pitchFamily="49" charset="0"/>
              </a:rPr>
              <a:t>(value)):</a:t>
            </a:r>
          </a:p>
          <a:p>
            <a:r>
              <a:rPr lang="en-US" sz="1000" dirty="0">
                <a:latin typeface="Courier New" panose="02070309020205020404" pitchFamily="49" charset="0"/>
                <a:cs typeface="Courier New" panose="02070309020205020404" pitchFamily="49" charset="0"/>
              </a:rPr>
              <a:t>        return "not recorded"</a:t>
            </a:r>
          </a:p>
          <a:p>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val_str</a:t>
            </a:r>
            <a:r>
              <a:rPr lang="en-US" sz="1000" dirty="0">
                <a:latin typeface="Courier New" panose="02070309020205020404" pitchFamily="49" charset="0"/>
                <a:cs typeface="Courier New" panose="02070309020205020404" pitchFamily="49" charset="0"/>
              </a:rPr>
              <a:t> = f"{value}{unit}"</a:t>
            </a:r>
          </a:p>
          <a:p>
            <a:r>
              <a:rPr lang="en-US" sz="1000" dirty="0">
                <a:latin typeface="Courier New" panose="02070309020205020404" pitchFamily="49" charset="0"/>
                <a:cs typeface="Courier New" panose="02070309020205020404" pitchFamily="49" charset="0"/>
              </a:rPr>
              <a:t>    if value &gt; high:</a:t>
            </a:r>
          </a:p>
          <a:p>
            <a:r>
              <a:rPr lang="en-US" sz="1000" dirty="0">
                <a:latin typeface="Courier New" panose="02070309020205020404" pitchFamily="49" charset="0"/>
                <a:cs typeface="Courier New" panose="02070309020205020404" pitchFamily="49" charset="0"/>
              </a:rPr>
              <a:t>        return f"{</a:t>
            </a:r>
            <a:r>
              <a:rPr lang="en-US" sz="1000" dirty="0" err="1">
                <a:latin typeface="Courier New" panose="02070309020205020404" pitchFamily="49" charset="0"/>
                <a:cs typeface="Courier New" panose="02070309020205020404" pitchFamily="49" charset="0"/>
              </a:rPr>
              <a:t>val_str</a:t>
            </a:r>
            <a:r>
              <a:rPr lang="en-US" sz="1000" dirty="0">
                <a:latin typeface="Courier New" panose="02070309020205020404" pitchFamily="49" charset="0"/>
                <a:cs typeface="Courier New" panose="02070309020205020404" pitchFamily="49" charset="0"/>
              </a:rPr>
              <a:t>}  ⚠ HIGH"</a:t>
            </a:r>
          </a:p>
          <a:p>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elif</a:t>
            </a:r>
            <a:r>
              <a:rPr lang="en-US" sz="1000" dirty="0">
                <a:latin typeface="Courier New" panose="02070309020205020404" pitchFamily="49" charset="0"/>
                <a:cs typeface="Courier New" panose="02070309020205020404" pitchFamily="49" charset="0"/>
              </a:rPr>
              <a:t> value &lt; low:</a:t>
            </a:r>
          </a:p>
          <a:p>
            <a:r>
              <a:rPr lang="en-US" sz="1000" dirty="0">
                <a:latin typeface="Courier New" panose="02070309020205020404" pitchFamily="49" charset="0"/>
                <a:cs typeface="Courier New" panose="02070309020205020404" pitchFamily="49" charset="0"/>
              </a:rPr>
              <a:t>        return f"{</a:t>
            </a:r>
            <a:r>
              <a:rPr lang="en-US" sz="1000" dirty="0" err="1">
                <a:latin typeface="Courier New" panose="02070309020205020404" pitchFamily="49" charset="0"/>
                <a:cs typeface="Courier New" panose="02070309020205020404" pitchFamily="49" charset="0"/>
              </a:rPr>
              <a:t>val_str</a:t>
            </a:r>
            <a:r>
              <a:rPr lang="en-US" sz="1000" dirty="0">
                <a:latin typeface="Courier New" panose="02070309020205020404" pitchFamily="49" charset="0"/>
                <a:cs typeface="Courier New" panose="02070309020205020404" pitchFamily="49" charset="0"/>
              </a:rPr>
              <a:t>}  ⚠ LOW"</a:t>
            </a:r>
          </a:p>
          <a:p>
            <a:r>
              <a:rPr lang="en-US" sz="1000" dirty="0">
                <a:latin typeface="Courier New" panose="02070309020205020404" pitchFamily="49" charset="0"/>
                <a:cs typeface="Courier New" panose="02070309020205020404" pitchFamily="49" charset="0"/>
              </a:rPr>
              <a:t>    return </a:t>
            </a:r>
            <a:r>
              <a:rPr lang="en-US" sz="1000" dirty="0" err="1">
                <a:latin typeface="Courier New" panose="02070309020205020404" pitchFamily="49" charset="0"/>
                <a:cs typeface="Courier New" panose="02070309020205020404" pitchFamily="49" charset="0"/>
              </a:rPr>
              <a:t>val_str</a:t>
            </a:r>
            <a:endParaRPr lang="en-US" sz="1000" dirty="0">
              <a:latin typeface="Courier New" panose="02070309020205020404" pitchFamily="49" charset="0"/>
              <a:cs typeface="Courier New" panose="02070309020205020404" pitchFamily="49" charset="0"/>
            </a:endParaRP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def </a:t>
            </a:r>
            <a:r>
              <a:rPr lang="en-US" sz="1000" dirty="0" err="1">
                <a:latin typeface="Courier New" panose="02070309020205020404" pitchFamily="49" charset="0"/>
                <a:cs typeface="Courier New" panose="02070309020205020404" pitchFamily="49" charset="0"/>
              </a:rPr>
              <a:t>sofa_proxy</a:t>
            </a:r>
            <a:r>
              <a:rPr lang="en-US" sz="1000" dirty="0">
                <a:latin typeface="Courier New" panose="02070309020205020404" pitchFamily="49" charset="0"/>
                <a:cs typeface="Courier New" panose="02070309020205020404" pitchFamily="49" charset="0"/>
              </a:rPr>
              <a:t>(row):</a:t>
            </a:r>
          </a:p>
          <a:p>
            <a:r>
              <a:rPr lang="en-US" sz="1000" dirty="0">
                <a:latin typeface="Courier New" panose="02070309020205020404" pitchFamily="49" charset="0"/>
                <a:cs typeface="Courier New" panose="02070309020205020404" pitchFamily="49" charset="0"/>
              </a:rPr>
              <a:t>    score = 0</a:t>
            </a:r>
          </a:p>
          <a:p>
            <a:r>
              <a:rPr lang="en-US" sz="1000" dirty="0">
                <a:latin typeface="Courier New" panose="02070309020205020404" pitchFamily="49" charset="0"/>
                <a:cs typeface="Courier New" panose="02070309020205020404" pitchFamily="49" charset="0"/>
              </a:rPr>
              <a:t>    spo2 = </a:t>
            </a:r>
            <a:r>
              <a:rPr lang="en-US" sz="1000" dirty="0" err="1">
                <a:latin typeface="Courier New" panose="02070309020205020404" pitchFamily="49" charset="0"/>
                <a:cs typeface="Courier New" panose="02070309020205020404" pitchFamily="49" charset="0"/>
              </a:rPr>
              <a:t>row.get</a:t>
            </a:r>
            <a:r>
              <a:rPr lang="en-US" sz="1000" dirty="0">
                <a:latin typeface="Courier New" panose="02070309020205020404" pitchFamily="49" charset="0"/>
                <a:cs typeface="Courier New" panose="02070309020205020404" pitchFamily="49" charset="0"/>
              </a:rPr>
              <a:t>('spo2', float('nan'))</a:t>
            </a:r>
          </a:p>
          <a:p>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sbp</a:t>
            </a:r>
            <a:r>
              <a:rPr lang="en-US" sz="1000" dirty="0">
                <a:latin typeface="Courier New" panose="02070309020205020404" pitchFamily="49" charset="0"/>
                <a:cs typeface="Courier New" panose="02070309020205020404" pitchFamily="49" charset="0"/>
              </a:rPr>
              <a:t>  = </a:t>
            </a:r>
            <a:r>
              <a:rPr lang="en-US" sz="1000" dirty="0" err="1">
                <a:latin typeface="Courier New" panose="02070309020205020404" pitchFamily="49" charset="0"/>
                <a:cs typeface="Courier New" panose="02070309020205020404" pitchFamily="49" charset="0"/>
              </a:rPr>
              <a:t>row.get</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sbp</a:t>
            </a:r>
            <a:r>
              <a:rPr lang="en-US" sz="1000" dirty="0">
                <a:latin typeface="Courier New" panose="02070309020205020404" pitchFamily="49" charset="0"/>
                <a:cs typeface="Courier New" panose="02070309020205020404" pitchFamily="49" charset="0"/>
              </a:rPr>
              <a:t>',  float('nan'))</a:t>
            </a:r>
          </a:p>
          <a:p>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cr</a:t>
            </a:r>
            <a:r>
              <a:rPr lang="en-US" sz="1000" dirty="0">
                <a:latin typeface="Courier New" panose="02070309020205020404" pitchFamily="49" charset="0"/>
                <a:cs typeface="Courier New" panose="02070309020205020404" pitchFamily="49" charset="0"/>
              </a:rPr>
              <a:t>   = </a:t>
            </a:r>
            <a:r>
              <a:rPr lang="en-US" sz="1000" dirty="0" err="1">
                <a:latin typeface="Courier New" panose="02070309020205020404" pitchFamily="49" charset="0"/>
                <a:cs typeface="Courier New" panose="02070309020205020404" pitchFamily="49" charset="0"/>
              </a:rPr>
              <a:t>row.get</a:t>
            </a:r>
            <a:r>
              <a:rPr lang="en-US" sz="1000" dirty="0">
                <a:latin typeface="Courier New" panose="02070309020205020404" pitchFamily="49" charset="0"/>
                <a:cs typeface="Courier New" panose="02070309020205020404" pitchFamily="49" charset="0"/>
              </a:rPr>
              <a:t>('creatinine', float('nan'))</a:t>
            </a:r>
          </a:p>
          <a:p>
            <a:r>
              <a:rPr lang="en-US" sz="1000" dirty="0">
                <a:latin typeface="Courier New" panose="02070309020205020404" pitchFamily="49" charset="0"/>
                <a:cs typeface="Courier New" panose="02070309020205020404" pitchFamily="49" charset="0"/>
              </a:rPr>
              <a:t>    if not </a:t>
            </a:r>
            <a:r>
              <a:rPr lang="en-US" sz="1000" dirty="0" err="1">
                <a:latin typeface="Courier New" panose="02070309020205020404" pitchFamily="49" charset="0"/>
                <a:cs typeface="Courier New" panose="02070309020205020404" pitchFamily="49" charset="0"/>
              </a:rPr>
              <a:t>np.isnan</a:t>
            </a:r>
            <a:r>
              <a:rPr lang="en-US" sz="1000" dirty="0">
                <a:latin typeface="Courier New" panose="02070309020205020404" pitchFamily="49" charset="0"/>
                <a:cs typeface="Courier New" panose="02070309020205020404" pitchFamily="49" charset="0"/>
              </a:rPr>
              <a:t>(spo2):</a:t>
            </a:r>
          </a:p>
          <a:p>
            <a:r>
              <a:rPr lang="en-US" sz="1000" dirty="0">
                <a:latin typeface="Courier New" panose="02070309020205020404" pitchFamily="49" charset="0"/>
                <a:cs typeface="Courier New" panose="02070309020205020404" pitchFamily="49" charset="0"/>
              </a:rPr>
              <a:t>        score += 2 if spo2 &lt; 90 else (1 if spo2 &lt; 94 else 0)</a:t>
            </a:r>
          </a:p>
          <a:p>
            <a:r>
              <a:rPr lang="en-US" sz="1000" dirty="0">
                <a:latin typeface="Courier New" panose="02070309020205020404" pitchFamily="49" charset="0"/>
                <a:cs typeface="Courier New" panose="02070309020205020404" pitchFamily="49" charset="0"/>
              </a:rPr>
              <a:t>    if not </a:t>
            </a:r>
            <a:r>
              <a:rPr lang="en-US" sz="1000" dirty="0" err="1">
                <a:latin typeface="Courier New" panose="02070309020205020404" pitchFamily="49" charset="0"/>
                <a:cs typeface="Courier New" panose="02070309020205020404" pitchFamily="49" charset="0"/>
              </a:rPr>
              <a:t>np.isnan</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sbp</a:t>
            </a:r>
            <a:r>
              <a:rPr lang="en-US" sz="1000" dirty="0">
                <a:latin typeface="Courier New" panose="02070309020205020404" pitchFamily="49" charset="0"/>
                <a:cs typeface="Courier New" panose="02070309020205020404" pitchFamily="49" charset="0"/>
              </a:rPr>
              <a:t>):</a:t>
            </a:r>
          </a:p>
          <a:p>
            <a:r>
              <a:rPr lang="en-US" sz="1000" dirty="0">
                <a:latin typeface="Courier New" panose="02070309020205020404" pitchFamily="49" charset="0"/>
                <a:cs typeface="Courier New" panose="02070309020205020404" pitchFamily="49" charset="0"/>
              </a:rPr>
              <a:t>        score += 2 if </a:t>
            </a:r>
            <a:r>
              <a:rPr lang="en-US" sz="1000" dirty="0" err="1">
                <a:latin typeface="Courier New" panose="02070309020205020404" pitchFamily="49" charset="0"/>
                <a:cs typeface="Courier New" panose="02070309020205020404" pitchFamily="49" charset="0"/>
              </a:rPr>
              <a:t>sbp</a:t>
            </a:r>
            <a:r>
              <a:rPr lang="en-US" sz="1000" dirty="0">
                <a:latin typeface="Courier New" panose="02070309020205020404" pitchFamily="49" charset="0"/>
                <a:cs typeface="Courier New" panose="02070309020205020404" pitchFamily="49" charset="0"/>
              </a:rPr>
              <a:t> &lt; 90  else (1 if </a:t>
            </a:r>
            <a:r>
              <a:rPr lang="en-US" sz="1000" dirty="0" err="1">
                <a:latin typeface="Courier New" panose="02070309020205020404" pitchFamily="49" charset="0"/>
                <a:cs typeface="Courier New" panose="02070309020205020404" pitchFamily="49" charset="0"/>
              </a:rPr>
              <a:t>sbp</a:t>
            </a:r>
            <a:r>
              <a:rPr lang="en-US" sz="1000" dirty="0">
                <a:latin typeface="Courier New" panose="02070309020205020404" pitchFamily="49" charset="0"/>
                <a:cs typeface="Courier New" panose="02070309020205020404" pitchFamily="49" charset="0"/>
              </a:rPr>
              <a:t>  &lt; 100 else 0)</a:t>
            </a:r>
          </a:p>
          <a:p>
            <a:r>
              <a:rPr lang="en-US" sz="1000" dirty="0">
                <a:latin typeface="Courier New" panose="02070309020205020404" pitchFamily="49" charset="0"/>
                <a:cs typeface="Courier New" panose="02070309020205020404" pitchFamily="49" charset="0"/>
              </a:rPr>
              <a:t>    if not </a:t>
            </a:r>
            <a:r>
              <a:rPr lang="en-US" sz="1000" dirty="0" err="1">
                <a:latin typeface="Courier New" panose="02070309020205020404" pitchFamily="49" charset="0"/>
                <a:cs typeface="Courier New" panose="02070309020205020404" pitchFamily="49" charset="0"/>
              </a:rPr>
              <a:t>np.isnan</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cr</a:t>
            </a:r>
            <a:r>
              <a:rPr lang="en-US" sz="1000" dirty="0">
                <a:latin typeface="Courier New" panose="02070309020205020404" pitchFamily="49" charset="0"/>
                <a:cs typeface="Courier New" panose="02070309020205020404" pitchFamily="49" charset="0"/>
              </a:rPr>
              <a:t>):</a:t>
            </a:r>
          </a:p>
          <a:p>
            <a:r>
              <a:rPr lang="en-US" sz="1000" dirty="0">
                <a:latin typeface="Courier New" panose="02070309020205020404" pitchFamily="49" charset="0"/>
                <a:cs typeface="Courier New" panose="02070309020205020404" pitchFamily="49" charset="0"/>
              </a:rPr>
              <a:t>        score += 2 if </a:t>
            </a:r>
            <a:r>
              <a:rPr lang="en-US" sz="1000" dirty="0" err="1">
                <a:latin typeface="Courier New" panose="02070309020205020404" pitchFamily="49" charset="0"/>
                <a:cs typeface="Courier New" panose="02070309020205020404" pitchFamily="49" charset="0"/>
              </a:rPr>
              <a:t>cr</a:t>
            </a:r>
            <a:r>
              <a:rPr lang="en-US" sz="1000" dirty="0">
                <a:latin typeface="Courier New" panose="02070309020205020404" pitchFamily="49" charset="0"/>
                <a:cs typeface="Courier New" panose="02070309020205020404" pitchFamily="49" charset="0"/>
              </a:rPr>
              <a:t> &gt; 3.0  else (1 if </a:t>
            </a:r>
            <a:r>
              <a:rPr lang="en-US" sz="1000" dirty="0" err="1">
                <a:latin typeface="Courier New" panose="02070309020205020404" pitchFamily="49" charset="0"/>
                <a:cs typeface="Courier New" panose="02070309020205020404" pitchFamily="49" charset="0"/>
              </a:rPr>
              <a:t>cr</a:t>
            </a:r>
            <a:r>
              <a:rPr lang="en-US" sz="1000" dirty="0">
                <a:latin typeface="Courier New" panose="02070309020205020404" pitchFamily="49" charset="0"/>
                <a:cs typeface="Courier New" panose="02070309020205020404" pitchFamily="49" charset="0"/>
              </a:rPr>
              <a:t>   &gt; 1.2 else 0)</a:t>
            </a:r>
          </a:p>
          <a:p>
            <a:r>
              <a:rPr lang="en-US" sz="1000" dirty="0">
                <a:latin typeface="Courier New" panose="02070309020205020404" pitchFamily="49" charset="0"/>
                <a:cs typeface="Courier New" panose="02070309020205020404" pitchFamily="49" charset="0"/>
              </a:rPr>
              <a:t>    return {4: "CRITICAL", 3: "HIGH", 2: "HIGH", 1: "MODERATE"}.get(score, "LOW")</a:t>
            </a:r>
          </a:p>
        </p:txBody>
      </p:sp>
    </p:spTree>
    <p:extLst>
      <p:ext uri="{BB962C8B-B14F-4D97-AF65-F5344CB8AC3E}">
        <p14:creationId xmlns:p14="http://schemas.microsoft.com/office/powerpoint/2010/main" val="3599920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D7699B5-5769-5EB0-4186-CC7E3135A85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63E12E-DA8C-32FB-02DC-1E7EA607A004}"/>
              </a:ext>
            </a:extLst>
          </p:cNvPr>
          <p:cNvSpPr/>
          <p:nvPr/>
        </p:nvSpPr>
        <p:spPr>
          <a:xfrm>
            <a:off x="1" y="0"/>
            <a:ext cx="1817913" cy="5143500"/>
          </a:xfrm>
          <a:prstGeom prst="rect">
            <a:avLst/>
          </a:prstGeom>
          <a:solidFill>
            <a:srgbClr val="0E2841"/>
          </a:solidFill>
          <a:ln w="12700">
            <a:solidFill>
              <a:srgbClr val="0E2841"/>
            </a:solidFill>
            <a:prstDash val="solid"/>
          </a:ln>
        </p:spPr>
        <p:txBody>
          <a:bodyPr/>
          <a:lstStyle/>
          <a:p>
            <a:endParaRPr lang="en-US"/>
          </a:p>
        </p:txBody>
      </p:sp>
      <p:sp>
        <p:nvSpPr>
          <p:cNvPr id="4" name="Text 2">
            <a:extLst>
              <a:ext uri="{FF2B5EF4-FFF2-40B4-BE49-F238E27FC236}">
                <a16:creationId xmlns:a16="http://schemas.microsoft.com/office/drawing/2014/main" id="{D0B7E27E-D084-0770-8EAB-FB11710B4CD1}"/>
              </a:ext>
            </a:extLst>
          </p:cNvPr>
          <p:cNvSpPr/>
          <p:nvPr/>
        </p:nvSpPr>
        <p:spPr>
          <a:xfrm>
            <a:off x="143582" y="1108710"/>
            <a:ext cx="1530749" cy="2926080"/>
          </a:xfrm>
          <a:prstGeom prst="rect">
            <a:avLst/>
          </a:prstGeom>
          <a:noFill/>
          <a:ln/>
        </p:spPr>
        <p:txBody>
          <a:bodyPr wrap="square" lIns="0" tIns="0" rIns="0" bIns="0" rtlCol="0" anchor="ctr"/>
          <a:lstStyle/>
          <a:p>
            <a:pPr marL="0" indent="0" algn="ctr">
              <a:buNone/>
            </a:pPr>
            <a:r>
              <a:rPr lang="en-US" sz="3000" dirty="0">
                <a:solidFill>
                  <a:srgbClr val="FFFFFF"/>
                </a:solidFill>
                <a:latin typeface="Aptos Display" pitchFamily="34" charset="0"/>
                <a:ea typeface="Aptos Display" pitchFamily="34" charset="-122"/>
                <a:cs typeface="Aptos Display" pitchFamily="34" charset="-120"/>
              </a:rPr>
              <a:t>Generate Patient Narrative</a:t>
            </a:r>
            <a:endParaRPr lang="en-US" sz="3000" dirty="0"/>
          </a:p>
        </p:txBody>
      </p:sp>
      <p:sp>
        <p:nvSpPr>
          <p:cNvPr id="5" name="Text 3">
            <a:extLst>
              <a:ext uri="{FF2B5EF4-FFF2-40B4-BE49-F238E27FC236}">
                <a16:creationId xmlns:a16="http://schemas.microsoft.com/office/drawing/2014/main" id="{C9817F14-831A-ECA2-C0FF-FDD2492D44A9}"/>
              </a:ext>
            </a:extLst>
          </p:cNvPr>
          <p:cNvSpPr/>
          <p:nvPr/>
        </p:nvSpPr>
        <p:spPr>
          <a:xfrm>
            <a:off x="1961494" y="34835"/>
            <a:ext cx="6783977" cy="337239"/>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Code</a:t>
            </a:r>
            <a:endParaRPr lang="en-US" sz="2000" dirty="0"/>
          </a:p>
        </p:txBody>
      </p:sp>
      <p:sp>
        <p:nvSpPr>
          <p:cNvPr id="8" name="Text 6">
            <a:extLst>
              <a:ext uri="{FF2B5EF4-FFF2-40B4-BE49-F238E27FC236}">
                <a16:creationId xmlns:a16="http://schemas.microsoft.com/office/drawing/2014/main" id="{046A40D7-8E20-B517-7467-E918D203D68C}"/>
              </a:ext>
            </a:extLst>
          </p:cNvPr>
          <p:cNvSpPr/>
          <p:nvPr/>
        </p:nvSpPr>
        <p:spPr>
          <a:xfrm>
            <a:off x="3623809" y="1389888"/>
            <a:ext cx="4541783" cy="2487168"/>
          </a:xfrm>
          <a:prstGeom prst="rect">
            <a:avLst/>
          </a:prstGeom>
          <a:noFill/>
          <a:ln/>
        </p:spPr>
        <p:txBody>
          <a:bodyPr wrap="square" rtlCol="0" anchor="t"/>
          <a:lstStyle/>
          <a:p>
            <a:pPr marL="0" indent="0" algn="l">
              <a:buNone/>
            </a:pPr>
            <a:endParaRPr lang="en-US" sz="950" dirty="0"/>
          </a:p>
        </p:txBody>
      </p:sp>
      <p:sp>
        <p:nvSpPr>
          <p:cNvPr id="3" name="TextBox 2">
            <a:extLst>
              <a:ext uri="{FF2B5EF4-FFF2-40B4-BE49-F238E27FC236}">
                <a16:creationId xmlns:a16="http://schemas.microsoft.com/office/drawing/2014/main" id="{DF90ACE8-22E6-878D-3CA5-E245E429244C}"/>
              </a:ext>
            </a:extLst>
          </p:cNvPr>
          <p:cNvSpPr txBox="1"/>
          <p:nvPr/>
        </p:nvSpPr>
        <p:spPr>
          <a:xfrm>
            <a:off x="1961494" y="372074"/>
            <a:ext cx="6999625" cy="4708981"/>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def </a:t>
            </a:r>
            <a:r>
              <a:rPr lang="en-US" sz="1000" dirty="0" err="1">
                <a:latin typeface="Courier New" panose="02070309020205020404" pitchFamily="49" charset="0"/>
                <a:cs typeface="Courier New" panose="02070309020205020404" pitchFamily="49" charset="0"/>
              </a:rPr>
              <a:t>patient_to_narrative</a:t>
            </a:r>
            <a:r>
              <a:rPr lang="en-US" sz="1000" dirty="0">
                <a:latin typeface="Courier New" panose="02070309020205020404" pitchFamily="49" charset="0"/>
                <a:cs typeface="Courier New" panose="02070309020205020404" pitchFamily="49" charset="0"/>
              </a:rPr>
              <a:t>(row: </a:t>
            </a:r>
            <a:r>
              <a:rPr lang="en-US" sz="1000" dirty="0" err="1">
                <a:latin typeface="Courier New" panose="02070309020205020404" pitchFamily="49" charset="0"/>
                <a:cs typeface="Courier New" panose="02070309020205020404" pitchFamily="49" charset="0"/>
              </a:rPr>
              <a:t>dict</a:t>
            </a:r>
            <a:r>
              <a:rPr lang="en-US" sz="1000" dirty="0">
                <a:latin typeface="Courier New" panose="02070309020205020404" pitchFamily="49" charset="0"/>
                <a:cs typeface="Courier New" panose="02070309020205020404" pitchFamily="49" charset="0"/>
              </a:rPr>
              <a:t>) -&gt; str:</a:t>
            </a:r>
          </a:p>
          <a:p>
            <a:r>
              <a:rPr lang="en-US" sz="1000" dirty="0">
                <a:latin typeface="Courier New" panose="02070309020205020404" pitchFamily="49" charset="0"/>
                <a:cs typeface="Courier New" panose="02070309020205020404" pitchFamily="49" charset="0"/>
              </a:rPr>
              <a:t>    """</a:t>
            </a:r>
          </a:p>
          <a:p>
            <a:r>
              <a:rPr lang="en-US" sz="1000" dirty="0">
                <a:latin typeface="Courier New" panose="02070309020205020404" pitchFamily="49" charset="0"/>
                <a:cs typeface="Courier New" panose="02070309020205020404" pitchFamily="49" charset="0"/>
              </a:rPr>
              <a:t>    Convert one patient record </a:t>
            </a:r>
            <a:r>
              <a:rPr lang="en-US" sz="1000" dirty="0" err="1">
                <a:latin typeface="Courier New" panose="02070309020205020404" pitchFamily="49" charset="0"/>
                <a:cs typeface="Courier New" panose="02070309020205020404" pitchFamily="49" charset="0"/>
              </a:rPr>
              <a:t>dict</a:t>
            </a:r>
            <a:r>
              <a:rPr lang="en-US" sz="1000" dirty="0">
                <a:latin typeface="Courier New" panose="02070309020205020404" pitchFamily="49" charset="0"/>
                <a:cs typeface="Courier New" panose="02070309020205020404" pitchFamily="49" charset="0"/>
              </a:rPr>
              <a:t> into a clinical text narrative.</a:t>
            </a:r>
          </a:p>
          <a:p>
            <a:r>
              <a:rPr lang="en-US" sz="1000" dirty="0">
                <a:latin typeface="Courier New" panose="02070309020205020404" pitchFamily="49" charset="0"/>
                <a:cs typeface="Courier New" panose="02070309020205020404" pitchFamily="49" charset="0"/>
              </a:rPr>
              <a:t>    The narrative format is designed to resemble a clinical handoff note,</a:t>
            </a:r>
          </a:p>
          <a:p>
            <a:r>
              <a:rPr lang="en-US" sz="1000" dirty="0">
                <a:latin typeface="Courier New" panose="02070309020205020404" pitchFamily="49" charset="0"/>
                <a:cs typeface="Courier New" panose="02070309020205020404" pitchFamily="49" charset="0"/>
              </a:rPr>
              <a:t>    which aligns with GPT-4o's training data and improves prediction quality.</a:t>
            </a:r>
          </a:p>
          <a:p>
            <a:r>
              <a:rPr lang="en-US" sz="1000" dirty="0">
                <a:latin typeface="Courier New" panose="02070309020205020404" pitchFamily="49" charset="0"/>
                <a:cs typeface="Courier New" panose="02070309020205020404" pitchFamily="49" charset="0"/>
              </a:rPr>
              <a:t>    """</a:t>
            </a:r>
          </a:p>
          <a:p>
            <a:r>
              <a:rPr lang="en-US" sz="1000" dirty="0">
                <a:latin typeface="Courier New" panose="02070309020205020404" pitchFamily="49" charset="0"/>
                <a:cs typeface="Courier New" panose="02070309020205020404" pitchFamily="49" charset="0"/>
              </a:rPr>
              <a:t>    severity = </a:t>
            </a:r>
            <a:r>
              <a:rPr lang="en-US" sz="1000" dirty="0" err="1">
                <a:latin typeface="Courier New" panose="02070309020205020404" pitchFamily="49" charset="0"/>
                <a:cs typeface="Courier New" panose="02070309020205020404" pitchFamily="49" charset="0"/>
              </a:rPr>
              <a:t>sofa_proxy</a:t>
            </a:r>
            <a:r>
              <a:rPr lang="en-US" sz="1000" dirty="0">
                <a:latin typeface="Courier New" panose="02070309020205020404" pitchFamily="49" charset="0"/>
                <a:cs typeface="Courier New" panose="02070309020205020404" pitchFamily="49" charset="0"/>
              </a:rPr>
              <a:t>(row)</a:t>
            </a:r>
          </a:p>
          <a:p>
            <a:r>
              <a:rPr lang="en-US" sz="1000" dirty="0">
                <a:latin typeface="Courier New" panose="02070309020205020404" pitchFamily="49" charset="0"/>
                <a:cs typeface="Courier New" panose="02070309020205020404" pitchFamily="49" charset="0"/>
              </a:rPr>
              <a:t>    return </a:t>
            </a:r>
            <a:r>
              <a:rPr lang="en-US" sz="1000" dirty="0" err="1">
                <a:latin typeface="Courier New" panose="02070309020205020404" pitchFamily="49" charset="0"/>
                <a:cs typeface="Courier New" panose="02070309020205020404" pitchFamily="49" charset="0"/>
              </a:rPr>
              <a:t>f"""PATIENT</a:t>
            </a:r>
            <a:r>
              <a:rPr lang="en-US" sz="1000" dirty="0">
                <a:latin typeface="Courier New" panose="02070309020205020404" pitchFamily="49" charset="0"/>
                <a:cs typeface="Courier New" panose="02070309020205020404" pitchFamily="49" charset="0"/>
              </a:rPr>
              <a:t> PROFILE — ID: {row['</a:t>
            </a:r>
            <a:r>
              <a:rPr lang="en-US" sz="1000" dirty="0" err="1">
                <a:latin typeface="Courier New" panose="02070309020205020404" pitchFamily="49" charset="0"/>
                <a:cs typeface="Courier New" panose="02070309020205020404" pitchFamily="49" charset="0"/>
              </a:rPr>
              <a:t>subject_id</a:t>
            </a:r>
            <a:r>
              <a:rPr lang="en-US" sz="1000" dirty="0">
                <a:latin typeface="Courier New" panose="02070309020205020404" pitchFamily="49" charset="0"/>
                <a:cs typeface="Courier New" panose="02070309020205020404" pitchFamily="49" charset="0"/>
              </a:rPr>
              <a:t>']}</a:t>
            </a:r>
          </a:p>
          <a:p>
            <a:r>
              <a:rPr lang="en-US" sz="1000" dirty="0">
                <a:latin typeface="Courier New" panose="02070309020205020404" pitchFamily="49" charset="0"/>
                <a:cs typeface="Courier New" panose="02070309020205020404" pitchFamily="49" charset="0"/>
              </a:rPr>
              <a:t>Demographics  : Age {row['age']}, {row['gender']}</a:t>
            </a:r>
          </a:p>
          <a:p>
            <a:r>
              <a:rPr lang="en-US" sz="1000" dirty="0">
                <a:latin typeface="Courier New" panose="02070309020205020404" pitchFamily="49" charset="0"/>
                <a:cs typeface="Courier New" panose="02070309020205020404" pitchFamily="49" charset="0"/>
              </a:rPr>
              <a:t>Admission Dx  : {row['diagnosis']}</a:t>
            </a:r>
          </a:p>
          <a:p>
            <a:r>
              <a:rPr lang="en-US" sz="1000" dirty="0">
                <a:latin typeface="Courier New" panose="02070309020205020404" pitchFamily="49" charset="0"/>
                <a:cs typeface="Courier New" panose="02070309020205020404" pitchFamily="49" charset="0"/>
              </a:rPr>
              <a:t>Severity Level: {severity}  ← SOFA-proxy assessment</a:t>
            </a: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Vital Signs (normal ranges in brackets):</a:t>
            </a:r>
          </a:p>
          <a:p>
            <a:r>
              <a:rPr lang="en-US" sz="1000" dirty="0">
                <a:latin typeface="Courier New" panose="02070309020205020404" pitchFamily="49" charset="0"/>
                <a:cs typeface="Courier New" panose="02070309020205020404" pitchFamily="49" charset="0"/>
              </a:rPr>
              <a:t>  Heart rate        : {flag(row['</a:t>
            </a:r>
            <a:r>
              <a:rPr lang="en-US" sz="1000" dirty="0" err="1">
                <a:latin typeface="Courier New" panose="02070309020205020404" pitchFamily="49" charset="0"/>
                <a:cs typeface="Courier New" panose="02070309020205020404" pitchFamily="49" charset="0"/>
              </a:rPr>
              <a:t>hr</a:t>
            </a:r>
            <a:r>
              <a:rPr lang="en-US" sz="1000" dirty="0">
                <a:latin typeface="Courier New" panose="02070309020205020404" pitchFamily="49" charset="0"/>
                <a:cs typeface="Courier New" panose="02070309020205020404" pitchFamily="49" charset="0"/>
              </a:rPr>
              <a:t>'],        60,  100, ' bpm')}    [60–100]</a:t>
            </a:r>
          </a:p>
          <a:p>
            <a:r>
              <a:rPr lang="en-US" sz="1000" dirty="0">
                <a:latin typeface="Courier New" panose="02070309020205020404" pitchFamily="49" charset="0"/>
                <a:cs typeface="Courier New" panose="02070309020205020404" pitchFamily="49" charset="0"/>
              </a:rPr>
              <a:t>  Blood pressure    : {flag(row['</a:t>
            </a:r>
            <a:r>
              <a:rPr lang="en-US" sz="1000" dirty="0" err="1">
                <a:latin typeface="Courier New" panose="02070309020205020404" pitchFamily="49" charset="0"/>
                <a:cs typeface="Courier New" panose="02070309020205020404" pitchFamily="49" charset="0"/>
              </a:rPr>
              <a:t>sbp</a:t>
            </a:r>
            <a:r>
              <a:rPr lang="en-US" sz="1000" dirty="0">
                <a:latin typeface="Courier New" panose="02070309020205020404" pitchFamily="49" charset="0"/>
                <a:cs typeface="Courier New" panose="02070309020205020404" pitchFamily="49" charset="0"/>
              </a:rPr>
              <a:t>'],        90,  140, '')} / {flag(row['</a:t>
            </a:r>
            <a:r>
              <a:rPr lang="en-US" sz="1000" dirty="0" err="1">
                <a:latin typeface="Courier New" panose="02070309020205020404" pitchFamily="49" charset="0"/>
                <a:cs typeface="Courier New" panose="02070309020205020404" pitchFamily="49" charset="0"/>
              </a:rPr>
              <a:t>dbp</a:t>
            </a:r>
            <a:r>
              <a:rPr lang="en-US" sz="1000" dirty="0">
                <a:latin typeface="Courier New" panose="02070309020205020404" pitchFamily="49" charset="0"/>
                <a:cs typeface="Courier New" panose="02070309020205020404" pitchFamily="49" charset="0"/>
              </a:rPr>
              <a:t>'], 60, 90, ' mmHg')}    [90–140 / 60–90]</a:t>
            </a:r>
          </a:p>
          <a:p>
            <a:r>
              <a:rPr lang="en-US" sz="1000" dirty="0">
                <a:latin typeface="Courier New" panose="02070309020205020404" pitchFamily="49" charset="0"/>
                <a:cs typeface="Courier New" panose="02070309020205020404" pitchFamily="49" charset="0"/>
              </a:rPr>
              <a:t>  Temperature       : {flag(row['temp'],       36,  38,  ' °C')}    [36.0–38.0]</a:t>
            </a:r>
          </a:p>
          <a:p>
            <a:r>
              <a:rPr lang="en-US" sz="1000" dirty="0">
                <a:latin typeface="Courier New" panose="02070309020205020404" pitchFamily="49" charset="0"/>
                <a:cs typeface="Courier New" panose="02070309020205020404" pitchFamily="49" charset="0"/>
              </a:rPr>
              <a:t>  SpO2              : {flag(row['spo2'],        94,  100, '%')}    [94–100]</a:t>
            </a:r>
          </a:p>
          <a:p>
            <a:r>
              <a:rPr lang="en-US" sz="1000" dirty="0">
                <a:latin typeface="Courier New" panose="02070309020205020404" pitchFamily="49" charset="0"/>
                <a:cs typeface="Courier New" panose="02070309020205020404" pitchFamily="49" charset="0"/>
              </a:rPr>
              <a:t>  Respiratory rate  : {flag(row['</a:t>
            </a:r>
            <a:r>
              <a:rPr lang="en-US" sz="1000" dirty="0" err="1">
                <a:latin typeface="Courier New" panose="02070309020205020404" pitchFamily="49" charset="0"/>
                <a:cs typeface="Courier New" panose="02070309020205020404" pitchFamily="49" charset="0"/>
              </a:rPr>
              <a:t>resp_rate</a:t>
            </a:r>
            <a:r>
              <a:rPr lang="en-US" sz="1000" dirty="0">
                <a:latin typeface="Courier New" panose="02070309020205020404" pitchFamily="49" charset="0"/>
                <a:cs typeface="Courier New" panose="02070309020205020404" pitchFamily="49" charset="0"/>
              </a:rPr>
              <a:t>'],  12,  20,  ' breaths/min')}    [12–20]</a:t>
            </a: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Laboratory Results (normal ranges in brackets):</a:t>
            </a:r>
          </a:p>
          <a:p>
            <a:r>
              <a:rPr lang="en-US" sz="1000" dirty="0">
                <a:latin typeface="Courier New" panose="02070309020205020404" pitchFamily="49" charset="0"/>
                <a:cs typeface="Courier New" panose="02070309020205020404" pitchFamily="49" charset="0"/>
              </a:rPr>
              <a:t>  Glucose           : {flag(row['glucose'],    70,  110, ' mg/dL')}    [70–110]</a:t>
            </a:r>
          </a:p>
          <a:p>
            <a:r>
              <a:rPr lang="en-US" sz="1000" dirty="0">
                <a:latin typeface="Courier New" panose="02070309020205020404" pitchFamily="49" charset="0"/>
                <a:cs typeface="Courier New" panose="02070309020205020404" pitchFamily="49" charset="0"/>
              </a:rPr>
              <a:t>  Creatinine        : {flag(row['creatinine'], 0.6, 1.2, ' mg/dL')}    [0.6–1.2]</a:t>
            </a:r>
          </a:p>
          <a:p>
            <a:r>
              <a:rPr lang="en-US" sz="1000" dirty="0">
                <a:latin typeface="Courier New" panose="02070309020205020404" pitchFamily="49" charset="0"/>
                <a:cs typeface="Courier New" panose="02070309020205020404" pitchFamily="49" charset="0"/>
              </a:rPr>
              <a:t>  WBC count         : {flag(row['</a:t>
            </a:r>
            <a:r>
              <a:rPr lang="en-US" sz="1000" dirty="0" err="1">
                <a:latin typeface="Courier New" panose="02070309020205020404" pitchFamily="49" charset="0"/>
                <a:cs typeface="Courier New" panose="02070309020205020404" pitchFamily="49" charset="0"/>
              </a:rPr>
              <a:t>wbc</a:t>
            </a:r>
            <a:r>
              <a:rPr lang="en-US" sz="1000" dirty="0">
                <a:latin typeface="Courier New" panose="02070309020205020404" pitchFamily="49" charset="0"/>
                <a:cs typeface="Courier New" panose="02070309020205020404" pitchFamily="49" charset="0"/>
              </a:rPr>
              <a:t>'],        4.5, 11,  ' ×10³/</a:t>
            </a:r>
            <a:r>
              <a:rPr lang="el-GR" sz="1000" dirty="0">
                <a:latin typeface="Courier New" panose="02070309020205020404" pitchFamily="49" charset="0"/>
                <a:cs typeface="Courier New" panose="02070309020205020404" pitchFamily="49" charset="0"/>
              </a:rPr>
              <a:t>μ</a:t>
            </a:r>
            <a:r>
              <a:rPr lang="en-US" sz="1000" dirty="0">
                <a:latin typeface="Courier New" panose="02070309020205020404" pitchFamily="49" charset="0"/>
                <a:cs typeface="Courier New" panose="02070309020205020404" pitchFamily="49" charset="0"/>
              </a:rPr>
              <a:t>L')}    [4.5–11.0]</a:t>
            </a:r>
          </a:p>
          <a:p>
            <a:r>
              <a:rPr lang="en-US" sz="1000" dirty="0">
                <a:latin typeface="Courier New" panose="02070309020205020404" pitchFamily="49" charset="0"/>
                <a:cs typeface="Courier New" panose="02070309020205020404" pitchFamily="49" charset="0"/>
              </a:rPr>
              <a:t>  Sodium            : {flag(row['sodium'],     136, 145, ' </a:t>
            </a:r>
            <a:r>
              <a:rPr lang="en-US" sz="1000" dirty="0" err="1">
                <a:latin typeface="Courier New" panose="02070309020205020404" pitchFamily="49" charset="0"/>
                <a:cs typeface="Courier New" panose="02070309020205020404" pitchFamily="49" charset="0"/>
              </a:rPr>
              <a:t>mEq</a:t>
            </a:r>
            <a:r>
              <a:rPr lang="en-US" sz="1000" dirty="0">
                <a:latin typeface="Courier New" panose="02070309020205020404" pitchFamily="49" charset="0"/>
                <a:cs typeface="Courier New" panose="02070309020205020404" pitchFamily="49" charset="0"/>
              </a:rPr>
              <a:t>/L')}    [136–145]</a:t>
            </a: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Current Medications: {row['medications']}"""</a:t>
            </a:r>
          </a:p>
          <a:p>
            <a:r>
              <a:rPr lang="en-US" sz="1000" dirty="0">
                <a:latin typeface="Courier New" panose="02070309020205020404" pitchFamily="49" charset="0"/>
                <a:cs typeface="Courier New" panose="02070309020205020404" pitchFamily="49" charset="0"/>
              </a:rPr>
              <a:t># ── Regenerate all narratives ─────────────────────────────────────────</a:t>
            </a:r>
          </a:p>
          <a:p>
            <a:r>
              <a:rPr lang="en-US" sz="1000" dirty="0" err="1">
                <a:latin typeface="Courier New" panose="02070309020205020404" pitchFamily="49" charset="0"/>
                <a:cs typeface="Courier New" panose="02070309020205020404" pitchFamily="49" charset="0"/>
              </a:rPr>
              <a:t>df</a:t>
            </a:r>
            <a:r>
              <a:rPr lang="en-US" sz="1000" dirty="0">
                <a:latin typeface="Courier New" panose="02070309020205020404" pitchFamily="49" charset="0"/>
                <a:cs typeface="Courier New" panose="02070309020205020404" pitchFamily="49" charset="0"/>
              </a:rPr>
              <a:t>['narrative'] = </a:t>
            </a:r>
            <a:r>
              <a:rPr lang="en-US" sz="1000" dirty="0" err="1">
                <a:latin typeface="Courier New" panose="02070309020205020404" pitchFamily="49" charset="0"/>
                <a:cs typeface="Courier New" panose="02070309020205020404" pitchFamily="49" charset="0"/>
              </a:rPr>
              <a:t>df.apply</a:t>
            </a:r>
            <a:r>
              <a:rPr lang="en-US" sz="1000" dirty="0">
                <a:latin typeface="Courier New" panose="02070309020205020404" pitchFamily="49" charset="0"/>
                <a:cs typeface="Courier New" panose="02070309020205020404" pitchFamily="49" charset="0"/>
              </a:rPr>
              <a:t>(lambda r: </a:t>
            </a:r>
            <a:r>
              <a:rPr lang="en-US" sz="1000" dirty="0" err="1">
                <a:latin typeface="Courier New" panose="02070309020205020404" pitchFamily="49" charset="0"/>
                <a:cs typeface="Courier New" panose="02070309020205020404" pitchFamily="49" charset="0"/>
              </a:rPr>
              <a:t>patient_to_narrative</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r.to_dict</a:t>
            </a:r>
            <a:r>
              <a:rPr lang="en-US" sz="1000" dirty="0">
                <a:latin typeface="Courier New" panose="02070309020205020404" pitchFamily="49" charset="0"/>
                <a:cs typeface="Courier New" panose="02070309020205020404" pitchFamily="49" charset="0"/>
              </a:rPr>
              <a:t>()), axis=1)</a:t>
            </a:r>
          </a:p>
        </p:txBody>
      </p:sp>
    </p:spTree>
    <p:extLst>
      <p:ext uri="{BB962C8B-B14F-4D97-AF65-F5344CB8AC3E}">
        <p14:creationId xmlns:p14="http://schemas.microsoft.com/office/powerpoint/2010/main" val="399372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67986"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2880360"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Prompt</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Engineering</a:t>
            </a:r>
            <a:endParaRPr lang="en-US" sz="4000" dirty="0"/>
          </a:p>
        </p:txBody>
      </p:sp>
      <p:sp>
        <p:nvSpPr>
          <p:cNvPr id="5" name="Text 3"/>
          <p:cNvSpPr/>
          <p:nvPr/>
        </p:nvSpPr>
        <p:spPr>
          <a:xfrm>
            <a:off x="3570136" y="228600"/>
            <a:ext cx="5390984" cy="457200"/>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7 Prompting Strategies</a:t>
            </a:r>
            <a:endParaRPr lang="en-US" sz="2000" dirty="0"/>
          </a:p>
        </p:txBody>
      </p:sp>
      <p:sp>
        <p:nvSpPr>
          <p:cNvPr id="6" name="Text 4"/>
          <p:cNvSpPr/>
          <p:nvPr/>
        </p:nvSpPr>
        <p:spPr>
          <a:xfrm>
            <a:off x="3681454" y="685800"/>
            <a:ext cx="438912" cy="475488"/>
          </a:xfrm>
          <a:prstGeom prst="rect">
            <a:avLst/>
          </a:prstGeom>
          <a:noFill/>
          <a:ln/>
        </p:spPr>
        <p:txBody>
          <a:bodyPr wrap="square" lIns="0" tIns="0" rIns="0" bIns="0" rtlCol="0" anchor="ctr"/>
          <a:lstStyle/>
          <a:p>
            <a:pPr marL="0" indent="0" algn="l">
              <a:buNone/>
            </a:pPr>
            <a:r>
              <a:rPr lang="en-US" sz="2000" b="1" dirty="0">
                <a:solidFill>
                  <a:srgbClr val="111111"/>
                </a:solidFill>
                <a:latin typeface="Aptos Display" pitchFamily="34" charset="0"/>
                <a:ea typeface="Aptos Display" pitchFamily="34" charset="-122"/>
                <a:cs typeface="Aptos Display" pitchFamily="34" charset="-120"/>
              </a:rPr>
              <a:t>01</a:t>
            </a:r>
            <a:endParaRPr lang="en-US" sz="2000" dirty="0"/>
          </a:p>
        </p:txBody>
      </p:sp>
      <p:sp>
        <p:nvSpPr>
          <p:cNvPr id="7" name="Text 5"/>
          <p:cNvSpPr/>
          <p:nvPr/>
        </p:nvSpPr>
        <p:spPr>
          <a:xfrm>
            <a:off x="4120366" y="685800"/>
            <a:ext cx="4114800" cy="256032"/>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Zero-shot (GPT-4o)</a:t>
            </a:r>
            <a:endParaRPr lang="en-US" sz="1300" dirty="0"/>
          </a:p>
        </p:txBody>
      </p:sp>
      <p:sp>
        <p:nvSpPr>
          <p:cNvPr id="8" name="Text 6"/>
          <p:cNvSpPr/>
          <p:nvPr/>
        </p:nvSpPr>
        <p:spPr>
          <a:xfrm>
            <a:off x="4120366" y="923544"/>
            <a:ext cx="4114800" cy="256032"/>
          </a:xfrm>
          <a:prstGeom prst="rect">
            <a:avLst/>
          </a:prstGeom>
          <a:noFill/>
          <a:ln/>
        </p:spPr>
        <p:txBody>
          <a:bodyPr wrap="square" rtlCol="0" anchor="ctr"/>
          <a:lstStyle/>
          <a:p>
            <a:pPr marL="0" indent="0">
              <a:buNone/>
            </a:pPr>
            <a:r>
              <a:rPr lang="en-US" sz="1200" dirty="0">
                <a:solidFill>
                  <a:srgbClr val="4A4A4A"/>
                </a:solidFill>
                <a:latin typeface="Aptos" pitchFamily="34" charset="0"/>
                <a:ea typeface="Aptos" pitchFamily="34" charset="-122"/>
                <a:cs typeface="Aptos" pitchFamily="34" charset="-120"/>
              </a:rPr>
              <a:t>Direct prediction from narrative — no examples provided</a:t>
            </a:r>
            <a:endParaRPr lang="en-US" sz="1200" dirty="0"/>
          </a:p>
        </p:txBody>
      </p:sp>
      <p:sp>
        <p:nvSpPr>
          <p:cNvPr id="9" name="Shape 7"/>
          <p:cNvSpPr/>
          <p:nvPr/>
        </p:nvSpPr>
        <p:spPr>
          <a:xfrm>
            <a:off x="4279392" y="1286521"/>
            <a:ext cx="4663440" cy="0"/>
          </a:xfrm>
          <a:prstGeom prst="line">
            <a:avLst/>
          </a:prstGeom>
          <a:noFill/>
          <a:ln w="9525">
            <a:solidFill>
              <a:srgbClr val="CCCCCC"/>
            </a:solidFill>
            <a:prstDash val="solid"/>
          </a:ln>
        </p:spPr>
        <p:txBody>
          <a:bodyPr/>
          <a:lstStyle/>
          <a:p>
            <a:endParaRPr lang="en-US"/>
          </a:p>
        </p:txBody>
      </p:sp>
      <p:sp>
        <p:nvSpPr>
          <p:cNvPr id="10" name="Text 8"/>
          <p:cNvSpPr/>
          <p:nvPr/>
        </p:nvSpPr>
        <p:spPr>
          <a:xfrm>
            <a:off x="3681454" y="1298448"/>
            <a:ext cx="438912" cy="475488"/>
          </a:xfrm>
          <a:prstGeom prst="rect">
            <a:avLst/>
          </a:prstGeom>
          <a:noFill/>
          <a:ln/>
        </p:spPr>
        <p:txBody>
          <a:bodyPr wrap="square" lIns="0" tIns="0" rIns="0" bIns="0" rtlCol="0" anchor="ctr"/>
          <a:lstStyle/>
          <a:p>
            <a:pPr marL="0" indent="0" algn="l">
              <a:buNone/>
            </a:pPr>
            <a:r>
              <a:rPr lang="en-US" sz="2000" b="1" dirty="0">
                <a:solidFill>
                  <a:srgbClr val="111111"/>
                </a:solidFill>
                <a:latin typeface="Aptos Display" pitchFamily="34" charset="0"/>
                <a:ea typeface="Aptos Display" pitchFamily="34" charset="-122"/>
                <a:cs typeface="Aptos Display" pitchFamily="34" charset="-120"/>
              </a:rPr>
              <a:t>02</a:t>
            </a:r>
            <a:endParaRPr lang="en-US" sz="2000" dirty="0"/>
          </a:p>
        </p:txBody>
      </p:sp>
      <p:sp>
        <p:nvSpPr>
          <p:cNvPr id="11" name="Text 9"/>
          <p:cNvSpPr/>
          <p:nvPr/>
        </p:nvSpPr>
        <p:spPr>
          <a:xfrm>
            <a:off x="4120366" y="1298448"/>
            <a:ext cx="4114800" cy="256032"/>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1-shot ICL (GPT-4o)</a:t>
            </a:r>
            <a:endParaRPr lang="en-US" sz="1300" dirty="0"/>
          </a:p>
        </p:txBody>
      </p:sp>
      <p:sp>
        <p:nvSpPr>
          <p:cNvPr id="12" name="Text 10"/>
          <p:cNvSpPr/>
          <p:nvPr/>
        </p:nvSpPr>
        <p:spPr>
          <a:xfrm>
            <a:off x="4120366" y="1536192"/>
            <a:ext cx="4406612" cy="256032"/>
          </a:xfrm>
          <a:prstGeom prst="rect">
            <a:avLst/>
          </a:prstGeom>
          <a:noFill/>
          <a:ln/>
        </p:spPr>
        <p:txBody>
          <a:bodyPr wrap="square" rtlCol="0" anchor="ctr"/>
          <a:lstStyle/>
          <a:p>
            <a:pPr marL="0" indent="0">
              <a:buNone/>
            </a:pPr>
            <a:r>
              <a:rPr lang="en-US" sz="1200" dirty="0">
                <a:solidFill>
                  <a:srgbClr val="4A4A4A"/>
                </a:solidFill>
                <a:latin typeface="Aptos" pitchFamily="34" charset="0"/>
                <a:ea typeface="Aptos" pitchFamily="34" charset="-122"/>
                <a:cs typeface="Aptos" pitchFamily="34" charset="-120"/>
              </a:rPr>
              <a:t>One real MIMIC-III example: bowel perforation, high-risk patient</a:t>
            </a:r>
            <a:endParaRPr lang="en-US" sz="1200" dirty="0"/>
          </a:p>
        </p:txBody>
      </p:sp>
      <p:sp>
        <p:nvSpPr>
          <p:cNvPr id="13" name="Shape 11"/>
          <p:cNvSpPr/>
          <p:nvPr/>
        </p:nvSpPr>
        <p:spPr>
          <a:xfrm>
            <a:off x="4279392" y="1899169"/>
            <a:ext cx="4663440" cy="0"/>
          </a:xfrm>
          <a:prstGeom prst="line">
            <a:avLst/>
          </a:prstGeom>
          <a:noFill/>
          <a:ln w="9525">
            <a:solidFill>
              <a:srgbClr val="CCCCCC"/>
            </a:solidFill>
            <a:prstDash val="solid"/>
          </a:ln>
        </p:spPr>
        <p:txBody>
          <a:bodyPr/>
          <a:lstStyle/>
          <a:p>
            <a:endParaRPr lang="en-US"/>
          </a:p>
        </p:txBody>
      </p:sp>
      <p:sp>
        <p:nvSpPr>
          <p:cNvPr id="14" name="Text 12"/>
          <p:cNvSpPr/>
          <p:nvPr/>
        </p:nvSpPr>
        <p:spPr>
          <a:xfrm>
            <a:off x="3681454" y="1911096"/>
            <a:ext cx="438912" cy="475488"/>
          </a:xfrm>
          <a:prstGeom prst="rect">
            <a:avLst/>
          </a:prstGeom>
          <a:noFill/>
          <a:ln/>
        </p:spPr>
        <p:txBody>
          <a:bodyPr wrap="square" lIns="0" tIns="0" rIns="0" bIns="0" rtlCol="0" anchor="ctr"/>
          <a:lstStyle/>
          <a:p>
            <a:pPr marL="0" indent="0" algn="l">
              <a:buNone/>
            </a:pPr>
            <a:r>
              <a:rPr lang="en-US" sz="2000" b="1" dirty="0">
                <a:solidFill>
                  <a:srgbClr val="111111"/>
                </a:solidFill>
                <a:latin typeface="Aptos Display" pitchFamily="34" charset="0"/>
                <a:ea typeface="Aptos Display" pitchFamily="34" charset="-122"/>
                <a:cs typeface="Aptos Display" pitchFamily="34" charset="-120"/>
              </a:rPr>
              <a:t>03</a:t>
            </a:r>
            <a:endParaRPr lang="en-US" sz="2000" dirty="0"/>
          </a:p>
        </p:txBody>
      </p:sp>
      <p:sp>
        <p:nvSpPr>
          <p:cNvPr id="15" name="Text 13"/>
          <p:cNvSpPr/>
          <p:nvPr/>
        </p:nvSpPr>
        <p:spPr>
          <a:xfrm>
            <a:off x="4120366" y="1911096"/>
            <a:ext cx="4114800" cy="256032"/>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3-shot ICL (GPT-4o)</a:t>
            </a:r>
            <a:endParaRPr lang="en-US" sz="1300" dirty="0"/>
          </a:p>
        </p:txBody>
      </p:sp>
      <p:sp>
        <p:nvSpPr>
          <p:cNvPr id="16" name="Text 14"/>
          <p:cNvSpPr/>
          <p:nvPr/>
        </p:nvSpPr>
        <p:spPr>
          <a:xfrm>
            <a:off x="4120365" y="2148840"/>
            <a:ext cx="4795035" cy="256032"/>
          </a:xfrm>
          <a:prstGeom prst="rect">
            <a:avLst/>
          </a:prstGeom>
          <a:noFill/>
          <a:ln/>
        </p:spPr>
        <p:txBody>
          <a:bodyPr wrap="square" rtlCol="0" anchor="ctr"/>
          <a:lstStyle/>
          <a:p>
            <a:pPr marL="0" indent="0">
              <a:buNone/>
            </a:pPr>
            <a:r>
              <a:rPr lang="en-US" sz="1200" dirty="0">
                <a:solidFill>
                  <a:srgbClr val="4A4A4A"/>
                </a:solidFill>
                <a:latin typeface="Aptos" pitchFamily="34" charset="0"/>
                <a:ea typeface="Aptos" pitchFamily="34" charset="-122"/>
                <a:cs typeface="Aptos" pitchFamily="34" charset="-120"/>
              </a:rPr>
              <a:t>Three contrasting examples: DIED/LONG, SURV/SHORT, SURV/LONG</a:t>
            </a:r>
            <a:endParaRPr lang="en-US" sz="1200" dirty="0"/>
          </a:p>
        </p:txBody>
      </p:sp>
      <p:sp>
        <p:nvSpPr>
          <p:cNvPr id="17" name="Shape 15"/>
          <p:cNvSpPr/>
          <p:nvPr/>
        </p:nvSpPr>
        <p:spPr>
          <a:xfrm>
            <a:off x="4279392" y="2511817"/>
            <a:ext cx="4663440" cy="0"/>
          </a:xfrm>
          <a:prstGeom prst="line">
            <a:avLst/>
          </a:prstGeom>
          <a:noFill/>
          <a:ln w="9525">
            <a:solidFill>
              <a:srgbClr val="CCCCCC"/>
            </a:solidFill>
            <a:prstDash val="solid"/>
          </a:ln>
        </p:spPr>
        <p:txBody>
          <a:bodyPr/>
          <a:lstStyle/>
          <a:p>
            <a:endParaRPr lang="en-US"/>
          </a:p>
        </p:txBody>
      </p:sp>
      <p:sp>
        <p:nvSpPr>
          <p:cNvPr id="18" name="Text 16"/>
          <p:cNvSpPr/>
          <p:nvPr/>
        </p:nvSpPr>
        <p:spPr>
          <a:xfrm>
            <a:off x="3681454" y="2523744"/>
            <a:ext cx="438912" cy="475488"/>
          </a:xfrm>
          <a:prstGeom prst="rect">
            <a:avLst/>
          </a:prstGeom>
          <a:noFill/>
          <a:ln/>
        </p:spPr>
        <p:txBody>
          <a:bodyPr wrap="square" lIns="0" tIns="0" rIns="0" bIns="0" rtlCol="0" anchor="ctr"/>
          <a:lstStyle/>
          <a:p>
            <a:pPr marL="0" indent="0" algn="l">
              <a:buNone/>
            </a:pPr>
            <a:r>
              <a:rPr lang="en-US" sz="2000" b="1" dirty="0">
                <a:solidFill>
                  <a:srgbClr val="111111"/>
                </a:solidFill>
                <a:latin typeface="Aptos Display" pitchFamily="34" charset="0"/>
                <a:ea typeface="Aptos Display" pitchFamily="34" charset="-122"/>
                <a:cs typeface="Aptos Display" pitchFamily="34" charset="-120"/>
              </a:rPr>
              <a:t>04</a:t>
            </a:r>
            <a:endParaRPr lang="en-US" sz="2000" dirty="0"/>
          </a:p>
        </p:txBody>
      </p:sp>
      <p:sp>
        <p:nvSpPr>
          <p:cNvPr id="19" name="Text 17"/>
          <p:cNvSpPr/>
          <p:nvPr/>
        </p:nvSpPr>
        <p:spPr>
          <a:xfrm>
            <a:off x="4120366" y="2523744"/>
            <a:ext cx="4114800" cy="256032"/>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Chain-of-Thought (GPT-4o)</a:t>
            </a:r>
            <a:endParaRPr lang="en-US" sz="1300" dirty="0"/>
          </a:p>
        </p:txBody>
      </p:sp>
      <p:sp>
        <p:nvSpPr>
          <p:cNvPr id="20" name="Text 18"/>
          <p:cNvSpPr/>
          <p:nvPr/>
        </p:nvSpPr>
        <p:spPr>
          <a:xfrm>
            <a:off x="4120366" y="2761488"/>
            <a:ext cx="4663438" cy="256032"/>
          </a:xfrm>
          <a:prstGeom prst="rect">
            <a:avLst/>
          </a:prstGeom>
          <a:noFill/>
          <a:ln/>
        </p:spPr>
        <p:txBody>
          <a:bodyPr wrap="square" rtlCol="0" anchor="ctr"/>
          <a:lstStyle/>
          <a:p>
            <a:pPr marL="0" indent="0">
              <a:buNone/>
            </a:pPr>
            <a:r>
              <a:rPr lang="en-US" sz="1200" dirty="0">
                <a:solidFill>
                  <a:srgbClr val="4A4A4A"/>
                </a:solidFill>
                <a:latin typeface="Aptos" pitchFamily="34" charset="0"/>
                <a:ea typeface="Aptos" pitchFamily="34" charset="-122"/>
                <a:cs typeface="Aptos" pitchFamily="34" charset="-120"/>
              </a:rPr>
              <a:t>5-step clinical framework: vitals → labs → meds → synthesis → predict</a:t>
            </a:r>
            <a:endParaRPr lang="en-US" sz="1200" dirty="0"/>
          </a:p>
        </p:txBody>
      </p:sp>
      <p:sp>
        <p:nvSpPr>
          <p:cNvPr id="21" name="Shape 19"/>
          <p:cNvSpPr/>
          <p:nvPr/>
        </p:nvSpPr>
        <p:spPr>
          <a:xfrm>
            <a:off x="4279392" y="3124465"/>
            <a:ext cx="4663440" cy="0"/>
          </a:xfrm>
          <a:prstGeom prst="line">
            <a:avLst/>
          </a:prstGeom>
          <a:noFill/>
          <a:ln w="9525">
            <a:solidFill>
              <a:srgbClr val="CCCCCC"/>
            </a:solidFill>
            <a:prstDash val="solid"/>
          </a:ln>
        </p:spPr>
        <p:txBody>
          <a:bodyPr/>
          <a:lstStyle/>
          <a:p>
            <a:endParaRPr lang="en-US"/>
          </a:p>
        </p:txBody>
      </p:sp>
      <p:sp>
        <p:nvSpPr>
          <p:cNvPr id="22" name="Text 20"/>
          <p:cNvSpPr/>
          <p:nvPr/>
        </p:nvSpPr>
        <p:spPr>
          <a:xfrm>
            <a:off x="3681454" y="3136392"/>
            <a:ext cx="438912" cy="475488"/>
          </a:xfrm>
          <a:prstGeom prst="rect">
            <a:avLst/>
          </a:prstGeom>
          <a:noFill/>
          <a:ln/>
        </p:spPr>
        <p:txBody>
          <a:bodyPr wrap="square" lIns="0" tIns="0" rIns="0" bIns="0" rtlCol="0" anchor="ctr"/>
          <a:lstStyle/>
          <a:p>
            <a:pPr marL="0" indent="0" algn="l">
              <a:buNone/>
            </a:pPr>
            <a:r>
              <a:rPr lang="en-US" sz="2000" b="1" dirty="0">
                <a:solidFill>
                  <a:srgbClr val="111111"/>
                </a:solidFill>
                <a:latin typeface="Aptos Display" pitchFamily="34" charset="0"/>
                <a:ea typeface="Aptos Display" pitchFamily="34" charset="-122"/>
                <a:cs typeface="Aptos Display" pitchFamily="34" charset="-120"/>
              </a:rPr>
              <a:t>05</a:t>
            </a:r>
            <a:endParaRPr lang="en-US" sz="2000" dirty="0"/>
          </a:p>
        </p:txBody>
      </p:sp>
      <p:sp>
        <p:nvSpPr>
          <p:cNvPr id="23" name="Text 21"/>
          <p:cNvSpPr/>
          <p:nvPr/>
        </p:nvSpPr>
        <p:spPr>
          <a:xfrm>
            <a:off x="4120366" y="3136392"/>
            <a:ext cx="4114800" cy="256032"/>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Tree of Thoughts (GPT-4o)</a:t>
            </a:r>
            <a:endParaRPr lang="en-US" sz="1300" dirty="0"/>
          </a:p>
        </p:txBody>
      </p:sp>
      <p:sp>
        <p:nvSpPr>
          <p:cNvPr id="24" name="Text 22"/>
          <p:cNvSpPr/>
          <p:nvPr/>
        </p:nvSpPr>
        <p:spPr>
          <a:xfrm>
            <a:off x="4120366" y="3374136"/>
            <a:ext cx="4840754" cy="256032"/>
          </a:xfrm>
          <a:prstGeom prst="rect">
            <a:avLst/>
          </a:prstGeom>
          <a:noFill/>
          <a:ln/>
        </p:spPr>
        <p:txBody>
          <a:bodyPr wrap="square" rtlCol="0" anchor="ctr"/>
          <a:lstStyle/>
          <a:p>
            <a:pPr marL="0" indent="0">
              <a:buNone/>
            </a:pPr>
            <a:r>
              <a:rPr lang="en-US" sz="1200" dirty="0">
                <a:solidFill>
                  <a:srgbClr val="4A4A4A"/>
                </a:solidFill>
                <a:latin typeface="Aptos" pitchFamily="34" charset="0"/>
                <a:ea typeface="Aptos" pitchFamily="34" charset="-122"/>
                <a:cs typeface="Aptos" pitchFamily="34" charset="-120"/>
              </a:rPr>
              <a:t>Two competing paths (high risk vs low risk) then choose between them</a:t>
            </a:r>
            <a:endParaRPr lang="en-US" sz="1200" dirty="0"/>
          </a:p>
        </p:txBody>
      </p:sp>
      <p:sp>
        <p:nvSpPr>
          <p:cNvPr id="25" name="Shape 23"/>
          <p:cNvSpPr/>
          <p:nvPr/>
        </p:nvSpPr>
        <p:spPr>
          <a:xfrm>
            <a:off x="4279392" y="3737113"/>
            <a:ext cx="4663440" cy="0"/>
          </a:xfrm>
          <a:prstGeom prst="line">
            <a:avLst/>
          </a:prstGeom>
          <a:noFill/>
          <a:ln w="9525">
            <a:solidFill>
              <a:srgbClr val="CCCCCC"/>
            </a:solidFill>
            <a:prstDash val="solid"/>
          </a:ln>
        </p:spPr>
        <p:txBody>
          <a:bodyPr/>
          <a:lstStyle/>
          <a:p>
            <a:endParaRPr lang="en-US"/>
          </a:p>
        </p:txBody>
      </p:sp>
      <p:sp>
        <p:nvSpPr>
          <p:cNvPr id="26" name="Text 24"/>
          <p:cNvSpPr/>
          <p:nvPr/>
        </p:nvSpPr>
        <p:spPr>
          <a:xfrm>
            <a:off x="3681454" y="3749040"/>
            <a:ext cx="438912" cy="475488"/>
          </a:xfrm>
          <a:prstGeom prst="rect">
            <a:avLst/>
          </a:prstGeom>
          <a:noFill/>
          <a:ln/>
        </p:spPr>
        <p:txBody>
          <a:bodyPr wrap="square" lIns="0" tIns="0" rIns="0" bIns="0" rtlCol="0" anchor="ctr"/>
          <a:lstStyle/>
          <a:p>
            <a:pPr marL="0" indent="0" algn="l">
              <a:buNone/>
            </a:pPr>
            <a:r>
              <a:rPr lang="en-US" sz="2000" b="1" dirty="0">
                <a:solidFill>
                  <a:srgbClr val="111111"/>
                </a:solidFill>
                <a:latin typeface="Aptos Display" pitchFamily="34" charset="0"/>
                <a:ea typeface="Aptos Display" pitchFamily="34" charset="-122"/>
                <a:cs typeface="Aptos Display" pitchFamily="34" charset="-120"/>
              </a:rPr>
              <a:t>06</a:t>
            </a:r>
            <a:endParaRPr lang="en-US" sz="2000" dirty="0"/>
          </a:p>
        </p:txBody>
      </p:sp>
      <p:sp>
        <p:nvSpPr>
          <p:cNvPr id="27" name="Text 25"/>
          <p:cNvSpPr/>
          <p:nvPr/>
        </p:nvSpPr>
        <p:spPr>
          <a:xfrm>
            <a:off x="4120366" y="3749040"/>
            <a:ext cx="4114800" cy="256032"/>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Self-Consistency (GPT-4o)</a:t>
            </a:r>
            <a:endParaRPr lang="en-US" sz="1300" dirty="0"/>
          </a:p>
        </p:txBody>
      </p:sp>
      <p:sp>
        <p:nvSpPr>
          <p:cNvPr id="28" name="Text 26"/>
          <p:cNvSpPr/>
          <p:nvPr/>
        </p:nvSpPr>
        <p:spPr>
          <a:xfrm>
            <a:off x="4120365" y="3986784"/>
            <a:ext cx="4645151" cy="256032"/>
          </a:xfrm>
          <a:prstGeom prst="rect">
            <a:avLst/>
          </a:prstGeom>
          <a:noFill/>
          <a:ln/>
        </p:spPr>
        <p:txBody>
          <a:bodyPr wrap="square" rtlCol="0" anchor="ctr"/>
          <a:lstStyle/>
          <a:p>
            <a:pPr marL="0" indent="0">
              <a:buNone/>
            </a:pPr>
            <a:r>
              <a:rPr lang="en-US" sz="1200" dirty="0">
                <a:solidFill>
                  <a:srgbClr val="4A4A4A"/>
                </a:solidFill>
                <a:latin typeface="Aptos" pitchFamily="34" charset="0"/>
                <a:ea typeface="Aptos" pitchFamily="34" charset="-122"/>
                <a:cs typeface="Aptos" pitchFamily="34" charset="-120"/>
              </a:rPr>
              <a:t>CoT ×3 independent votes at temperature=0.7, majority decision</a:t>
            </a:r>
            <a:endParaRPr lang="en-US" sz="1200" dirty="0"/>
          </a:p>
        </p:txBody>
      </p:sp>
      <p:sp>
        <p:nvSpPr>
          <p:cNvPr id="29" name="Shape 27"/>
          <p:cNvSpPr/>
          <p:nvPr/>
        </p:nvSpPr>
        <p:spPr>
          <a:xfrm>
            <a:off x="4279392" y="4349761"/>
            <a:ext cx="4663440" cy="0"/>
          </a:xfrm>
          <a:prstGeom prst="line">
            <a:avLst/>
          </a:prstGeom>
          <a:noFill/>
          <a:ln w="9525">
            <a:solidFill>
              <a:srgbClr val="CCCCCC"/>
            </a:solidFill>
            <a:prstDash val="solid"/>
          </a:ln>
        </p:spPr>
        <p:txBody>
          <a:bodyPr/>
          <a:lstStyle/>
          <a:p>
            <a:endParaRPr lang="en-US"/>
          </a:p>
        </p:txBody>
      </p:sp>
      <p:sp>
        <p:nvSpPr>
          <p:cNvPr id="30" name="Text 28"/>
          <p:cNvSpPr/>
          <p:nvPr/>
        </p:nvSpPr>
        <p:spPr>
          <a:xfrm>
            <a:off x="3681454" y="4361688"/>
            <a:ext cx="438912" cy="475488"/>
          </a:xfrm>
          <a:prstGeom prst="rect">
            <a:avLst/>
          </a:prstGeom>
          <a:noFill/>
          <a:ln/>
        </p:spPr>
        <p:txBody>
          <a:bodyPr wrap="square" lIns="0" tIns="0" rIns="0" bIns="0" rtlCol="0" anchor="ctr"/>
          <a:lstStyle/>
          <a:p>
            <a:pPr marL="0" indent="0" algn="l">
              <a:buNone/>
            </a:pPr>
            <a:r>
              <a:rPr lang="en-US" sz="2000" b="1" dirty="0">
                <a:solidFill>
                  <a:srgbClr val="111111"/>
                </a:solidFill>
                <a:latin typeface="Aptos Display" pitchFamily="34" charset="0"/>
                <a:ea typeface="Aptos Display" pitchFamily="34" charset="-122"/>
                <a:cs typeface="Aptos Display" pitchFamily="34" charset="-120"/>
              </a:rPr>
              <a:t>07</a:t>
            </a:r>
            <a:endParaRPr lang="en-US" sz="2000" dirty="0"/>
          </a:p>
        </p:txBody>
      </p:sp>
      <p:sp>
        <p:nvSpPr>
          <p:cNvPr id="31" name="Text 29"/>
          <p:cNvSpPr/>
          <p:nvPr/>
        </p:nvSpPr>
        <p:spPr>
          <a:xfrm>
            <a:off x="4120366" y="4361688"/>
            <a:ext cx="4114800" cy="256032"/>
          </a:xfrm>
          <a:prstGeom prst="rect">
            <a:avLst/>
          </a:prstGeom>
          <a:noFill/>
          <a:ln/>
        </p:spPr>
        <p:txBody>
          <a:bodyPr wrap="square" rtlCol="0" anchor="ctr"/>
          <a:lstStyle/>
          <a:p>
            <a:r>
              <a:rPr lang="en-US" sz="1300" b="1" dirty="0">
                <a:solidFill>
                  <a:srgbClr val="111111"/>
                </a:solidFill>
                <a:latin typeface="Aptos Display" pitchFamily="34" charset="0"/>
                <a:ea typeface="Aptos Display" pitchFamily="34" charset="-122"/>
                <a:cs typeface="Aptos Display" pitchFamily="34" charset="-120"/>
              </a:rPr>
              <a:t>LLM-as-Judge (GPT-4o) - Bonus</a:t>
            </a:r>
            <a:endParaRPr lang="en-US" sz="1300" dirty="0"/>
          </a:p>
        </p:txBody>
      </p:sp>
      <p:sp>
        <p:nvSpPr>
          <p:cNvPr id="32" name="Text 30"/>
          <p:cNvSpPr/>
          <p:nvPr/>
        </p:nvSpPr>
        <p:spPr>
          <a:xfrm>
            <a:off x="4120366" y="4599432"/>
            <a:ext cx="4645150" cy="256032"/>
          </a:xfrm>
          <a:prstGeom prst="rect">
            <a:avLst/>
          </a:prstGeom>
          <a:noFill/>
          <a:ln/>
        </p:spPr>
        <p:txBody>
          <a:bodyPr wrap="square" rtlCol="0" anchor="ctr"/>
          <a:lstStyle/>
          <a:p>
            <a:r>
              <a:rPr lang="en-US" sz="1200" dirty="0">
                <a:solidFill>
                  <a:srgbClr val="4A4A4A"/>
                </a:solidFill>
                <a:latin typeface="Aptos" pitchFamily="34" charset="0"/>
                <a:ea typeface="Aptos" pitchFamily="34" charset="-122"/>
                <a:cs typeface="Aptos" pitchFamily="34" charset="-120"/>
              </a:rPr>
              <a:t>Evaluates </a:t>
            </a:r>
            <a:r>
              <a:rPr lang="en-US" sz="1200" dirty="0" err="1">
                <a:solidFill>
                  <a:srgbClr val="4A4A4A"/>
                </a:solidFill>
                <a:latin typeface="Aptos" pitchFamily="34" charset="0"/>
                <a:ea typeface="Aptos" pitchFamily="34" charset="-122"/>
                <a:cs typeface="Aptos" pitchFamily="34" charset="-120"/>
              </a:rPr>
              <a:t>CoT</a:t>
            </a:r>
            <a:r>
              <a:rPr lang="en-US" sz="1200" dirty="0">
                <a:solidFill>
                  <a:srgbClr val="4A4A4A"/>
                </a:solidFill>
                <a:latin typeface="Aptos" pitchFamily="34" charset="0"/>
                <a:ea typeface="Aptos" pitchFamily="34" charset="-122"/>
                <a:cs typeface="Aptos" pitchFamily="34" charset="-120"/>
              </a:rPr>
              <a:t> reasoning quality on 5 dimensions (1–5 scale)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87541"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1" y="1097280"/>
            <a:ext cx="2687541"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Prompt</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Comparison</a:t>
            </a:r>
            <a:endParaRPr lang="en-US" sz="4000" dirty="0"/>
          </a:p>
        </p:txBody>
      </p:sp>
      <p:sp>
        <p:nvSpPr>
          <p:cNvPr id="5" name="Text 3"/>
          <p:cNvSpPr/>
          <p:nvPr/>
        </p:nvSpPr>
        <p:spPr>
          <a:xfrm>
            <a:off x="3025471" y="172941"/>
            <a:ext cx="4663440" cy="457200"/>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Chain-of-Thought vs Tree of Thoughts</a:t>
            </a:r>
            <a:endParaRPr lang="en-US" sz="2000" dirty="0"/>
          </a:p>
        </p:txBody>
      </p:sp>
      <p:sp>
        <p:nvSpPr>
          <p:cNvPr id="6" name="Text 4"/>
          <p:cNvSpPr/>
          <p:nvPr/>
        </p:nvSpPr>
        <p:spPr>
          <a:xfrm>
            <a:off x="3025471" y="694149"/>
            <a:ext cx="4663440" cy="292608"/>
          </a:xfrm>
          <a:prstGeom prst="rect">
            <a:avLst/>
          </a:prstGeom>
          <a:noFill/>
          <a:ln/>
        </p:spPr>
        <p:txBody>
          <a:bodyPr wrap="square" rtlCol="0" anchor="ctr"/>
          <a:lstStyle/>
          <a:p>
            <a:pPr marL="0" indent="0">
              <a:buNone/>
            </a:pPr>
            <a:r>
              <a:rPr lang="en-US" sz="1400" b="1" dirty="0">
                <a:solidFill>
                  <a:srgbClr val="111111"/>
                </a:solidFill>
                <a:latin typeface="Aptos Display" pitchFamily="34" charset="0"/>
                <a:ea typeface="Aptos Display" pitchFamily="34" charset="-122"/>
                <a:cs typeface="Aptos Display" pitchFamily="34" charset="-120"/>
              </a:rPr>
              <a:t>Chain-of-Thought  (</a:t>
            </a:r>
            <a:r>
              <a:rPr lang="en-US" sz="1400" b="1" dirty="0" err="1">
                <a:solidFill>
                  <a:srgbClr val="111111"/>
                </a:solidFill>
                <a:latin typeface="Aptos Display" pitchFamily="34" charset="0"/>
                <a:ea typeface="Aptos Display" pitchFamily="34" charset="-122"/>
                <a:cs typeface="Aptos Display" pitchFamily="34" charset="-120"/>
              </a:rPr>
              <a:t>CoT</a:t>
            </a:r>
            <a:r>
              <a:rPr lang="en-US" sz="1400" b="1" dirty="0">
                <a:solidFill>
                  <a:srgbClr val="111111"/>
                </a:solidFill>
                <a:latin typeface="Aptos Display" pitchFamily="34" charset="0"/>
                <a:ea typeface="Aptos Display" pitchFamily="34" charset="-122"/>
                <a:cs typeface="Aptos Display" pitchFamily="34" charset="-120"/>
              </a:rPr>
              <a:t>) — 5-step clinical framework:</a:t>
            </a:r>
            <a:endParaRPr lang="en-US" sz="1400" dirty="0"/>
          </a:p>
        </p:txBody>
      </p:sp>
      <p:sp>
        <p:nvSpPr>
          <p:cNvPr id="7" name="Text 5"/>
          <p:cNvSpPr/>
          <p:nvPr/>
        </p:nvSpPr>
        <p:spPr>
          <a:xfrm>
            <a:off x="3116911" y="1023333"/>
            <a:ext cx="4480560" cy="320040"/>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1.  Step 1: Analyse vital signs — identify abnormalities</a:t>
            </a:r>
            <a:endParaRPr lang="en-US" sz="1250" dirty="0"/>
          </a:p>
        </p:txBody>
      </p:sp>
      <p:sp>
        <p:nvSpPr>
          <p:cNvPr id="8" name="Text 6"/>
          <p:cNvSpPr/>
          <p:nvPr/>
        </p:nvSpPr>
        <p:spPr>
          <a:xfrm>
            <a:off x="3116911" y="1370805"/>
            <a:ext cx="4480560" cy="320040"/>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2.  Step 2: Interpret laboratory results in clinical context</a:t>
            </a:r>
            <a:endParaRPr lang="en-US" sz="1250" dirty="0"/>
          </a:p>
        </p:txBody>
      </p:sp>
      <p:sp>
        <p:nvSpPr>
          <p:cNvPr id="9" name="Text 7"/>
          <p:cNvSpPr/>
          <p:nvPr/>
        </p:nvSpPr>
        <p:spPr>
          <a:xfrm>
            <a:off x="3116911" y="1718277"/>
            <a:ext cx="4480560" cy="320040"/>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3.  Step 3: Evaluate medications for severity signals (vasopressors = shock)</a:t>
            </a:r>
            <a:endParaRPr lang="en-US" sz="1250" dirty="0"/>
          </a:p>
        </p:txBody>
      </p:sp>
      <p:sp>
        <p:nvSpPr>
          <p:cNvPr id="10" name="Text 8"/>
          <p:cNvSpPr/>
          <p:nvPr/>
        </p:nvSpPr>
        <p:spPr>
          <a:xfrm>
            <a:off x="3116911" y="2065749"/>
            <a:ext cx="4480560" cy="320040"/>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4.  Step 4: Synthesise — what is the overall clinical picture?</a:t>
            </a:r>
            <a:endParaRPr lang="en-US" sz="1250" dirty="0"/>
          </a:p>
        </p:txBody>
      </p:sp>
      <p:sp>
        <p:nvSpPr>
          <p:cNvPr id="11" name="Text 9"/>
          <p:cNvSpPr/>
          <p:nvPr/>
        </p:nvSpPr>
        <p:spPr>
          <a:xfrm>
            <a:off x="3116911" y="2413221"/>
            <a:ext cx="5605670" cy="320040"/>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5.  Step 5: Predict SURVIVED/DIED and SHORT/LONG with confidence score</a:t>
            </a:r>
            <a:endParaRPr lang="en-US" sz="1250" dirty="0"/>
          </a:p>
        </p:txBody>
      </p:sp>
      <p:sp>
        <p:nvSpPr>
          <p:cNvPr id="13" name="Text 11"/>
          <p:cNvSpPr/>
          <p:nvPr/>
        </p:nvSpPr>
        <p:spPr>
          <a:xfrm>
            <a:off x="3025471" y="2852133"/>
            <a:ext cx="4663440" cy="292608"/>
          </a:xfrm>
          <a:prstGeom prst="rect">
            <a:avLst/>
          </a:prstGeom>
          <a:noFill/>
          <a:ln/>
        </p:spPr>
        <p:txBody>
          <a:bodyPr wrap="square" rtlCol="0" anchor="ctr"/>
          <a:lstStyle/>
          <a:p>
            <a:pPr marL="0" indent="0">
              <a:buNone/>
            </a:pPr>
            <a:r>
              <a:rPr lang="en-US" sz="1400" b="1" dirty="0">
                <a:solidFill>
                  <a:srgbClr val="111111"/>
                </a:solidFill>
                <a:latin typeface="Aptos Display" pitchFamily="34" charset="0"/>
                <a:ea typeface="Aptos Display" pitchFamily="34" charset="-122"/>
                <a:cs typeface="Aptos Display" pitchFamily="34" charset="-120"/>
              </a:rPr>
              <a:t>Tree of Thoughts (</a:t>
            </a:r>
            <a:r>
              <a:rPr lang="en-US" sz="1400" b="1" dirty="0" err="1">
                <a:solidFill>
                  <a:srgbClr val="111111"/>
                </a:solidFill>
                <a:latin typeface="Aptos Display" pitchFamily="34" charset="0"/>
                <a:ea typeface="Aptos Display" pitchFamily="34" charset="-122"/>
                <a:cs typeface="Aptos Display" pitchFamily="34" charset="-120"/>
              </a:rPr>
              <a:t>ToT</a:t>
            </a:r>
            <a:r>
              <a:rPr lang="en-US" sz="1400" b="1" dirty="0">
                <a:solidFill>
                  <a:srgbClr val="111111"/>
                </a:solidFill>
                <a:latin typeface="Aptos Display" pitchFamily="34" charset="0"/>
                <a:ea typeface="Aptos Display" pitchFamily="34" charset="-122"/>
                <a:cs typeface="Aptos Display" pitchFamily="34" charset="-120"/>
              </a:rPr>
              <a:t>) — dual competing paths:</a:t>
            </a:r>
            <a:endParaRPr lang="en-US" sz="1400" dirty="0"/>
          </a:p>
        </p:txBody>
      </p:sp>
      <p:sp>
        <p:nvSpPr>
          <p:cNvPr id="14" name="Text 12"/>
          <p:cNvSpPr/>
          <p:nvPr/>
        </p:nvSpPr>
        <p:spPr>
          <a:xfrm>
            <a:off x="3116911" y="3190461"/>
            <a:ext cx="4480560" cy="347472"/>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1.  Path A: Argue for DIED — identify ALL high-risk signals</a:t>
            </a:r>
            <a:endParaRPr lang="en-US" sz="1250" dirty="0"/>
          </a:p>
        </p:txBody>
      </p:sp>
      <p:sp>
        <p:nvSpPr>
          <p:cNvPr id="15" name="Text 13"/>
          <p:cNvSpPr/>
          <p:nvPr/>
        </p:nvSpPr>
        <p:spPr>
          <a:xfrm>
            <a:off x="3116910" y="3574509"/>
            <a:ext cx="5184251" cy="347472"/>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2.  Path B: Argue for SURVIVED — identify ALL stabilising factors</a:t>
            </a:r>
            <a:endParaRPr lang="en-US" sz="1250" dirty="0"/>
          </a:p>
        </p:txBody>
      </p:sp>
      <p:sp>
        <p:nvSpPr>
          <p:cNvPr id="16" name="Text 14"/>
          <p:cNvSpPr/>
          <p:nvPr/>
        </p:nvSpPr>
        <p:spPr>
          <a:xfrm>
            <a:off x="3116911" y="3958557"/>
            <a:ext cx="4480560" cy="347472"/>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3.  Decision: Weigh both paths and commit to one prediction</a:t>
            </a:r>
            <a:endParaRPr lang="en-US" sz="1250" dirty="0"/>
          </a:p>
        </p:txBody>
      </p:sp>
      <p:sp>
        <p:nvSpPr>
          <p:cNvPr id="18" name="Text 16"/>
          <p:cNvSpPr/>
          <p:nvPr/>
        </p:nvSpPr>
        <p:spPr>
          <a:xfrm>
            <a:off x="3025470" y="4461477"/>
            <a:ext cx="5800477" cy="502920"/>
          </a:xfrm>
          <a:prstGeom prst="rect">
            <a:avLst/>
          </a:prstGeom>
          <a:noFill/>
          <a:ln/>
        </p:spPr>
        <p:txBody>
          <a:bodyPr wrap="square" rtlCol="0" anchor="ctr"/>
          <a:lstStyle/>
          <a:p>
            <a:pPr marL="0" indent="0">
              <a:buNone/>
            </a:pPr>
            <a:r>
              <a:rPr lang="en-US" sz="1200" i="1" dirty="0">
                <a:solidFill>
                  <a:srgbClr val="4A4A4A"/>
                </a:solidFill>
                <a:latin typeface="Aptos" pitchFamily="34" charset="0"/>
                <a:ea typeface="Aptos" pitchFamily="34" charset="-122"/>
                <a:cs typeface="Aptos" pitchFamily="34" charset="-120"/>
              </a:rPr>
              <a:t>Why ToT outperforms CoT on F1: forcing the model to steelman both outcomes before deciding breaks the survival bias that CoT can reinforce.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D585DC4-454F-14ED-8E86-D63A3B8EE94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2D3BB84-C109-4C2B-9C7B-DA56464EEC81}"/>
              </a:ext>
            </a:extLst>
          </p:cNvPr>
          <p:cNvSpPr/>
          <p:nvPr/>
        </p:nvSpPr>
        <p:spPr>
          <a:xfrm>
            <a:off x="0" y="0"/>
            <a:ext cx="1861457" cy="5143500"/>
          </a:xfrm>
          <a:prstGeom prst="rect">
            <a:avLst/>
          </a:prstGeom>
          <a:solidFill>
            <a:srgbClr val="0E2841"/>
          </a:solidFill>
          <a:ln w="12700">
            <a:solidFill>
              <a:srgbClr val="0E2841"/>
            </a:solidFill>
            <a:prstDash val="solid"/>
          </a:ln>
        </p:spPr>
        <p:txBody>
          <a:bodyPr/>
          <a:lstStyle/>
          <a:p>
            <a:endParaRPr lang="en-US"/>
          </a:p>
        </p:txBody>
      </p:sp>
      <p:sp>
        <p:nvSpPr>
          <p:cNvPr id="4" name="Text 2">
            <a:extLst>
              <a:ext uri="{FF2B5EF4-FFF2-40B4-BE49-F238E27FC236}">
                <a16:creationId xmlns:a16="http://schemas.microsoft.com/office/drawing/2014/main" id="{EAFAEFB6-D513-4C28-3111-E0CBFAFA4560}"/>
              </a:ext>
            </a:extLst>
          </p:cNvPr>
          <p:cNvSpPr/>
          <p:nvPr/>
        </p:nvSpPr>
        <p:spPr>
          <a:xfrm>
            <a:off x="87086" y="1088571"/>
            <a:ext cx="1632857" cy="2934789"/>
          </a:xfrm>
          <a:prstGeom prst="rect">
            <a:avLst/>
          </a:prstGeom>
          <a:noFill/>
          <a:ln/>
        </p:spPr>
        <p:txBody>
          <a:bodyPr wrap="square" lIns="0" tIns="0" rIns="0" bIns="0" rtlCol="0" anchor="ctr"/>
          <a:lstStyle/>
          <a:p>
            <a:pPr algn="ctr"/>
            <a:r>
              <a:rPr lang="en-US" sz="2400" dirty="0">
                <a:solidFill>
                  <a:srgbClr val="FFFFFF"/>
                </a:solidFill>
                <a:latin typeface="Aptos Display" pitchFamily="34" charset="0"/>
                <a:ea typeface="Aptos Display" pitchFamily="34" charset="-122"/>
                <a:cs typeface="Aptos Display" pitchFamily="34" charset="-120"/>
              </a:rPr>
              <a:t>Prompt- 1 ZERO-SHOT BASELINE</a:t>
            </a:r>
            <a:endParaRPr lang="en-US" sz="2400" dirty="0"/>
          </a:p>
        </p:txBody>
      </p:sp>
      <p:sp>
        <p:nvSpPr>
          <p:cNvPr id="12" name="TextBox 11">
            <a:extLst>
              <a:ext uri="{FF2B5EF4-FFF2-40B4-BE49-F238E27FC236}">
                <a16:creationId xmlns:a16="http://schemas.microsoft.com/office/drawing/2014/main" id="{3EDBCF30-6637-315F-D852-C344B105145D}"/>
              </a:ext>
            </a:extLst>
          </p:cNvPr>
          <p:cNvSpPr txBox="1"/>
          <p:nvPr/>
        </p:nvSpPr>
        <p:spPr>
          <a:xfrm>
            <a:off x="2057400" y="152399"/>
            <a:ext cx="6825343" cy="5078313"/>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BIAS_INSTRUCTION = """</a:t>
            </a:r>
          </a:p>
          <a:p>
            <a:r>
              <a:rPr lang="en-US" sz="1200" dirty="0">
                <a:latin typeface="Courier New" panose="02070309020205020404" pitchFamily="49" charset="0"/>
                <a:cs typeface="Courier New" panose="02070309020205020404" pitchFamily="49" charset="0"/>
              </a:rPr>
              <a:t>CRITICAL CALIBRATION — READ BEFORE PREDICTING:</a:t>
            </a:r>
          </a:p>
          <a:p>
            <a:r>
              <a:rPr lang="en-US" sz="1200" dirty="0">
                <a:latin typeface="Courier New" panose="02070309020205020404" pitchFamily="49" charset="0"/>
                <a:cs typeface="Courier New" panose="02070309020205020404" pitchFamily="49" charset="0"/>
              </a:rPr>
              <a:t>ICU mortality rates are 15–30%. Do NOT default to SURVIVED when uncertain.</a:t>
            </a:r>
          </a:p>
          <a:p>
            <a:r>
              <a:rPr lang="en-US" sz="1200" dirty="0">
                <a:latin typeface="Courier New" panose="02070309020205020404" pitchFamily="49" charset="0"/>
                <a:cs typeface="Courier New" panose="02070309020205020404" pitchFamily="49" charset="0"/>
              </a:rPr>
              <a:t>Predict DIED if ANY of these high-risk signals are present:</a:t>
            </a:r>
          </a:p>
          <a:p>
            <a:r>
              <a:rPr lang="en-US" sz="1200" dirty="0">
                <a:latin typeface="Courier New" panose="02070309020205020404" pitchFamily="49" charset="0"/>
                <a:cs typeface="Courier New" panose="02070309020205020404" pitchFamily="49" charset="0"/>
              </a:rPr>
              <a:t>  • SpO2 &lt; 90%  OR  Systolic BP &lt; 90 mmHg  (hemodynamic instability)</a:t>
            </a:r>
          </a:p>
          <a:p>
            <a:r>
              <a:rPr lang="en-US" sz="1200" dirty="0">
                <a:latin typeface="Courier New" panose="02070309020205020404" pitchFamily="49" charset="0"/>
                <a:cs typeface="Courier New" panose="02070309020205020404" pitchFamily="49" charset="0"/>
              </a:rPr>
              <a:t>  • Creatinine &gt; 2.5 mg/dL  (severe renal failure)</a:t>
            </a:r>
          </a:p>
          <a:p>
            <a:r>
              <a:rPr lang="en-US" sz="1200" dirty="0">
                <a:latin typeface="Courier New" panose="02070309020205020404" pitchFamily="49" charset="0"/>
                <a:cs typeface="Courier New" panose="02070309020205020404" pitchFamily="49" charset="0"/>
              </a:rPr>
              <a:t>  • Age &gt; 75 + 2 or more abnormal vitals/labs</a:t>
            </a:r>
          </a:p>
          <a:p>
            <a:r>
              <a:rPr lang="en-US" sz="1200" dirty="0">
                <a:latin typeface="Courier New" panose="02070309020205020404" pitchFamily="49" charset="0"/>
                <a:cs typeface="Courier New" panose="02070309020205020404" pitchFamily="49" charset="0"/>
              </a:rPr>
              <a:t>  • Vasopressors in medications (norepinephrine, vasopressin, dopamine, dobutamine)</a:t>
            </a:r>
          </a:p>
          <a:p>
            <a:r>
              <a:rPr lang="en-US" sz="1200" dirty="0">
                <a:latin typeface="Courier New" panose="02070309020205020404" pitchFamily="49" charset="0"/>
                <a:cs typeface="Courier New" panose="02070309020205020404" pitchFamily="49" charset="0"/>
              </a:rPr>
              <a:t>  • WBC &gt; 20 or &lt; 2  (severe sepsis or immune failure)</a:t>
            </a:r>
          </a:p>
          <a:p>
            <a:r>
              <a:rPr lang="en-US" sz="1200" dirty="0">
                <a:latin typeface="Courier New" panose="02070309020205020404" pitchFamily="49" charset="0"/>
                <a:cs typeface="Courier New" panose="02070309020205020404" pitchFamily="49" charset="0"/>
              </a:rPr>
              <a:t>  • Glucose &lt; 60 mg/dL  (</a:t>
            </a:r>
            <a:r>
              <a:rPr lang="en-US" sz="1200" dirty="0" err="1">
                <a:latin typeface="Courier New" panose="02070309020205020404" pitchFamily="49" charset="0"/>
                <a:cs typeface="Courier New" panose="02070309020205020404" pitchFamily="49" charset="0"/>
              </a:rPr>
              <a:t>hypoglycaemia</a:t>
            </a:r>
            <a:r>
              <a:rPr lang="en-US" sz="1200" dirty="0">
                <a:latin typeface="Courier New" panose="02070309020205020404" pitchFamily="49" charset="0"/>
                <a:cs typeface="Courier New" panose="02070309020205020404" pitchFamily="49" charset="0"/>
              </a:rPr>
              <a:t> = critical illness marker)</a:t>
            </a:r>
          </a:p>
          <a:p>
            <a:r>
              <a:rPr lang="en-US" sz="1200" dirty="0">
                <a:latin typeface="Courier New" panose="02070309020205020404" pitchFamily="49" charset="0"/>
                <a:cs typeface="Courier New" panose="02070309020205020404" pitchFamily="49" charset="0"/>
              </a:rPr>
              <a:t>  • Severity Level marked as HIGH or CRITICAL</a:t>
            </a:r>
          </a:p>
          <a:p>
            <a:r>
              <a:rPr lang="en-US" sz="1200" dirty="0">
                <a:latin typeface="Courier New" panose="02070309020205020404" pitchFamily="49" charset="0"/>
                <a:cs typeface="Courier New" panose="02070309020205020404" pitchFamily="49" charset="0"/>
              </a:rPr>
              <a:t>"""</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ZERO_SHOT_SYSTEM = """You are an experienced ICU physician assistant.</a:t>
            </a:r>
          </a:p>
          <a:p>
            <a:r>
              <a:rPr lang="en-US" sz="1200" dirty="0">
                <a:latin typeface="Courier New" panose="02070309020205020404" pitchFamily="49" charset="0"/>
                <a:cs typeface="Courier New" panose="02070309020205020404" pitchFamily="49" charset="0"/>
              </a:rPr>
              <a:t>You will be given a patient profile from the MIMIC-III ICU dataset.</a:t>
            </a:r>
          </a:p>
          <a:p>
            <a:r>
              <a:rPr lang="en-US" sz="1200" dirty="0">
                <a:latin typeface="Courier New" panose="02070309020205020404" pitchFamily="49" charset="0"/>
                <a:cs typeface="Courier New" panose="02070309020205020404" pitchFamily="49" charset="0"/>
              </a:rPr>
              <a:t>Based on the clinical information provided, predict:</a:t>
            </a:r>
          </a:p>
          <a:p>
            <a:r>
              <a:rPr lang="en-US" sz="1200" dirty="0">
                <a:latin typeface="Courier New" panose="02070309020205020404" pitchFamily="49" charset="0"/>
                <a:cs typeface="Courier New" panose="02070309020205020404" pitchFamily="49" charset="0"/>
              </a:rPr>
              <a:t>1. MORTALITY: Will this patient SURVIVE or DIE during their ICU stay?</a:t>
            </a:r>
          </a:p>
          <a:p>
            <a:r>
              <a:rPr lang="en-US" sz="1200" dirty="0">
                <a:latin typeface="Courier New" panose="02070309020205020404" pitchFamily="49" charset="0"/>
                <a:cs typeface="Courier New" panose="02070309020205020404" pitchFamily="49" charset="0"/>
              </a:rPr>
              <a:t>2. LOS: Will their ICU length of stay be SHORT (&lt;3 days) or LONG (≥3 days)?</a:t>
            </a:r>
          </a:p>
          <a:p>
            <a:r>
              <a:rPr lang="en-US" sz="1200" dirty="0">
                <a:latin typeface="Courier New" panose="02070309020205020404" pitchFamily="49" charset="0"/>
                <a:cs typeface="Courier New" panose="02070309020205020404" pitchFamily="49" charset="0"/>
              </a:rPr>
              <a:t>""" + BIAS_INSTRUCTION + """</a:t>
            </a:r>
          </a:p>
          <a:p>
            <a:r>
              <a:rPr lang="en-US" sz="1200" dirty="0">
                <a:latin typeface="Courier New" panose="02070309020205020404" pitchFamily="49" charset="0"/>
                <a:cs typeface="Courier New" panose="02070309020205020404" pitchFamily="49" charset="0"/>
              </a:rPr>
              <a:t>Respond ONLY in this exact JSON format:</a:t>
            </a:r>
          </a:p>
          <a:p>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mortality_prediction</a:t>
            </a:r>
            <a:r>
              <a:rPr lang="en-US" sz="1200" dirty="0">
                <a:latin typeface="Courier New" panose="02070309020205020404" pitchFamily="49" charset="0"/>
                <a:cs typeface="Courier New" panose="02070309020205020404" pitchFamily="49" charset="0"/>
              </a:rPr>
              <a:t>": "SURVIVED" or "DIED", "</a:t>
            </a:r>
            <a:r>
              <a:rPr lang="en-US" sz="1200" dirty="0" err="1">
                <a:latin typeface="Courier New" panose="02070309020205020404" pitchFamily="49" charset="0"/>
                <a:cs typeface="Courier New" panose="02070309020205020404" pitchFamily="49" charset="0"/>
              </a:rPr>
              <a:t>los_prediction</a:t>
            </a:r>
            <a:r>
              <a:rPr lang="en-US" sz="1200" dirty="0">
                <a:latin typeface="Courier New" panose="02070309020205020404" pitchFamily="49" charset="0"/>
                <a:cs typeface="Courier New" panose="02070309020205020404" pitchFamily="49" charset="0"/>
              </a:rPr>
              <a:t>": "SHORT" or "LONG", "confidence": 0-100}"""</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ZERO_SHOT_USER = "{narrative}"</a:t>
            </a:r>
          </a:p>
        </p:txBody>
      </p:sp>
    </p:spTree>
    <p:extLst>
      <p:ext uri="{BB962C8B-B14F-4D97-AF65-F5344CB8AC3E}">
        <p14:creationId xmlns:p14="http://schemas.microsoft.com/office/powerpoint/2010/main" val="1374158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C681A2-CC69-E9B5-53D4-6EFE733752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A6E0A6C-0F88-CBA8-91FB-F62E639F6966}"/>
              </a:ext>
            </a:extLst>
          </p:cNvPr>
          <p:cNvSpPr/>
          <p:nvPr/>
        </p:nvSpPr>
        <p:spPr>
          <a:xfrm>
            <a:off x="1" y="0"/>
            <a:ext cx="2057400" cy="5143500"/>
          </a:xfrm>
          <a:prstGeom prst="rect">
            <a:avLst/>
          </a:prstGeom>
          <a:solidFill>
            <a:srgbClr val="0E2841"/>
          </a:solidFill>
          <a:ln w="12700">
            <a:solidFill>
              <a:srgbClr val="0E2841"/>
            </a:solidFill>
            <a:prstDash val="solid"/>
          </a:ln>
        </p:spPr>
        <p:txBody>
          <a:bodyPr/>
          <a:lstStyle/>
          <a:p>
            <a:endParaRPr lang="en-US"/>
          </a:p>
        </p:txBody>
      </p:sp>
      <p:sp>
        <p:nvSpPr>
          <p:cNvPr id="4" name="Text 2">
            <a:extLst>
              <a:ext uri="{FF2B5EF4-FFF2-40B4-BE49-F238E27FC236}">
                <a16:creationId xmlns:a16="http://schemas.microsoft.com/office/drawing/2014/main" id="{F781745E-6BA4-0356-4A5D-1E69A2F3AC10}"/>
              </a:ext>
            </a:extLst>
          </p:cNvPr>
          <p:cNvSpPr/>
          <p:nvPr/>
        </p:nvSpPr>
        <p:spPr>
          <a:xfrm>
            <a:off x="141514" y="1097280"/>
            <a:ext cx="1915886" cy="2926080"/>
          </a:xfrm>
          <a:prstGeom prst="rect">
            <a:avLst/>
          </a:prstGeom>
          <a:noFill/>
          <a:ln/>
        </p:spPr>
        <p:txBody>
          <a:bodyPr wrap="square" lIns="0" tIns="0" rIns="0" bIns="0" rtlCol="0" anchor="ctr"/>
          <a:lstStyle/>
          <a:p>
            <a:pPr marL="0" indent="0" algn="ctr">
              <a:buNone/>
            </a:pPr>
            <a:r>
              <a:rPr lang="en-US" sz="2400" dirty="0">
                <a:solidFill>
                  <a:srgbClr val="FFFFFF"/>
                </a:solidFill>
                <a:latin typeface="Aptos Display" pitchFamily="34" charset="0"/>
                <a:ea typeface="Aptos Display" pitchFamily="34" charset="-122"/>
                <a:cs typeface="Aptos Display" pitchFamily="34" charset="-120"/>
              </a:rPr>
              <a:t>Prompt - 2</a:t>
            </a:r>
            <a:endParaRPr lang="en-US" sz="2400" dirty="0"/>
          </a:p>
          <a:p>
            <a:pPr algn="ctr"/>
            <a:r>
              <a:rPr lang="en-US" sz="2400" dirty="0">
                <a:solidFill>
                  <a:srgbClr val="FFFFFF"/>
                </a:solidFill>
                <a:latin typeface="Aptos Display" pitchFamily="34" charset="0"/>
                <a:ea typeface="Aptos Display" pitchFamily="34" charset="-122"/>
                <a:cs typeface="Aptos Display" pitchFamily="34" charset="-120"/>
              </a:rPr>
              <a:t>1-SHOT IN-CONTEXT LEARNING </a:t>
            </a:r>
            <a:endParaRPr lang="en-US" sz="2400" dirty="0"/>
          </a:p>
        </p:txBody>
      </p:sp>
      <p:sp>
        <p:nvSpPr>
          <p:cNvPr id="12" name="TextBox 11">
            <a:extLst>
              <a:ext uri="{FF2B5EF4-FFF2-40B4-BE49-F238E27FC236}">
                <a16:creationId xmlns:a16="http://schemas.microsoft.com/office/drawing/2014/main" id="{C05B70C9-6E01-F31C-21AC-0E8CF520ACF3}"/>
              </a:ext>
            </a:extLst>
          </p:cNvPr>
          <p:cNvSpPr txBox="1"/>
          <p:nvPr/>
        </p:nvSpPr>
        <p:spPr>
          <a:xfrm>
            <a:off x="2340429" y="206829"/>
            <a:ext cx="6574972" cy="5078313"/>
          </a:xfrm>
          <a:prstGeom prst="rect">
            <a:avLst/>
          </a:prstGeom>
          <a:noFill/>
        </p:spPr>
        <p:txBody>
          <a:bodyPr wrap="square" rtlCol="0">
            <a:spAutoFit/>
          </a:bodyPr>
          <a:lstStyle/>
          <a:p>
            <a:r>
              <a:rPr lang="en-US" sz="900" dirty="0" err="1">
                <a:latin typeface="Courier New" panose="02070309020205020404" pitchFamily="49" charset="0"/>
                <a:cs typeface="Courier New" panose="02070309020205020404" pitchFamily="49" charset="0"/>
              </a:rPr>
              <a:t>died_patients</a:t>
            </a:r>
            <a:r>
              <a:rPr lang="en-US" sz="900" dirty="0">
                <a:latin typeface="Courier New" panose="02070309020205020404" pitchFamily="49" charset="0"/>
                <a:cs typeface="Courier New" panose="02070309020205020404" pitchFamily="49" charset="0"/>
              </a:rPr>
              <a:t> = </a:t>
            </a:r>
            <a:r>
              <a:rPr lang="en-US" sz="900" dirty="0" err="1">
                <a:latin typeface="Courier New" panose="02070309020205020404" pitchFamily="49" charset="0"/>
                <a:cs typeface="Courier New" panose="02070309020205020404" pitchFamily="49" charset="0"/>
              </a:rPr>
              <a:t>df</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df</a:t>
            </a:r>
            <a:r>
              <a:rPr lang="en-US" sz="900" dirty="0">
                <a:latin typeface="Courier New" panose="02070309020205020404" pitchFamily="49" charset="0"/>
                <a:cs typeface="Courier New" panose="02070309020205020404" pitchFamily="49" charset="0"/>
              </a:rPr>
              <a:t>['mortality'] == 1].copy()</a:t>
            </a:r>
          </a:p>
          <a:p>
            <a:r>
              <a:rPr lang="en-US" sz="900" dirty="0" err="1">
                <a:latin typeface="Courier New" panose="02070309020205020404" pitchFamily="49" charset="0"/>
                <a:cs typeface="Courier New" panose="02070309020205020404" pitchFamily="49" charset="0"/>
              </a:rPr>
              <a:t>died_patients</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abnormality_score</a:t>
            </a:r>
            <a:r>
              <a:rPr lang="en-US" sz="900" dirty="0">
                <a:latin typeface="Courier New" panose="02070309020205020404" pitchFamily="49" charset="0"/>
                <a:cs typeface="Courier New" panose="02070309020205020404" pitchFamily="49" charset="0"/>
              </a:rPr>
              <a:t>'] = (</a:t>
            </a:r>
          </a:p>
          <a:p>
            <a:r>
              <a:rPr lang="en-US" sz="900" dirty="0">
                <a:latin typeface="Courier New" panose="02070309020205020404" pitchFamily="49" charset="0"/>
                <a:cs typeface="Courier New" panose="02070309020205020404" pitchFamily="49" charset="0"/>
              </a:rPr>
              <a:t>    (</a:t>
            </a:r>
            <a:r>
              <a:rPr lang="en-US" sz="900" dirty="0" err="1">
                <a:latin typeface="Courier New" panose="02070309020205020404" pitchFamily="49" charset="0"/>
                <a:cs typeface="Courier New" panose="02070309020205020404" pitchFamily="49" charset="0"/>
              </a:rPr>
              <a:t>died_patients</a:t>
            </a:r>
            <a:r>
              <a:rPr lang="en-US" sz="900" dirty="0">
                <a:latin typeface="Courier New" panose="02070309020205020404" pitchFamily="49" charset="0"/>
                <a:cs typeface="Courier New" panose="02070309020205020404" pitchFamily="49" charset="0"/>
              </a:rPr>
              <a:t>['spo2']  &lt; 90).</a:t>
            </a:r>
            <a:r>
              <a:rPr lang="en-US" sz="900" dirty="0" err="1">
                <a:latin typeface="Courier New" panose="02070309020205020404" pitchFamily="49" charset="0"/>
                <a:cs typeface="Courier New" panose="02070309020205020404" pitchFamily="49" charset="0"/>
              </a:rPr>
              <a:t>astype</a:t>
            </a:r>
            <a:r>
              <a:rPr lang="en-US" sz="900" dirty="0">
                <a:latin typeface="Courier New" panose="02070309020205020404" pitchFamily="49" charset="0"/>
                <a:cs typeface="Courier New" panose="02070309020205020404" pitchFamily="49" charset="0"/>
              </a:rPr>
              <a:t>(int) * 3 +</a:t>
            </a:r>
          </a:p>
          <a:p>
            <a:r>
              <a:rPr lang="en-US" sz="900" dirty="0">
                <a:latin typeface="Courier New" panose="02070309020205020404" pitchFamily="49" charset="0"/>
                <a:cs typeface="Courier New" panose="02070309020205020404" pitchFamily="49" charset="0"/>
              </a:rPr>
              <a:t>    (</a:t>
            </a:r>
            <a:r>
              <a:rPr lang="en-US" sz="900" dirty="0" err="1">
                <a:latin typeface="Courier New" panose="02070309020205020404" pitchFamily="49" charset="0"/>
                <a:cs typeface="Courier New" panose="02070309020205020404" pitchFamily="49" charset="0"/>
              </a:rPr>
              <a:t>died_patients</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sbp</a:t>
            </a:r>
            <a:r>
              <a:rPr lang="en-US" sz="900" dirty="0">
                <a:latin typeface="Courier New" panose="02070309020205020404" pitchFamily="49" charset="0"/>
                <a:cs typeface="Courier New" panose="02070309020205020404" pitchFamily="49" charset="0"/>
              </a:rPr>
              <a:t>']   &lt; 90).</a:t>
            </a:r>
            <a:r>
              <a:rPr lang="en-US" sz="900" dirty="0" err="1">
                <a:latin typeface="Courier New" panose="02070309020205020404" pitchFamily="49" charset="0"/>
                <a:cs typeface="Courier New" panose="02070309020205020404" pitchFamily="49" charset="0"/>
              </a:rPr>
              <a:t>astype</a:t>
            </a:r>
            <a:r>
              <a:rPr lang="en-US" sz="900" dirty="0">
                <a:latin typeface="Courier New" panose="02070309020205020404" pitchFamily="49" charset="0"/>
                <a:cs typeface="Courier New" panose="02070309020205020404" pitchFamily="49" charset="0"/>
              </a:rPr>
              <a:t>(int) * 3 +</a:t>
            </a:r>
          </a:p>
          <a:p>
            <a:r>
              <a:rPr lang="en-US" sz="900" dirty="0">
                <a:latin typeface="Courier New" panose="02070309020205020404" pitchFamily="49" charset="0"/>
                <a:cs typeface="Courier New" panose="02070309020205020404" pitchFamily="49" charset="0"/>
              </a:rPr>
              <a:t>    (</a:t>
            </a:r>
            <a:r>
              <a:rPr lang="en-US" sz="900" dirty="0" err="1">
                <a:latin typeface="Courier New" panose="02070309020205020404" pitchFamily="49" charset="0"/>
                <a:cs typeface="Courier New" panose="02070309020205020404" pitchFamily="49" charset="0"/>
              </a:rPr>
              <a:t>died_patients</a:t>
            </a:r>
            <a:r>
              <a:rPr lang="en-US" sz="900" dirty="0">
                <a:latin typeface="Courier New" panose="02070309020205020404" pitchFamily="49" charset="0"/>
                <a:cs typeface="Courier New" panose="02070309020205020404" pitchFamily="49" charset="0"/>
              </a:rPr>
              <a:t>['creatinine'] &gt; 2.5).</a:t>
            </a:r>
            <a:r>
              <a:rPr lang="en-US" sz="900" dirty="0" err="1">
                <a:latin typeface="Courier New" panose="02070309020205020404" pitchFamily="49" charset="0"/>
                <a:cs typeface="Courier New" panose="02070309020205020404" pitchFamily="49" charset="0"/>
              </a:rPr>
              <a:t>astype</a:t>
            </a:r>
            <a:r>
              <a:rPr lang="en-US" sz="900" dirty="0">
                <a:latin typeface="Courier New" panose="02070309020205020404" pitchFamily="49" charset="0"/>
                <a:cs typeface="Courier New" panose="02070309020205020404" pitchFamily="49" charset="0"/>
              </a:rPr>
              <a:t>(int) * 2 +</a:t>
            </a:r>
          </a:p>
          <a:p>
            <a:r>
              <a:rPr lang="en-US" sz="900" dirty="0">
                <a:latin typeface="Courier New" panose="02070309020205020404" pitchFamily="49" charset="0"/>
                <a:cs typeface="Courier New" panose="02070309020205020404" pitchFamily="49" charset="0"/>
              </a:rPr>
              <a:t>    (</a:t>
            </a:r>
            <a:r>
              <a:rPr lang="en-US" sz="900" dirty="0" err="1">
                <a:latin typeface="Courier New" panose="02070309020205020404" pitchFamily="49" charset="0"/>
                <a:cs typeface="Courier New" panose="02070309020205020404" pitchFamily="49" charset="0"/>
              </a:rPr>
              <a:t>died_patients</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wbc</a:t>
            </a:r>
            <a:r>
              <a:rPr lang="en-US" sz="900" dirty="0">
                <a:latin typeface="Courier New" panose="02070309020205020404" pitchFamily="49" charset="0"/>
                <a:cs typeface="Courier New" panose="02070309020205020404" pitchFamily="49" charset="0"/>
              </a:rPr>
              <a:t>']   &gt; 15).</a:t>
            </a:r>
            <a:r>
              <a:rPr lang="en-US" sz="900" dirty="0" err="1">
                <a:latin typeface="Courier New" panose="02070309020205020404" pitchFamily="49" charset="0"/>
                <a:cs typeface="Courier New" panose="02070309020205020404" pitchFamily="49" charset="0"/>
              </a:rPr>
              <a:t>astype</a:t>
            </a:r>
            <a:r>
              <a:rPr lang="en-US" sz="900" dirty="0">
                <a:latin typeface="Courier New" panose="02070309020205020404" pitchFamily="49" charset="0"/>
                <a:cs typeface="Courier New" panose="02070309020205020404" pitchFamily="49" charset="0"/>
              </a:rPr>
              <a:t>(int) +</a:t>
            </a:r>
          </a:p>
          <a:p>
            <a:r>
              <a:rPr lang="en-US" sz="900" dirty="0">
                <a:latin typeface="Courier New" panose="02070309020205020404" pitchFamily="49" charset="0"/>
                <a:cs typeface="Courier New" panose="02070309020205020404" pitchFamily="49" charset="0"/>
              </a:rPr>
              <a:t>    (</a:t>
            </a:r>
            <a:r>
              <a:rPr lang="en-US" sz="900" dirty="0" err="1">
                <a:latin typeface="Courier New" panose="02070309020205020404" pitchFamily="49" charset="0"/>
                <a:cs typeface="Courier New" panose="02070309020205020404" pitchFamily="49" charset="0"/>
              </a:rPr>
              <a:t>died_patients</a:t>
            </a:r>
            <a:r>
              <a:rPr lang="en-US" sz="900" dirty="0">
                <a:latin typeface="Courier New" panose="02070309020205020404" pitchFamily="49" charset="0"/>
                <a:cs typeface="Courier New" panose="02070309020205020404" pitchFamily="49" charset="0"/>
              </a:rPr>
              <a:t>['age']   &gt; 70).</a:t>
            </a:r>
            <a:r>
              <a:rPr lang="en-US" sz="900" dirty="0" err="1">
                <a:latin typeface="Courier New" panose="02070309020205020404" pitchFamily="49" charset="0"/>
                <a:cs typeface="Courier New" panose="02070309020205020404" pitchFamily="49" charset="0"/>
              </a:rPr>
              <a:t>astype</a:t>
            </a:r>
            <a:r>
              <a:rPr lang="en-US" sz="900" dirty="0">
                <a:latin typeface="Courier New" panose="02070309020205020404" pitchFamily="49" charset="0"/>
                <a:cs typeface="Courier New" panose="02070309020205020404" pitchFamily="49" charset="0"/>
              </a:rPr>
              <a:t>(int)</a:t>
            </a:r>
          </a:p>
          <a:p>
            <a:r>
              <a:rPr lang="en-US" sz="900" dirty="0">
                <a:latin typeface="Courier New" panose="02070309020205020404" pitchFamily="49" charset="0"/>
                <a:cs typeface="Courier New" panose="02070309020205020404" pitchFamily="49" charset="0"/>
              </a:rPr>
              <a:t>)</a:t>
            </a:r>
          </a:p>
          <a:p>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 = </a:t>
            </a:r>
            <a:r>
              <a:rPr lang="en-US" sz="900" dirty="0" err="1">
                <a:latin typeface="Courier New" panose="02070309020205020404" pitchFamily="49" charset="0"/>
                <a:cs typeface="Courier New" panose="02070309020205020404" pitchFamily="49" charset="0"/>
              </a:rPr>
              <a:t>died_patients.sort_values</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abnormality_score</a:t>
            </a:r>
            <a:r>
              <a:rPr lang="en-US" sz="900" dirty="0">
                <a:latin typeface="Courier New" panose="02070309020205020404" pitchFamily="49" charset="0"/>
                <a:cs typeface="Courier New" panose="02070309020205020404" pitchFamily="49" charset="0"/>
              </a:rPr>
              <a:t>', ascending=False).</a:t>
            </a:r>
            <a:r>
              <a:rPr lang="en-US" sz="900" dirty="0" err="1">
                <a:latin typeface="Courier New" panose="02070309020205020404" pitchFamily="49" charset="0"/>
                <a:cs typeface="Courier New" panose="02070309020205020404" pitchFamily="49" charset="0"/>
              </a:rPr>
              <a:t>iloc</a:t>
            </a:r>
            <a:r>
              <a:rPr lang="en-US" sz="900" dirty="0">
                <a:latin typeface="Courier New" panose="02070309020205020404" pitchFamily="49" charset="0"/>
                <a:cs typeface="Courier New" panose="02070309020205020404" pitchFamily="49" charset="0"/>
              </a:rPr>
              <a:t>[0]</a:t>
            </a:r>
          </a:p>
          <a:p>
            <a:endParaRPr lang="en-US" sz="900" dirty="0">
              <a:latin typeface="Courier New" panose="02070309020205020404" pitchFamily="49" charset="0"/>
              <a:cs typeface="Courier New" panose="02070309020205020404" pitchFamily="49" charset="0"/>
            </a:endParaRPr>
          </a:p>
          <a:p>
            <a:r>
              <a:rPr lang="en-US" sz="900" dirty="0">
                <a:latin typeface="Courier New" panose="02070309020205020404" pitchFamily="49" charset="0"/>
                <a:cs typeface="Courier New" panose="02070309020205020404" pitchFamily="49" charset="0"/>
              </a:rPr>
              <a:t>ICL_1SHOT_EXAMPLE = f"""</a:t>
            </a:r>
          </a:p>
          <a:p>
            <a:r>
              <a:rPr lang="en-US" sz="900" dirty="0">
                <a:latin typeface="Courier New" panose="02070309020205020404" pitchFamily="49" charset="0"/>
                <a:cs typeface="Courier New" panose="02070309020205020404" pitchFamily="49" charset="0"/>
              </a:rPr>
              <a:t>EXAMPLE PATIENT (clear high-risk case):</a:t>
            </a:r>
          </a:p>
          <a:p>
            <a:r>
              <a:rPr lang="en-US" sz="900" dirty="0">
                <a:latin typeface="Courier New" panose="02070309020205020404" pitchFamily="49" charset="0"/>
                <a:cs typeface="Courier New" panose="02070309020205020404" pitchFamily="49" charset="0"/>
              </a:rPr>
              <a:t>PATIENT PROFILE — ID: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subject_id</a:t>
            </a:r>
            <a:r>
              <a:rPr lang="en-US" sz="900" dirty="0">
                <a:latin typeface="Courier New" panose="02070309020205020404" pitchFamily="49" charset="0"/>
                <a:cs typeface="Courier New" panose="02070309020205020404" pitchFamily="49" charset="0"/>
              </a:rPr>
              <a:t>']}</a:t>
            </a:r>
          </a:p>
          <a:p>
            <a:r>
              <a:rPr lang="en-US" sz="900" dirty="0">
                <a:latin typeface="Courier New" panose="02070309020205020404" pitchFamily="49" charset="0"/>
                <a:cs typeface="Courier New" panose="02070309020205020404" pitchFamily="49" charset="0"/>
              </a:rPr>
              <a:t>Demographics : Age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['age']},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['gender']}</a:t>
            </a:r>
          </a:p>
          <a:p>
            <a:r>
              <a:rPr lang="en-US" sz="900" dirty="0">
                <a:latin typeface="Courier New" panose="02070309020205020404" pitchFamily="49" charset="0"/>
                <a:cs typeface="Courier New" panose="02070309020205020404" pitchFamily="49" charset="0"/>
              </a:rPr>
              <a:t>Admission Dx :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['diagnosis']}</a:t>
            </a:r>
          </a:p>
          <a:p>
            <a:r>
              <a:rPr lang="en-US" sz="900" dirty="0">
                <a:latin typeface="Courier New" panose="02070309020205020404" pitchFamily="49" charset="0"/>
                <a:cs typeface="Courier New" panose="02070309020205020404" pitchFamily="49" charset="0"/>
              </a:rPr>
              <a:t>Severity Level: {</a:t>
            </a:r>
            <a:r>
              <a:rPr lang="en-US" sz="900" dirty="0" err="1">
                <a:latin typeface="Courier New" panose="02070309020205020404" pitchFamily="49" charset="0"/>
                <a:cs typeface="Courier New" panose="02070309020205020404" pitchFamily="49" charset="0"/>
              </a:rPr>
              <a:t>clearest_died.get</a:t>
            </a:r>
            <a:r>
              <a:rPr lang="en-US" sz="900" dirty="0">
                <a:latin typeface="Courier New" panose="02070309020205020404" pitchFamily="49" charset="0"/>
                <a:cs typeface="Courier New" panose="02070309020205020404" pitchFamily="49" charset="0"/>
              </a:rPr>
              <a:t>('severity', 'HIGH')}</a:t>
            </a:r>
          </a:p>
          <a:p>
            <a:r>
              <a:rPr lang="en-US" sz="900" dirty="0">
                <a:latin typeface="Courier New" panose="02070309020205020404" pitchFamily="49" charset="0"/>
                <a:cs typeface="Courier New" panose="02070309020205020404" pitchFamily="49" charset="0"/>
              </a:rPr>
              <a:t>Vital Signs:</a:t>
            </a:r>
          </a:p>
          <a:p>
            <a:r>
              <a:rPr lang="en-US" sz="900" dirty="0">
                <a:latin typeface="Courier New" panose="02070309020205020404" pitchFamily="49" charset="0"/>
                <a:cs typeface="Courier New" panose="02070309020205020404" pitchFamily="49" charset="0"/>
              </a:rPr>
              <a:t>  Heart rate        :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hr</a:t>
            </a:r>
            <a:r>
              <a:rPr lang="en-US" sz="900" dirty="0">
                <a:latin typeface="Courier New" panose="02070309020205020404" pitchFamily="49" charset="0"/>
                <a:cs typeface="Courier New" panose="02070309020205020404" pitchFamily="49" charset="0"/>
              </a:rPr>
              <a:t>']} bpm</a:t>
            </a:r>
          </a:p>
          <a:p>
            <a:r>
              <a:rPr lang="en-US" sz="900" dirty="0">
                <a:latin typeface="Courier New" panose="02070309020205020404" pitchFamily="49" charset="0"/>
                <a:cs typeface="Courier New" panose="02070309020205020404" pitchFamily="49" charset="0"/>
              </a:rPr>
              <a:t>  Blood pressure    :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sbp</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dbp</a:t>
            </a:r>
            <a:r>
              <a:rPr lang="en-US" sz="900" dirty="0">
                <a:latin typeface="Courier New" panose="02070309020205020404" pitchFamily="49" charset="0"/>
                <a:cs typeface="Courier New" panose="02070309020205020404" pitchFamily="49" charset="0"/>
              </a:rPr>
              <a:t>']} mmHg</a:t>
            </a:r>
          </a:p>
          <a:p>
            <a:r>
              <a:rPr lang="en-US" sz="900" dirty="0">
                <a:latin typeface="Courier New" panose="02070309020205020404" pitchFamily="49" charset="0"/>
                <a:cs typeface="Courier New" panose="02070309020205020404" pitchFamily="49" charset="0"/>
              </a:rPr>
              <a:t>  SpO2              :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['spo2']}%</a:t>
            </a:r>
          </a:p>
          <a:p>
            <a:r>
              <a:rPr lang="en-US" sz="900" dirty="0">
                <a:latin typeface="Courier New" panose="02070309020205020404" pitchFamily="49" charset="0"/>
                <a:cs typeface="Courier New" panose="02070309020205020404" pitchFamily="49" charset="0"/>
              </a:rPr>
              <a:t>  Respiratory rate  :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resp_rate</a:t>
            </a:r>
            <a:r>
              <a:rPr lang="en-US" sz="900" dirty="0">
                <a:latin typeface="Courier New" panose="02070309020205020404" pitchFamily="49" charset="0"/>
                <a:cs typeface="Courier New" panose="02070309020205020404" pitchFamily="49" charset="0"/>
              </a:rPr>
              <a:t>']} breaths/min</a:t>
            </a:r>
          </a:p>
          <a:p>
            <a:r>
              <a:rPr lang="en-US" sz="900" dirty="0">
                <a:latin typeface="Courier New" panose="02070309020205020404" pitchFamily="49" charset="0"/>
                <a:cs typeface="Courier New" panose="02070309020205020404" pitchFamily="49" charset="0"/>
              </a:rPr>
              <a:t>Laboratory Results:</a:t>
            </a:r>
          </a:p>
          <a:p>
            <a:r>
              <a:rPr lang="en-US" sz="900" dirty="0">
                <a:latin typeface="Courier New" panose="02070309020205020404" pitchFamily="49" charset="0"/>
                <a:cs typeface="Courier New" panose="02070309020205020404" pitchFamily="49" charset="0"/>
              </a:rPr>
              <a:t>  Creatinine        :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['creatinine']} mg/dL</a:t>
            </a:r>
          </a:p>
          <a:p>
            <a:r>
              <a:rPr lang="en-US" sz="900" dirty="0">
                <a:latin typeface="Courier New" panose="02070309020205020404" pitchFamily="49" charset="0"/>
                <a:cs typeface="Courier New" panose="02070309020205020404" pitchFamily="49" charset="0"/>
              </a:rPr>
              <a:t>  WBC count         :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wbc</a:t>
            </a:r>
            <a:r>
              <a:rPr lang="en-US" sz="900" dirty="0">
                <a:latin typeface="Courier New" panose="02070309020205020404" pitchFamily="49" charset="0"/>
                <a:cs typeface="Courier New" panose="02070309020205020404" pitchFamily="49" charset="0"/>
              </a:rPr>
              <a:t>']} ×10³/</a:t>
            </a:r>
            <a:r>
              <a:rPr lang="el-GR" sz="900" dirty="0">
                <a:latin typeface="Courier New" panose="02070309020205020404" pitchFamily="49" charset="0"/>
                <a:cs typeface="Courier New" panose="02070309020205020404" pitchFamily="49" charset="0"/>
              </a:rPr>
              <a:t>μ</a:t>
            </a:r>
            <a:r>
              <a:rPr lang="en-US" sz="900" dirty="0">
                <a:latin typeface="Courier New" panose="02070309020205020404" pitchFamily="49" charset="0"/>
                <a:cs typeface="Courier New" panose="02070309020205020404" pitchFamily="49" charset="0"/>
              </a:rPr>
              <a:t>L</a:t>
            </a:r>
          </a:p>
          <a:p>
            <a:r>
              <a:rPr lang="en-US" sz="900" dirty="0">
                <a:latin typeface="Courier New" panose="02070309020205020404" pitchFamily="49" charset="0"/>
                <a:cs typeface="Courier New" panose="02070309020205020404" pitchFamily="49" charset="0"/>
              </a:rPr>
              <a:t>  Glucose           :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['glucose']} mg/dL</a:t>
            </a:r>
          </a:p>
          <a:p>
            <a:r>
              <a:rPr lang="en-US" sz="900" dirty="0">
                <a:latin typeface="Courier New" panose="02070309020205020404" pitchFamily="49" charset="0"/>
                <a:cs typeface="Courier New" panose="02070309020205020404" pitchFamily="49" charset="0"/>
              </a:rPr>
              <a:t>  Sodium            :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['sodium']} </a:t>
            </a:r>
            <a:r>
              <a:rPr lang="en-US" sz="900" dirty="0" err="1">
                <a:latin typeface="Courier New" panose="02070309020205020404" pitchFamily="49" charset="0"/>
                <a:cs typeface="Courier New" panose="02070309020205020404" pitchFamily="49" charset="0"/>
              </a:rPr>
              <a:t>mEq</a:t>
            </a:r>
            <a:r>
              <a:rPr lang="en-US" sz="900" dirty="0">
                <a:latin typeface="Courier New" panose="02070309020205020404" pitchFamily="49" charset="0"/>
                <a:cs typeface="Courier New" panose="02070309020205020404" pitchFamily="49" charset="0"/>
              </a:rPr>
              <a:t>/L</a:t>
            </a:r>
          </a:p>
          <a:p>
            <a:r>
              <a:rPr lang="en-US" sz="900" dirty="0">
                <a:latin typeface="Courier New" panose="02070309020205020404" pitchFamily="49" charset="0"/>
                <a:cs typeface="Courier New" panose="02070309020205020404" pitchFamily="49" charset="0"/>
              </a:rPr>
              <a:t>Current Medications: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['medications']}</a:t>
            </a:r>
          </a:p>
          <a:p>
            <a:endParaRPr lang="en-US" sz="900" dirty="0">
              <a:latin typeface="Courier New" panose="02070309020205020404" pitchFamily="49" charset="0"/>
              <a:cs typeface="Courier New" panose="02070309020205020404" pitchFamily="49" charset="0"/>
            </a:endParaRPr>
          </a:p>
          <a:p>
            <a:r>
              <a:rPr lang="en-US" sz="900" dirty="0">
                <a:latin typeface="Courier New" panose="02070309020205020404" pitchFamily="49" charset="0"/>
                <a:cs typeface="Courier New" panose="02070309020205020404" pitchFamily="49" charset="0"/>
              </a:rPr>
              <a:t>CORRECT ANSWER:</a:t>
            </a:r>
          </a:p>
          <a:p>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mortality_prediction</a:t>
            </a:r>
            <a:r>
              <a:rPr lang="en-US" sz="900" dirty="0">
                <a:latin typeface="Courier New" panose="02070309020205020404" pitchFamily="49" charset="0"/>
                <a:cs typeface="Courier New" panose="02070309020205020404" pitchFamily="49" charset="0"/>
              </a:rPr>
              <a:t>": "DIED", "</a:t>
            </a:r>
            <a:r>
              <a:rPr lang="en-US" sz="900" dirty="0" err="1">
                <a:latin typeface="Courier New" panose="02070309020205020404" pitchFamily="49" charset="0"/>
                <a:cs typeface="Courier New" panose="02070309020205020404" pitchFamily="49" charset="0"/>
              </a:rPr>
              <a:t>los_prediction</a:t>
            </a:r>
            <a:r>
              <a:rPr lang="en-US" sz="900" dirty="0">
                <a:latin typeface="Courier New" panose="02070309020205020404" pitchFamily="49" charset="0"/>
                <a:cs typeface="Courier New" panose="02070309020205020404" pitchFamily="49" charset="0"/>
              </a:rPr>
              <a:t>": "{'LONG' if </a:t>
            </a:r>
            <a:r>
              <a:rPr lang="en-US" sz="900" dirty="0" err="1">
                <a:latin typeface="Courier New" panose="02070309020205020404" pitchFamily="49" charset="0"/>
                <a:cs typeface="Courier New" panose="02070309020205020404" pitchFamily="49" charset="0"/>
              </a:rPr>
              <a:t>clearest_died</a:t>
            </a:r>
            <a:r>
              <a:rPr lang="en-US" sz="900" dirty="0">
                <a:latin typeface="Courier New" panose="02070309020205020404" pitchFamily="49" charset="0"/>
                <a:cs typeface="Courier New" panose="02070309020205020404" pitchFamily="49" charset="0"/>
              </a:rPr>
              <a:t>['</a:t>
            </a:r>
            <a:r>
              <a:rPr lang="en-US" sz="900" dirty="0" err="1">
                <a:latin typeface="Courier New" panose="02070309020205020404" pitchFamily="49" charset="0"/>
                <a:cs typeface="Courier New" panose="02070309020205020404" pitchFamily="49" charset="0"/>
              </a:rPr>
              <a:t>los_label</a:t>
            </a:r>
            <a:r>
              <a:rPr lang="en-US" sz="900" dirty="0">
                <a:latin typeface="Courier New" panose="02070309020205020404" pitchFamily="49" charset="0"/>
                <a:cs typeface="Courier New" panose="02070309020205020404" pitchFamily="49" charset="0"/>
              </a:rPr>
              <a:t>']==1 else 'SHORT'}", "confidence": 92}}</a:t>
            </a:r>
          </a:p>
          <a:p>
            <a:r>
              <a:rPr lang="en-US" sz="900" dirty="0">
                <a:latin typeface="Courier New" panose="02070309020205020404" pitchFamily="49" charset="0"/>
                <a:cs typeface="Courier New" panose="02070309020205020404" pitchFamily="49" charset="0"/>
              </a:rPr>
              <a:t>"""</a:t>
            </a:r>
          </a:p>
          <a:p>
            <a:endParaRPr lang="en-US" sz="900" dirty="0">
              <a:latin typeface="Courier New" panose="02070309020205020404" pitchFamily="49" charset="0"/>
              <a:cs typeface="Courier New" panose="02070309020205020404" pitchFamily="49" charset="0"/>
            </a:endParaRPr>
          </a:p>
          <a:p>
            <a:r>
              <a:rPr lang="en-US" sz="900" dirty="0">
                <a:latin typeface="Courier New" panose="02070309020205020404" pitchFamily="49" charset="0"/>
                <a:cs typeface="Courier New" panose="02070309020205020404" pitchFamily="49" charset="0"/>
              </a:rPr>
              <a:t>ICL_1SHOT_SYSTEM = ZERO_SHOT_SYSTEM</a:t>
            </a:r>
          </a:p>
          <a:p>
            <a:r>
              <a:rPr lang="en-US" sz="900" dirty="0">
                <a:latin typeface="Courier New" panose="02070309020205020404" pitchFamily="49" charset="0"/>
                <a:cs typeface="Courier New" panose="02070309020205020404" pitchFamily="49" charset="0"/>
              </a:rPr>
              <a:t>ICL_1SHOT_USER   = ICL_1SHOT_EXAMPLE + "\</a:t>
            </a:r>
            <a:r>
              <a:rPr lang="en-US" sz="900" dirty="0" err="1">
                <a:latin typeface="Courier New" panose="02070309020205020404" pitchFamily="49" charset="0"/>
                <a:cs typeface="Courier New" panose="02070309020205020404" pitchFamily="49" charset="0"/>
              </a:rPr>
              <a:t>nNEW</a:t>
            </a:r>
            <a:r>
              <a:rPr lang="en-US" sz="900" dirty="0">
                <a:latin typeface="Courier New" panose="02070309020205020404" pitchFamily="49" charset="0"/>
                <a:cs typeface="Courier New" panose="02070309020205020404" pitchFamily="49" charset="0"/>
              </a:rPr>
              <a:t> PATIENT TO PREDICT:\n{narrative}"</a:t>
            </a:r>
          </a:p>
        </p:txBody>
      </p:sp>
    </p:spTree>
    <p:extLst>
      <p:ext uri="{BB962C8B-B14F-4D97-AF65-F5344CB8AC3E}">
        <p14:creationId xmlns:p14="http://schemas.microsoft.com/office/powerpoint/2010/main" val="1286198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9D939D4-D5B2-67C2-C5EB-A4FF99DA851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D9BCD75-309B-C578-7C26-7EE95F316E02}"/>
              </a:ext>
            </a:extLst>
          </p:cNvPr>
          <p:cNvSpPr/>
          <p:nvPr/>
        </p:nvSpPr>
        <p:spPr>
          <a:xfrm>
            <a:off x="1" y="0"/>
            <a:ext cx="1905000" cy="5143500"/>
          </a:xfrm>
          <a:prstGeom prst="rect">
            <a:avLst/>
          </a:prstGeom>
          <a:solidFill>
            <a:srgbClr val="0E2841"/>
          </a:solidFill>
          <a:ln w="12700">
            <a:solidFill>
              <a:srgbClr val="0E2841"/>
            </a:solidFill>
            <a:prstDash val="solid"/>
          </a:ln>
        </p:spPr>
        <p:txBody>
          <a:bodyPr/>
          <a:lstStyle/>
          <a:p>
            <a:endParaRPr lang="en-US"/>
          </a:p>
        </p:txBody>
      </p:sp>
      <p:sp>
        <p:nvSpPr>
          <p:cNvPr id="4" name="Text 2">
            <a:extLst>
              <a:ext uri="{FF2B5EF4-FFF2-40B4-BE49-F238E27FC236}">
                <a16:creationId xmlns:a16="http://schemas.microsoft.com/office/drawing/2014/main" id="{C21AEF36-4C89-00A8-765E-D4B95D49466E}"/>
              </a:ext>
            </a:extLst>
          </p:cNvPr>
          <p:cNvSpPr/>
          <p:nvPr/>
        </p:nvSpPr>
        <p:spPr>
          <a:xfrm>
            <a:off x="141514" y="1097280"/>
            <a:ext cx="1763486" cy="2926080"/>
          </a:xfrm>
          <a:prstGeom prst="rect">
            <a:avLst/>
          </a:prstGeom>
          <a:noFill/>
          <a:ln/>
        </p:spPr>
        <p:txBody>
          <a:bodyPr wrap="square" lIns="0" tIns="0" rIns="0" bIns="0" rtlCol="0" anchor="ctr"/>
          <a:lstStyle/>
          <a:p>
            <a:pPr algn="ctr"/>
            <a:r>
              <a:rPr lang="en-US" sz="2400" dirty="0">
                <a:solidFill>
                  <a:srgbClr val="FFFFFF"/>
                </a:solidFill>
                <a:latin typeface="Aptos Display" pitchFamily="34" charset="0"/>
                <a:ea typeface="Aptos Display" pitchFamily="34" charset="-122"/>
                <a:cs typeface="Aptos Display" pitchFamily="34" charset="-120"/>
              </a:rPr>
              <a:t>Prompt - 3 - 3-SHOT IN-CONTEXT LEARNING</a:t>
            </a:r>
            <a:endParaRPr lang="en-US" sz="24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 </a:t>
            </a:r>
            <a:endParaRPr lang="en-US" sz="4000" dirty="0"/>
          </a:p>
        </p:txBody>
      </p:sp>
      <p:sp>
        <p:nvSpPr>
          <p:cNvPr id="12" name="TextBox 11">
            <a:extLst>
              <a:ext uri="{FF2B5EF4-FFF2-40B4-BE49-F238E27FC236}">
                <a16:creationId xmlns:a16="http://schemas.microsoft.com/office/drawing/2014/main" id="{674888F7-101F-CE00-09E9-A0CC5A318FC9}"/>
              </a:ext>
            </a:extLst>
          </p:cNvPr>
          <p:cNvSpPr txBox="1"/>
          <p:nvPr/>
        </p:nvSpPr>
        <p:spPr>
          <a:xfrm>
            <a:off x="2175913" y="294203"/>
            <a:ext cx="6173431" cy="4555093"/>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ICL_3SHOT_EXAMPLES = """</a:t>
            </a:r>
          </a:p>
          <a:p>
            <a:r>
              <a:rPr lang="en-US" sz="1000" dirty="0">
                <a:latin typeface="Courier New" panose="02070309020205020404" pitchFamily="49" charset="0"/>
                <a:cs typeface="Courier New" panose="02070309020205020404" pitchFamily="49" charset="0"/>
              </a:rPr>
              <a:t>EXAMPLE 1 (High risk — DIED, LONG):</a:t>
            </a:r>
          </a:p>
          <a:p>
            <a:r>
              <a:rPr lang="en-US" sz="1000" dirty="0">
                <a:latin typeface="Courier New" panose="02070309020205020404" pitchFamily="49" charset="0"/>
                <a:cs typeface="Courier New" panose="02070309020205020404" pitchFamily="49" charset="0"/>
              </a:rPr>
              <a:t>PATIENT PROFILE — ID: DEMO01</a:t>
            </a:r>
          </a:p>
          <a:p>
            <a:r>
              <a:rPr lang="en-US" sz="1000" dirty="0">
                <a:latin typeface="Courier New" panose="02070309020205020404" pitchFamily="49" charset="0"/>
                <a:cs typeface="Courier New" panose="02070309020205020404" pitchFamily="49" charset="0"/>
              </a:rPr>
              <a:t>Demographics : Age 78, M | Admission Dx: Severe sepsis — respiratory source</a:t>
            </a:r>
          </a:p>
          <a:p>
            <a:r>
              <a:rPr lang="en-US" sz="1000" dirty="0">
                <a:latin typeface="Courier New" panose="02070309020205020404" pitchFamily="49" charset="0"/>
                <a:cs typeface="Courier New" panose="02070309020205020404" pitchFamily="49" charset="0"/>
              </a:rPr>
              <a:t>Vitals: HR 122, BP 80/50, Temp 39.2°C, SpO2 86%, RR 31</a:t>
            </a:r>
          </a:p>
          <a:p>
            <a:r>
              <a:rPr lang="en-US" sz="1000" dirty="0">
                <a:latin typeface="Courier New" panose="02070309020205020404" pitchFamily="49" charset="0"/>
                <a:cs typeface="Courier New" panose="02070309020205020404" pitchFamily="49" charset="0"/>
              </a:rPr>
              <a:t>Labs: Glucose 289, Creatinine 3.8, WBC 21.0, Sodium 128</a:t>
            </a:r>
          </a:p>
          <a:p>
            <a:r>
              <a:rPr lang="en-US" sz="1000" dirty="0">
                <a:latin typeface="Courier New" panose="02070309020205020404" pitchFamily="49" charset="0"/>
                <a:cs typeface="Courier New" panose="02070309020205020404" pitchFamily="49" charset="0"/>
              </a:rPr>
              <a:t>Meds: norepinephrine, meropenem, vancomycin, insulin</a:t>
            </a:r>
          </a:p>
          <a:p>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mortality_prediction</a:t>
            </a:r>
            <a:r>
              <a:rPr lang="en-US" sz="1000" dirty="0">
                <a:latin typeface="Courier New" panose="02070309020205020404" pitchFamily="49" charset="0"/>
                <a:cs typeface="Courier New" panose="02070309020205020404" pitchFamily="49" charset="0"/>
              </a:rPr>
              <a:t>": "DIED", "</a:t>
            </a:r>
            <a:r>
              <a:rPr lang="en-US" sz="1000" dirty="0" err="1">
                <a:latin typeface="Courier New" panose="02070309020205020404" pitchFamily="49" charset="0"/>
                <a:cs typeface="Courier New" panose="02070309020205020404" pitchFamily="49" charset="0"/>
              </a:rPr>
              <a:t>los_prediction</a:t>
            </a:r>
            <a:r>
              <a:rPr lang="en-US" sz="1000" dirty="0">
                <a:latin typeface="Courier New" panose="02070309020205020404" pitchFamily="49" charset="0"/>
                <a:cs typeface="Courier New" panose="02070309020205020404" pitchFamily="49" charset="0"/>
              </a:rPr>
              <a:t>": "LONG", "confidence": 90}</a:t>
            </a: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EXAMPLE 2 (Low risk — SURVIVED, SHORT):</a:t>
            </a:r>
          </a:p>
          <a:p>
            <a:r>
              <a:rPr lang="en-US" sz="1000" dirty="0">
                <a:latin typeface="Courier New" panose="02070309020205020404" pitchFamily="49" charset="0"/>
                <a:cs typeface="Courier New" panose="02070309020205020404" pitchFamily="49" charset="0"/>
              </a:rPr>
              <a:t>PATIENT PROFILE — ID: DEMO02</a:t>
            </a:r>
          </a:p>
          <a:p>
            <a:r>
              <a:rPr lang="en-US" sz="1000" dirty="0">
                <a:latin typeface="Courier New" panose="02070309020205020404" pitchFamily="49" charset="0"/>
                <a:cs typeface="Courier New" panose="02070309020205020404" pitchFamily="49" charset="0"/>
              </a:rPr>
              <a:t>Demographics : Age 34, F | Admission Dx: Asthma exacerbation</a:t>
            </a:r>
          </a:p>
          <a:p>
            <a:r>
              <a:rPr lang="en-US" sz="1000" dirty="0">
                <a:latin typeface="Courier New" panose="02070309020205020404" pitchFamily="49" charset="0"/>
                <a:cs typeface="Courier New" panose="02070309020205020404" pitchFamily="49" charset="0"/>
              </a:rPr>
              <a:t>Vitals: HR 90, BP 120/78, Temp 37.1°C, SpO2 96%, RR 22</a:t>
            </a:r>
          </a:p>
          <a:p>
            <a:r>
              <a:rPr lang="en-US" sz="1000" dirty="0">
                <a:latin typeface="Courier New" panose="02070309020205020404" pitchFamily="49" charset="0"/>
                <a:cs typeface="Courier New" panose="02070309020205020404" pitchFamily="49" charset="0"/>
              </a:rPr>
              <a:t>Labs: Glucose 105, Creatinine 0.7, WBC 9.8, Sodium 140</a:t>
            </a:r>
          </a:p>
          <a:p>
            <a:r>
              <a:rPr lang="en-US" sz="1000" dirty="0">
                <a:latin typeface="Courier New" panose="02070309020205020404" pitchFamily="49" charset="0"/>
                <a:cs typeface="Courier New" panose="02070309020205020404" pitchFamily="49" charset="0"/>
              </a:rPr>
              <a:t>Meds: salbutamol, methylprednisolone, magnesium sulfate</a:t>
            </a:r>
          </a:p>
          <a:p>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mortality_prediction</a:t>
            </a:r>
            <a:r>
              <a:rPr lang="en-US" sz="1000" dirty="0">
                <a:latin typeface="Courier New" panose="02070309020205020404" pitchFamily="49" charset="0"/>
                <a:cs typeface="Courier New" panose="02070309020205020404" pitchFamily="49" charset="0"/>
              </a:rPr>
              <a:t>": "SURVIVED", "</a:t>
            </a:r>
            <a:r>
              <a:rPr lang="en-US" sz="1000" dirty="0" err="1">
                <a:latin typeface="Courier New" panose="02070309020205020404" pitchFamily="49" charset="0"/>
                <a:cs typeface="Courier New" panose="02070309020205020404" pitchFamily="49" charset="0"/>
              </a:rPr>
              <a:t>los_prediction</a:t>
            </a:r>
            <a:r>
              <a:rPr lang="en-US" sz="1000" dirty="0">
                <a:latin typeface="Courier New" panose="02070309020205020404" pitchFamily="49" charset="0"/>
                <a:cs typeface="Courier New" panose="02070309020205020404" pitchFamily="49" charset="0"/>
              </a:rPr>
              <a:t>": "SHORT", "confidence": 88}</a:t>
            </a: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EXAMPLE 3 (Moderate risk — SURVIVED, LONG):</a:t>
            </a:r>
          </a:p>
          <a:p>
            <a:r>
              <a:rPr lang="en-US" sz="1000" dirty="0">
                <a:latin typeface="Courier New" panose="02070309020205020404" pitchFamily="49" charset="0"/>
                <a:cs typeface="Courier New" panose="02070309020205020404" pitchFamily="49" charset="0"/>
              </a:rPr>
              <a:t>PATIENT PROFILE — ID: DEMO03</a:t>
            </a:r>
          </a:p>
          <a:p>
            <a:r>
              <a:rPr lang="en-US" sz="1000" dirty="0">
                <a:latin typeface="Courier New" panose="02070309020205020404" pitchFamily="49" charset="0"/>
                <a:cs typeface="Courier New" panose="02070309020205020404" pitchFamily="49" charset="0"/>
              </a:rPr>
              <a:t>Demographics : Age 58, M | Admission Dx: Acute pancreatitis</a:t>
            </a:r>
          </a:p>
          <a:p>
            <a:r>
              <a:rPr lang="en-US" sz="1000" dirty="0">
                <a:latin typeface="Courier New" panose="02070309020205020404" pitchFamily="49" charset="0"/>
                <a:cs typeface="Courier New" panose="02070309020205020404" pitchFamily="49" charset="0"/>
              </a:rPr>
              <a:t>Vitals: HR 98, BP 110/68, Temp 38.1°C, SpO2 95%, RR 21</a:t>
            </a:r>
          </a:p>
          <a:p>
            <a:r>
              <a:rPr lang="en-US" sz="1000" dirty="0">
                <a:latin typeface="Courier New" panose="02070309020205020404" pitchFamily="49" charset="0"/>
                <a:cs typeface="Courier New" panose="02070309020205020404" pitchFamily="49" charset="0"/>
              </a:rPr>
              <a:t>Labs: Glucose 220, Creatinine 1.5, WBC 17.0, Sodium 136</a:t>
            </a:r>
          </a:p>
          <a:p>
            <a:r>
              <a:rPr lang="en-US" sz="1000" dirty="0">
                <a:latin typeface="Courier New" panose="02070309020205020404" pitchFamily="49" charset="0"/>
                <a:cs typeface="Courier New" panose="02070309020205020404" pitchFamily="49" charset="0"/>
              </a:rPr>
              <a:t>Meds: IV fluids, morphine, antibiotics, proton pump inhibitor</a:t>
            </a:r>
          </a:p>
          <a:p>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mortality_prediction</a:t>
            </a:r>
            <a:r>
              <a:rPr lang="en-US" sz="1000" dirty="0">
                <a:latin typeface="Courier New" panose="02070309020205020404" pitchFamily="49" charset="0"/>
                <a:cs typeface="Courier New" panose="02070309020205020404" pitchFamily="49" charset="0"/>
              </a:rPr>
              <a:t>": "SURVIVED", "</a:t>
            </a:r>
            <a:r>
              <a:rPr lang="en-US" sz="1000" dirty="0" err="1">
                <a:latin typeface="Courier New" panose="02070309020205020404" pitchFamily="49" charset="0"/>
                <a:cs typeface="Courier New" panose="02070309020205020404" pitchFamily="49" charset="0"/>
              </a:rPr>
              <a:t>los_prediction</a:t>
            </a:r>
            <a:r>
              <a:rPr lang="en-US" sz="1000" dirty="0">
                <a:latin typeface="Courier New" panose="02070309020205020404" pitchFamily="49" charset="0"/>
                <a:cs typeface="Courier New" panose="02070309020205020404" pitchFamily="49" charset="0"/>
              </a:rPr>
              <a:t>": "LONG", "confidence": 75}</a:t>
            </a:r>
          </a:p>
          <a:p>
            <a:r>
              <a:rPr lang="en-US" sz="1000" dirty="0">
                <a:latin typeface="Courier New" panose="02070309020205020404" pitchFamily="49" charset="0"/>
                <a:cs typeface="Courier New" panose="02070309020205020404" pitchFamily="49" charset="0"/>
              </a:rPr>
              <a:t>"""</a:t>
            </a:r>
          </a:p>
          <a:p>
            <a:r>
              <a:rPr lang="en-US" sz="1000" dirty="0">
                <a:latin typeface="Courier New" panose="02070309020205020404" pitchFamily="49" charset="0"/>
                <a:cs typeface="Courier New" panose="02070309020205020404" pitchFamily="49" charset="0"/>
              </a:rPr>
              <a:t>ICL_3SHOT_SYSTEM = ZERO_SHOT_SYSTEM</a:t>
            </a:r>
          </a:p>
          <a:p>
            <a:r>
              <a:rPr lang="en-US" sz="1000" dirty="0">
                <a:latin typeface="Courier New" panose="02070309020205020404" pitchFamily="49" charset="0"/>
                <a:cs typeface="Courier New" panose="02070309020205020404" pitchFamily="49" charset="0"/>
              </a:rPr>
              <a:t>ICL_3SHOT_USER = ICL_3SHOT_EXAMPLES + "\</a:t>
            </a:r>
            <a:r>
              <a:rPr lang="en-US" sz="1000" dirty="0" err="1">
                <a:latin typeface="Courier New" panose="02070309020205020404" pitchFamily="49" charset="0"/>
                <a:cs typeface="Courier New" panose="02070309020205020404" pitchFamily="49" charset="0"/>
              </a:rPr>
              <a:t>nNEW</a:t>
            </a:r>
            <a:r>
              <a:rPr lang="en-US" sz="1000" dirty="0">
                <a:latin typeface="Courier New" panose="02070309020205020404" pitchFamily="49" charset="0"/>
                <a:cs typeface="Courier New" panose="02070309020205020404" pitchFamily="49" charset="0"/>
              </a:rPr>
              <a:t> PATIENT TO PREDICT:\n{narrative}"</a:t>
            </a:r>
          </a:p>
        </p:txBody>
      </p:sp>
    </p:spTree>
    <p:extLst>
      <p:ext uri="{BB962C8B-B14F-4D97-AF65-F5344CB8AC3E}">
        <p14:creationId xmlns:p14="http://schemas.microsoft.com/office/powerpoint/2010/main" val="1399472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4BB1EC-A0B6-F73D-51AB-20E2A1E1221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CC54C0B-1B9D-D57F-6F7C-C6FD5F9DFA15}"/>
              </a:ext>
            </a:extLst>
          </p:cNvPr>
          <p:cNvSpPr/>
          <p:nvPr/>
        </p:nvSpPr>
        <p:spPr>
          <a:xfrm>
            <a:off x="1" y="0"/>
            <a:ext cx="1915886" cy="5143500"/>
          </a:xfrm>
          <a:prstGeom prst="rect">
            <a:avLst/>
          </a:prstGeom>
          <a:solidFill>
            <a:srgbClr val="0E2841"/>
          </a:solidFill>
          <a:ln w="12700">
            <a:solidFill>
              <a:srgbClr val="0E2841"/>
            </a:solidFill>
            <a:prstDash val="solid"/>
          </a:ln>
        </p:spPr>
        <p:txBody>
          <a:bodyPr/>
          <a:lstStyle/>
          <a:p>
            <a:endParaRPr lang="en-US"/>
          </a:p>
        </p:txBody>
      </p:sp>
      <p:sp>
        <p:nvSpPr>
          <p:cNvPr id="4" name="Text 2">
            <a:extLst>
              <a:ext uri="{FF2B5EF4-FFF2-40B4-BE49-F238E27FC236}">
                <a16:creationId xmlns:a16="http://schemas.microsoft.com/office/drawing/2014/main" id="{9CB2A252-E3D4-14EA-21D3-ECB9CA25C4C0}"/>
              </a:ext>
            </a:extLst>
          </p:cNvPr>
          <p:cNvSpPr/>
          <p:nvPr/>
        </p:nvSpPr>
        <p:spPr>
          <a:xfrm>
            <a:off x="141514" y="1097280"/>
            <a:ext cx="1774372" cy="2926080"/>
          </a:xfrm>
          <a:prstGeom prst="rect">
            <a:avLst/>
          </a:prstGeom>
          <a:noFill/>
          <a:ln/>
        </p:spPr>
        <p:txBody>
          <a:bodyPr wrap="square" lIns="0" tIns="0" rIns="0" bIns="0" rtlCol="0" anchor="ctr"/>
          <a:lstStyle/>
          <a:p>
            <a:pPr marL="0" indent="0" algn="ctr">
              <a:buNone/>
            </a:pPr>
            <a:r>
              <a:rPr lang="en-US" sz="2400" dirty="0">
                <a:solidFill>
                  <a:srgbClr val="FFFFFF"/>
                </a:solidFill>
                <a:latin typeface="Aptos Display" pitchFamily="34" charset="0"/>
                <a:ea typeface="Aptos Display" pitchFamily="34" charset="-122"/>
                <a:cs typeface="Aptos Display" pitchFamily="34" charset="-120"/>
              </a:rPr>
              <a:t>Prompt - 4</a:t>
            </a:r>
            <a:endParaRPr lang="en-US" sz="2400" dirty="0"/>
          </a:p>
          <a:p>
            <a:pPr algn="ctr"/>
            <a:r>
              <a:rPr lang="en-US" sz="2400" dirty="0">
                <a:solidFill>
                  <a:srgbClr val="FFFFFF"/>
                </a:solidFill>
                <a:latin typeface="Aptos Display" pitchFamily="34" charset="0"/>
                <a:ea typeface="Aptos Display" pitchFamily="34" charset="-122"/>
                <a:cs typeface="Aptos Display" pitchFamily="34" charset="-120"/>
              </a:rPr>
              <a:t>CHAIN-OF-THOUGHT (</a:t>
            </a:r>
            <a:r>
              <a:rPr lang="en-US" sz="2400" dirty="0" err="1">
                <a:solidFill>
                  <a:srgbClr val="FFFFFF"/>
                </a:solidFill>
                <a:latin typeface="Aptos Display" pitchFamily="34" charset="0"/>
                <a:ea typeface="Aptos Display" pitchFamily="34" charset="-122"/>
                <a:cs typeface="Aptos Display" pitchFamily="34" charset="-120"/>
              </a:rPr>
              <a:t>CoT</a:t>
            </a:r>
            <a:r>
              <a:rPr lang="en-US" sz="2400" dirty="0">
                <a:solidFill>
                  <a:srgbClr val="FFFFFF"/>
                </a:solidFill>
                <a:latin typeface="Aptos Display" pitchFamily="34" charset="0"/>
                <a:ea typeface="Aptos Display" pitchFamily="34" charset="-122"/>
                <a:cs typeface="Aptos Display" pitchFamily="34" charset="-120"/>
              </a:rPr>
              <a:t>) </a:t>
            </a:r>
            <a:endParaRPr lang="en-US" sz="2400" dirty="0"/>
          </a:p>
        </p:txBody>
      </p:sp>
      <p:sp>
        <p:nvSpPr>
          <p:cNvPr id="12" name="TextBox 11">
            <a:extLst>
              <a:ext uri="{FF2B5EF4-FFF2-40B4-BE49-F238E27FC236}">
                <a16:creationId xmlns:a16="http://schemas.microsoft.com/office/drawing/2014/main" id="{5FE1D548-F5F6-42C9-368C-D640B7832C58}"/>
              </a:ext>
            </a:extLst>
          </p:cNvPr>
          <p:cNvSpPr txBox="1"/>
          <p:nvPr/>
        </p:nvSpPr>
        <p:spPr>
          <a:xfrm>
            <a:off x="2188029" y="186481"/>
            <a:ext cx="6814457" cy="4770537"/>
          </a:xfrm>
          <a:prstGeom prst="rect">
            <a:avLst/>
          </a:prstGeom>
          <a:noFill/>
        </p:spPr>
        <p:txBody>
          <a:bodyPr wrap="square" rtlCol="0">
            <a:spAutoFit/>
          </a:bodyPr>
          <a:lstStyle/>
          <a:p>
            <a:r>
              <a:rPr lang="en-US" sz="800" dirty="0">
                <a:latin typeface="Courier New" panose="02070309020205020404" pitchFamily="49" charset="0"/>
                <a:cs typeface="Courier New" panose="02070309020205020404" pitchFamily="49" charset="0"/>
              </a:rPr>
              <a:t>COT_SYSTEM = """You are an expert ICU physician. When analyzing a patient, you MUST reason</a:t>
            </a:r>
          </a:p>
          <a:p>
            <a:r>
              <a:rPr lang="en-US" sz="800" dirty="0">
                <a:latin typeface="Courier New" panose="02070309020205020404" pitchFamily="49" charset="0"/>
                <a:cs typeface="Courier New" panose="02070309020205020404" pitchFamily="49" charset="0"/>
              </a:rPr>
              <a:t>step-by-step through each clinical domain before making predictions.</a:t>
            </a:r>
          </a:p>
          <a:p>
            <a:r>
              <a:rPr lang="en-US" sz="800" dirty="0">
                <a:latin typeface="Courier New" panose="02070309020205020404" pitchFamily="49" charset="0"/>
                <a:cs typeface="Courier New" panose="02070309020205020404" pitchFamily="49" charset="0"/>
              </a:rPr>
              <a:t>""" + BIAS_INSTRUCTION</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COT_USER = """Analyze the following ICU patient and predict their mortality and length of stay.</a:t>
            </a:r>
          </a:p>
          <a:p>
            <a:r>
              <a:rPr lang="en-US" sz="800" dirty="0">
                <a:latin typeface="Courier New" panose="02070309020205020404" pitchFamily="49" charset="0"/>
                <a:cs typeface="Courier New" panose="02070309020205020404" pitchFamily="49" charset="0"/>
              </a:rPr>
              <a:t>You MUST follow these reasoning steps in order:</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STEP 1 — VITAL SIGN ASSESSMENT:</a:t>
            </a:r>
          </a:p>
          <a:p>
            <a:r>
              <a:rPr lang="en-US" sz="800" dirty="0">
                <a:latin typeface="Courier New" panose="02070309020205020404" pitchFamily="49" charset="0"/>
                <a:cs typeface="Courier New" panose="02070309020205020404" pitchFamily="49" charset="0"/>
              </a:rPr>
              <a:t>  Identify which vitals are abnormal. Classify hemodynamic stability.</a:t>
            </a:r>
          </a:p>
          <a:p>
            <a:r>
              <a:rPr lang="en-US" sz="800" dirty="0">
                <a:latin typeface="Courier New" panose="02070309020205020404" pitchFamily="49" charset="0"/>
                <a:cs typeface="Courier New" panose="02070309020205020404" pitchFamily="49" charset="0"/>
              </a:rPr>
              <a:t>  Flag any immediately life-threatening values (e.g., SpO2 &lt;90%, MAP &lt;65).</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STEP 2 — LABORATORY ASSESSMENT:</a:t>
            </a:r>
          </a:p>
          <a:p>
            <a:r>
              <a:rPr lang="en-US" sz="800" dirty="0">
                <a:latin typeface="Courier New" panose="02070309020205020404" pitchFamily="49" charset="0"/>
                <a:cs typeface="Courier New" panose="02070309020205020404" pitchFamily="49" charset="0"/>
              </a:rPr>
              <a:t>  Identify abnormal labs. Note organ dysfunction (kidney: creatinine; infection: WBC;</a:t>
            </a:r>
          </a:p>
          <a:p>
            <a:r>
              <a:rPr lang="en-US" sz="800" dirty="0">
                <a:latin typeface="Courier New" panose="02070309020205020404" pitchFamily="49" charset="0"/>
                <a:cs typeface="Courier New" panose="02070309020205020404" pitchFamily="49" charset="0"/>
              </a:rPr>
              <a:t>  metabolic: glucose/sodium). Calculate rough organ failure burden.</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STEP 3 — DIAGNOSIS + MEDICATION CONTEXT:</a:t>
            </a:r>
          </a:p>
          <a:p>
            <a:r>
              <a:rPr lang="en-US" sz="800" dirty="0">
                <a:latin typeface="Courier New" panose="02070309020205020404" pitchFamily="49" charset="0"/>
                <a:cs typeface="Courier New" panose="02070309020205020404" pitchFamily="49" charset="0"/>
              </a:rPr>
              <a:t>  How serious is the primary diagnosis? Do the medications suggest vasopressor support,</a:t>
            </a:r>
          </a:p>
          <a:p>
            <a:r>
              <a:rPr lang="en-US" sz="800" dirty="0">
                <a:latin typeface="Courier New" panose="02070309020205020404" pitchFamily="49" charset="0"/>
                <a:cs typeface="Courier New" panose="02070309020205020404" pitchFamily="49" charset="0"/>
              </a:rPr>
              <a:t>  broad-spectrum antibiotics, or critical interventions?</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STEP 4 — RISK FACTOR SYNTHESIS:</a:t>
            </a:r>
          </a:p>
          <a:p>
            <a:r>
              <a:rPr lang="en-US" sz="800" dirty="0">
                <a:latin typeface="Courier New" panose="02070309020205020404" pitchFamily="49" charset="0"/>
                <a:cs typeface="Courier New" panose="02070309020205020404" pitchFamily="49" charset="0"/>
              </a:rPr>
              <a:t>  Combine age, diagnosis severity, organ dysfunction, and hemodynamic status.</a:t>
            </a:r>
          </a:p>
          <a:p>
            <a:r>
              <a:rPr lang="en-US" sz="800" dirty="0">
                <a:latin typeface="Courier New" panose="02070309020205020404" pitchFamily="49" charset="0"/>
                <a:cs typeface="Courier New" panose="02070309020205020404" pitchFamily="49" charset="0"/>
              </a:rPr>
              <a:t>  Assign an overall risk level: LOW / MODERATE / HIGH / CRITICAL.</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STEP 5 — FINAL PREDICTION:</a:t>
            </a:r>
          </a:p>
          <a:p>
            <a:r>
              <a:rPr lang="en-US" sz="800" dirty="0">
                <a:latin typeface="Courier New" panose="02070309020205020404" pitchFamily="49" charset="0"/>
                <a:cs typeface="Courier New" panose="02070309020205020404" pitchFamily="49" charset="0"/>
              </a:rPr>
              <a:t>  Based on the above reasoning, predict mortality and LOS.</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Respond in this format:</a:t>
            </a:r>
          </a:p>
          <a:p>
            <a:r>
              <a:rPr lang="en-US" sz="800" dirty="0">
                <a:latin typeface="Courier New" panose="02070309020205020404" pitchFamily="49" charset="0"/>
                <a:cs typeface="Courier New" panose="02070309020205020404" pitchFamily="49" charset="0"/>
              </a:rPr>
              <a:t>STEP 1: [your vital sign analysis]</a:t>
            </a:r>
          </a:p>
          <a:p>
            <a:r>
              <a:rPr lang="en-US" sz="800" dirty="0">
                <a:latin typeface="Courier New" panose="02070309020205020404" pitchFamily="49" charset="0"/>
                <a:cs typeface="Courier New" panose="02070309020205020404" pitchFamily="49" charset="0"/>
              </a:rPr>
              <a:t>STEP 2: [your lab analysis]</a:t>
            </a:r>
          </a:p>
          <a:p>
            <a:r>
              <a:rPr lang="en-US" sz="800" dirty="0">
                <a:latin typeface="Courier New" panose="02070309020205020404" pitchFamily="49" charset="0"/>
                <a:cs typeface="Courier New" panose="02070309020205020404" pitchFamily="49" charset="0"/>
              </a:rPr>
              <a:t>STEP 3: [your diagnosis/medication analysis]</a:t>
            </a:r>
          </a:p>
          <a:p>
            <a:r>
              <a:rPr lang="en-US" sz="800" dirty="0">
                <a:latin typeface="Courier New" panose="02070309020205020404" pitchFamily="49" charset="0"/>
                <a:cs typeface="Courier New" panose="02070309020205020404" pitchFamily="49" charset="0"/>
              </a:rPr>
              <a:t>STEP 4: [risk synthesis and level]</a:t>
            </a:r>
          </a:p>
          <a:p>
            <a:r>
              <a:rPr lang="en-US" sz="800" dirty="0">
                <a:latin typeface="Courier New" panose="02070309020205020404" pitchFamily="49" charset="0"/>
                <a:cs typeface="Courier New" panose="02070309020205020404" pitchFamily="49" charset="0"/>
              </a:rPr>
              <a:t>STEP 5 — PREDICTION:</a:t>
            </a:r>
          </a:p>
          <a:p>
            <a:r>
              <a:rPr lang="en-US" sz="800" dirty="0">
                <a:latin typeface="Courier New" panose="02070309020205020404" pitchFamily="49" charset="0"/>
                <a:cs typeface="Courier New" panose="02070309020205020404" pitchFamily="49" charset="0"/>
              </a:rPr>
              <a:t>{"</a:t>
            </a:r>
            <a:r>
              <a:rPr lang="en-US" sz="800" dirty="0" err="1">
                <a:latin typeface="Courier New" panose="02070309020205020404" pitchFamily="49" charset="0"/>
                <a:cs typeface="Courier New" panose="02070309020205020404" pitchFamily="49" charset="0"/>
              </a:rPr>
              <a:t>mortality_prediction</a:t>
            </a:r>
            <a:r>
              <a:rPr lang="en-US" sz="800" dirty="0">
                <a:latin typeface="Courier New" panose="02070309020205020404" pitchFamily="49" charset="0"/>
                <a:cs typeface="Courier New" panose="02070309020205020404" pitchFamily="49" charset="0"/>
              </a:rPr>
              <a:t>": "SURVIVED" or "DIED", "</a:t>
            </a:r>
            <a:r>
              <a:rPr lang="en-US" sz="800" dirty="0" err="1">
                <a:latin typeface="Courier New" panose="02070309020205020404" pitchFamily="49" charset="0"/>
                <a:cs typeface="Courier New" panose="02070309020205020404" pitchFamily="49" charset="0"/>
              </a:rPr>
              <a:t>los_prediction</a:t>
            </a:r>
            <a:r>
              <a:rPr lang="en-US" sz="800" dirty="0">
                <a:latin typeface="Courier New" panose="02070309020205020404" pitchFamily="49" charset="0"/>
                <a:cs typeface="Courier New" panose="02070309020205020404" pitchFamily="49" charset="0"/>
              </a:rPr>
              <a:t>": "SHORT" or "LONG",</a:t>
            </a:r>
          </a:p>
          <a:p>
            <a:r>
              <a:rPr lang="en-US" sz="800" dirty="0">
                <a:latin typeface="Courier New" panose="02070309020205020404" pitchFamily="49" charset="0"/>
                <a:cs typeface="Courier New" panose="02070309020205020404" pitchFamily="49" charset="0"/>
              </a:rPr>
              <a:t> "</a:t>
            </a:r>
            <a:r>
              <a:rPr lang="en-US" sz="800" dirty="0" err="1">
                <a:latin typeface="Courier New" panose="02070309020205020404" pitchFamily="49" charset="0"/>
                <a:cs typeface="Courier New" panose="02070309020205020404" pitchFamily="49" charset="0"/>
              </a:rPr>
              <a:t>risk_level</a:t>
            </a:r>
            <a:r>
              <a:rPr lang="en-US" sz="800" dirty="0">
                <a:latin typeface="Courier New" panose="02070309020205020404" pitchFamily="49" charset="0"/>
                <a:cs typeface="Courier New" panose="02070309020205020404" pitchFamily="49" charset="0"/>
              </a:rPr>
              <a:t>": "LOW/MODERATE/HIGH/CRITICAL", "confidence": 0-100,</a:t>
            </a:r>
          </a:p>
          <a:p>
            <a:r>
              <a:rPr lang="en-US" sz="800" dirty="0">
                <a:latin typeface="Courier New" panose="02070309020205020404" pitchFamily="49" charset="0"/>
                <a:cs typeface="Courier New" panose="02070309020205020404" pitchFamily="49" charset="0"/>
              </a:rPr>
              <a:t> "</a:t>
            </a:r>
            <a:r>
              <a:rPr lang="en-US" sz="800" dirty="0" err="1">
                <a:latin typeface="Courier New" panose="02070309020205020404" pitchFamily="49" charset="0"/>
                <a:cs typeface="Courier New" panose="02070309020205020404" pitchFamily="49" charset="0"/>
              </a:rPr>
              <a:t>key_reason</a:t>
            </a:r>
            <a:r>
              <a:rPr lang="en-US" sz="800" dirty="0">
                <a:latin typeface="Courier New" panose="02070309020205020404" pitchFamily="49" charset="0"/>
                <a:cs typeface="Courier New" panose="02070309020205020404" pitchFamily="49" charset="0"/>
              </a:rPr>
              <a:t>": "one sentence summary"}</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PATIENT:{narrative}"""</a:t>
            </a:r>
          </a:p>
        </p:txBody>
      </p:sp>
    </p:spTree>
    <p:extLst>
      <p:ext uri="{BB962C8B-B14F-4D97-AF65-F5344CB8AC3E}">
        <p14:creationId xmlns:p14="http://schemas.microsoft.com/office/powerpoint/2010/main" val="437104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259BE7D-154D-0F23-8304-E7048DBF400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AE9C104-502E-A3E7-4B11-C38CAA6A44E7}"/>
              </a:ext>
            </a:extLst>
          </p:cNvPr>
          <p:cNvSpPr/>
          <p:nvPr/>
        </p:nvSpPr>
        <p:spPr>
          <a:xfrm>
            <a:off x="0" y="0"/>
            <a:ext cx="1948543" cy="5143500"/>
          </a:xfrm>
          <a:prstGeom prst="rect">
            <a:avLst/>
          </a:prstGeom>
          <a:solidFill>
            <a:srgbClr val="0E2841"/>
          </a:solidFill>
          <a:ln w="12700">
            <a:solidFill>
              <a:srgbClr val="0E2841"/>
            </a:solidFill>
            <a:prstDash val="solid"/>
          </a:ln>
        </p:spPr>
        <p:txBody>
          <a:bodyPr/>
          <a:lstStyle/>
          <a:p>
            <a:endParaRPr lang="en-US"/>
          </a:p>
        </p:txBody>
      </p:sp>
      <p:sp>
        <p:nvSpPr>
          <p:cNvPr id="4" name="Text 2">
            <a:extLst>
              <a:ext uri="{FF2B5EF4-FFF2-40B4-BE49-F238E27FC236}">
                <a16:creationId xmlns:a16="http://schemas.microsoft.com/office/drawing/2014/main" id="{1A728F53-3FDF-4358-419C-EC5E630402D2}"/>
              </a:ext>
            </a:extLst>
          </p:cNvPr>
          <p:cNvSpPr/>
          <p:nvPr/>
        </p:nvSpPr>
        <p:spPr>
          <a:xfrm>
            <a:off x="70756" y="1108710"/>
            <a:ext cx="1807029" cy="2926080"/>
          </a:xfrm>
          <a:prstGeom prst="rect">
            <a:avLst/>
          </a:prstGeom>
          <a:noFill/>
          <a:ln/>
        </p:spPr>
        <p:txBody>
          <a:bodyPr wrap="square" lIns="0" tIns="0" rIns="0" bIns="0" rtlCol="0" anchor="ctr"/>
          <a:lstStyle/>
          <a:p>
            <a:pPr marL="0" indent="0" algn="ctr">
              <a:buNone/>
            </a:pPr>
            <a:r>
              <a:rPr lang="en-US" sz="2400" dirty="0">
                <a:solidFill>
                  <a:srgbClr val="FFFFFF"/>
                </a:solidFill>
                <a:latin typeface="Aptos Display" pitchFamily="34" charset="0"/>
                <a:ea typeface="Aptos Display" pitchFamily="34" charset="-122"/>
                <a:cs typeface="Aptos Display" pitchFamily="34" charset="-120"/>
              </a:rPr>
              <a:t>Prompt 5 - TREE OF THOUGHTS (</a:t>
            </a:r>
            <a:r>
              <a:rPr lang="en-US" sz="2400" dirty="0" err="1">
                <a:solidFill>
                  <a:srgbClr val="FFFFFF"/>
                </a:solidFill>
                <a:latin typeface="Aptos Display" pitchFamily="34" charset="0"/>
                <a:ea typeface="Aptos Display" pitchFamily="34" charset="-122"/>
                <a:cs typeface="Aptos Display" pitchFamily="34" charset="-120"/>
              </a:rPr>
              <a:t>ToT</a:t>
            </a:r>
            <a:r>
              <a:rPr lang="en-US" sz="2400" dirty="0">
                <a:solidFill>
                  <a:srgbClr val="FFFFFF"/>
                </a:solidFill>
                <a:latin typeface="Aptos Display" pitchFamily="34" charset="0"/>
                <a:ea typeface="Aptos Display" pitchFamily="34" charset="-122"/>
                <a:cs typeface="Aptos Display" pitchFamily="34" charset="-120"/>
              </a:rPr>
              <a:t>)</a:t>
            </a:r>
            <a:endParaRPr lang="en-US" sz="2400" dirty="0"/>
          </a:p>
        </p:txBody>
      </p:sp>
      <p:sp>
        <p:nvSpPr>
          <p:cNvPr id="12" name="TextBox 11">
            <a:extLst>
              <a:ext uri="{FF2B5EF4-FFF2-40B4-BE49-F238E27FC236}">
                <a16:creationId xmlns:a16="http://schemas.microsoft.com/office/drawing/2014/main" id="{1CD3BA82-C95B-B301-4F5B-431A6B6DC479}"/>
              </a:ext>
            </a:extLst>
          </p:cNvPr>
          <p:cNvSpPr txBox="1"/>
          <p:nvPr/>
        </p:nvSpPr>
        <p:spPr>
          <a:xfrm>
            <a:off x="2177142" y="0"/>
            <a:ext cx="6716487" cy="5755422"/>
          </a:xfrm>
          <a:prstGeom prst="rect">
            <a:avLst/>
          </a:prstGeom>
          <a:noFill/>
        </p:spPr>
        <p:txBody>
          <a:bodyPr wrap="square" rtlCol="0">
            <a:spAutoFit/>
          </a:bodyPr>
          <a:lstStyle/>
          <a:p>
            <a:r>
              <a:rPr lang="en-US" sz="800" dirty="0">
                <a:latin typeface="Courier New" panose="02070309020205020404" pitchFamily="49" charset="0"/>
                <a:cs typeface="Courier New" panose="02070309020205020404" pitchFamily="49" charset="0"/>
              </a:rPr>
              <a:t>TOT_SYSTEM = """You are an expert ICU consultant. When evaluating a patient, you explore</a:t>
            </a:r>
          </a:p>
          <a:p>
            <a:r>
              <a:rPr lang="en-US" sz="800" dirty="0">
                <a:latin typeface="Courier New" panose="02070309020205020404" pitchFamily="49" charset="0"/>
                <a:cs typeface="Courier New" panose="02070309020205020404" pitchFamily="49" charset="0"/>
              </a:rPr>
              <a:t>multiple clinical reasoning paths before committing to a final prediction.</a:t>
            </a:r>
          </a:p>
          <a:p>
            <a:r>
              <a:rPr lang="en-US" sz="800" dirty="0">
                <a:latin typeface="Courier New" panose="02070309020205020404" pitchFamily="49" charset="0"/>
                <a:cs typeface="Courier New" panose="02070309020205020404" pitchFamily="49" charset="0"/>
              </a:rPr>
              <a:t>""" + BIAS_INSTRUCTION</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TOT_USER = """Use the Tree of Thoughts method to predict this ICU patient's outcomes.</a:t>
            </a:r>
          </a:p>
          <a:p>
            <a:r>
              <a:rPr lang="en-US" sz="800" dirty="0">
                <a:latin typeface="Courier New" panose="02070309020205020404" pitchFamily="49" charset="0"/>
                <a:cs typeface="Courier New" panose="02070309020205020404" pitchFamily="49" charset="0"/>
              </a:rPr>
              <a:t>You must explicitly explore TWO competing diagnostic paths, then evaluate and choose.</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PATH A — HIGH RISK HYPOTHESIS:</a:t>
            </a:r>
          </a:p>
          <a:p>
            <a:r>
              <a:rPr lang="en-US" sz="800" dirty="0">
                <a:latin typeface="Courier New" panose="02070309020205020404" pitchFamily="49" charset="0"/>
                <a:cs typeface="Courier New" panose="02070309020205020404" pitchFamily="49" charset="0"/>
              </a:rPr>
              <a:t>  Assume this patient is at HIGH risk of death and prolonged ICU stay.</a:t>
            </a:r>
          </a:p>
          <a:p>
            <a:r>
              <a:rPr lang="en-US" sz="800" dirty="0">
                <a:latin typeface="Courier New" panose="02070309020205020404" pitchFamily="49" charset="0"/>
                <a:cs typeface="Courier New" panose="02070309020205020404" pitchFamily="49" charset="0"/>
              </a:rPr>
              <a:t>  List ALL clinical evidence that supports this hypothesis (vitals, labs, diagnosis, age, meds).</a:t>
            </a:r>
          </a:p>
          <a:p>
            <a:r>
              <a:rPr lang="en-US" sz="800" dirty="0">
                <a:latin typeface="Courier New" panose="02070309020205020404" pitchFamily="49" charset="0"/>
                <a:cs typeface="Courier New" panose="02070309020205020404" pitchFamily="49" charset="0"/>
              </a:rPr>
              <a:t>  Rate the strength of this evidence: WEAK / MODERATE / STRONG</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PATH B — LOW RISK HYPOTHESIS:</a:t>
            </a:r>
          </a:p>
          <a:p>
            <a:r>
              <a:rPr lang="en-US" sz="800" dirty="0">
                <a:latin typeface="Courier New" panose="02070309020205020404" pitchFamily="49" charset="0"/>
                <a:cs typeface="Courier New" panose="02070309020205020404" pitchFamily="49" charset="0"/>
              </a:rPr>
              <a:t>  Assume this patient will SURVIVE and have a SHORT ICU stay.</a:t>
            </a:r>
          </a:p>
          <a:p>
            <a:r>
              <a:rPr lang="en-US" sz="800" dirty="0">
                <a:latin typeface="Courier New" panose="02070309020205020404" pitchFamily="49" charset="0"/>
                <a:cs typeface="Courier New" panose="02070309020205020404" pitchFamily="49" charset="0"/>
              </a:rPr>
              <a:t>  List ALL clinical evidence that supports this hypothesis.</a:t>
            </a:r>
          </a:p>
          <a:p>
            <a:r>
              <a:rPr lang="en-US" sz="800" dirty="0">
                <a:latin typeface="Courier New" panose="02070309020205020404" pitchFamily="49" charset="0"/>
                <a:cs typeface="Courier New" panose="02070309020205020404" pitchFamily="49" charset="0"/>
              </a:rPr>
              <a:t>  Rate the strength of this evidence: WEAK / MODERATE / STRONG</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EVALUATION:</a:t>
            </a:r>
          </a:p>
          <a:p>
            <a:r>
              <a:rPr lang="en-US" sz="800" dirty="0">
                <a:latin typeface="Courier New" panose="02070309020205020404" pitchFamily="49" charset="0"/>
                <a:cs typeface="Courier New" panose="02070309020205020404" pitchFamily="49" charset="0"/>
              </a:rPr>
              <a:t>  Compare the two paths. Which evidence is more clinically compelling?</a:t>
            </a:r>
          </a:p>
          <a:p>
            <a:r>
              <a:rPr lang="en-US" sz="800" dirty="0">
                <a:latin typeface="Courier New" panose="02070309020205020404" pitchFamily="49" charset="0"/>
                <a:cs typeface="Courier New" panose="02070309020205020404" pitchFamily="49" charset="0"/>
              </a:rPr>
              <a:t>  Identify the single most decisive clinical factor.</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FINAL DECISION:</a:t>
            </a:r>
          </a:p>
          <a:p>
            <a:r>
              <a:rPr lang="en-US" sz="800" dirty="0">
                <a:latin typeface="Courier New" panose="02070309020205020404" pitchFamily="49" charset="0"/>
                <a:cs typeface="Courier New" panose="02070309020205020404" pitchFamily="49" charset="0"/>
              </a:rPr>
              <a:t>  Select the path supported by stronger evidence and predict the outcomes.</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Respond in this format:</a:t>
            </a:r>
          </a:p>
          <a:p>
            <a:r>
              <a:rPr lang="en-US" sz="800" dirty="0">
                <a:latin typeface="Courier New" panose="02070309020205020404" pitchFamily="49" charset="0"/>
                <a:cs typeface="Courier New" panose="02070309020205020404" pitchFamily="49" charset="0"/>
              </a:rPr>
              <a:t>PATH A (High Risk):</a:t>
            </a:r>
          </a:p>
          <a:p>
            <a:r>
              <a:rPr lang="en-US" sz="800" dirty="0">
                <a:latin typeface="Courier New" panose="02070309020205020404" pitchFamily="49" charset="0"/>
                <a:cs typeface="Courier New" panose="02070309020205020404" pitchFamily="49" charset="0"/>
              </a:rPr>
              <a:t>  Evidence: [list]</a:t>
            </a:r>
          </a:p>
          <a:p>
            <a:r>
              <a:rPr lang="en-US" sz="800" dirty="0">
                <a:latin typeface="Courier New" panose="02070309020205020404" pitchFamily="49" charset="0"/>
                <a:cs typeface="Courier New" panose="02070309020205020404" pitchFamily="49" charset="0"/>
              </a:rPr>
              <a:t>  Strength: WEAK / MODERATE / STRONG</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PATH B (Low Risk):</a:t>
            </a:r>
          </a:p>
          <a:p>
            <a:r>
              <a:rPr lang="en-US" sz="800" dirty="0">
                <a:latin typeface="Courier New" panose="02070309020205020404" pitchFamily="49" charset="0"/>
                <a:cs typeface="Courier New" panose="02070309020205020404" pitchFamily="49" charset="0"/>
              </a:rPr>
              <a:t>  Evidence: [list]</a:t>
            </a:r>
          </a:p>
          <a:p>
            <a:r>
              <a:rPr lang="en-US" sz="800" dirty="0">
                <a:latin typeface="Courier New" panose="02070309020205020404" pitchFamily="49" charset="0"/>
                <a:cs typeface="Courier New" panose="02070309020205020404" pitchFamily="49" charset="0"/>
              </a:rPr>
              <a:t>  Strength: WEAK / MODERATE / STRONG</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EVALUATION: [comparison and decisive factor]</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FINAL PREDICTION:</a:t>
            </a:r>
          </a:p>
          <a:p>
            <a:r>
              <a:rPr lang="en-US" sz="800" dirty="0">
                <a:latin typeface="Courier New" panose="02070309020205020404" pitchFamily="49" charset="0"/>
                <a:cs typeface="Courier New" panose="02070309020205020404" pitchFamily="49" charset="0"/>
              </a:rPr>
              <a:t>{"</a:t>
            </a:r>
            <a:r>
              <a:rPr lang="en-US" sz="800" dirty="0" err="1">
                <a:latin typeface="Courier New" panose="02070309020205020404" pitchFamily="49" charset="0"/>
                <a:cs typeface="Courier New" panose="02070309020205020404" pitchFamily="49" charset="0"/>
              </a:rPr>
              <a:t>mortality_prediction</a:t>
            </a:r>
            <a:r>
              <a:rPr lang="en-US" sz="800" dirty="0">
                <a:latin typeface="Courier New" panose="02070309020205020404" pitchFamily="49" charset="0"/>
                <a:cs typeface="Courier New" panose="02070309020205020404" pitchFamily="49" charset="0"/>
              </a:rPr>
              <a:t>": "SURVIVED" or "DIED", "</a:t>
            </a:r>
            <a:r>
              <a:rPr lang="en-US" sz="800" dirty="0" err="1">
                <a:latin typeface="Courier New" panose="02070309020205020404" pitchFamily="49" charset="0"/>
                <a:cs typeface="Courier New" panose="02070309020205020404" pitchFamily="49" charset="0"/>
              </a:rPr>
              <a:t>los_prediction</a:t>
            </a:r>
            <a:r>
              <a:rPr lang="en-US" sz="800" dirty="0">
                <a:latin typeface="Courier New" panose="02070309020205020404" pitchFamily="49" charset="0"/>
                <a:cs typeface="Courier New" panose="02070309020205020404" pitchFamily="49" charset="0"/>
              </a:rPr>
              <a:t>": "SHORT" or "LONG",</a:t>
            </a:r>
          </a:p>
          <a:p>
            <a:r>
              <a:rPr lang="en-US" sz="800" dirty="0">
                <a:latin typeface="Courier New" panose="02070309020205020404" pitchFamily="49" charset="0"/>
                <a:cs typeface="Courier New" panose="02070309020205020404" pitchFamily="49" charset="0"/>
              </a:rPr>
              <a:t> "</a:t>
            </a:r>
            <a:r>
              <a:rPr lang="en-US" sz="800" dirty="0" err="1">
                <a:latin typeface="Courier New" panose="02070309020205020404" pitchFamily="49" charset="0"/>
                <a:cs typeface="Courier New" panose="02070309020205020404" pitchFamily="49" charset="0"/>
              </a:rPr>
              <a:t>winning_path</a:t>
            </a:r>
            <a:r>
              <a:rPr lang="en-US" sz="800" dirty="0">
                <a:latin typeface="Courier New" panose="02070309020205020404" pitchFamily="49" charset="0"/>
                <a:cs typeface="Courier New" panose="02070309020205020404" pitchFamily="49" charset="0"/>
              </a:rPr>
              <a:t>": "A" or "B", "</a:t>
            </a:r>
            <a:r>
              <a:rPr lang="en-US" sz="800" dirty="0" err="1">
                <a:latin typeface="Courier New" panose="02070309020205020404" pitchFamily="49" charset="0"/>
                <a:cs typeface="Courier New" panose="02070309020205020404" pitchFamily="49" charset="0"/>
              </a:rPr>
              <a:t>decisive_factor</a:t>
            </a:r>
            <a:r>
              <a:rPr lang="en-US" sz="800" dirty="0">
                <a:latin typeface="Courier New" panose="02070309020205020404" pitchFamily="49" charset="0"/>
                <a:cs typeface="Courier New" panose="02070309020205020404" pitchFamily="49" charset="0"/>
              </a:rPr>
              <a:t>": "...", "confidence": 0-100}</a:t>
            </a: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PATIENT:</a:t>
            </a:r>
          </a:p>
          <a:p>
            <a:r>
              <a:rPr lang="en-US" sz="800" dirty="0">
                <a:latin typeface="Courier New" panose="02070309020205020404" pitchFamily="49" charset="0"/>
                <a:cs typeface="Courier New" panose="02070309020205020404" pitchFamily="49" charset="0"/>
              </a:rPr>
              <a:t>{narrative}"""</a:t>
            </a:r>
          </a:p>
          <a:p>
            <a:endParaRPr lang="en-US" sz="800" dirty="0">
              <a:latin typeface="Courier New" panose="02070309020205020404" pitchFamily="49" charset="0"/>
              <a:cs typeface="Courier New" panose="02070309020205020404" pitchFamily="49" charset="0"/>
            </a:endParaRPr>
          </a:p>
          <a:p>
            <a:endParaRPr lang="en-US" sz="800" dirty="0">
              <a:latin typeface="Courier New" panose="02070309020205020404" pitchFamily="49" charset="0"/>
              <a:cs typeface="Courier New" panose="02070309020205020404" pitchFamily="49" charset="0"/>
            </a:endParaRPr>
          </a:p>
          <a:p>
            <a:r>
              <a:rPr lang="en-US" sz="800" dirty="0">
                <a:latin typeface="Courier New" panose="02070309020205020404" pitchFamily="49" charset="0"/>
                <a:cs typeface="Courier New" panose="02070309020205020404" pitchFamily="49" charset="0"/>
              </a:rPr>
              <a:t># Rebuild dependent prompts</a:t>
            </a:r>
          </a:p>
          <a:p>
            <a:r>
              <a:rPr lang="en-US" sz="800" dirty="0">
                <a:latin typeface="Courier New" panose="02070309020205020404" pitchFamily="49" charset="0"/>
                <a:cs typeface="Courier New" panose="02070309020205020404" pitchFamily="49" charset="0"/>
              </a:rPr>
              <a:t>ICL_1SHOT_SYSTEM = ZERO_SHOT_SYSTEM</a:t>
            </a:r>
          </a:p>
          <a:p>
            <a:r>
              <a:rPr lang="en-US" sz="800" dirty="0">
                <a:latin typeface="Courier New" panose="02070309020205020404" pitchFamily="49" charset="0"/>
                <a:cs typeface="Courier New" panose="02070309020205020404" pitchFamily="49" charset="0"/>
              </a:rPr>
              <a:t>ICL_3SHOT_SYSTEM = ZERO_SHOT_SYSTEM</a:t>
            </a:r>
          </a:p>
        </p:txBody>
      </p:sp>
    </p:spTree>
    <p:extLst>
      <p:ext uri="{BB962C8B-B14F-4D97-AF65-F5344CB8AC3E}">
        <p14:creationId xmlns:p14="http://schemas.microsoft.com/office/powerpoint/2010/main" val="3212673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B5DC068-AA62-9E21-281C-097C1D3EA78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39D9882-13D6-BE50-C920-DCF2AC056BF1}"/>
              </a:ext>
            </a:extLst>
          </p:cNvPr>
          <p:cNvSpPr/>
          <p:nvPr/>
        </p:nvSpPr>
        <p:spPr>
          <a:xfrm>
            <a:off x="0" y="0"/>
            <a:ext cx="1948543" cy="5143500"/>
          </a:xfrm>
          <a:prstGeom prst="rect">
            <a:avLst/>
          </a:prstGeom>
          <a:solidFill>
            <a:srgbClr val="0E2841"/>
          </a:solidFill>
          <a:ln w="12700">
            <a:solidFill>
              <a:srgbClr val="0E2841"/>
            </a:solidFill>
            <a:prstDash val="solid"/>
          </a:ln>
        </p:spPr>
        <p:txBody>
          <a:bodyPr/>
          <a:lstStyle/>
          <a:p>
            <a:endParaRPr lang="en-US"/>
          </a:p>
        </p:txBody>
      </p:sp>
      <p:sp>
        <p:nvSpPr>
          <p:cNvPr id="4" name="Text 2">
            <a:extLst>
              <a:ext uri="{FF2B5EF4-FFF2-40B4-BE49-F238E27FC236}">
                <a16:creationId xmlns:a16="http://schemas.microsoft.com/office/drawing/2014/main" id="{2EC569AD-2270-D9F8-588F-D51B2600F831}"/>
              </a:ext>
            </a:extLst>
          </p:cNvPr>
          <p:cNvSpPr/>
          <p:nvPr/>
        </p:nvSpPr>
        <p:spPr>
          <a:xfrm>
            <a:off x="70756" y="1108710"/>
            <a:ext cx="1807029" cy="2926080"/>
          </a:xfrm>
          <a:prstGeom prst="rect">
            <a:avLst/>
          </a:prstGeom>
          <a:noFill/>
          <a:ln/>
        </p:spPr>
        <p:txBody>
          <a:bodyPr wrap="square" lIns="0" tIns="0" rIns="0" bIns="0" rtlCol="0" anchor="ctr"/>
          <a:lstStyle/>
          <a:p>
            <a:pPr marL="0" indent="0" algn="ctr">
              <a:buNone/>
            </a:pPr>
            <a:r>
              <a:rPr lang="en-US" sz="2400" dirty="0">
                <a:solidFill>
                  <a:srgbClr val="FFFFFF"/>
                </a:solidFill>
                <a:latin typeface="Aptos Display" pitchFamily="34" charset="0"/>
                <a:ea typeface="Aptos Display" pitchFamily="34" charset="-122"/>
                <a:cs typeface="Aptos Display" pitchFamily="34" charset="-120"/>
              </a:rPr>
              <a:t>Prompt 6 - Self-Consistency</a:t>
            </a:r>
            <a:endParaRPr lang="en-US" sz="2400" dirty="0"/>
          </a:p>
        </p:txBody>
      </p:sp>
      <p:sp>
        <p:nvSpPr>
          <p:cNvPr id="3" name="TextBox 2">
            <a:extLst>
              <a:ext uri="{FF2B5EF4-FFF2-40B4-BE49-F238E27FC236}">
                <a16:creationId xmlns:a16="http://schemas.microsoft.com/office/drawing/2014/main" id="{B0A8EAC3-2641-ACD0-ACA9-E05D0F34658E}"/>
              </a:ext>
            </a:extLst>
          </p:cNvPr>
          <p:cNvSpPr txBox="1"/>
          <p:nvPr/>
        </p:nvSpPr>
        <p:spPr>
          <a:xfrm>
            <a:off x="2329543" y="468085"/>
            <a:ext cx="6041571" cy="923330"/>
          </a:xfrm>
          <a:prstGeom prst="rect">
            <a:avLst/>
          </a:prstGeom>
          <a:noFill/>
        </p:spPr>
        <p:txBody>
          <a:bodyPr wrap="square" rtlCol="0">
            <a:spAutoFit/>
          </a:bodyPr>
          <a:lstStyle/>
          <a:p>
            <a:r>
              <a:rPr lang="en-US" dirty="0"/>
              <a:t>No new prompt - Self-Consistency model reuses COT_SYSTEM and COT_USER from Prompt 4, calling them 3 times per patient.</a:t>
            </a:r>
          </a:p>
        </p:txBody>
      </p:sp>
    </p:spTree>
    <p:extLst>
      <p:ext uri="{BB962C8B-B14F-4D97-AF65-F5344CB8AC3E}">
        <p14:creationId xmlns:p14="http://schemas.microsoft.com/office/powerpoint/2010/main" val="3755820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E619B8F-C4D5-86A8-CDF5-91A273B2DA7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431304D-BF87-CA48-98B8-8D5A86C30C49}"/>
              </a:ext>
            </a:extLst>
          </p:cNvPr>
          <p:cNvSpPr/>
          <p:nvPr/>
        </p:nvSpPr>
        <p:spPr>
          <a:xfrm>
            <a:off x="0" y="0"/>
            <a:ext cx="1948543" cy="5143500"/>
          </a:xfrm>
          <a:prstGeom prst="rect">
            <a:avLst/>
          </a:prstGeom>
          <a:solidFill>
            <a:srgbClr val="0E2841"/>
          </a:solidFill>
          <a:ln w="12700">
            <a:solidFill>
              <a:srgbClr val="0E2841"/>
            </a:solidFill>
            <a:prstDash val="solid"/>
          </a:ln>
        </p:spPr>
        <p:txBody>
          <a:bodyPr/>
          <a:lstStyle/>
          <a:p>
            <a:endParaRPr lang="en-US"/>
          </a:p>
        </p:txBody>
      </p:sp>
      <p:sp>
        <p:nvSpPr>
          <p:cNvPr id="4" name="Text 2">
            <a:extLst>
              <a:ext uri="{FF2B5EF4-FFF2-40B4-BE49-F238E27FC236}">
                <a16:creationId xmlns:a16="http://schemas.microsoft.com/office/drawing/2014/main" id="{5D32BFAA-D87B-A0E5-6F5B-B5D545532046}"/>
              </a:ext>
            </a:extLst>
          </p:cNvPr>
          <p:cNvSpPr/>
          <p:nvPr/>
        </p:nvSpPr>
        <p:spPr>
          <a:xfrm>
            <a:off x="70756" y="1108710"/>
            <a:ext cx="1807029" cy="2926080"/>
          </a:xfrm>
          <a:prstGeom prst="rect">
            <a:avLst/>
          </a:prstGeom>
          <a:noFill/>
          <a:ln/>
        </p:spPr>
        <p:txBody>
          <a:bodyPr wrap="square" lIns="0" tIns="0" rIns="0" bIns="0" rtlCol="0" anchor="ctr"/>
          <a:lstStyle/>
          <a:p>
            <a:pPr marL="0" indent="0" algn="ctr">
              <a:buNone/>
            </a:pPr>
            <a:r>
              <a:rPr lang="en-US" sz="2400" dirty="0">
                <a:solidFill>
                  <a:srgbClr val="FFFFFF"/>
                </a:solidFill>
                <a:latin typeface="Aptos Display" pitchFamily="34" charset="0"/>
                <a:ea typeface="Aptos Display" pitchFamily="34" charset="-122"/>
                <a:cs typeface="Aptos Display" pitchFamily="34" charset="-120"/>
              </a:rPr>
              <a:t>Prompt 7 - LLM as Judge</a:t>
            </a:r>
            <a:endParaRPr lang="en-US" sz="2400" dirty="0"/>
          </a:p>
        </p:txBody>
      </p:sp>
      <p:sp>
        <p:nvSpPr>
          <p:cNvPr id="3" name="TextBox 2">
            <a:extLst>
              <a:ext uri="{FF2B5EF4-FFF2-40B4-BE49-F238E27FC236}">
                <a16:creationId xmlns:a16="http://schemas.microsoft.com/office/drawing/2014/main" id="{4407E81E-A036-BEA2-A569-36EB399E3C8B}"/>
              </a:ext>
            </a:extLst>
          </p:cNvPr>
          <p:cNvSpPr txBox="1"/>
          <p:nvPr/>
        </p:nvSpPr>
        <p:spPr>
          <a:xfrm>
            <a:off x="2166257" y="228599"/>
            <a:ext cx="6672943" cy="4555093"/>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JUDGE_SYSTEM = """You are a senior clinical AI evaluator assessing the quality of an AI system's</a:t>
            </a:r>
          </a:p>
          <a:p>
            <a:r>
              <a:rPr lang="en-US" sz="1000" dirty="0">
                <a:latin typeface="Courier New" panose="02070309020205020404" pitchFamily="49" charset="0"/>
                <a:cs typeface="Courier New" panose="02070309020205020404" pitchFamily="49" charset="0"/>
              </a:rPr>
              <a:t>clinical reasoning about ICU patients. Score objectively based on the criteria provided."""</a:t>
            </a: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JUDGE_USER = """Evaluate the following AI-generated clinical reasoning about an ICU patient.</a:t>
            </a:r>
          </a:p>
          <a:p>
            <a:r>
              <a:rPr lang="en-US" sz="1000" dirty="0">
                <a:latin typeface="Courier New" panose="02070309020205020404" pitchFamily="49" charset="0"/>
                <a:cs typeface="Courier New" panose="02070309020205020404" pitchFamily="49" charset="0"/>
              </a:rPr>
              <a:t>Score each dimension from 1 (poor) to 5 (excellent).</a:t>
            </a: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PATIENT NARRATIVE:</a:t>
            </a:r>
          </a:p>
          <a:p>
            <a:r>
              <a:rPr lang="en-US" sz="1000" dirty="0">
                <a:latin typeface="Courier New" panose="02070309020205020404" pitchFamily="49" charset="0"/>
                <a:cs typeface="Courier New" panose="02070309020205020404" pitchFamily="49" charset="0"/>
              </a:rPr>
              <a:t>{narrative}</a:t>
            </a: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GROUND TRUTH: Mortality={</a:t>
            </a:r>
            <a:r>
              <a:rPr lang="en-US" sz="1000" dirty="0" err="1">
                <a:latin typeface="Courier New" panose="02070309020205020404" pitchFamily="49" charset="0"/>
                <a:cs typeface="Courier New" panose="02070309020205020404" pitchFamily="49" charset="0"/>
              </a:rPr>
              <a:t>truth_mortality</a:t>
            </a:r>
            <a:r>
              <a:rPr lang="en-US" sz="1000" dirty="0">
                <a:latin typeface="Courier New" panose="02070309020205020404" pitchFamily="49" charset="0"/>
                <a:cs typeface="Courier New" panose="02070309020205020404" pitchFamily="49" charset="0"/>
              </a:rPr>
              <a:t>}, LOS={</a:t>
            </a:r>
            <a:r>
              <a:rPr lang="en-US" sz="1000" dirty="0" err="1">
                <a:latin typeface="Courier New" panose="02070309020205020404" pitchFamily="49" charset="0"/>
                <a:cs typeface="Courier New" panose="02070309020205020404" pitchFamily="49" charset="0"/>
              </a:rPr>
              <a:t>truth_los</a:t>
            </a:r>
            <a:r>
              <a:rPr lang="en-US" sz="1000" dirty="0">
                <a:latin typeface="Courier New" panose="02070309020205020404" pitchFamily="49" charset="0"/>
                <a:cs typeface="Courier New" panose="02070309020205020404" pitchFamily="49" charset="0"/>
              </a:rPr>
              <a:t>}</a:t>
            </a: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AI REASONING OUTPUT:</a:t>
            </a:r>
          </a:p>
          <a:p>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ai_output</a:t>
            </a:r>
            <a:r>
              <a:rPr lang="en-US" sz="1000" dirty="0">
                <a:latin typeface="Courier New" panose="02070309020205020404" pitchFamily="49" charset="0"/>
                <a:cs typeface="Courier New" panose="02070309020205020404" pitchFamily="49" charset="0"/>
              </a:rPr>
              <a:t>}</a:t>
            </a: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Score on these dimensions:</a:t>
            </a:r>
          </a:p>
          <a:p>
            <a:r>
              <a:rPr lang="en-US" sz="1000" dirty="0">
                <a:latin typeface="Courier New" panose="02070309020205020404" pitchFamily="49" charset="0"/>
                <a:cs typeface="Courier New" panose="02070309020205020404" pitchFamily="49" charset="0"/>
              </a:rPr>
              <a:t>1. CLINICAL ACCURACY (1-5): Did the reasoning correctly identify the key clinical issues?</a:t>
            </a:r>
          </a:p>
          <a:p>
            <a:r>
              <a:rPr lang="en-US" sz="1000" dirty="0">
                <a:latin typeface="Courier New" panose="02070309020205020404" pitchFamily="49" charset="0"/>
                <a:cs typeface="Courier New" panose="02070309020205020404" pitchFamily="49" charset="0"/>
              </a:rPr>
              <a:t>2. LOGICAL COHERENCE (1-5): Was the reasoning structured and internally consistent?</a:t>
            </a:r>
          </a:p>
          <a:p>
            <a:r>
              <a:rPr lang="en-US" sz="1000" dirty="0">
                <a:latin typeface="Courier New" panose="02070309020205020404" pitchFamily="49" charset="0"/>
                <a:cs typeface="Courier New" panose="02070309020205020404" pitchFamily="49" charset="0"/>
              </a:rPr>
              <a:t>3. EVIDENCE USAGE (1-5): Did it appropriately weight vitals, labs, and diagnosis?</a:t>
            </a:r>
          </a:p>
          <a:p>
            <a:r>
              <a:rPr lang="en-US" sz="1000" dirty="0">
                <a:latin typeface="Courier New" panose="02070309020205020404" pitchFamily="49" charset="0"/>
                <a:cs typeface="Courier New" panose="02070309020205020404" pitchFamily="49" charset="0"/>
              </a:rPr>
              <a:t>4. PREDICTION CORRECTNESS (1-5): 5=both correct, 3=one correct, 1=both wrong</a:t>
            </a:r>
          </a:p>
          <a:p>
            <a:r>
              <a:rPr lang="en-US" sz="1000" dirty="0">
                <a:latin typeface="Courier New" panose="02070309020205020404" pitchFamily="49" charset="0"/>
                <a:cs typeface="Courier New" panose="02070309020205020404" pitchFamily="49" charset="0"/>
              </a:rPr>
              <a:t>5. HALLUCINATION RISK (1-5): 5=no fabricated facts, 1=significant fabrications</a:t>
            </a:r>
          </a:p>
          <a:p>
            <a:endParaRPr lang="en-US" sz="1000" dirty="0">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Respond ONLY in JSON with no extra text:</a:t>
            </a:r>
          </a:p>
          <a:p>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clinical_accuracy</a:t>
            </a:r>
            <a:r>
              <a:rPr lang="en-US" sz="1000" dirty="0">
                <a:latin typeface="Courier New" panose="02070309020205020404" pitchFamily="49" charset="0"/>
                <a:cs typeface="Courier New" panose="02070309020205020404" pitchFamily="49" charset="0"/>
              </a:rPr>
              <a:t>": X, "</a:t>
            </a:r>
            <a:r>
              <a:rPr lang="en-US" sz="1000" dirty="0" err="1">
                <a:latin typeface="Courier New" panose="02070309020205020404" pitchFamily="49" charset="0"/>
                <a:cs typeface="Courier New" panose="02070309020205020404" pitchFamily="49" charset="0"/>
              </a:rPr>
              <a:t>logical_coherence</a:t>
            </a:r>
            <a:r>
              <a:rPr lang="en-US" sz="1000" dirty="0">
                <a:latin typeface="Courier New" panose="02070309020205020404" pitchFamily="49" charset="0"/>
                <a:cs typeface="Courier New" panose="02070309020205020404" pitchFamily="49" charset="0"/>
              </a:rPr>
              <a:t>": X, "</a:t>
            </a:r>
            <a:r>
              <a:rPr lang="en-US" sz="1000" dirty="0" err="1">
                <a:latin typeface="Courier New" panose="02070309020205020404" pitchFamily="49" charset="0"/>
                <a:cs typeface="Courier New" panose="02070309020205020404" pitchFamily="49" charset="0"/>
              </a:rPr>
              <a:t>evidence_usage</a:t>
            </a:r>
            <a:r>
              <a:rPr lang="en-US" sz="1000" dirty="0">
                <a:latin typeface="Courier New" panose="02070309020205020404" pitchFamily="49" charset="0"/>
                <a:cs typeface="Courier New" panose="02070309020205020404" pitchFamily="49" charset="0"/>
              </a:rPr>
              <a:t>": X,</a:t>
            </a:r>
          </a:p>
          <a:p>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prediction_correctness</a:t>
            </a:r>
            <a:r>
              <a:rPr lang="en-US" sz="1000" dirty="0">
                <a:latin typeface="Courier New" panose="02070309020205020404" pitchFamily="49" charset="0"/>
                <a:cs typeface="Courier New" panose="02070309020205020404" pitchFamily="49" charset="0"/>
              </a:rPr>
              <a:t>": X, "</a:t>
            </a:r>
            <a:r>
              <a:rPr lang="en-US" sz="1000" dirty="0" err="1">
                <a:latin typeface="Courier New" panose="02070309020205020404" pitchFamily="49" charset="0"/>
                <a:cs typeface="Courier New" panose="02070309020205020404" pitchFamily="49" charset="0"/>
              </a:rPr>
              <a:t>hallucination_risk</a:t>
            </a:r>
            <a:r>
              <a:rPr lang="en-US" sz="1000" dirty="0">
                <a:latin typeface="Courier New" panose="02070309020205020404" pitchFamily="49" charset="0"/>
                <a:cs typeface="Courier New" panose="02070309020205020404" pitchFamily="49" charset="0"/>
              </a:rPr>
              <a:t>": X, "</a:t>
            </a:r>
            <a:r>
              <a:rPr lang="en-US" sz="1000" dirty="0" err="1">
                <a:latin typeface="Courier New" panose="02070309020205020404" pitchFamily="49" charset="0"/>
                <a:cs typeface="Courier New" panose="02070309020205020404" pitchFamily="49" charset="0"/>
              </a:rPr>
              <a:t>overall_score</a:t>
            </a:r>
            <a:r>
              <a:rPr lang="en-US" sz="1000" dirty="0">
                <a:latin typeface="Courier New" panose="02070309020205020404" pitchFamily="49" charset="0"/>
                <a:cs typeface="Courier New" panose="02070309020205020404" pitchFamily="49" charset="0"/>
              </a:rPr>
              <a:t>": X,</a:t>
            </a:r>
          </a:p>
          <a:p>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judge_comment</a:t>
            </a:r>
            <a:r>
              <a:rPr lang="en-US" sz="1000" dirty="0">
                <a:latin typeface="Courier New" panose="02070309020205020404" pitchFamily="49" charset="0"/>
                <a:cs typeface="Courier New" panose="02070309020205020404" pitchFamily="49" charset="0"/>
              </a:rPr>
              <a:t>": "one sentence"}}"""</a:t>
            </a:r>
          </a:p>
        </p:txBody>
      </p:sp>
    </p:spTree>
    <p:extLst>
      <p:ext uri="{BB962C8B-B14F-4D97-AF65-F5344CB8AC3E}">
        <p14:creationId xmlns:p14="http://schemas.microsoft.com/office/powerpoint/2010/main" val="312687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36181"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2832652"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Technical</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Infrastructure</a:t>
            </a:r>
            <a:endParaRPr lang="en-US" sz="4000" dirty="0"/>
          </a:p>
        </p:txBody>
      </p:sp>
      <p:sp>
        <p:nvSpPr>
          <p:cNvPr id="5" name="Text 3"/>
          <p:cNvSpPr/>
          <p:nvPr/>
        </p:nvSpPr>
        <p:spPr>
          <a:xfrm>
            <a:off x="3464780" y="236551"/>
            <a:ext cx="5450619" cy="457200"/>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Async Batched API Runner</a:t>
            </a:r>
            <a:endParaRPr lang="en-US" sz="2000" dirty="0"/>
          </a:p>
        </p:txBody>
      </p:sp>
      <p:sp>
        <p:nvSpPr>
          <p:cNvPr id="6" name="Text 4"/>
          <p:cNvSpPr/>
          <p:nvPr/>
        </p:nvSpPr>
        <p:spPr>
          <a:xfrm>
            <a:off x="3464780" y="757759"/>
            <a:ext cx="5450619" cy="566928"/>
          </a:xfrm>
          <a:prstGeom prst="rect">
            <a:avLst/>
          </a:prstGeom>
          <a:noFill/>
          <a:ln/>
        </p:spPr>
        <p:txBody>
          <a:bodyPr wrap="square" rtlCol="0" anchor="ctr"/>
          <a:lstStyle/>
          <a:p>
            <a:pPr marL="0" indent="0">
              <a:buNone/>
            </a:pPr>
            <a:r>
              <a:rPr lang="en-US" sz="1350" dirty="0">
                <a:solidFill>
                  <a:srgbClr val="111111"/>
                </a:solidFill>
                <a:latin typeface="Aptos" pitchFamily="34" charset="0"/>
                <a:ea typeface="Aptos" pitchFamily="34" charset="-122"/>
                <a:cs typeface="Aptos" pitchFamily="34" charset="-120"/>
              </a:rPr>
              <a:t>700 API calls (100 patients × 7 methods) with a 30,000 TPM rate limit requires careful batching to avoid errors and minimise runtime.</a:t>
            </a:r>
            <a:endParaRPr lang="en-US" sz="1350" dirty="0"/>
          </a:p>
        </p:txBody>
      </p:sp>
      <p:sp>
        <p:nvSpPr>
          <p:cNvPr id="7" name="Shape 5"/>
          <p:cNvSpPr/>
          <p:nvPr/>
        </p:nvSpPr>
        <p:spPr>
          <a:xfrm>
            <a:off x="3510501" y="1386509"/>
            <a:ext cx="5450619" cy="3379"/>
          </a:xfrm>
          <a:prstGeom prst="line">
            <a:avLst/>
          </a:prstGeom>
          <a:noFill/>
          <a:ln w="9525">
            <a:solidFill>
              <a:srgbClr val="CCCCCC"/>
            </a:solidFill>
            <a:prstDash val="solid"/>
          </a:ln>
        </p:spPr>
        <p:txBody>
          <a:bodyPr/>
          <a:lstStyle/>
          <a:p>
            <a:endParaRPr lang="en-US"/>
          </a:p>
        </p:txBody>
      </p:sp>
      <p:sp>
        <p:nvSpPr>
          <p:cNvPr id="8" name="Text 6"/>
          <p:cNvSpPr/>
          <p:nvPr/>
        </p:nvSpPr>
        <p:spPr>
          <a:xfrm>
            <a:off x="3464780" y="1489279"/>
            <a:ext cx="5450619" cy="347472"/>
          </a:xfrm>
          <a:prstGeom prst="rect">
            <a:avLst/>
          </a:prstGeom>
          <a:noFill/>
          <a:ln/>
        </p:spPr>
        <p:txBody>
          <a:bodyPr wrap="square" rtlCol="0" anchor="ctr"/>
          <a:lstStyle/>
          <a:p>
            <a:pPr marL="0" indent="0">
              <a:buNone/>
            </a:pPr>
            <a:r>
              <a:rPr lang="en-US" sz="1500" b="1" dirty="0">
                <a:solidFill>
                  <a:srgbClr val="111111"/>
                </a:solidFill>
                <a:latin typeface="Courier New" pitchFamily="34" charset="0"/>
                <a:ea typeface="Courier New" pitchFamily="34" charset="-122"/>
                <a:cs typeface="Courier New" pitchFamily="34" charset="-120"/>
              </a:rPr>
              <a:t>_sync_call()</a:t>
            </a:r>
            <a:endParaRPr lang="en-US" sz="1500" dirty="0"/>
          </a:p>
        </p:txBody>
      </p:sp>
      <p:sp>
        <p:nvSpPr>
          <p:cNvPr id="9" name="Text 7"/>
          <p:cNvSpPr/>
          <p:nvPr/>
        </p:nvSpPr>
        <p:spPr>
          <a:xfrm>
            <a:off x="3464780" y="1836751"/>
            <a:ext cx="5450619" cy="640080"/>
          </a:xfrm>
          <a:prstGeom prst="rect">
            <a:avLst/>
          </a:prstGeom>
          <a:noFill/>
          <a:ln/>
        </p:spPr>
        <p:txBody>
          <a:bodyPr wrap="square" rtlCol="0" anchor="ctr"/>
          <a:lstStyle/>
          <a:p>
            <a:pPr marL="0" indent="0">
              <a:buNone/>
            </a:pPr>
            <a:r>
              <a:rPr lang="en-US" sz="1300" dirty="0">
                <a:solidFill>
                  <a:srgbClr val="4A4A4A"/>
                </a:solidFill>
                <a:latin typeface="Aptos" pitchFamily="34" charset="0"/>
                <a:ea typeface="Aptos" pitchFamily="34" charset="-122"/>
                <a:cs typeface="Aptos" pitchFamily="34" charset="-120"/>
              </a:rPr>
              <a:t>Synchronous OpenAI SDK call with exponential backoff. Parses 429 retry-after time from error message. Returns empty string after 5 retries.</a:t>
            </a:r>
            <a:endParaRPr lang="en-US" sz="1300" dirty="0"/>
          </a:p>
        </p:txBody>
      </p:sp>
      <p:sp>
        <p:nvSpPr>
          <p:cNvPr id="10" name="Shape 8"/>
          <p:cNvSpPr/>
          <p:nvPr/>
        </p:nvSpPr>
        <p:spPr>
          <a:xfrm flipV="1">
            <a:off x="3578087" y="2505455"/>
            <a:ext cx="5383033" cy="14909"/>
          </a:xfrm>
          <a:prstGeom prst="line">
            <a:avLst/>
          </a:prstGeom>
          <a:noFill/>
          <a:ln w="9525">
            <a:solidFill>
              <a:srgbClr val="CCCCCC"/>
            </a:solidFill>
            <a:prstDash val="solid"/>
          </a:ln>
        </p:spPr>
        <p:txBody>
          <a:bodyPr/>
          <a:lstStyle/>
          <a:p>
            <a:endParaRPr lang="en-US"/>
          </a:p>
        </p:txBody>
      </p:sp>
      <p:sp>
        <p:nvSpPr>
          <p:cNvPr id="11" name="Text 9"/>
          <p:cNvSpPr/>
          <p:nvPr/>
        </p:nvSpPr>
        <p:spPr>
          <a:xfrm>
            <a:off x="3464780" y="2623135"/>
            <a:ext cx="5450619" cy="347472"/>
          </a:xfrm>
          <a:prstGeom prst="rect">
            <a:avLst/>
          </a:prstGeom>
          <a:noFill/>
          <a:ln/>
        </p:spPr>
        <p:txBody>
          <a:bodyPr wrap="square" rtlCol="0" anchor="ctr"/>
          <a:lstStyle/>
          <a:p>
            <a:pPr marL="0" indent="0">
              <a:buNone/>
            </a:pPr>
            <a:r>
              <a:rPr lang="en-US" sz="1500" b="1" dirty="0">
                <a:solidFill>
                  <a:srgbClr val="111111"/>
                </a:solidFill>
                <a:latin typeface="Courier New" pitchFamily="34" charset="0"/>
                <a:ea typeface="Courier New" pitchFamily="34" charset="-122"/>
                <a:cs typeface="Courier New" pitchFamily="34" charset="-120"/>
              </a:rPr>
              <a:t>acall_safe()</a:t>
            </a:r>
            <a:endParaRPr lang="en-US" sz="1500" dirty="0"/>
          </a:p>
        </p:txBody>
      </p:sp>
      <p:sp>
        <p:nvSpPr>
          <p:cNvPr id="12" name="Text 10"/>
          <p:cNvSpPr/>
          <p:nvPr/>
        </p:nvSpPr>
        <p:spPr>
          <a:xfrm>
            <a:off x="3464780" y="2970607"/>
            <a:ext cx="5450619" cy="640080"/>
          </a:xfrm>
          <a:prstGeom prst="rect">
            <a:avLst/>
          </a:prstGeom>
          <a:noFill/>
          <a:ln/>
        </p:spPr>
        <p:txBody>
          <a:bodyPr wrap="square" rtlCol="0" anchor="ctr"/>
          <a:lstStyle/>
          <a:p>
            <a:pPr marL="0" indent="0">
              <a:buNone/>
            </a:pPr>
            <a:r>
              <a:rPr lang="en-US" sz="1300" dirty="0">
                <a:solidFill>
                  <a:srgbClr val="4A4A4A"/>
                </a:solidFill>
                <a:latin typeface="Aptos" pitchFamily="34" charset="0"/>
                <a:ea typeface="Aptos" pitchFamily="34" charset="-122"/>
                <a:cs typeface="Aptos" pitchFamily="34" charset="-120"/>
              </a:rPr>
              <a:t>Async wrapper using loop.run_in_executor(). Dispatches sync call to ThreadPoolExecutor (10 workers) — event loop stays unblocked.</a:t>
            </a:r>
            <a:endParaRPr lang="en-US" sz="1300" dirty="0"/>
          </a:p>
        </p:txBody>
      </p:sp>
      <p:sp>
        <p:nvSpPr>
          <p:cNvPr id="13" name="Shape 11"/>
          <p:cNvSpPr/>
          <p:nvPr/>
        </p:nvSpPr>
        <p:spPr>
          <a:xfrm>
            <a:off x="3578087" y="3610687"/>
            <a:ext cx="5383033" cy="28625"/>
          </a:xfrm>
          <a:prstGeom prst="line">
            <a:avLst/>
          </a:prstGeom>
          <a:noFill/>
          <a:ln w="9525">
            <a:solidFill>
              <a:srgbClr val="CCCCCC"/>
            </a:solidFill>
            <a:prstDash val="solid"/>
          </a:ln>
        </p:spPr>
        <p:txBody>
          <a:bodyPr/>
          <a:lstStyle/>
          <a:p>
            <a:endParaRPr lang="en-US"/>
          </a:p>
        </p:txBody>
      </p:sp>
      <p:sp>
        <p:nvSpPr>
          <p:cNvPr id="14" name="Text 12"/>
          <p:cNvSpPr/>
          <p:nvPr/>
        </p:nvSpPr>
        <p:spPr>
          <a:xfrm>
            <a:off x="3464780" y="3756991"/>
            <a:ext cx="5450619" cy="347472"/>
          </a:xfrm>
          <a:prstGeom prst="rect">
            <a:avLst/>
          </a:prstGeom>
          <a:noFill/>
          <a:ln/>
        </p:spPr>
        <p:txBody>
          <a:bodyPr wrap="square" rtlCol="0" anchor="ctr"/>
          <a:lstStyle/>
          <a:p>
            <a:pPr marL="0" indent="0">
              <a:buNone/>
            </a:pPr>
            <a:r>
              <a:rPr lang="en-US" sz="1500" b="1" dirty="0">
                <a:solidFill>
                  <a:srgbClr val="111111"/>
                </a:solidFill>
                <a:latin typeface="Courier New" pitchFamily="34" charset="0"/>
                <a:ea typeface="Courier New" pitchFamily="34" charset="-122"/>
                <a:cs typeface="Courier New" pitchFamily="34" charset="-120"/>
              </a:rPr>
              <a:t>run_method_batched()</a:t>
            </a:r>
            <a:endParaRPr lang="en-US" sz="1500" dirty="0"/>
          </a:p>
        </p:txBody>
      </p:sp>
      <p:sp>
        <p:nvSpPr>
          <p:cNvPr id="15" name="Text 13"/>
          <p:cNvSpPr/>
          <p:nvPr/>
        </p:nvSpPr>
        <p:spPr>
          <a:xfrm>
            <a:off x="3464780" y="4104463"/>
            <a:ext cx="5450619" cy="640080"/>
          </a:xfrm>
          <a:prstGeom prst="rect">
            <a:avLst/>
          </a:prstGeom>
          <a:noFill/>
          <a:ln/>
        </p:spPr>
        <p:txBody>
          <a:bodyPr wrap="square" rtlCol="0" anchor="ctr"/>
          <a:lstStyle/>
          <a:p>
            <a:pPr marL="0" indent="0">
              <a:buNone/>
            </a:pPr>
            <a:r>
              <a:rPr lang="en-US" sz="1300" dirty="0">
                <a:solidFill>
                  <a:srgbClr val="4A4A4A"/>
                </a:solidFill>
                <a:latin typeface="Aptos" pitchFamily="34" charset="0"/>
                <a:ea typeface="Aptos" pitchFamily="34" charset="-122"/>
                <a:cs typeface="Aptos" pitchFamily="34" charset="-120"/>
              </a:rPr>
              <a:t>Adaptive batches: CoT/ToT → batch=4, pause=15s. ICL → batch=5, pause=12s. Zero-shot → batch=6, pause=10s. Stays under 30k TPM.</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9271" y="0"/>
            <a:ext cx="3244134"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34786" y="1115568"/>
            <a:ext cx="2936019"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LLM-as-Judge</a:t>
            </a:r>
            <a:endParaRPr lang="en-US" sz="4000" dirty="0"/>
          </a:p>
        </p:txBody>
      </p:sp>
      <p:sp>
        <p:nvSpPr>
          <p:cNvPr id="5" name="Text 3"/>
          <p:cNvSpPr/>
          <p:nvPr/>
        </p:nvSpPr>
        <p:spPr>
          <a:xfrm>
            <a:off x="3687419" y="236551"/>
            <a:ext cx="4663440" cy="457200"/>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Evaluating Reasoning Quality</a:t>
            </a:r>
            <a:endParaRPr lang="en-US" sz="2000" dirty="0"/>
          </a:p>
        </p:txBody>
      </p:sp>
      <p:sp>
        <p:nvSpPr>
          <p:cNvPr id="6" name="Text 4"/>
          <p:cNvSpPr/>
          <p:nvPr/>
        </p:nvSpPr>
        <p:spPr>
          <a:xfrm>
            <a:off x="3687419" y="757759"/>
            <a:ext cx="5074918" cy="502920"/>
          </a:xfrm>
          <a:prstGeom prst="rect">
            <a:avLst/>
          </a:prstGeom>
          <a:noFill/>
          <a:ln/>
        </p:spPr>
        <p:txBody>
          <a:bodyPr wrap="square" rtlCol="0" anchor="ctr"/>
          <a:lstStyle/>
          <a:p>
            <a:pPr marL="0" indent="0">
              <a:buNone/>
            </a:pPr>
            <a:r>
              <a:rPr lang="en-US" sz="1350" dirty="0">
                <a:solidFill>
                  <a:srgbClr val="111111"/>
                </a:solidFill>
                <a:latin typeface="Aptos" pitchFamily="34" charset="0"/>
                <a:ea typeface="Aptos" pitchFamily="34" charset="-122"/>
                <a:cs typeface="Aptos" pitchFamily="34" charset="-120"/>
              </a:rPr>
              <a:t>Beyond accuracy — GPT-4o evaluates its own Chain-of-Thought reasoning outputs on 5 clinical dimensions (scale 1–5):</a:t>
            </a:r>
            <a:endParaRPr lang="en-US" sz="1350" dirty="0"/>
          </a:p>
        </p:txBody>
      </p:sp>
      <p:sp>
        <p:nvSpPr>
          <p:cNvPr id="7" name="Shape 5"/>
          <p:cNvSpPr/>
          <p:nvPr/>
        </p:nvSpPr>
        <p:spPr>
          <a:xfrm>
            <a:off x="3800723" y="1315542"/>
            <a:ext cx="5160397" cy="10338"/>
          </a:xfrm>
          <a:prstGeom prst="line">
            <a:avLst/>
          </a:prstGeom>
          <a:noFill/>
          <a:ln w="9525">
            <a:solidFill>
              <a:srgbClr val="CCCCCC"/>
            </a:solidFill>
            <a:prstDash val="solid"/>
          </a:ln>
        </p:spPr>
        <p:txBody>
          <a:bodyPr/>
          <a:lstStyle/>
          <a:p>
            <a:endParaRPr lang="en-US"/>
          </a:p>
        </p:txBody>
      </p:sp>
      <p:sp>
        <p:nvSpPr>
          <p:cNvPr id="8" name="Text 6"/>
          <p:cNvSpPr/>
          <p:nvPr/>
        </p:nvSpPr>
        <p:spPr>
          <a:xfrm>
            <a:off x="3687419" y="1425271"/>
            <a:ext cx="2103120" cy="274320"/>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Clinical Accuracy</a:t>
            </a:r>
            <a:endParaRPr lang="en-US" sz="1300" dirty="0"/>
          </a:p>
        </p:txBody>
      </p:sp>
      <p:sp>
        <p:nvSpPr>
          <p:cNvPr id="9" name="Text 7"/>
          <p:cNvSpPr/>
          <p:nvPr/>
        </p:nvSpPr>
        <p:spPr>
          <a:xfrm>
            <a:off x="5836259" y="1425271"/>
            <a:ext cx="822960" cy="274320"/>
          </a:xfrm>
          <a:prstGeom prst="rect">
            <a:avLst/>
          </a:prstGeom>
          <a:noFill/>
          <a:ln/>
        </p:spPr>
        <p:txBody>
          <a:bodyPr wrap="square" rtlCol="0" anchor="ctr"/>
          <a:lstStyle/>
          <a:p>
            <a:pPr marL="0" indent="0" algn="r">
              <a:buNone/>
            </a:pPr>
            <a:r>
              <a:rPr lang="en-US" sz="1300" b="1" dirty="0">
                <a:solidFill>
                  <a:srgbClr val="0E2841"/>
                </a:solidFill>
                <a:latin typeface="Aptos Display" pitchFamily="34" charset="0"/>
                <a:ea typeface="Aptos Display" pitchFamily="34" charset="-122"/>
                <a:cs typeface="Aptos Display" pitchFamily="34" charset="-120"/>
              </a:rPr>
              <a:t>3.66 / 5</a:t>
            </a:r>
            <a:endParaRPr lang="en-US" sz="1300" dirty="0"/>
          </a:p>
        </p:txBody>
      </p:sp>
      <p:sp>
        <p:nvSpPr>
          <p:cNvPr id="10" name="Text 8"/>
          <p:cNvSpPr/>
          <p:nvPr/>
        </p:nvSpPr>
        <p:spPr>
          <a:xfrm>
            <a:off x="3687419" y="1699591"/>
            <a:ext cx="4663440" cy="25603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Correctly identified key clinical issues?</a:t>
            </a:r>
            <a:endParaRPr lang="en-US" sz="1150" dirty="0"/>
          </a:p>
        </p:txBody>
      </p:sp>
      <p:sp>
        <p:nvSpPr>
          <p:cNvPr id="11" name="Shape 9"/>
          <p:cNvSpPr/>
          <p:nvPr/>
        </p:nvSpPr>
        <p:spPr>
          <a:xfrm>
            <a:off x="3800723" y="1947671"/>
            <a:ext cx="5160397" cy="18289"/>
          </a:xfrm>
          <a:prstGeom prst="line">
            <a:avLst/>
          </a:prstGeom>
          <a:noFill/>
          <a:ln w="9525">
            <a:solidFill>
              <a:srgbClr val="CCCCCC"/>
            </a:solidFill>
            <a:prstDash val="solid"/>
          </a:ln>
        </p:spPr>
        <p:txBody>
          <a:bodyPr/>
          <a:lstStyle/>
          <a:p>
            <a:endParaRPr lang="en-US"/>
          </a:p>
        </p:txBody>
      </p:sp>
      <p:sp>
        <p:nvSpPr>
          <p:cNvPr id="12" name="Text 10"/>
          <p:cNvSpPr/>
          <p:nvPr/>
        </p:nvSpPr>
        <p:spPr>
          <a:xfrm>
            <a:off x="3687419" y="2047063"/>
            <a:ext cx="2103120" cy="274320"/>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Logical Coherence</a:t>
            </a:r>
            <a:endParaRPr lang="en-US" sz="1300" dirty="0"/>
          </a:p>
        </p:txBody>
      </p:sp>
      <p:sp>
        <p:nvSpPr>
          <p:cNvPr id="13" name="Text 11"/>
          <p:cNvSpPr/>
          <p:nvPr/>
        </p:nvSpPr>
        <p:spPr>
          <a:xfrm>
            <a:off x="5836259" y="2047063"/>
            <a:ext cx="822960" cy="274320"/>
          </a:xfrm>
          <a:prstGeom prst="rect">
            <a:avLst/>
          </a:prstGeom>
          <a:noFill/>
          <a:ln/>
        </p:spPr>
        <p:txBody>
          <a:bodyPr wrap="square" rtlCol="0" anchor="ctr"/>
          <a:lstStyle/>
          <a:p>
            <a:pPr marL="0" indent="0" algn="r">
              <a:buNone/>
            </a:pPr>
            <a:r>
              <a:rPr lang="en-US" sz="1300" b="1" dirty="0">
                <a:solidFill>
                  <a:srgbClr val="0E2841"/>
                </a:solidFill>
                <a:latin typeface="Aptos Display" pitchFamily="34" charset="0"/>
                <a:ea typeface="Aptos Display" pitchFamily="34" charset="-122"/>
                <a:cs typeface="Aptos Display" pitchFamily="34" charset="-120"/>
              </a:rPr>
              <a:t>3.66 / 5</a:t>
            </a:r>
            <a:endParaRPr lang="en-US" sz="1300" dirty="0"/>
          </a:p>
        </p:txBody>
      </p:sp>
      <p:sp>
        <p:nvSpPr>
          <p:cNvPr id="14" name="Text 12"/>
          <p:cNvSpPr/>
          <p:nvPr/>
        </p:nvSpPr>
        <p:spPr>
          <a:xfrm>
            <a:off x="3687419" y="2321383"/>
            <a:ext cx="4663440" cy="25603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Reasoning structured and internally consistent?</a:t>
            </a:r>
            <a:endParaRPr lang="en-US" sz="1150" dirty="0"/>
          </a:p>
        </p:txBody>
      </p:sp>
      <p:sp>
        <p:nvSpPr>
          <p:cNvPr id="15" name="Shape 13"/>
          <p:cNvSpPr/>
          <p:nvPr/>
        </p:nvSpPr>
        <p:spPr>
          <a:xfrm flipV="1">
            <a:off x="3800723" y="2587751"/>
            <a:ext cx="5160397" cy="18251"/>
          </a:xfrm>
          <a:prstGeom prst="line">
            <a:avLst/>
          </a:prstGeom>
          <a:noFill/>
          <a:ln w="9525">
            <a:solidFill>
              <a:srgbClr val="CCCCCC"/>
            </a:solidFill>
            <a:prstDash val="solid"/>
          </a:ln>
        </p:spPr>
        <p:txBody>
          <a:bodyPr/>
          <a:lstStyle/>
          <a:p>
            <a:endParaRPr lang="en-US"/>
          </a:p>
        </p:txBody>
      </p:sp>
      <p:sp>
        <p:nvSpPr>
          <p:cNvPr id="16" name="Text 14"/>
          <p:cNvSpPr/>
          <p:nvPr/>
        </p:nvSpPr>
        <p:spPr>
          <a:xfrm>
            <a:off x="3687419" y="2668855"/>
            <a:ext cx="2103120" cy="274320"/>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Evidence Usage</a:t>
            </a:r>
            <a:endParaRPr lang="en-US" sz="1300" dirty="0"/>
          </a:p>
        </p:txBody>
      </p:sp>
      <p:sp>
        <p:nvSpPr>
          <p:cNvPr id="17" name="Text 15"/>
          <p:cNvSpPr/>
          <p:nvPr/>
        </p:nvSpPr>
        <p:spPr>
          <a:xfrm>
            <a:off x="5836259" y="2668855"/>
            <a:ext cx="822960" cy="274320"/>
          </a:xfrm>
          <a:prstGeom prst="rect">
            <a:avLst/>
          </a:prstGeom>
          <a:noFill/>
          <a:ln/>
        </p:spPr>
        <p:txBody>
          <a:bodyPr wrap="square" rtlCol="0" anchor="ctr"/>
          <a:lstStyle/>
          <a:p>
            <a:pPr marL="0" indent="0" algn="r">
              <a:buNone/>
            </a:pPr>
            <a:r>
              <a:rPr lang="en-US" sz="1300" b="1" dirty="0">
                <a:solidFill>
                  <a:srgbClr val="0E2841"/>
                </a:solidFill>
                <a:latin typeface="Aptos Display" pitchFamily="34" charset="0"/>
                <a:ea typeface="Aptos Display" pitchFamily="34" charset="-122"/>
                <a:cs typeface="Aptos Display" pitchFamily="34" charset="-120"/>
              </a:rPr>
              <a:t>3.66 / 5</a:t>
            </a:r>
            <a:endParaRPr lang="en-US" sz="1300" dirty="0"/>
          </a:p>
        </p:txBody>
      </p:sp>
      <p:sp>
        <p:nvSpPr>
          <p:cNvPr id="18" name="Text 16"/>
          <p:cNvSpPr/>
          <p:nvPr/>
        </p:nvSpPr>
        <p:spPr>
          <a:xfrm>
            <a:off x="3687419" y="2943175"/>
            <a:ext cx="4663440" cy="25603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Appropriately weighted vitals, labs, medications?</a:t>
            </a:r>
            <a:endParaRPr lang="en-US" sz="1150" dirty="0"/>
          </a:p>
        </p:txBody>
      </p:sp>
      <p:sp>
        <p:nvSpPr>
          <p:cNvPr id="19" name="Shape 17"/>
          <p:cNvSpPr/>
          <p:nvPr/>
        </p:nvSpPr>
        <p:spPr>
          <a:xfrm flipV="1">
            <a:off x="3800723" y="3209543"/>
            <a:ext cx="5160397" cy="7879"/>
          </a:xfrm>
          <a:prstGeom prst="line">
            <a:avLst/>
          </a:prstGeom>
          <a:noFill/>
          <a:ln w="9525">
            <a:solidFill>
              <a:srgbClr val="CCCCCC"/>
            </a:solidFill>
            <a:prstDash val="solid"/>
          </a:ln>
        </p:spPr>
        <p:txBody>
          <a:bodyPr/>
          <a:lstStyle/>
          <a:p>
            <a:endParaRPr lang="en-US"/>
          </a:p>
        </p:txBody>
      </p:sp>
      <p:sp>
        <p:nvSpPr>
          <p:cNvPr id="20" name="Text 18"/>
          <p:cNvSpPr/>
          <p:nvPr/>
        </p:nvSpPr>
        <p:spPr>
          <a:xfrm>
            <a:off x="3687419" y="3290647"/>
            <a:ext cx="2103120" cy="274320"/>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Prediction Correctness</a:t>
            </a:r>
            <a:endParaRPr lang="en-US" sz="1300" dirty="0"/>
          </a:p>
        </p:txBody>
      </p:sp>
      <p:sp>
        <p:nvSpPr>
          <p:cNvPr id="21" name="Text 19"/>
          <p:cNvSpPr/>
          <p:nvPr/>
        </p:nvSpPr>
        <p:spPr>
          <a:xfrm>
            <a:off x="5836259" y="3290647"/>
            <a:ext cx="822960" cy="274320"/>
          </a:xfrm>
          <a:prstGeom prst="rect">
            <a:avLst/>
          </a:prstGeom>
          <a:noFill/>
          <a:ln/>
        </p:spPr>
        <p:txBody>
          <a:bodyPr wrap="square" rtlCol="0" anchor="ctr"/>
          <a:lstStyle/>
          <a:p>
            <a:pPr marL="0" indent="0" algn="r">
              <a:buNone/>
            </a:pPr>
            <a:r>
              <a:rPr lang="en-US" sz="1300" b="1" dirty="0">
                <a:solidFill>
                  <a:srgbClr val="0E2841"/>
                </a:solidFill>
                <a:latin typeface="Aptos Display" pitchFamily="34" charset="0"/>
                <a:ea typeface="Aptos Display" pitchFamily="34" charset="-122"/>
                <a:cs typeface="Aptos Display" pitchFamily="34" charset="-120"/>
              </a:rPr>
              <a:t>2.96 / 5</a:t>
            </a:r>
            <a:endParaRPr lang="en-US" sz="1300" dirty="0"/>
          </a:p>
        </p:txBody>
      </p:sp>
      <p:sp>
        <p:nvSpPr>
          <p:cNvPr id="22" name="Text 20"/>
          <p:cNvSpPr/>
          <p:nvPr/>
        </p:nvSpPr>
        <p:spPr>
          <a:xfrm>
            <a:off x="3687419" y="3564967"/>
            <a:ext cx="4663440" cy="25603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Final label matched ground truth?</a:t>
            </a:r>
            <a:endParaRPr lang="en-US" sz="1150" dirty="0"/>
          </a:p>
        </p:txBody>
      </p:sp>
      <p:sp>
        <p:nvSpPr>
          <p:cNvPr id="23" name="Shape 21"/>
          <p:cNvSpPr/>
          <p:nvPr/>
        </p:nvSpPr>
        <p:spPr>
          <a:xfrm flipV="1">
            <a:off x="3800723" y="3831336"/>
            <a:ext cx="5160397" cy="7878"/>
          </a:xfrm>
          <a:prstGeom prst="line">
            <a:avLst/>
          </a:prstGeom>
          <a:noFill/>
          <a:ln w="9525">
            <a:solidFill>
              <a:srgbClr val="CCCCCC"/>
            </a:solidFill>
            <a:prstDash val="solid"/>
          </a:ln>
        </p:spPr>
        <p:txBody>
          <a:bodyPr/>
          <a:lstStyle/>
          <a:p>
            <a:endParaRPr lang="en-US"/>
          </a:p>
        </p:txBody>
      </p:sp>
      <p:sp>
        <p:nvSpPr>
          <p:cNvPr id="24" name="Text 22"/>
          <p:cNvSpPr/>
          <p:nvPr/>
        </p:nvSpPr>
        <p:spPr>
          <a:xfrm>
            <a:off x="3687419" y="3912439"/>
            <a:ext cx="2103120" cy="274320"/>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No Hallucination ★</a:t>
            </a:r>
            <a:endParaRPr lang="en-US" sz="1300" dirty="0"/>
          </a:p>
        </p:txBody>
      </p:sp>
      <p:sp>
        <p:nvSpPr>
          <p:cNvPr id="25" name="Text 23"/>
          <p:cNvSpPr/>
          <p:nvPr/>
        </p:nvSpPr>
        <p:spPr>
          <a:xfrm>
            <a:off x="5836259" y="3912439"/>
            <a:ext cx="822960" cy="274320"/>
          </a:xfrm>
          <a:prstGeom prst="rect">
            <a:avLst/>
          </a:prstGeom>
          <a:noFill/>
          <a:ln/>
        </p:spPr>
        <p:txBody>
          <a:bodyPr wrap="square" rtlCol="0" anchor="ctr"/>
          <a:lstStyle/>
          <a:p>
            <a:pPr marL="0" indent="0" algn="r">
              <a:buNone/>
            </a:pPr>
            <a:r>
              <a:rPr lang="en-US" sz="1300" b="1" dirty="0">
                <a:solidFill>
                  <a:srgbClr val="0E2841"/>
                </a:solidFill>
                <a:latin typeface="Aptos Display" pitchFamily="34" charset="0"/>
                <a:ea typeface="Aptos Display" pitchFamily="34" charset="-122"/>
                <a:cs typeface="Aptos Display" pitchFamily="34" charset="-120"/>
              </a:rPr>
              <a:t>4.82 / 5</a:t>
            </a:r>
            <a:endParaRPr lang="en-US" sz="1300" dirty="0"/>
          </a:p>
        </p:txBody>
      </p:sp>
      <p:sp>
        <p:nvSpPr>
          <p:cNvPr id="26" name="Text 24"/>
          <p:cNvSpPr/>
          <p:nvPr/>
        </p:nvSpPr>
        <p:spPr>
          <a:xfrm>
            <a:off x="3687419" y="4186759"/>
            <a:ext cx="4663440" cy="256032"/>
          </a:xfrm>
          <a:prstGeom prst="rect">
            <a:avLst/>
          </a:prstGeom>
          <a:noFill/>
          <a:ln/>
        </p:spPr>
        <p:txBody>
          <a:bodyPr wrap="square" rtlCol="0" anchor="ctr"/>
          <a:lstStyle/>
          <a:p>
            <a:pPr marL="0" indent="0">
              <a:buNone/>
            </a:pPr>
            <a:r>
              <a:rPr lang="en-US" sz="1150" dirty="0">
                <a:solidFill>
                  <a:srgbClr val="4A4A4A"/>
                </a:solidFill>
                <a:latin typeface="Aptos" pitchFamily="34" charset="0"/>
                <a:ea typeface="Aptos" pitchFamily="34" charset="-122"/>
                <a:cs typeface="Aptos" pitchFamily="34" charset="-120"/>
              </a:rPr>
              <a:t>No fabricated clinical facts detected?</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CADFDCB-5A24-1195-4CB2-4DEBF46253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8401986-C742-DB57-AD2F-DE55581A9F73}"/>
              </a:ext>
            </a:extLst>
          </p:cNvPr>
          <p:cNvSpPr/>
          <p:nvPr/>
        </p:nvSpPr>
        <p:spPr>
          <a:xfrm>
            <a:off x="-228127" y="-19898"/>
            <a:ext cx="2144014" cy="5143500"/>
          </a:xfrm>
          <a:prstGeom prst="rect">
            <a:avLst/>
          </a:prstGeom>
          <a:solidFill>
            <a:srgbClr val="0E2841"/>
          </a:solidFill>
          <a:ln w="12700">
            <a:solidFill>
              <a:srgbClr val="0E2841"/>
            </a:solidFill>
            <a:prstDash val="solid"/>
          </a:ln>
        </p:spPr>
        <p:txBody>
          <a:bodyPr/>
          <a:lstStyle/>
          <a:p>
            <a:endParaRPr lang="en-US"/>
          </a:p>
        </p:txBody>
      </p:sp>
      <p:sp>
        <p:nvSpPr>
          <p:cNvPr id="4" name="Text 2">
            <a:extLst>
              <a:ext uri="{FF2B5EF4-FFF2-40B4-BE49-F238E27FC236}">
                <a16:creationId xmlns:a16="http://schemas.microsoft.com/office/drawing/2014/main" id="{0C737D3B-DCEC-DCB8-D6C9-87B5FB022663}"/>
              </a:ext>
            </a:extLst>
          </p:cNvPr>
          <p:cNvSpPr/>
          <p:nvPr/>
        </p:nvSpPr>
        <p:spPr>
          <a:xfrm>
            <a:off x="34787" y="1115568"/>
            <a:ext cx="1881100" cy="1456182"/>
          </a:xfrm>
          <a:prstGeom prst="rect">
            <a:avLst/>
          </a:prstGeom>
          <a:noFill/>
          <a:ln/>
        </p:spPr>
        <p:txBody>
          <a:bodyPr wrap="square" lIns="0" tIns="0" rIns="0" bIns="0" rtlCol="0" anchor="ctr"/>
          <a:lstStyle/>
          <a:p>
            <a:pPr marL="0" indent="0" algn="ctr">
              <a:buNone/>
            </a:pPr>
            <a:r>
              <a:rPr lang="en-US" sz="2400" dirty="0">
                <a:solidFill>
                  <a:srgbClr val="FFFFFF"/>
                </a:solidFill>
                <a:latin typeface="Aptos Display" pitchFamily="34" charset="0"/>
                <a:ea typeface="Aptos Display" pitchFamily="34" charset="-122"/>
                <a:cs typeface="Aptos Display" pitchFamily="34" charset="-120"/>
              </a:rPr>
              <a:t>LLM-as-Judge Visualizations</a:t>
            </a:r>
          </a:p>
        </p:txBody>
      </p:sp>
      <p:sp>
        <p:nvSpPr>
          <p:cNvPr id="27" name="Text 13">
            <a:extLst>
              <a:ext uri="{FF2B5EF4-FFF2-40B4-BE49-F238E27FC236}">
                <a16:creationId xmlns:a16="http://schemas.microsoft.com/office/drawing/2014/main" id="{56A58DEA-AD73-0D4F-577C-010976C5A34F}"/>
              </a:ext>
            </a:extLst>
          </p:cNvPr>
          <p:cNvSpPr/>
          <p:nvPr/>
        </p:nvSpPr>
        <p:spPr>
          <a:xfrm>
            <a:off x="2178801" y="68581"/>
            <a:ext cx="6834570" cy="363912"/>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LLM-as-Judge Radar Chart</a:t>
            </a:r>
            <a:endParaRPr lang="en-US" sz="1300" dirty="0"/>
          </a:p>
        </p:txBody>
      </p:sp>
      <p:sp>
        <p:nvSpPr>
          <p:cNvPr id="28" name="Text 14">
            <a:extLst>
              <a:ext uri="{FF2B5EF4-FFF2-40B4-BE49-F238E27FC236}">
                <a16:creationId xmlns:a16="http://schemas.microsoft.com/office/drawing/2014/main" id="{92D2AED3-338B-F626-89A0-2A8AFA0AD68E}"/>
              </a:ext>
            </a:extLst>
          </p:cNvPr>
          <p:cNvSpPr/>
          <p:nvPr/>
        </p:nvSpPr>
        <p:spPr>
          <a:xfrm>
            <a:off x="2178801" y="380185"/>
            <a:ext cx="6834570" cy="568613"/>
          </a:xfrm>
          <a:prstGeom prst="rect">
            <a:avLst/>
          </a:prstGeom>
          <a:noFill/>
          <a:ln/>
        </p:spPr>
        <p:txBody>
          <a:bodyPr wrap="square" rtlCol="0" anchor="ctr"/>
          <a:lstStyle/>
          <a:p>
            <a:pPr marL="0" indent="0">
              <a:buNone/>
            </a:pPr>
            <a:r>
              <a:rPr lang="en-US" sz="1200" dirty="0">
                <a:solidFill>
                  <a:srgbClr val="4A4A4A"/>
                </a:solidFill>
                <a:latin typeface="Aptos" pitchFamily="34" charset="0"/>
                <a:ea typeface="Aptos" pitchFamily="34" charset="-122"/>
                <a:cs typeface="Aptos" pitchFamily="34" charset="-120"/>
              </a:rPr>
              <a:t>Pentagon chart across 5 quality dimensions. Near-perfect hallucination score (4.9) is the most prominent feature.</a:t>
            </a:r>
            <a:endParaRPr lang="en-US" sz="1200" dirty="0"/>
          </a:p>
        </p:txBody>
      </p:sp>
      <p:sp>
        <p:nvSpPr>
          <p:cNvPr id="29" name="Text 16">
            <a:extLst>
              <a:ext uri="{FF2B5EF4-FFF2-40B4-BE49-F238E27FC236}">
                <a16:creationId xmlns:a16="http://schemas.microsoft.com/office/drawing/2014/main" id="{E2E9B275-CFD2-FC04-93CE-BA7B77DB22DF}"/>
              </a:ext>
            </a:extLst>
          </p:cNvPr>
          <p:cNvSpPr/>
          <p:nvPr/>
        </p:nvSpPr>
        <p:spPr>
          <a:xfrm>
            <a:off x="2178801" y="914400"/>
            <a:ext cx="6834570" cy="363912"/>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Judge Score Distribution Boxplot</a:t>
            </a:r>
            <a:endParaRPr lang="en-US" sz="1300" dirty="0"/>
          </a:p>
        </p:txBody>
      </p:sp>
      <p:sp>
        <p:nvSpPr>
          <p:cNvPr id="30" name="Text 17">
            <a:extLst>
              <a:ext uri="{FF2B5EF4-FFF2-40B4-BE49-F238E27FC236}">
                <a16:creationId xmlns:a16="http://schemas.microsoft.com/office/drawing/2014/main" id="{12DB89D1-A55F-25B0-3F59-209C2A3CCB28}"/>
              </a:ext>
            </a:extLst>
          </p:cNvPr>
          <p:cNvSpPr/>
          <p:nvPr/>
        </p:nvSpPr>
        <p:spPr>
          <a:xfrm>
            <a:off x="2178801" y="1166899"/>
            <a:ext cx="6834570" cy="568613"/>
          </a:xfrm>
          <a:prstGeom prst="rect">
            <a:avLst/>
          </a:prstGeom>
          <a:noFill/>
          <a:ln/>
        </p:spPr>
        <p:txBody>
          <a:bodyPr wrap="square" rtlCol="0" anchor="ctr"/>
          <a:lstStyle/>
          <a:p>
            <a:pPr marL="0" indent="0">
              <a:buNone/>
            </a:pPr>
            <a:r>
              <a:rPr lang="en-US" sz="1200" dirty="0">
                <a:solidFill>
                  <a:srgbClr val="4A4A4A"/>
                </a:solidFill>
                <a:latin typeface="Aptos" pitchFamily="34" charset="0"/>
                <a:ea typeface="Aptos" pitchFamily="34" charset="-122"/>
                <a:cs typeface="Aptos" pitchFamily="34" charset="-120"/>
              </a:rPr>
              <a:t>Box-and-whisker plots for 100 CoT outputs. Hallucination consistently high; prediction correctness has the most variance, reflecting genuine case ambiguity.</a:t>
            </a:r>
            <a:endParaRPr lang="en-US" sz="1200" dirty="0"/>
          </a:p>
        </p:txBody>
      </p:sp>
      <p:pic>
        <p:nvPicPr>
          <p:cNvPr id="32" name="Picture 31">
            <a:extLst>
              <a:ext uri="{FF2B5EF4-FFF2-40B4-BE49-F238E27FC236}">
                <a16:creationId xmlns:a16="http://schemas.microsoft.com/office/drawing/2014/main" id="{9969B741-7214-356B-7593-A11C628C2398}"/>
              </a:ext>
            </a:extLst>
          </p:cNvPr>
          <p:cNvPicPr>
            <a:picLocks noChangeAspect="1"/>
          </p:cNvPicPr>
          <p:nvPr/>
        </p:nvPicPr>
        <p:blipFill>
          <a:blip r:embed="rId3"/>
          <a:stretch>
            <a:fillRect/>
          </a:stretch>
        </p:blipFill>
        <p:spPr>
          <a:xfrm>
            <a:off x="5716995" y="1686829"/>
            <a:ext cx="3152321" cy="3388090"/>
          </a:xfrm>
          <a:prstGeom prst="rect">
            <a:avLst/>
          </a:prstGeom>
        </p:spPr>
      </p:pic>
      <p:pic>
        <p:nvPicPr>
          <p:cNvPr id="34" name="Picture 33">
            <a:extLst>
              <a:ext uri="{FF2B5EF4-FFF2-40B4-BE49-F238E27FC236}">
                <a16:creationId xmlns:a16="http://schemas.microsoft.com/office/drawing/2014/main" id="{8092F927-434A-1DA5-37AC-C290C261D558}"/>
              </a:ext>
            </a:extLst>
          </p:cNvPr>
          <p:cNvPicPr>
            <a:picLocks noChangeAspect="1"/>
          </p:cNvPicPr>
          <p:nvPr/>
        </p:nvPicPr>
        <p:blipFill>
          <a:blip r:embed="rId4"/>
          <a:stretch>
            <a:fillRect/>
          </a:stretch>
        </p:blipFill>
        <p:spPr>
          <a:xfrm>
            <a:off x="0" y="2714067"/>
            <a:ext cx="5061857" cy="1986298"/>
          </a:xfrm>
          <a:prstGeom prst="rect">
            <a:avLst/>
          </a:prstGeom>
        </p:spPr>
      </p:pic>
    </p:spTree>
    <p:extLst>
      <p:ext uri="{BB962C8B-B14F-4D97-AF65-F5344CB8AC3E}">
        <p14:creationId xmlns:p14="http://schemas.microsoft.com/office/powerpoint/2010/main" val="2267629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86200"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3392424"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Results</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Overview</a:t>
            </a:r>
            <a:endParaRPr lang="en-US" sz="4000" dirty="0"/>
          </a:p>
        </p:txBody>
      </p:sp>
      <p:sp>
        <p:nvSpPr>
          <p:cNvPr id="5" name="Text 3"/>
          <p:cNvSpPr/>
          <p:nvPr/>
        </p:nvSpPr>
        <p:spPr>
          <a:xfrm>
            <a:off x="4147457" y="182880"/>
            <a:ext cx="4813663" cy="438912"/>
          </a:xfrm>
          <a:prstGeom prst="rect">
            <a:avLst/>
          </a:prstGeom>
          <a:noFill/>
          <a:ln/>
        </p:spPr>
        <p:txBody>
          <a:bodyPr wrap="square" rtlCol="0" anchor="ctr"/>
          <a:lstStyle/>
          <a:p>
            <a:pPr marL="0" indent="0">
              <a:buNone/>
            </a:pPr>
            <a:r>
              <a:rPr lang="en-US" sz="1800" b="1" dirty="0">
                <a:solidFill>
                  <a:srgbClr val="111111"/>
                </a:solidFill>
                <a:latin typeface="Aptos Display" pitchFamily="34" charset="0"/>
                <a:ea typeface="Aptos Display" pitchFamily="34" charset="-122"/>
                <a:cs typeface="Aptos Display" pitchFamily="34" charset="-120"/>
              </a:rPr>
              <a:t>Prediction Performance — All Methods (n=100)</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776702964"/>
              </p:ext>
            </p:extLst>
          </p:nvPr>
        </p:nvGraphicFramePr>
        <p:xfrm>
          <a:off x="4297680" y="685800"/>
          <a:ext cx="4498848" cy="4032504"/>
        </p:xfrm>
        <a:graphic>
          <a:graphicData uri="http://schemas.openxmlformats.org/drawingml/2006/table">
            <a:tbl>
              <a:tblPr/>
              <a:tblGrid>
                <a:gridCol w="1645920">
                  <a:extLst>
                    <a:ext uri="{9D8B030D-6E8A-4147-A177-3AD203B41FA5}">
                      <a16:colId xmlns:a16="http://schemas.microsoft.com/office/drawing/2014/main" val="20000"/>
                    </a:ext>
                  </a:extLst>
                </a:gridCol>
                <a:gridCol w="713232">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713232">
                  <a:extLst>
                    <a:ext uri="{9D8B030D-6E8A-4147-A177-3AD203B41FA5}">
                      <a16:colId xmlns:a16="http://schemas.microsoft.com/office/drawing/2014/main" val="20003"/>
                    </a:ext>
                  </a:extLst>
                </a:gridCol>
                <a:gridCol w="713232">
                  <a:extLst>
                    <a:ext uri="{9D8B030D-6E8A-4147-A177-3AD203B41FA5}">
                      <a16:colId xmlns:a16="http://schemas.microsoft.com/office/drawing/2014/main" val="20004"/>
                    </a:ext>
                  </a:extLst>
                </a:gridCol>
              </a:tblGrid>
              <a:tr h="448056">
                <a:tc>
                  <a:txBody>
                    <a:bodyPr/>
                    <a:lstStyle/>
                    <a:p>
                      <a:pPr marL="0" indent="0" algn="ctr">
                        <a:buNone/>
                      </a:pPr>
                      <a:r>
                        <a:rPr lang="en-US" sz="1100" b="1" dirty="0">
                          <a:solidFill>
                            <a:srgbClr val="FFFFFF"/>
                          </a:solidFill>
                        </a:rPr>
                        <a:t>Method</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2841"/>
                    </a:solidFill>
                  </a:tcPr>
                </a:tc>
                <a:tc>
                  <a:txBody>
                    <a:bodyPr/>
                    <a:lstStyle/>
                    <a:p>
                      <a:pPr marL="0" indent="0" algn="ctr">
                        <a:buNone/>
                      </a:pPr>
                      <a:r>
                        <a:rPr lang="en-US" sz="1100" b="1" dirty="0">
                          <a:solidFill>
                            <a:srgbClr val="FFFFFF"/>
                          </a:solidFill>
                        </a:rPr>
                        <a:t>Mort Acc</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2841"/>
                    </a:solidFill>
                  </a:tcPr>
                </a:tc>
                <a:tc>
                  <a:txBody>
                    <a:bodyPr/>
                    <a:lstStyle/>
                    <a:p>
                      <a:pPr marL="0" indent="0" algn="ctr">
                        <a:buNone/>
                      </a:pPr>
                      <a:r>
                        <a:rPr lang="en-US" sz="1100" b="1" dirty="0">
                          <a:solidFill>
                            <a:srgbClr val="FFFFFF"/>
                          </a:solidFill>
                        </a:rPr>
                        <a:t>Mort F1</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2841"/>
                    </a:solidFill>
                  </a:tcPr>
                </a:tc>
                <a:tc>
                  <a:txBody>
                    <a:bodyPr/>
                    <a:lstStyle/>
                    <a:p>
                      <a:pPr marL="0" indent="0" algn="ctr">
                        <a:buNone/>
                      </a:pPr>
                      <a:r>
                        <a:rPr lang="en-US" sz="1100" b="1" dirty="0">
                          <a:solidFill>
                            <a:srgbClr val="FFFFFF"/>
                          </a:solidFill>
                        </a:rPr>
                        <a:t>LOS Acc</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2841"/>
                    </a:solidFill>
                  </a:tcPr>
                </a:tc>
                <a:tc>
                  <a:txBody>
                    <a:bodyPr/>
                    <a:lstStyle/>
                    <a:p>
                      <a:pPr marL="0" indent="0" algn="ctr">
                        <a:buNone/>
                      </a:pPr>
                      <a:r>
                        <a:rPr lang="en-US" sz="1100" b="1" dirty="0">
                          <a:solidFill>
                            <a:srgbClr val="FFFFFF"/>
                          </a:solidFill>
                        </a:rPr>
                        <a:t>LOS F1</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2841"/>
                    </a:solidFill>
                  </a:tcPr>
                </a:tc>
                <a:extLst>
                  <a:ext uri="{0D108BD9-81ED-4DB2-BD59-A6C34878D82A}">
                    <a16:rowId xmlns:a16="http://schemas.microsoft.com/office/drawing/2014/main" val="10000"/>
                  </a:ext>
                </a:extLst>
              </a:tr>
              <a:tr h="448056">
                <a:tc>
                  <a:txBody>
                    <a:bodyPr/>
                    <a:lstStyle/>
                    <a:p>
                      <a:pPr marL="0" indent="0" algn="ctr">
                        <a:buNone/>
                      </a:pPr>
                      <a:r>
                        <a:rPr lang="en-US" sz="1100" dirty="0">
                          <a:solidFill>
                            <a:srgbClr val="000000"/>
                          </a:solidFill>
                        </a:rPr>
                        <a:t>Zero-shot</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66%</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0.541</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41%</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0.550</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48056">
                <a:tc>
                  <a:txBody>
                    <a:bodyPr/>
                    <a:lstStyle/>
                    <a:p>
                      <a:pPr marL="0" indent="0" algn="ctr">
                        <a:buNone/>
                      </a:pPr>
                      <a:r>
                        <a:rPr lang="en-US" sz="1100" dirty="0">
                          <a:solidFill>
                            <a:srgbClr val="000000"/>
                          </a:solidFill>
                        </a:rPr>
                        <a:t>1-shot ICL</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68%</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0.579</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45%</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0.574</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448056">
                <a:tc>
                  <a:txBody>
                    <a:bodyPr/>
                    <a:lstStyle/>
                    <a:p>
                      <a:pPr marL="0" indent="0" algn="ctr">
                        <a:buNone/>
                      </a:pPr>
                      <a:r>
                        <a:rPr lang="en-US" sz="1100" dirty="0">
                          <a:solidFill>
                            <a:srgbClr val="000000"/>
                          </a:solidFill>
                        </a:rPr>
                        <a:t>3-shot ICL</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67%</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0.560</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59%</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0.637</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448056">
                <a:tc>
                  <a:txBody>
                    <a:bodyPr/>
                    <a:lstStyle/>
                    <a:p>
                      <a:pPr marL="0" indent="0" algn="ctr">
                        <a:buNone/>
                      </a:pPr>
                      <a:r>
                        <a:rPr lang="en-US" sz="1100" dirty="0">
                          <a:solidFill>
                            <a:srgbClr val="000000"/>
                          </a:solidFill>
                        </a:rPr>
                        <a:t>Chain-of-Thought</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61%</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0.435</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54%</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0.511</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448056">
                <a:tc>
                  <a:txBody>
                    <a:bodyPr/>
                    <a:lstStyle/>
                    <a:p>
                      <a:pPr marL="0" indent="0" algn="ctr">
                        <a:buNone/>
                      </a:pPr>
                      <a:r>
                        <a:rPr lang="en-US" sz="1100" dirty="0">
                          <a:solidFill>
                            <a:srgbClr val="000000"/>
                          </a:solidFill>
                        </a:rPr>
                        <a:t>Tree-of-Thoughts</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4FA"/>
                    </a:solidFill>
                  </a:tcPr>
                </a:tc>
                <a:tc>
                  <a:txBody>
                    <a:bodyPr/>
                    <a:lstStyle/>
                    <a:p>
                      <a:pPr marL="0" indent="0" algn="ctr">
                        <a:buNone/>
                      </a:pPr>
                      <a:r>
                        <a:rPr lang="en-US" sz="1100" b="1" dirty="0">
                          <a:solidFill>
                            <a:srgbClr val="000000"/>
                          </a:solidFill>
                        </a:rPr>
                        <a:t>71%</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4FA"/>
                    </a:solidFill>
                  </a:tcPr>
                </a:tc>
                <a:tc>
                  <a:txBody>
                    <a:bodyPr/>
                    <a:lstStyle/>
                    <a:p>
                      <a:pPr marL="0" indent="0" algn="ctr">
                        <a:buNone/>
                      </a:pPr>
                      <a:r>
                        <a:rPr lang="en-US" sz="1100" b="1" dirty="0">
                          <a:solidFill>
                            <a:srgbClr val="000000"/>
                          </a:solidFill>
                        </a:rPr>
                        <a:t>0.688 ★</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4FA"/>
                    </a:solidFill>
                  </a:tcPr>
                </a:tc>
                <a:tc>
                  <a:txBody>
                    <a:bodyPr/>
                    <a:lstStyle/>
                    <a:p>
                      <a:pPr marL="0" indent="0" algn="ctr">
                        <a:buNone/>
                      </a:pPr>
                      <a:r>
                        <a:rPr lang="en-US" sz="1100" dirty="0">
                          <a:solidFill>
                            <a:srgbClr val="000000"/>
                          </a:solidFill>
                        </a:rPr>
                        <a:t>55%</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4FA"/>
                    </a:solidFill>
                  </a:tcPr>
                </a:tc>
                <a:tc>
                  <a:txBody>
                    <a:bodyPr/>
                    <a:lstStyle/>
                    <a:p>
                      <a:pPr marL="0" indent="0" algn="ctr">
                        <a:buNone/>
                      </a:pPr>
                      <a:r>
                        <a:rPr lang="en-US" sz="1100" dirty="0">
                          <a:solidFill>
                            <a:srgbClr val="000000"/>
                          </a:solidFill>
                        </a:rPr>
                        <a:t>0.458</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4FA"/>
                    </a:solidFill>
                  </a:tcPr>
                </a:tc>
                <a:extLst>
                  <a:ext uri="{0D108BD9-81ED-4DB2-BD59-A6C34878D82A}">
                    <a16:rowId xmlns:a16="http://schemas.microsoft.com/office/drawing/2014/main" val="10005"/>
                  </a:ext>
                </a:extLst>
              </a:tr>
              <a:tr h="448056">
                <a:tc>
                  <a:txBody>
                    <a:bodyPr/>
                    <a:lstStyle/>
                    <a:p>
                      <a:pPr marL="0" indent="0" algn="ctr">
                        <a:buNone/>
                      </a:pPr>
                      <a:r>
                        <a:rPr lang="en-US" sz="1100" dirty="0">
                          <a:solidFill>
                            <a:srgbClr val="000000"/>
                          </a:solidFill>
                        </a:rPr>
                        <a:t>Self-Consistency</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62%</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0.457</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52%</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0.489</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448056">
                <a:tc>
                  <a:txBody>
                    <a:bodyPr/>
                    <a:lstStyle/>
                    <a:p>
                      <a:pPr marL="0" indent="0" algn="ctr">
                        <a:buNone/>
                      </a:pPr>
                      <a:r>
                        <a:rPr lang="en-US" sz="1100" dirty="0">
                          <a:solidFill>
                            <a:srgbClr val="000000"/>
                          </a:solidFill>
                        </a:rPr>
                        <a:t>Zero-shot GPT-3.5</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BF0"/>
                    </a:solidFill>
                  </a:tcPr>
                </a:tc>
                <a:tc>
                  <a:txBody>
                    <a:bodyPr/>
                    <a:lstStyle/>
                    <a:p>
                      <a:pPr marL="0" indent="0" algn="ctr">
                        <a:buNone/>
                      </a:pPr>
                      <a:r>
                        <a:rPr lang="en-US" sz="1100" b="1" dirty="0">
                          <a:solidFill>
                            <a:srgbClr val="000000"/>
                          </a:solidFill>
                        </a:rPr>
                        <a:t>75% ★</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BF0"/>
                    </a:solidFill>
                  </a:tcPr>
                </a:tc>
                <a:tc>
                  <a:txBody>
                    <a:bodyPr/>
                    <a:lstStyle/>
                    <a:p>
                      <a:pPr marL="0" indent="0" algn="ctr">
                        <a:buNone/>
                      </a:pPr>
                      <a:r>
                        <a:rPr lang="en-US" sz="1100" b="1" dirty="0">
                          <a:solidFill>
                            <a:srgbClr val="000000"/>
                          </a:solidFill>
                        </a:rPr>
                        <a:t>0.731</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BF0"/>
                    </a:solidFill>
                  </a:tcPr>
                </a:tc>
                <a:tc>
                  <a:txBody>
                    <a:bodyPr/>
                    <a:lstStyle/>
                    <a:p>
                      <a:pPr marL="0" indent="0" algn="ctr">
                        <a:buNone/>
                      </a:pPr>
                      <a:r>
                        <a:rPr lang="en-US" sz="1100" dirty="0">
                          <a:solidFill>
                            <a:srgbClr val="000000"/>
                          </a:solidFill>
                        </a:rPr>
                        <a:t>55%</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BF0"/>
                    </a:solidFill>
                  </a:tcPr>
                </a:tc>
                <a:tc>
                  <a:txBody>
                    <a:bodyPr/>
                    <a:lstStyle/>
                    <a:p>
                      <a:pPr marL="0" indent="0" algn="ctr">
                        <a:buNone/>
                      </a:pPr>
                      <a:r>
                        <a:rPr lang="en-US" sz="1100" dirty="0">
                          <a:solidFill>
                            <a:srgbClr val="000000"/>
                          </a:solidFill>
                        </a:rPr>
                        <a:t>0.494</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BF0"/>
                    </a:solidFill>
                  </a:tcPr>
                </a:tc>
                <a:extLst>
                  <a:ext uri="{0D108BD9-81ED-4DB2-BD59-A6C34878D82A}">
                    <a16:rowId xmlns:a16="http://schemas.microsoft.com/office/drawing/2014/main" val="10007"/>
                  </a:ext>
                </a:extLst>
              </a:tr>
              <a:tr h="448056">
                <a:tc>
                  <a:txBody>
                    <a:bodyPr/>
                    <a:lstStyle/>
                    <a:p>
                      <a:pPr marL="0" indent="0" algn="ctr">
                        <a:buNone/>
                      </a:pPr>
                      <a:r>
                        <a:rPr lang="en-US" sz="1100" dirty="0">
                          <a:solidFill>
                            <a:srgbClr val="000000"/>
                          </a:solidFill>
                        </a:rPr>
                        <a:t>CoT (GPT-3.5)</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70.7%</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0.674</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55.6%</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00" dirty="0">
                          <a:solidFill>
                            <a:srgbClr val="000000"/>
                          </a:solidFill>
                        </a:rPr>
                        <a:t>0.5</a:t>
                      </a:r>
                      <a:endParaRPr lang="en-US" sz="1100" dirty="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Text 4"/>
          <p:cNvSpPr/>
          <p:nvPr/>
        </p:nvSpPr>
        <p:spPr>
          <a:xfrm>
            <a:off x="4297680" y="4818888"/>
            <a:ext cx="4663440" cy="256032"/>
          </a:xfrm>
          <a:prstGeom prst="rect">
            <a:avLst/>
          </a:prstGeom>
          <a:noFill/>
          <a:ln/>
        </p:spPr>
        <p:txBody>
          <a:bodyPr wrap="square" rtlCol="0" anchor="ctr"/>
          <a:lstStyle/>
          <a:p>
            <a:pPr marL="0" indent="0" algn="ctr">
              <a:buNone/>
            </a:pPr>
            <a:r>
              <a:rPr lang="en-US" sz="1000" i="1" dirty="0">
                <a:solidFill>
                  <a:srgbClr val="4A4A4A"/>
                </a:solidFill>
                <a:latin typeface="Aptos" pitchFamily="34" charset="0"/>
                <a:ea typeface="Aptos" pitchFamily="34" charset="-122"/>
                <a:cs typeface="Aptos" pitchFamily="34" charset="-120"/>
              </a:rPr>
              <a:t>★ Best accuracy: GPT-3.5 zero-shot (75%)   |   ★ Best F1 (GPT-4o): Tree-of-Thoughts (0.688)   |   Random baseline = 50%</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487168"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1947672"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Accuracy</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by</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Method</a:t>
            </a:r>
            <a:endParaRPr lang="en-US" sz="4000" dirty="0"/>
          </a:p>
        </p:txBody>
      </p:sp>
      <p:sp>
        <p:nvSpPr>
          <p:cNvPr id="5" name="Text 3"/>
          <p:cNvSpPr/>
          <p:nvPr/>
        </p:nvSpPr>
        <p:spPr>
          <a:xfrm>
            <a:off x="3634740" y="77725"/>
            <a:ext cx="4663440" cy="411480"/>
          </a:xfrm>
          <a:prstGeom prst="rect">
            <a:avLst/>
          </a:prstGeom>
          <a:noFill/>
          <a:ln/>
        </p:spPr>
        <p:txBody>
          <a:bodyPr wrap="square" rtlCol="0" anchor="ctr"/>
          <a:lstStyle/>
          <a:p>
            <a:pPr marL="0" indent="0">
              <a:buNone/>
            </a:pPr>
            <a:r>
              <a:rPr lang="en-US" sz="1800" b="1" dirty="0">
                <a:solidFill>
                  <a:srgbClr val="111111"/>
                </a:solidFill>
                <a:latin typeface="Aptos Display" pitchFamily="34" charset="0"/>
                <a:ea typeface="Aptos Display" pitchFamily="34" charset="-122"/>
                <a:cs typeface="Aptos Display" pitchFamily="34" charset="-120"/>
              </a:rPr>
              <a:t>Prediction Accuracy by Prompting Method</a:t>
            </a:r>
            <a:endParaRPr lang="en-US" sz="1800" dirty="0"/>
          </a:p>
        </p:txBody>
      </p:sp>
      <p:pic>
        <p:nvPicPr>
          <p:cNvPr id="6" name="Image 0" descr="/mnt/user-data/uploads/accuracy_by_method_commented_version.png"/>
          <p:cNvPicPr>
            <a:picLocks noChangeAspect="1"/>
          </p:cNvPicPr>
          <p:nvPr/>
        </p:nvPicPr>
        <p:blipFill>
          <a:blip r:embed="rId3"/>
          <a:stretch>
            <a:fillRect/>
          </a:stretch>
        </p:blipFill>
        <p:spPr>
          <a:xfrm>
            <a:off x="2971800" y="658368"/>
            <a:ext cx="5989320" cy="2770632"/>
          </a:xfrm>
          <a:prstGeom prst="rect">
            <a:avLst/>
          </a:prstGeom>
        </p:spPr>
      </p:pic>
      <p:sp>
        <p:nvSpPr>
          <p:cNvPr id="7" name="Shape 4"/>
          <p:cNvSpPr/>
          <p:nvPr/>
        </p:nvSpPr>
        <p:spPr>
          <a:xfrm>
            <a:off x="4297680" y="3154680"/>
            <a:ext cx="4663440" cy="0"/>
          </a:xfrm>
          <a:prstGeom prst="line">
            <a:avLst/>
          </a:prstGeom>
          <a:noFill/>
          <a:ln w="9525">
            <a:solidFill>
              <a:srgbClr val="CCCCCC"/>
            </a:solidFill>
            <a:prstDash val="solid"/>
          </a:ln>
        </p:spPr>
        <p:txBody>
          <a:bodyPr/>
          <a:lstStyle/>
          <a:p>
            <a:endParaRPr lang="en-US"/>
          </a:p>
        </p:txBody>
      </p:sp>
      <p:sp>
        <p:nvSpPr>
          <p:cNvPr id="8" name="Text 5"/>
          <p:cNvSpPr/>
          <p:nvPr/>
        </p:nvSpPr>
        <p:spPr>
          <a:xfrm>
            <a:off x="2715768" y="3465575"/>
            <a:ext cx="6245352" cy="502920"/>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Purple bars = Mortality accuracy. GPT-3.5 zero-shot tops at 75%, Tree-of-Thoughts best among GPT-4o at 71%.</a:t>
            </a:r>
            <a:endParaRPr lang="en-US" sz="1250" dirty="0"/>
          </a:p>
        </p:txBody>
      </p:sp>
      <p:sp>
        <p:nvSpPr>
          <p:cNvPr id="10" name="Text 7"/>
          <p:cNvSpPr/>
          <p:nvPr/>
        </p:nvSpPr>
        <p:spPr>
          <a:xfrm>
            <a:off x="2715768" y="4023360"/>
            <a:ext cx="6245352" cy="502920"/>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 Teal bars = LOS accuracy. 3-shot ICL leads at 59%. LOS is harder — patient trajectories cannot be predicted from a single snapshot.</a:t>
            </a:r>
            <a:endParaRPr lang="en-US" sz="1250" dirty="0"/>
          </a:p>
        </p:txBody>
      </p:sp>
      <p:sp>
        <p:nvSpPr>
          <p:cNvPr id="12" name="Text 9"/>
          <p:cNvSpPr/>
          <p:nvPr/>
        </p:nvSpPr>
        <p:spPr>
          <a:xfrm>
            <a:off x="2715768" y="4562855"/>
            <a:ext cx="6245352" cy="502920"/>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Dashed line = 50% random baseline. All 8 methods beat this for mortality accuracy, confirming genuine predictive signal.</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099816"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2642616" cy="2926080"/>
          </a:xfrm>
          <a:prstGeom prst="rect">
            <a:avLst/>
          </a:prstGeom>
          <a:noFill/>
          <a:ln/>
        </p:spPr>
        <p:txBody>
          <a:bodyPr wrap="square" lIns="0" tIns="0" rIns="0" bIns="0" rtlCol="0" anchor="ctr"/>
          <a:lstStyle/>
          <a:p>
            <a:pPr marL="0" indent="0" algn="ctr">
              <a:buNone/>
            </a:pP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Model</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Comparison</a:t>
            </a:r>
            <a:endParaRPr lang="en-US" sz="4000" dirty="0"/>
          </a:p>
        </p:txBody>
      </p:sp>
      <p:sp>
        <p:nvSpPr>
          <p:cNvPr id="5" name="Text 3"/>
          <p:cNvSpPr/>
          <p:nvPr/>
        </p:nvSpPr>
        <p:spPr>
          <a:xfrm>
            <a:off x="3273552" y="36576"/>
            <a:ext cx="4663440" cy="411480"/>
          </a:xfrm>
          <a:prstGeom prst="rect">
            <a:avLst/>
          </a:prstGeom>
          <a:noFill/>
          <a:ln/>
        </p:spPr>
        <p:txBody>
          <a:bodyPr wrap="square" rtlCol="0" anchor="ctr"/>
          <a:lstStyle/>
          <a:p>
            <a:pPr marL="0" indent="0">
              <a:buNone/>
            </a:pPr>
            <a:r>
              <a:rPr lang="en-US" sz="1800" b="1" dirty="0">
                <a:solidFill>
                  <a:srgbClr val="111111"/>
                </a:solidFill>
                <a:latin typeface="Aptos Display" pitchFamily="34" charset="0"/>
                <a:ea typeface="Aptos Display" pitchFamily="34" charset="-122"/>
                <a:cs typeface="Aptos Display" pitchFamily="34" charset="-120"/>
              </a:rPr>
              <a:t>GPT-4o vs GPT-3.5-turbo</a:t>
            </a:r>
            <a:endParaRPr lang="en-US" sz="1800" dirty="0"/>
          </a:p>
        </p:txBody>
      </p:sp>
      <p:pic>
        <p:nvPicPr>
          <p:cNvPr id="6" name="Image 0" descr="/mnt/user-data/uploads/model_comparison_commented.png"/>
          <p:cNvPicPr>
            <a:picLocks noChangeAspect="1"/>
          </p:cNvPicPr>
          <p:nvPr/>
        </p:nvPicPr>
        <p:blipFill>
          <a:blip r:embed="rId3"/>
          <a:stretch>
            <a:fillRect/>
          </a:stretch>
        </p:blipFill>
        <p:spPr>
          <a:xfrm>
            <a:off x="3264408" y="658368"/>
            <a:ext cx="5696712" cy="2359152"/>
          </a:xfrm>
          <a:prstGeom prst="rect">
            <a:avLst/>
          </a:prstGeom>
        </p:spPr>
      </p:pic>
      <p:sp>
        <p:nvSpPr>
          <p:cNvPr id="8" name="Text 5"/>
          <p:cNvSpPr/>
          <p:nvPr/>
        </p:nvSpPr>
        <p:spPr>
          <a:xfrm>
            <a:off x="3328416" y="3227832"/>
            <a:ext cx="4663440" cy="320040"/>
          </a:xfrm>
          <a:prstGeom prst="rect">
            <a:avLst/>
          </a:prstGeom>
          <a:noFill/>
          <a:ln/>
        </p:spPr>
        <p:txBody>
          <a:bodyPr wrap="square" rtlCol="0" anchor="ctr"/>
          <a:lstStyle/>
          <a:p>
            <a:pPr marL="0" indent="0">
              <a:buNone/>
            </a:pPr>
            <a:r>
              <a:rPr lang="en-US" sz="1500" b="1" dirty="0">
                <a:solidFill>
                  <a:srgbClr val="111111"/>
                </a:solidFill>
                <a:latin typeface="Aptos Display" pitchFamily="34" charset="0"/>
                <a:ea typeface="Aptos Display" pitchFamily="34" charset="-122"/>
                <a:cs typeface="Aptos Display" pitchFamily="34" charset="-120"/>
              </a:rPr>
              <a:t>Key Findings</a:t>
            </a:r>
            <a:endParaRPr lang="en-US" sz="1500" dirty="0"/>
          </a:p>
        </p:txBody>
      </p:sp>
      <p:sp>
        <p:nvSpPr>
          <p:cNvPr id="9" name="Text 6"/>
          <p:cNvSpPr/>
          <p:nvPr/>
        </p:nvSpPr>
        <p:spPr>
          <a:xfrm>
            <a:off x="3264408" y="3547872"/>
            <a:ext cx="5696712" cy="457200"/>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1.  GPT-3.5 outperforms GPT-4o on zero-shot mortality (75% vs 66%) — GPT-4o over-predicts SURVIVED without calibration.</a:t>
            </a:r>
            <a:endParaRPr lang="en-US" sz="1250" dirty="0"/>
          </a:p>
        </p:txBody>
      </p:sp>
      <p:sp>
        <p:nvSpPr>
          <p:cNvPr id="11" name="Text 8"/>
          <p:cNvSpPr/>
          <p:nvPr/>
        </p:nvSpPr>
        <p:spPr>
          <a:xfrm>
            <a:off x="3264408" y="4050792"/>
            <a:ext cx="5696712" cy="457200"/>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2.  GPT-3.5 CoT also beats GPT-4o CoT (71% vs 61%) — confirming calibration drives this result, not model size.</a:t>
            </a:r>
            <a:endParaRPr lang="en-US" sz="1250" dirty="0"/>
          </a:p>
        </p:txBody>
      </p:sp>
      <p:sp>
        <p:nvSpPr>
          <p:cNvPr id="13" name="Text 10"/>
          <p:cNvSpPr/>
          <p:nvPr/>
        </p:nvSpPr>
        <p:spPr>
          <a:xfrm>
            <a:off x="3264408" y="4553712"/>
            <a:ext cx="5696712" cy="457200"/>
          </a:xfrm>
          <a:prstGeom prst="rect">
            <a:avLst/>
          </a:prstGeom>
          <a:noFill/>
          <a:ln/>
        </p:spPr>
        <p:txBody>
          <a:bodyPr wrap="square" rtlCol="0" anchor="ctr"/>
          <a:lstStyle/>
          <a:p>
            <a:pPr marL="0" indent="0">
              <a:buNone/>
            </a:pPr>
            <a:r>
              <a:rPr lang="en-US" sz="1250" dirty="0">
                <a:solidFill>
                  <a:srgbClr val="111111"/>
                </a:solidFill>
                <a:latin typeface="Aptos" pitchFamily="34" charset="0"/>
                <a:ea typeface="Aptos" pitchFamily="34" charset="-122"/>
                <a:cs typeface="Aptos" pitchFamily="34" charset="-120"/>
              </a:rPr>
              <a:t>3.  Implication: well-calibrated smaller models can outperform larger ones — prompt calibration is critical.</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505456"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178308" y="1108710"/>
            <a:ext cx="2148840" cy="2926080"/>
          </a:xfrm>
          <a:prstGeom prst="rect">
            <a:avLst/>
          </a:prstGeom>
          <a:noFill/>
          <a:ln/>
        </p:spPr>
        <p:txBody>
          <a:bodyPr wrap="square" lIns="0" tIns="0" rIns="0" bIns="0" rtlCol="0" anchor="ctr"/>
          <a:lstStyle/>
          <a:p>
            <a:pPr marL="0" indent="0" algn="ctr">
              <a:buNone/>
            </a:pP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Confusion</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Matrix</a:t>
            </a:r>
            <a:endParaRPr lang="en-US" sz="4000" dirty="0"/>
          </a:p>
        </p:txBody>
      </p:sp>
      <p:sp>
        <p:nvSpPr>
          <p:cNvPr id="5" name="Text 3"/>
          <p:cNvSpPr/>
          <p:nvPr/>
        </p:nvSpPr>
        <p:spPr>
          <a:xfrm>
            <a:off x="2734056" y="59436"/>
            <a:ext cx="4663440" cy="411480"/>
          </a:xfrm>
          <a:prstGeom prst="rect">
            <a:avLst/>
          </a:prstGeom>
          <a:noFill/>
          <a:ln/>
        </p:spPr>
        <p:txBody>
          <a:bodyPr wrap="square" rtlCol="0" anchor="ctr"/>
          <a:lstStyle/>
          <a:p>
            <a:pPr marL="0" indent="0">
              <a:buNone/>
            </a:pPr>
            <a:r>
              <a:rPr lang="en-US" sz="1800" b="1" dirty="0">
                <a:solidFill>
                  <a:srgbClr val="111111"/>
                </a:solidFill>
                <a:latin typeface="Aptos Display" pitchFamily="34" charset="0"/>
                <a:ea typeface="Aptos Display" pitchFamily="34" charset="-122"/>
                <a:cs typeface="Aptos Display" pitchFamily="34" charset="-120"/>
              </a:rPr>
              <a:t>Best Method Clinical Performance</a:t>
            </a:r>
            <a:endParaRPr lang="en-US" sz="1800" dirty="0"/>
          </a:p>
        </p:txBody>
      </p:sp>
      <p:pic>
        <p:nvPicPr>
          <p:cNvPr id="6" name="Image 0" descr="/mnt/user-data/uploads/confusion_matrix_for_best_method_commented.png"/>
          <p:cNvPicPr>
            <a:picLocks noChangeAspect="1"/>
          </p:cNvPicPr>
          <p:nvPr/>
        </p:nvPicPr>
        <p:blipFill>
          <a:blip r:embed="rId3"/>
          <a:stretch>
            <a:fillRect/>
          </a:stretch>
        </p:blipFill>
        <p:spPr>
          <a:xfrm>
            <a:off x="2734056" y="544067"/>
            <a:ext cx="6227064" cy="2487168"/>
          </a:xfrm>
          <a:prstGeom prst="rect">
            <a:avLst/>
          </a:prstGeom>
        </p:spPr>
      </p:pic>
      <p:sp>
        <p:nvSpPr>
          <p:cNvPr id="8" name="Text 5"/>
          <p:cNvSpPr/>
          <p:nvPr/>
        </p:nvSpPr>
        <p:spPr>
          <a:xfrm>
            <a:off x="2651760" y="3337560"/>
            <a:ext cx="6309360" cy="320040"/>
          </a:xfrm>
          <a:prstGeom prst="rect">
            <a:avLst/>
          </a:prstGeom>
          <a:noFill/>
          <a:ln/>
        </p:spPr>
        <p:txBody>
          <a:bodyPr wrap="square" rtlCol="0" anchor="ctr"/>
          <a:lstStyle/>
          <a:p>
            <a:pPr marL="0" indent="0">
              <a:buNone/>
            </a:pPr>
            <a:r>
              <a:rPr lang="en-US" sz="1400" b="1" dirty="0">
                <a:solidFill>
                  <a:srgbClr val="111111"/>
                </a:solidFill>
                <a:latin typeface="Aptos Display" pitchFamily="34" charset="0"/>
                <a:ea typeface="Aptos Display" pitchFamily="34" charset="-122"/>
                <a:cs typeface="Aptos Display" pitchFamily="34" charset="-120"/>
              </a:rPr>
              <a:t>Clinical Metrics — GPT-3.5 Zero-shot (Best Method)</a:t>
            </a:r>
            <a:endParaRPr lang="en-US" sz="1400" dirty="0"/>
          </a:p>
        </p:txBody>
      </p:sp>
      <p:sp>
        <p:nvSpPr>
          <p:cNvPr id="9" name="Text 6"/>
          <p:cNvSpPr/>
          <p:nvPr/>
        </p:nvSpPr>
        <p:spPr>
          <a:xfrm>
            <a:off x="2651760" y="3657600"/>
            <a:ext cx="6309360" cy="320040"/>
          </a:xfrm>
          <a:prstGeom prst="rect">
            <a:avLst/>
          </a:prstGeom>
          <a:noFill/>
          <a:ln/>
        </p:spPr>
        <p:txBody>
          <a:bodyPr wrap="square" rtlCol="0" anchor="ctr"/>
          <a:lstStyle/>
          <a:p>
            <a:pPr marL="0" indent="0">
              <a:buNone/>
            </a:pPr>
            <a:r>
              <a:rPr lang="en-US" sz="1200" b="1" dirty="0">
                <a:solidFill>
                  <a:srgbClr val="000000"/>
                </a:solidFill>
                <a:latin typeface="Aptos" pitchFamily="34" charset="0"/>
                <a:ea typeface="Aptos" pitchFamily="34" charset="-122"/>
                <a:cs typeface="Aptos" pitchFamily="34" charset="-120"/>
              </a:rPr>
              <a:t>Sensitivity (Recall): </a:t>
            </a:r>
            <a:r>
              <a:rPr lang="en-US" sz="1200" b="1" dirty="0">
                <a:solidFill>
                  <a:srgbClr val="0E2841"/>
                </a:solidFill>
                <a:latin typeface="Aptos" pitchFamily="34" charset="0"/>
                <a:ea typeface="Aptos" pitchFamily="34" charset="-122"/>
                <a:cs typeface="Aptos" pitchFamily="34" charset="-120"/>
              </a:rPr>
              <a:t>68%  </a:t>
            </a:r>
            <a:r>
              <a:rPr lang="en-US" sz="1200" dirty="0">
                <a:solidFill>
                  <a:srgbClr val="4A4A4A"/>
                </a:solidFill>
                <a:latin typeface="Aptos" pitchFamily="34" charset="0"/>
                <a:ea typeface="Aptos" pitchFamily="34" charset="-122"/>
                <a:cs typeface="Aptos" pitchFamily="34" charset="-120"/>
              </a:rPr>
              <a:t>34 of 50 dying patients correctly identified — 16 dangerous misses</a:t>
            </a:r>
            <a:endParaRPr lang="en-US" sz="1200" dirty="0"/>
          </a:p>
        </p:txBody>
      </p:sp>
      <p:sp>
        <p:nvSpPr>
          <p:cNvPr id="10" name="Text 7"/>
          <p:cNvSpPr/>
          <p:nvPr/>
        </p:nvSpPr>
        <p:spPr>
          <a:xfrm>
            <a:off x="2651760" y="4005072"/>
            <a:ext cx="6309360" cy="320040"/>
          </a:xfrm>
          <a:prstGeom prst="rect">
            <a:avLst/>
          </a:prstGeom>
          <a:noFill/>
          <a:ln/>
        </p:spPr>
        <p:txBody>
          <a:bodyPr wrap="square" rtlCol="0" anchor="ctr"/>
          <a:lstStyle/>
          <a:p>
            <a:pPr marL="0" indent="0">
              <a:buNone/>
            </a:pPr>
            <a:r>
              <a:rPr lang="en-US" sz="1200" b="1" dirty="0">
                <a:solidFill>
                  <a:srgbClr val="000000"/>
                </a:solidFill>
                <a:latin typeface="Aptos" pitchFamily="34" charset="0"/>
                <a:ea typeface="Aptos" pitchFamily="34" charset="-122"/>
                <a:cs typeface="Aptos" pitchFamily="34" charset="-120"/>
              </a:rPr>
              <a:t>Specificity: </a:t>
            </a:r>
            <a:r>
              <a:rPr lang="en-US" sz="1200" b="1" dirty="0">
                <a:solidFill>
                  <a:srgbClr val="0E2841"/>
                </a:solidFill>
                <a:latin typeface="Aptos" pitchFamily="34" charset="0"/>
                <a:ea typeface="Aptos" pitchFamily="34" charset="-122"/>
                <a:cs typeface="Aptos" pitchFamily="34" charset="-120"/>
              </a:rPr>
              <a:t>82%  </a:t>
            </a:r>
            <a:r>
              <a:rPr lang="en-US" sz="1200" dirty="0">
                <a:solidFill>
                  <a:srgbClr val="4A4A4A"/>
                </a:solidFill>
                <a:latin typeface="Aptos" pitchFamily="34" charset="0"/>
                <a:ea typeface="Aptos" pitchFamily="34" charset="-122"/>
                <a:cs typeface="Aptos" pitchFamily="34" charset="-120"/>
              </a:rPr>
              <a:t>41 of 50 survivors correctly cleared — 9 false alarms</a:t>
            </a:r>
            <a:endParaRPr lang="en-US" sz="1200" dirty="0"/>
          </a:p>
        </p:txBody>
      </p:sp>
      <p:sp>
        <p:nvSpPr>
          <p:cNvPr id="11" name="Text 8"/>
          <p:cNvSpPr/>
          <p:nvPr/>
        </p:nvSpPr>
        <p:spPr>
          <a:xfrm>
            <a:off x="2651760" y="4352544"/>
            <a:ext cx="6309360" cy="320040"/>
          </a:xfrm>
          <a:prstGeom prst="rect">
            <a:avLst/>
          </a:prstGeom>
          <a:noFill/>
          <a:ln/>
        </p:spPr>
        <p:txBody>
          <a:bodyPr wrap="square" rtlCol="0" anchor="ctr"/>
          <a:lstStyle/>
          <a:p>
            <a:pPr marL="0" indent="0">
              <a:buNone/>
            </a:pPr>
            <a:r>
              <a:rPr lang="en-US" sz="1200" b="1" dirty="0">
                <a:solidFill>
                  <a:srgbClr val="000000"/>
                </a:solidFill>
                <a:latin typeface="Aptos" pitchFamily="34" charset="0"/>
                <a:ea typeface="Aptos" pitchFamily="34" charset="-122"/>
                <a:cs typeface="Aptos" pitchFamily="34" charset="-120"/>
              </a:rPr>
              <a:t>Precision (PPV): </a:t>
            </a:r>
            <a:r>
              <a:rPr lang="en-US" sz="1200" b="1" dirty="0">
                <a:solidFill>
                  <a:srgbClr val="0E2841"/>
                </a:solidFill>
                <a:latin typeface="Aptos" pitchFamily="34" charset="0"/>
                <a:ea typeface="Aptos" pitchFamily="34" charset="-122"/>
                <a:cs typeface="Aptos" pitchFamily="34" charset="-120"/>
              </a:rPr>
              <a:t>79%  </a:t>
            </a:r>
            <a:r>
              <a:rPr lang="en-US" sz="1200" dirty="0">
                <a:solidFill>
                  <a:srgbClr val="4A4A4A"/>
                </a:solidFill>
                <a:latin typeface="Aptos" pitchFamily="34" charset="0"/>
                <a:ea typeface="Aptos" pitchFamily="34" charset="-122"/>
                <a:cs typeface="Aptos" pitchFamily="34" charset="-120"/>
              </a:rPr>
              <a:t>When predicting DIED, correct 79% of the time</a:t>
            </a:r>
            <a:endParaRPr lang="en-US" sz="1200" dirty="0"/>
          </a:p>
        </p:txBody>
      </p:sp>
      <p:sp>
        <p:nvSpPr>
          <p:cNvPr id="12" name="Text 9"/>
          <p:cNvSpPr/>
          <p:nvPr/>
        </p:nvSpPr>
        <p:spPr>
          <a:xfrm>
            <a:off x="2651760" y="4700016"/>
            <a:ext cx="6309360" cy="320040"/>
          </a:xfrm>
          <a:prstGeom prst="rect">
            <a:avLst/>
          </a:prstGeom>
          <a:noFill/>
          <a:ln/>
        </p:spPr>
        <p:txBody>
          <a:bodyPr wrap="square" rtlCol="0" anchor="ctr"/>
          <a:lstStyle/>
          <a:p>
            <a:pPr marL="0" indent="0">
              <a:buNone/>
            </a:pPr>
            <a:r>
              <a:rPr lang="en-US" sz="1200" b="1" dirty="0">
                <a:solidFill>
                  <a:srgbClr val="000000"/>
                </a:solidFill>
                <a:latin typeface="Aptos" pitchFamily="34" charset="0"/>
                <a:ea typeface="Aptos" pitchFamily="34" charset="-122"/>
                <a:cs typeface="Aptos" pitchFamily="34" charset="-120"/>
              </a:rPr>
              <a:t>Accuracy: </a:t>
            </a:r>
            <a:r>
              <a:rPr lang="en-US" sz="1200" b="1" dirty="0">
                <a:solidFill>
                  <a:srgbClr val="0E2841"/>
                </a:solidFill>
                <a:latin typeface="Aptos" pitchFamily="34" charset="0"/>
                <a:ea typeface="Aptos" pitchFamily="34" charset="-122"/>
                <a:cs typeface="Aptos" pitchFamily="34" charset="-120"/>
              </a:rPr>
              <a:t>75%  </a:t>
            </a:r>
            <a:r>
              <a:rPr lang="en-US" sz="1200" dirty="0">
                <a:solidFill>
                  <a:srgbClr val="4A4A4A"/>
                </a:solidFill>
                <a:latin typeface="Aptos" pitchFamily="34" charset="0"/>
                <a:ea typeface="Aptos" pitchFamily="34" charset="-122"/>
                <a:cs typeface="Aptos" pitchFamily="34" charset="-120"/>
              </a:rPr>
              <a:t>75 of 100 patients correctly classified overall</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00943"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100013" y="441157"/>
            <a:ext cx="1785257" cy="1177834"/>
          </a:xfrm>
          <a:prstGeom prst="rect">
            <a:avLst/>
          </a:prstGeom>
          <a:noFill/>
          <a:ln/>
        </p:spPr>
        <p:txBody>
          <a:bodyPr wrap="square" lIns="0" tIns="0" rIns="0" bIns="0" rtlCol="0" anchor="ctr"/>
          <a:lstStyle/>
          <a:p>
            <a:pPr marL="0" indent="0" algn="ctr">
              <a:buNone/>
            </a:pPr>
            <a:r>
              <a:rPr lang="en-US" sz="2400" dirty="0">
                <a:solidFill>
                  <a:srgbClr val="FFFFFF"/>
                </a:solidFill>
                <a:latin typeface="Aptos Display" pitchFamily="34" charset="0"/>
                <a:ea typeface="Aptos Display" pitchFamily="34" charset="-122"/>
                <a:cs typeface="Aptos Display" pitchFamily="34" charset="-120"/>
              </a:rPr>
              <a:t>Additional Visualizations</a:t>
            </a:r>
            <a:endParaRPr lang="en-US" sz="2400" dirty="0"/>
          </a:p>
        </p:txBody>
      </p:sp>
      <p:sp>
        <p:nvSpPr>
          <p:cNvPr id="7" name="Text 5"/>
          <p:cNvSpPr/>
          <p:nvPr/>
        </p:nvSpPr>
        <p:spPr>
          <a:xfrm>
            <a:off x="2242457" y="90573"/>
            <a:ext cx="6585857" cy="517725"/>
          </a:xfrm>
          <a:prstGeom prst="rect">
            <a:avLst/>
          </a:prstGeom>
          <a:noFill/>
          <a:ln/>
        </p:spPr>
        <p:txBody>
          <a:bodyPr wrap="square" rtlCol="0" anchor="ctr"/>
          <a:lstStyle/>
          <a:p>
            <a:r>
              <a:rPr lang="en-US" sz="1300" b="1" dirty="0">
                <a:solidFill>
                  <a:srgbClr val="111111"/>
                </a:solidFill>
                <a:latin typeface="Aptos Display" pitchFamily="34" charset="0"/>
                <a:ea typeface="Aptos Display" pitchFamily="34" charset="-122"/>
                <a:cs typeface="Aptos Display" pitchFamily="34" charset="-120"/>
              </a:rPr>
              <a:t>Precision vs Recall Scatter</a:t>
            </a:r>
            <a:r>
              <a:rPr lang="en-US" sz="1300" b="1" dirty="0"/>
              <a:t> </a:t>
            </a:r>
            <a:r>
              <a:rPr lang="en-US" sz="1200" b="1" dirty="0"/>
              <a:t>- </a:t>
            </a:r>
            <a:r>
              <a:rPr lang="en-US" sz="1200" dirty="0">
                <a:solidFill>
                  <a:srgbClr val="4A4A4A"/>
                </a:solidFill>
                <a:latin typeface="Aptos" pitchFamily="34" charset="0"/>
                <a:ea typeface="Aptos" pitchFamily="34" charset="-122"/>
                <a:cs typeface="Aptos" pitchFamily="34" charset="-120"/>
              </a:rPr>
              <a:t>Shows clinical tradeoff across methods. Methods in the top-right corner are the best clinical performers — high recall catches more deaths; high precision reduces false alarms.</a:t>
            </a:r>
            <a:endParaRPr lang="en-US" sz="1200" dirty="0"/>
          </a:p>
        </p:txBody>
      </p:sp>
      <p:sp>
        <p:nvSpPr>
          <p:cNvPr id="9" name="Text 7"/>
          <p:cNvSpPr/>
          <p:nvPr/>
        </p:nvSpPr>
        <p:spPr>
          <a:xfrm>
            <a:off x="2242456" y="629668"/>
            <a:ext cx="6672943" cy="422724"/>
          </a:xfrm>
          <a:prstGeom prst="rect">
            <a:avLst/>
          </a:prstGeom>
          <a:noFill/>
          <a:ln/>
        </p:spPr>
        <p:txBody>
          <a:bodyPr wrap="square" rtlCol="0" anchor="ctr"/>
          <a:lstStyle/>
          <a:p>
            <a:r>
              <a:rPr lang="en-US" sz="1300" b="1" dirty="0">
                <a:solidFill>
                  <a:srgbClr val="111111"/>
                </a:solidFill>
                <a:latin typeface="Aptos Display" pitchFamily="34" charset="0"/>
                <a:ea typeface="Aptos Display" pitchFamily="34" charset="-122"/>
                <a:cs typeface="Aptos Display" pitchFamily="34" charset="-120"/>
              </a:rPr>
              <a:t>F1 Score Heatmap (Task × Method)  - </a:t>
            </a:r>
            <a:r>
              <a:rPr kumimoji="0" lang="en-US" sz="1200" b="0" i="0" u="none" strike="noStrike" kern="1200" cap="none" spc="0" normalizeH="0" baseline="0" noProof="0" dirty="0">
                <a:ln>
                  <a:noFill/>
                </a:ln>
                <a:solidFill>
                  <a:srgbClr val="4A4A4A"/>
                </a:solidFill>
                <a:effectLst/>
                <a:uLnTx/>
                <a:uFillTx/>
                <a:latin typeface="Aptos" pitchFamily="34" charset="0"/>
                <a:ea typeface="Aptos" pitchFamily="34" charset="-122"/>
                <a:cs typeface="Aptos" pitchFamily="34" charset="-120"/>
              </a:rPr>
              <a:t>Color-coded matrix of F1 scores. GPT-3.5 methods dominate mortality F1; 3-shot ICL leads for LOS. Reveals method strengths per task.</a:t>
            </a:r>
            <a:endParaRPr lang="en-US" sz="1300" dirty="0"/>
          </a:p>
        </p:txBody>
      </p:sp>
      <p:sp>
        <p:nvSpPr>
          <p:cNvPr id="12" name="Text 10"/>
          <p:cNvSpPr/>
          <p:nvPr/>
        </p:nvSpPr>
        <p:spPr>
          <a:xfrm>
            <a:off x="2242456" y="1052392"/>
            <a:ext cx="6585857" cy="420718"/>
          </a:xfrm>
          <a:prstGeom prst="rect">
            <a:avLst/>
          </a:prstGeom>
          <a:noFill/>
          <a:ln/>
        </p:spPr>
        <p:txBody>
          <a:bodyPr wrap="square" rtlCol="0" anchor="ctr"/>
          <a:lstStyle/>
          <a:p>
            <a:r>
              <a:rPr lang="en-US" sz="1300" b="1" dirty="0" err="1">
                <a:solidFill>
                  <a:srgbClr val="111111"/>
                </a:solidFill>
                <a:latin typeface="Aptos Display" pitchFamily="34" charset="0"/>
                <a:ea typeface="Aptos Display" pitchFamily="34" charset="-122"/>
                <a:cs typeface="Aptos Display" pitchFamily="34" charset="-120"/>
              </a:rPr>
              <a:t>CoT</a:t>
            </a:r>
            <a:r>
              <a:rPr lang="en-US" sz="1300" b="1" dirty="0">
                <a:solidFill>
                  <a:srgbClr val="111111"/>
                </a:solidFill>
                <a:latin typeface="Aptos Display" pitchFamily="34" charset="0"/>
                <a:ea typeface="Aptos Display" pitchFamily="34" charset="-122"/>
                <a:cs typeface="Aptos Display" pitchFamily="34" charset="-120"/>
              </a:rPr>
              <a:t> Accuracy by Diagnosis Category - </a:t>
            </a:r>
            <a:r>
              <a:rPr kumimoji="0" lang="en-US" sz="1200" b="0" i="0" u="none" strike="noStrike" kern="1200" cap="none" spc="0" normalizeH="0" baseline="0" noProof="0" dirty="0">
                <a:ln>
                  <a:noFill/>
                </a:ln>
                <a:solidFill>
                  <a:srgbClr val="4A4A4A"/>
                </a:solidFill>
                <a:effectLst/>
                <a:uLnTx/>
                <a:uFillTx/>
                <a:latin typeface="Aptos" pitchFamily="34" charset="0"/>
                <a:ea typeface="Aptos" pitchFamily="34" charset="-122"/>
                <a:cs typeface="Aptos" pitchFamily="34" charset="-120"/>
              </a:rPr>
              <a:t>Groups 100 patients into clinical categories. Shows which patient types the LLM predicts best — sepsis has clear signals, oncology is harder.</a:t>
            </a:r>
            <a:endParaRPr lang="en-US" sz="1300" dirty="0"/>
          </a:p>
        </p:txBody>
      </p:sp>
      <p:sp>
        <p:nvSpPr>
          <p:cNvPr id="13" name="Text 11"/>
          <p:cNvSpPr/>
          <p:nvPr/>
        </p:nvSpPr>
        <p:spPr>
          <a:xfrm>
            <a:off x="2329542" y="2194995"/>
            <a:ext cx="6585857" cy="517725"/>
          </a:xfrm>
          <a:prstGeom prst="rect">
            <a:avLst/>
          </a:prstGeom>
          <a:noFill/>
          <a:ln/>
        </p:spPr>
        <p:txBody>
          <a:bodyPr wrap="square" rtlCol="0" anchor="ctr"/>
          <a:lstStyle/>
          <a:p>
            <a:pPr marL="0" indent="0">
              <a:buNone/>
            </a:pPr>
            <a:endParaRPr lang="en-US" sz="1200" dirty="0"/>
          </a:p>
        </p:txBody>
      </p:sp>
      <p:pic>
        <p:nvPicPr>
          <p:cNvPr id="21" name="Picture 20">
            <a:extLst>
              <a:ext uri="{FF2B5EF4-FFF2-40B4-BE49-F238E27FC236}">
                <a16:creationId xmlns:a16="http://schemas.microsoft.com/office/drawing/2014/main" id="{3947BD12-3E2E-0948-FD86-3CB1A0643DF8}"/>
              </a:ext>
            </a:extLst>
          </p:cNvPr>
          <p:cNvPicPr>
            <a:picLocks noChangeAspect="1"/>
          </p:cNvPicPr>
          <p:nvPr/>
        </p:nvPicPr>
        <p:blipFill>
          <a:blip r:embed="rId3"/>
          <a:stretch>
            <a:fillRect/>
          </a:stretch>
        </p:blipFill>
        <p:spPr>
          <a:xfrm>
            <a:off x="4361090" y="1561582"/>
            <a:ext cx="4467223" cy="1718162"/>
          </a:xfrm>
          <a:prstGeom prst="rect">
            <a:avLst/>
          </a:prstGeom>
        </p:spPr>
      </p:pic>
      <p:pic>
        <p:nvPicPr>
          <p:cNvPr id="23" name="Picture 22">
            <a:extLst>
              <a:ext uri="{FF2B5EF4-FFF2-40B4-BE49-F238E27FC236}">
                <a16:creationId xmlns:a16="http://schemas.microsoft.com/office/drawing/2014/main" id="{A8FE5C7E-738D-756C-141F-D9BC9B3ABB7E}"/>
              </a:ext>
            </a:extLst>
          </p:cNvPr>
          <p:cNvPicPr>
            <a:picLocks noChangeAspect="1"/>
          </p:cNvPicPr>
          <p:nvPr/>
        </p:nvPicPr>
        <p:blipFill>
          <a:blip r:embed="rId4"/>
          <a:stretch>
            <a:fillRect/>
          </a:stretch>
        </p:blipFill>
        <p:spPr>
          <a:xfrm>
            <a:off x="134710" y="1578144"/>
            <a:ext cx="3501120" cy="1647931"/>
          </a:xfrm>
          <a:prstGeom prst="rect">
            <a:avLst/>
          </a:prstGeom>
        </p:spPr>
      </p:pic>
      <p:pic>
        <p:nvPicPr>
          <p:cNvPr id="26" name="Picture 25">
            <a:extLst>
              <a:ext uri="{FF2B5EF4-FFF2-40B4-BE49-F238E27FC236}">
                <a16:creationId xmlns:a16="http://schemas.microsoft.com/office/drawing/2014/main" id="{1A3CA412-4A6F-4F56-BB68-A1B5D0455C7D}"/>
              </a:ext>
            </a:extLst>
          </p:cNvPr>
          <p:cNvPicPr>
            <a:picLocks noChangeAspect="1"/>
          </p:cNvPicPr>
          <p:nvPr/>
        </p:nvPicPr>
        <p:blipFill>
          <a:blip r:embed="rId5"/>
          <a:stretch>
            <a:fillRect/>
          </a:stretch>
        </p:blipFill>
        <p:spPr>
          <a:xfrm>
            <a:off x="2100943" y="3320238"/>
            <a:ext cx="4800600" cy="183643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40280"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1792224"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Key</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Findings</a:t>
            </a:r>
            <a:endParaRPr lang="en-US" sz="4000" dirty="0"/>
          </a:p>
        </p:txBody>
      </p:sp>
      <p:sp>
        <p:nvSpPr>
          <p:cNvPr id="5" name="Text 3"/>
          <p:cNvSpPr/>
          <p:nvPr/>
        </p:nvSpPr>
        <p:spPr>
          <a:xfrm>
            <a:off x="2496312" y="100584"/>
            <a:ext cx="4663440" cy="438912"/>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What We Learned</a:t>
            </a:r>
            <a:endParaRPr lang="en-US" sz="2000" dirty="0"/>
          </a:p>
        </p:txBody>
      </p:sp>
      <p:sp>
        <p:nvSpPr>
          <p:cNvPr id="6" name="Text 4"/>
          <p:cNvSpPr/>
          <p:nvPr/>
        </p:nvSpPr>
        <p:spPr>
          <a:xfrm>
            <a:off x="2496313" y="539496"/>
            <a:ext cx="338328" cy="786384"/>
          </a:xfrm>
          <a:prstGeom prst="rect">
            <a:avLst/>
          </a:prstGeom>
          <a:noFill/>
          <a:ln/>
        </p:spPr>
        <p:txBody>
          <a:bodyPr wrap="square" lIns="0" tIns="0" rIns="0" bIns="0" rtlCol="0" anchor="t"/>
          <a:lstStyle/>
          <a:p>
            <a:pPr marL="0" indent="0" algn="l">
              <a:buNone/>
            </a:pPr>
            <a:r>
              <a:rPr lang="en-US" sz="2400" b="1" dirty="0">
                <a:solidFill>
                  <a:srgbClr val="111111"/>
                </a:solidFill>
                <a:latin typeface="Aptos Display" pitchFamily="34" charset="0"/>
                <a:ea typeface="Aptos Display" pitchFamily="34" charset="-122"/>
                <a:cs typeface="Aptos Display" pitchFamily="34" charset="-120"/>
              </a:rPr>
              <a:t>01</a:t>
            </a:r>
            <a:endParaRPr lang="en-US" sz="2400" dirty="0"/>
          </a:p>
        </p:txBody>
      </p:sp>
      <p:sp>
        <p:nvSpPr>
          <p:cNvPr id="7" name="Text 5"/>
          <p:cNvSpPr/>
          <p:nvPr/>
        </p:nvSpPr>
        <p:spPr>
          <a:xfrm>
            <a:off x="2937776" y="539496"/>
            <a:ext cx="6069063" cy="347472"/>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GPT-3.5 outperforms GPT-4o on mortality</a:t>
            </a:r>
            <a:endParaRPr lang="en-US" sz="1300" dirty="0"/>
          </a:p>
        </p:txBody>
      </p:sp>
      <p:sp>
        <p:nvSpPr>
          <p:cNvPr id="8" name="Text 6"/>
          <p:cNvSpPr/>
          <p:nvPr/>
        </p:nvSpPr>
        <p:spPr>
          <a:xfrm>
            <a:off x="2937776" y="914400"/>
            <a:ext cx="6069063" cy="406908"/>
          </a:xfrm>
          <a:prstGeom prst="rect">
            <a:avLst/>
          </a:prstGeom>
          <a:noFill/>
          <a:ln/>
        </p:spPr>
        <p:txBody>
          <a:bodyPr wrap="square" rtlCol="0" anchor="ctr"/>
          <a:lstStyle/>
          <a:p>
            <a:pPr marL="0" indent="0">
              <a:buNone/>
            </a:pPr>
            <a:r>
              <a:rPr lang="en-US" sz="1250" dirty="0">
                <a:solidFill>
                  <a:srgbClr val="4A4A4A"/>
                </a:solidFill>
                <a:latin typeface="Aptos" pitchFamily="34" charset="0"/>
                <a:ea typeface="Aptos" pitchFamily="34" charset="-122"/>
                <a:cs typeface="Aptos" pitchFamily="34" charset="-120"/>
              </a:rPr>
              <a:t>75% vs 66%. Calibration matters as much as capability. GPT-3.5 does not over-predict SURVIVED; GPT-4o needs an explicit bias-breaker to perform comparably.</a:t>
            </a:r>
            <a:endParaRPr lang="en-US" sz="1250" dirty="0"/>
          </a:p>
        </p:txBody>
      </p:sp>
      <p:sp>
        <p:nvSpPr>
          <p:cNvPr id="10" name="Text 8"/>
          <p:cNvSpPr/>
          <p:nvPr/>
        </p:nvSpPr>
        <p:spPr>
          <a:xfrm>
            <a:off x="2496312" y="1449324"/>
            <a:ext cx="412275" cy="786384"/>
          </a:xfrm>
          <a:prstGeom prst="rect">
            <a:avLst/>
          </a:prstGeom>
          <a:noFill/>
          <a:ln/>
        </p:spPr>
        <p:txBody>
          <a:bodyPr wrap="square" lIns="0" tIns="0" rIns="0" bIns="0" rtlCol="0" anchor="t"/>
          <a:lstStyle/>
          <a:p>
            <a:pPr marL="0" indent="0" algn="l">
              <a:buNone/>
            </a:pPr>
            <a:r>
              <a:rPr lang="en-US" sz="2400" b="1" dirty="0">
                <a:solidFill>
                  <a:srgbClr val="111111"/>
                </a:solidFill>
                <a:latin typeface="Aptos Display" pitchFamily="34" charset="0"/>
                <a:ea typeface="Aptos Display" pitchFamily="34" charset="-122"/>
                <a:cs typeface="Aptos Display" pitchFamily="34" charset="-120"/>
              </a:rPr>
              <a:t>02</a:t>
            </a:r>
            <a:endParaRPr lang="en-US" sz="2400" dirty="0"/>
          </a:p>
        </p:txBody>
      </p:sp>
      <p:sp>
        <p:nvSpPr>
          <p:cNvPr id="11" name="Text 9"/>
          <p:cNvSpPr/>
          <p:nvPr/>
        </p:nvSpPr>
        <p:spPr>
          <a:xfrm>
            <a:off x="2937776" y="1449324"/>
            <a:ext cx="6069063" cy="347472"/>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Tree of Thoughts achieves best GPT-4o F1 (0.688)</a:t>
            </a:r>
            <a:endParaRPr lang="en-US" sz="1300" dirty="0"/>
          </a:p>
        </p:txBody>
      </p:sp>
      <p:sp>
        <p:nvSpPr>
          <p:cNvPr id="12" name="Text 10"/>
          <p:cNvSpPr/>
          <p:nvPr/>
        </p:nvSpPr>
        <p:spPr>
          <a:xfrm>
            <a:off x="2937776" y="1824228"/>
            <a:ext cx="6069063" cy="502920"/>
          </a:xfrm>
          <a:prstGeom prst="rect">
            <a:avLst/>
          </a:prstGeom>
          <a:noFill/>
          <a:ln/>
        </p:spPr>
        <p:txBody>
          <a:bodyPr wrap="square" rtlCol="0" anchor="ctr"/>
          <a:lstStyle/>
          <a:p>
            <a:pPr marL="0" indent="0">
              <a:buNone/>
            </a:pPr>
            <a:r>
              <a:rPr lang="en-US" sz="1250" dirty="0">
                <a:solidFill>
                  <a:srgbClr val="4A4A4A"/>
                </a:solidFill>
                <a:latin typeface="Aptos" pitchFamily="34" charset="0"/>
                <a:ea typeface="Aptos" pitchFamily="34" charset="-122"/>
                <a:cs typeface="Aptos" pitchFamily="34" charset="-120"/>
              </a:rPr>
              <a:t>Forcing the model to argue for both outcomes before deciding produces more balanced predictions — higher recall without sacrificing precision.</a:t>
            </a:r>
            <a:endParaRPr lang="en-US" sz="1250" dirty="0"/>
          </a:p>
        </p:txBody>
      </p:sp>
      <p:sp>
        <p:nvSpPr>
          <p:cNvPr id="14" name="Text 12"/>
          <p:cNvSpPr/>
          <p:nvPr/>
        </p:nvSpPr>
        <p:spPr>
          <a:xfrm>
            <a:off x="2496312" y="2386585"/>
            <a:ext cx="412275" cy="758951"/>
          </a:xfrm>
          <a:prstGeom prst="rect">
            <a:avLst/>
          </a:prstGeom>
          <a:noFill/>
          <a:ln/>
        </p:spPr>
        <p:txBody>
          <a:bodyPr wrap="square" lIns="0" tIns="0" rIns="0" bIns="0" rtlCol="0" anchor="t"/>
          <a:lstStyle/>
          <a:p>
            <a:pPr marL="0" indent="0" algn="l">
              <a:buNone/>
            </a:pPr>
            <a:r>
              <a:rPr lang="en-US" sz="2400" b="1" dirty="0">
                <a:solidFill>
                  <a:srgbClr val="111111"/>
                </a:solidFill>
                <a:latin typeface="Aptos Display" pitchFamily="34" charset="0"/>
                <a:ea typeface="Aptos Display" pitchFamily="34" charset="-122"/>
                <a:cs typeface="Aptos Display" pitchFamily="34" charset="-120"/>
              </a:rPr>
              <a:t>03</a:t>
            </a:r>
            <a:endParaRPr lang="en-US" sz="2400" dirty="0"/>
          </a:p>
        </p:txBody>
      </p:sp>
      <p:sp>
        <p:nvSpPr>
          <p:cNvPr id="15" name="Text 13"/>
          <p:cNvSpPr/>
          <p:nvPr/>
        </p:nvSpPr>
        <p:spPr>
          <a:xfrm>
            <a:off x="2937776" y="2386585"/>
            <a:ext cx="6069063" cy="347472"/>
          </a:xfrm>
          <a:prstGeom prst="rect">
            <a:avLst/>
          </a:prstGeom>
          <a:noFill/>
          <a:ln/>
        </p:spPr>
        <p:txBody>
          <a:bodyPr wrap="square" rtlCol="0" anchor="ctr"/>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Near-zero hallucination (4.9/5) across all outputs</a:t>
            </a:r>
            <a:endParaRPr lang="en-US" sz="1300" dirty="0"/>
          </a:p>
        </p:txBody>
      </p:sp>
      <p:sp>
        <p:nvSpPr>
          <p:cNvPr id="16" name="Text 14"/>
          <p:cNvSpPr/>
          <p:nvPr/>
        </p:nvSpPr>
        <p:spPr>
          <a:xfrm>
            <a:off x="2937776" y="2761489"/>
            <a:ext cx="6069063" cy="457199"/>
          </a:xfrm>
          <a:prstGeom prst="rect">
            <a:avLst/>
          </a:prstGeom>
          <a:noFill/>
          <a:ln/>
        </p:spPr>
        <p:txBody>
          <a:bodyPr wrap="square" rtlCol="0" anchor="ctr"/>
          <a:lstStyle/>
          <a:p>
            <a:pPr marL="0" indent="0">
              <a:buNone/>
            </a:pPr>
            <a:r>
              <a:rPr lang="en-US" sz="1250" dirty="0">
                <a:solidFill>
                  <a:srgbClr val="4A4A4A"/>
                </a:solidFill>
                <a:latin typeface="Aptos" pitchFamily="34" charset="0"/>
                <a:ea typeface="Aptos" pitchFamily="34" charset="-122"/>
                <a:cs typeface="Aptos" pitchFamily="34" charset="-120"/>
              </a:rPr>
              <a:t>GPT-4o never fabricates clinical facts on real MIMIC-III data. This is the most important safety finding for clinical AI deployment.</a:t>
            </a:r>
            <a:endParaRPr lang="en-US" sz="1250" dirty="0"/>
          </a:p>
        </p:txBody>
      </p:sp>
      <p:sp>
        <p:nvSpPr>
          <p:cNvPr id="17" name="Text 4">
            <a:extLst>
              <a:ext uri="{FF2B5EF4-FFF2-40B4-BE49-F238E27FC236}">
                <a16:creationId xmlns:a16="http://schemas.microsoft.com/office/drawing/2014/main" id="{5D25C10D-BF7E-FA94-4A2E-F920A3BA157B}"/>
              </a:ext>
            </a:extLst>
          </p:cNvPr>
          <p:cNvSpPr/>
          <p:nvPr/>
        </p:nvSpPr>
        <p:spPr>
          <a:xfrm>
            <a:off x="2496312" y="3227832"/>
            <a:ext cx="412275" cy="662940"/>
          </a:xfrm>
          <a:prstGeom prst="rect">
            <a:avLst/>
          </a:prstGeom>
          <a:noFill/>
          <a:ln/>
        </p:spPr>
        <p:txBody>
          <a:bodyPr wrap="square" lIns="0" tIns="0" rIns="0" bIns="0" rtlCol="0" anchor="t"/>
          <a:lstStyle/>
          <a:p>
            <a:pPr marL="0" indent="0" algn="l">
              <a:buNone/>
            </a:pPr>
            <a:r>
              <a:rPr lang="en-US" sz="2400" b="1" dirty="0">
                <a:solidFill>
                  <a:srgbClr val="111111"/>
                </a:solidFill>
                <a:latin typeface="Aptos Display" pitchFamily="34" charset="0"/>
                <a:ea typeface="Aptos Display" pitchFamily="34" charset="-122"/>
                <a:cs typeface="Aptos Display" pitchFamily="34" charset="-120"/>
              </a:rPr>
              <a:t>04</a:t>
            </a:r>
            <a:endParaRPr lang="en-US" sz="2400" dirty="0"/>
          </a:p>
        </p:txBody>
      </p:sp>
      <p:sp>
        <p:nvSpPr>
          <p:cNvPr id="18" name="Text 5">
            <a:extLst>
              <a:ext uri="{FF2B5EF4-FFF2-40B4-BE49-F238E27FC236}">
                <a16:creationId xmlns:a16="http://schemas.microsoft.com/office/drawing/2014/main" id="{11B3F8EC-E542-9DC1-9012-80108F72C351}"/>
              </a:ext>
            </a:extLst>
          </p:cNvPr>
          <p:cNvSpPr/>
          <p:nvPr/>
        </p:nvSpPr>
        <p:spPr>
          <a:xfrm>
            <a:off x="2937776" y="3227832"/>
            <a:ext cx="5888736" cy="384048"/>
          </a:xfrm>
          <a:prstGeom prst="rect">
            <a:avLst/>
          </a:prstGeom>
          <a:noFill/>
          <a:ln/>
        </p:spPr>
        <p:txBody>
          <a:bodyPr wrap="square" rtlCol="0" anchor="ctr"/>
          <a:lstStyle/>
          <a:p>
            <a:pPr marL="0" indent="0">
              <a:buNone/>
            </a:pPr>
            <a:r>
              <a:rPr lang="en-US" sz="1400" b="1" dirty="0">
                <a:solidFill>
                  <a:srgbClr val="111111"/>
                </a:solidFill>
                <a:latin typeface="Aptos Display" pitchFamily="34" charset="0"/>
                <a:ea typeface="Aptos Display" pitchFamily="34" charset="-122"/>
                <a:cs typeface="Aptos Display" pitchFamily="34" charset="-120"/>
              </a:rPr>
              <a:t>Self-Consistency underperforms CoT (62% vs 67%)</a:t>
            </a:r>
            <a:endParaRPr lang="en-US" sz="1400" dirty="0"/>
          </a:p>
        </p:txBody>
      </p:sp>
      <p:sp>
        <p:nvSpPr>
          <p:cNvPr id="19" name="Text 6">
            <a:extLst>
              <a:ext uri="{FF2B5EF4-FFF2-40B4-BE49-F238E27FC236}">
                <a16:creationId xmlns:a16="http://schemas.microsoft.com/office/drawing/2014/main" id="{513A4EC1-8A24-50C0-DBC1-56C2BB4785A9}"/>
              </a:ext>
            </a:extLst>
          </p:cNvPr>
          <p:cNvSpPr/>
          <p:nvPr/>
        </p:nvSpPr>
        <p:spPr>
          <a:xfrm>
            <a:off x="2937776" y="3657600"/>
            <a:ext cx="5888736" cy="411479"/>
          </a:xfrm>
          <a:prstGeom prst="rect">
            <a:avLst/>
          </a:prstGeom>
          <a:noFill/>
          <a:ln/>
        </p:spPr>
        <p:txBody>
          <a:bodyPr wrap="square" rtlCol="0" anchor="ctr"/>
          <a:lstStyle/>
          <a:p>
            <a:pPr marL="0" indent="0">
              <a:buNone/>
            </a:pPr>
            <a:r>
              <a:rPr lang="en-US" sz="1300" dirty="0">
                <a:solidFill>
                  <a:srgbClr val="4A4A4A"/>
                </a:solidFill>
                <a:latin typeface="Aptos" pitchFamily="34" charset="0"/>
                <a:ea typeface="Aptos" pitchFamily="34" charset="-122"/>
                <a:cs typeface="Aptos" pitchFamily="34" charset="-120"/>
              </a:rPr>
              <a:t>Majority voting amplifies errors when the base model is biased. With a miscalibrated model, Self-Consistency makes predictions worse, not better.</a:t>
            </a:r>
            <a:endParaRPr lang="en-US" sz="1300" dirty="0"/>
          </a:p>
        </p:txBody>
      </p:sp>
      <p:sp>
        <p:nvSpPr>
          <p:cNvPr id="20" name="Text 8">
            <a:extLst>
              <a:ext uri="{FF2B5EF4-FFF2-40B4-BE49-F238E27FC236}">
                <a16:creationId xmlns:a16="http://schemas.microsoft.com/office/drawing/2014/main" id="{2367148E-08C3-61D3-EED9-38970664FDE7}"/>
              </a:ext>
            </a:extLst>
          </p:cNvPr>
          <p:cNvSpPr/>
          <p:nvPr/>
        </p:nvSpPr>
        <p:spPr>
          <a:xfrm>
            <a:off x="2496312" y="4119371"/>
            <a:ext cx="338329" cy="735038"/>
          </a:xfrm>
          <a:prstGeom prst="rect">
            <a:avLst/>
          </a:prstGeom>
          <a:noFill/>
          <a:ln/>
        </p:spPr>
        <p:txBody>
          <a:bodyPr wrap="square" lIns="0" tIns="0" rIns="0" bIns="0" rtlCol="0" anchor="t"/>
          <a:lstStyle/>
          <a:p>
            <a:pPr marL="0" indent="0" algn="l">
              <a:buNone/>
            </a:pPr>
            <a:r>
              <a:rPr lang="en-US" sz="2400" b="1" dirty="0">
                <a:solidFill>
                  <a:srgbClr val="111111"/>
                </a:solidFill>
                <a:latin typeface="Aptos Display" pitchFamily="34" charset="0"/>
                <a:ea typeface="Aptos Display" pitchFamily="34" charset="-122"/>
                <a:cs typeface="Aptos Display" pitchFamily="34" charset="-120"/>
              </a:rPr>
              <a:t>05</a:t>
            </a:r>
            <a:endParaRPr lang="en-US" sz="2400" dirty="0"/>
          </a:p>
        </p:txBody>
      </p:sp>
      <p:sp>
        <p:nvSpPr>
          <p:cNvPr id="21" name="Text 9">
            <a:extLst>
              <a:ext uri="{FF2B5EF4-FFF2-40B4-BE49-F238E27FC236}">
                <a16:creationId xmlns:a16="http://schemas.microsoft.com/office/drawing/2014/main" id="{2009368C-8029-4CCD-09E6-8D879DD58274}"/>
              </a:ext>
            </a:extLst>
          </p:cNvPr>
          <p:cNvSpPr/>
          <p:nvPr/>
        </p:nvSpPr>
        <p:spPr>
          <a:xfrm>
            <a:off x="2939135" y="4147859"/>
            <a:ext cx="5976265" cy="162482"/>
          </a:xfrm>
          <a:prstGeom prst="rect">
            <a:avLst/>
          </a:prstGeom>
          <a:noFill/>
          <a:ln/>
        </p:spPr>
        <p:txBody>
          <a:bodyPr wrap="square" rtlCol="0" anchor="ctr"/>
          <a:lstStyle/>
          <a:p>
            <a:pPr marL="0" indent="0">
              <a:buNone/>
            </a:pPr>
            <a:r>
              <a:rPr lang="en-US" sz="1400" b="1" dirty="0">
                <a:solidFill>
                  <a:srgbClr val="111111"/>
                </a:solidFill>
                <a:latin typeface="Aptos Display" pitchFamily="34" charset="0"/>
                <a:ea typeface="Aptos Display" pitchFamily="34" charset="-122"/>
                <a:cs typeface="Aptos Display" pitchFamily="34" charset="-120"/>
              </a:rPr>
              <a:t>LLM features improve downstream ML by +6%</a:t>
            </a:r>
            <a:endParaRPr lang="en-US" sz="1400" dirty="0"/>
          </a:p>
        </p:txBody>
      </p:sp>
      <p:sp>
        <p:nvSpPr>
          <p:cNvPr id="22" name="Text 10">
            <a:extLst>
              <a:ext uri="{FF2B5EF4-FFF2-40B4-BE49-F238E27FC236}">
                <a16:creationId xmlns:a16="http://schemas.microsoft.com/office/drawing/2014/main" id="{228369A6-5832-C56A-5ACA-8E5C5A4080E5}"/>
              </a:ext>
            </a:extLst>
          </p:cNvPr>
          <p:cNvSpPr/>
          <p:nvPr/>
        </p:nvSpPr>
        <p:spPr>
          <a:xfrm>
            <a:off x="2937775" y="4389121"/>
            <a:ext cx="6069063" cy="653795"/>
          </a:xfrm>
          <a:prstGeom prst="rect">
            <a:avLst/>
          </a:prstGeom>
          <a:noFill/>
          <a:ln/>
        </p:spPr>
        <p:txBody>
          <a:bodyPr wrap="square" rtlCol="0" anchor="ctr"/>
          <a:lstStyle/>
          <a:p>
            <a:pPr marL="0" indent="0">
              <a:buNone/>
            </a:pPr>
            <a:r>
              <a:rPr lang="en-US" sz="1300" dirty="0">
                <a:solidFill>
                  <a:srgbClr val="4A4A4A"/>
                </a:solidFill>
                <a:latin typeface="Aptos" pitchFamily="34" charset="0"/>
                <a:ea typeface="Aptos" pitchFamily="34" charset="-122"/>
                <a:cs typeface="Aptos" pitchFamily="34" charset="-120"/>
              </a:rPr>
              <a:t>Adding CoT confidence + prediction to logistic regression improves accuracy from 65% to 71% — LLM reasoning output carries genuine predictive signal beyond raw EHR numbers.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0"/>
            <a:ext cx="3246120" cy="5143500"/>
          </a:xfrm>
          <a:prstGeom prst="rect">
            <a:avLst/>
          </a:prstGeom>
          <a:solidFill>
            <a:srgbClr val="0E2841"/>
          </a:solidFill>
          <a:ln w="12700">
            <a:solidFill>
              <a:srgbClr val="0E2841"/>
            </a:solidFill>
            <a:prstDash val="solid"/>
          </a:ln>
        </p:spPr>
        <p:txBody>
          <a:bodyPr/>
          <a:lstStyle/>
          <a:p>
            <a:endParaRPr lang="en-US"/>
          </a:p>
        </p:txBody>
      </p:sp>
      <p:sp>
        <p:nvSpPr>
          <p:cNvPr id="4" name="Text 2"/>
          <p:cNvSpPr/>
          <p:nvPr/>
        </p:nvSpPr>
        <p:spPr>
          <a:xfrm>
            <a:off x="228600" y="1097280"/>
            <a:ext cx="2761488" cy="2926080"/>
          </a:xfrm>
          <a:prstGeom prst="rect">
            <a:avLst/>
          </a:prstGeom>
          <a:noFill/>
          <a:ln/>
        </p:spPr>
        <p:txBody>
          <a:bodyPr wrap="square" lIns="0" tIns="0" rIns="0" bIns="0" rtlCol="0" anchor="ctr"/>
          <a:lstStyle/>
          <a:p>
            <a:pPr marL="0" indent="0" algn="ctr">
              <a:buNone/>
            </a:pPr>
            <a:r>
              <a:rPr lang="en-US" sz="4000" dirty="0">
                <a:solidFill>
                  <a:srgbClr val="FFFFFF"/>
                </a:solidFill>
                <a:latin typeface="Aptos Display" pitchFamily="34" charset="0"/>
                <a:ea typeface="Aptos Display" pitchFamily="34" charset="-122"/>
                <a:cs typeface="Aptos Display" pitchFamily="34" charset="-120"/>
              </a:rPr>
              <a:t>Ideas for</a:t>
            </a:r>
            <a:endParaRPr lang="en-US" sz="4000" dirty="0"/>
          </a:p>
          <a:p>
            <a:pPr marL="0" indent="0" algn="ctr">
              <a:buNone/>
            </a:pPr>
            <a:r>
              <a:rPr lang="en-US" sz="4000" dirty="0">
                <a:solidFill>
                  <a:srgbClr val="FFFFFF"/>
                </a:solidFill>
                <a:latin typeface="Aptos Display" pitchFamily="34" charset="0"/>
                <a:ea typeface="Aptos Display" pitchFamily="34" charset="-122"/>
                <a:cs typeface="Aptos Display" pitchFamily="34" charset="-120"/>
              </a:rPr>
              <a:t>Improvement</a:t>
            </a:r>
            <a:endParaRPr lang="en-US" sz="4000" dirty="0"/>
          </a:p>
        </p:txBody>
      </p:sp>
      <p:sp>
        <p:nvSpPr>
          <p:cNvPr id="5" name="Text 3"/>
          <p:cNvSpPr/>
          <p:nvPr/>
        </p:nvSpPr>
        <p:spPr>
          <a:xfrm>
            <a:off x="3566161" y="82296"/>
            <a:ext cx="5641847" cy="438912"/>
          </a:xfrm>
          <a:prstGeom prst="rect">
            <a:avLst/>
          </a:prstGeom>
          <a:noFill/>
          <a:ln/>
        </p:spPr>
        <p:txBody>
          <a:bodyPr wrap="square" rtlCol="0" anchor="ctr"/>
          <a:lstStyle/>
          <a:p>
            <a:pPr marL="0" indent="0">
              <a:buNone/>
            </a:pPr>
            <a:r>
              <a:rPr lang="en-US" sz="2000" b="1" dirty="0">
                <a:solidFill>
                  <a:srgbClr val="111111"/>
                </a:solidFill>
                <a:latin typeface="Aptos Display" pitchFamily="34" charset="0"/>
                <a:ea typeface="Aptos Display" pitchFamily="34" charset="-122"/>
                <a:cs typeface="Aptos Display" pitchFamily="34" charset="-120"/>
              </a:rPr>
              <a:t>Future Directions</a:t>
            </a:r>
            <a:endParaRPr lang="en-US" sz="2000" dirty="0"/>
          </a:p>
        </p:txBody>
      </p:sp>
      <p:sp>
        <p:nvSpPr>
          <p:cNvPr id="6" name="Text 4"/>
          <p:cNvSpPr/>
          <p:nvPr/>
        </p:nvSpPr>
        <p:spPr>
          <a:xfrm>
            <a:off x="3566161" y="649224"/>
            <a:ext cx="1161287" cy="585193"/>
          </a:xfrm>
          <a:prstGeom prst="rect">
            <a:avLst/>
          </a:prstGeom>
          <a:noFill/>
          <a:ln/>
        </p:spPr>
        <p:txBody>
          <a:bodyPr wrap="square" rtlCol="0" anchor="t"/>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Better models</a:t>
            </a:r>
            <a:endParaRPr lang="en-US" sz="1300" dirty="0"/>
          </a:p>
        </p:txBody>
      </p:sp>
      <p:sp>
        <p:nvSpPr>
          <p:cNvPr id="7" name="Text 5"/>
          <p:cNvSpPr/>
          <p:nvPr/>
        </p:nvSpPr>
        <p:spPr>
          <a:xfrm>
            <a:off x="4983481" y="649224"/>
            <a:ext cx="3927168" cy="585216"/>
          </a:xfrm>
          <a:prstGeom prst="rect">
            <a:avLst/>
          </a:prstGeom>
          <a:noFill/>
          <a:ln/>
        </p:spPr>
        <p:txBody>
          <a:bodyPr wrap="square" rtlCol="0" anchor="t"/>
          <a:lstStyle/>
          <a:p>
            <a:pPr marL="0" indent="0">
              <a:buNone/>
            </a:pPr>
            <a:r>
              <a:rPr lang="en-US" sz="1250" dirty="0">
                <a:solidFill>
                  <a:srgbClr val="4A4A4A"/>
                </a:solidFill>
                <a:latin typeface="Aptos" pitchFamily="34" charset="0"/>
                <a:ea typeface="Aptos" pitchFamily="34" charset="-122"/>
                <a:cs typeface="Aptos" pitchFamily="34" charset="-120"/>
              </a:rPr>
              <a:t>Fine-tune PMC-LLaMA or BioGPT on MIMIC-III notes; test clinical-specific models such as Med-PaLM 2</a:t>
            </a:r>
            <a:endParaRPr lang="en-US" sz="1250" dirty="0"/>
          </a:p>
        </p:txBody>
      </p:sp>
      <p:sp>
        <p:nvSpPr>
          <p:cNvPr id="9" name="Text 7"/>
          <p:cNvSpPr/>
          <p:nvPr/>
        </p:nvSpPr>
        <p:spPr>
          <a:xfrm>
            <a:off x="3566161" y="1380744"/>
            <a:ext cx="1516112" cy="585193"/>
          </a:xfrm>
          <a:prstGeom prst="rect">
            <a:avLst/>
          </a:prstGeom>
          <a:noFill/>
          <a:ln/>
        </p:spPr>
        <p:txBody>
          <a:bodyPr wrap="square" rtlCol="0" anchor="t"/>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Richer features</a:t>
            </a:r>
            <a:endParaRPr lang="en-US" sz="1300" dirty="0"/>
          </a:p>
        </p:txBody>
      </p:sp>
      <p:sp>
        <p:nvSpPr>
          <p:cNvPr id="10" name="Text 8"/>
          <p:cNvSpPr/>
          <p:nvPr/>
        </p:nvSpPr>
        <p:spPr>
          <a:xfrm>
            <a:off x="4983481" y="1380744"/>
            <a:ext cx="3927168" cy="585216"/>
          </a:xfrm>
          <a:prstGeom prst="rect">
            <a:avLst/>
          </a:prstGeom>
          <a:noFill/>
          <a:ln/>
        </p:spPr>
        <p:txBody>
          <a:bodyPr wrap="square" rtlCol="0" anchor="t"/>
          <a:lstStyle/>
          <a:p>
            <a:pPr marL="0" indent="0">
              <a:buNone/>
            </a:pPr>
            <a:r>
              <a:rPr lang="en-US" sz="1250" dirty="0">
                <a:solidFill>
                  <a:srgbClr val="4A4A4A"/>
                </a:solidFill>
                <a:latin typeface="Aptos" pitchFamily="34" charset="0"/>
                <a:ea typeface="Aptos" pitchFamily="34" charset="-122"/>
                <a:cs typeface="Aptos" pitchFamily="34" charset="-120"/>
              </a:rPr>
              <a:t>Add temporal CHARTEVENTS sequences (hourly vitals trends) — LOS depends on trajectory, not a single snapshot</a:t>
            </a:r>
            <a:endParaRPr lang="en-US" sz="1250" dirty="0"/>
          </a:p>
        </p:txBody>
      </p:sp>
      <p:sp>
        <p:nvSpPr>
          <p:cNvPr id="12" name="Text 10"/>
          <p:cNvSpPr/>
          <p:nvPr/>
        </p:nvSpPr>
        <p:spPr>
          <a:xfrm>
            <a:off x="3566161" y="2112264"/>
            <a:ext cx="1516112" cy="585193"/>
          </a:xfrm>
          <a:prstGeom prst="rect">
            <a:avLst/>
          </a:prstGeom>
          <a:noFill/>
          <a:ln/>
        </p:spPr>
        <p:txBody>
          <a:bodyPr wrap="square" rtlCol="0" anchor="t"/>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Better prompting</a:t>
            </a:r>
            <a:endParaRPr lang="en-US" sz="1300" dirty="0"/>
          </a:p>
        </p:txBody>
      </p:sp>
      <p:sp>
        <p:nvSpPr>
          <p:cNvPr id="13" name="Text 11"/>
          <p:cNvSpPr/>
          <p:nvPr/>
        </p:nvSpPr>
        <p:spPr>
          <a:xfrm>
            <a:off x="4983481" y="2112264"/>
            <a:ext cx="3927168" cy="585216"/>
          </a:xfrm>
          <a:prstGeom prst="rect">
            <a:avLst/>
          </a:prstGeom>
          <a:noFill/>
          <a:ln/>
        </p:spPr>
        <p:txBody>
          <a:bodyPr wrap="square" rtlCol="0" anchor="t"/>
          <a:lstStyle/>
          <a:p>
            <a:pPr marL="0" indent="0">
              <a:buNone/>
            </a:pPr>
            <a:r>
              <a:rPr lang="en-US" sz="1250" dirty="0">
                <a:solidFill>
                  <a:srgbClr val="4A4A4A"/>
                </a:solidFill>
                <a:latin typeface="Aptos" pitchFamily="34" charset="0"/>
                <a:ea typeface="Aptos" pitchFamily="34" charset="-122"/>
                <a:cs typeface="Aptos" pitchFamily="34" charset="-120"/>
              </a:rPr>
              <a:t>Integrate RAG with Sepsis-3/SOFA guidelines; test clinical speciality personas during reasoning</a:t>
            </a:r>
            <a:endParaRPr lang="en-US" sz="1250" dirty="0"/>
          </a:p>
        </p:txBody>
      </p:sp>
      <p:sp>
        <p:nvSpPr>
          <p:cNvPr id="15" name="Text 13"/>
          <p:cNvSpPr/>
          <p:nvPr/>
        </p:nvSpPr>
        <p:spPr>
          <a:xfrm>
            <a:off x="3566161" y="2843784"/>
            <a:ext cx="1516112" cy="585193"/>
          </a:xfrm>
          <a:prstGeom prst="rect">
            <a:avLst/>
          </a:prstGeom>
          <a:noFill/>
          <a:ln/>
        </p:spPr>
        <p:txBody>
          <a:bodyPr wrap="square" rtlCol="0" anchor="t"/>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Robust evaluation</a:t>
            </a:r>
            <a:endParaRPr lang="en-US" sz="1300" dirty="0"/>
          </a:p>
        </p:txBody>
      </p:sp>
      <p:sp>
        <p:nvSpPr>
          <p:cNvPr id="16" name="Text 14"/>
          <p:cNvSpPr/>
          <p:nvPr/>
        </p:nvSpPr>
        <p:spPr>
          <a:xfrm>
            <a:off x="4983481" y="2843784"/>
            <a:ext cx="3927168" cy="585216"/>
          </a:xfrm>
          <a:prstGeom prst="rect">
            <a:avLst/>
          </a:prstGeom>
          <a:noFill/>
          <a:ln/>
        </p:spPr>
        <p:txBody>
          <a:bodyPr wrap="square" rtlCol="0" anchor="t"/>
          <a:lstStyle/>
          <a:p>
            <a:pPr marL="0" indent="0">
              <a:buNone/>
            </a:pPr>
            <a:r>
              <a:rPr lang="en-US" sz="1250" dirty="0">
                <a:solidFill>
                  <a:srgbClr val="4A4A4A"/>
                </a:solidFill>
                <a:latin typeface="Aptos" pitchFamily="34" charset="0"/>
                <a:ea typeface="Aptos" pitchFamily="34" charset="-122"/>
                <a:cs typeface="Aptos" pitchFamily="34" charset="-120"/>
              </a:rPr>
              <a:t>Run 5 seeds and report mean ± std — LLM predictions at temperature=0 still vary 2–5% between runs</a:t>
            </a:r>
            <a:endParaRPr lang="en-US" sz="1250" dirty="0"/>
          </a:p>
        </p:txBody>
      </p:sp>
      <p:sp>
        <p:nvSpPr>
          <p:cNvPr id="18" name="Text 16"/>
          <p:cNvSpPr/>
          <p:nvPr/>
        </p:nvSpPr>
        <p:spPr>
          <a:xfrm>
            <a:off x="3566161" y="3575304"/>
            <a:ext cx="1516112" cy="585193"/>
          </a:xfrm>
          <a:prstGeom prst="rect">
            <a:avLst/>
          </a:prstGeom>
          <a:noFill/>
          <a:ln/>
        </p:spPr>
        <p:txBody>
          <a:bodyPr wrap="square" rtlCol="0" anchor="t"/>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New tasks</a:t>
            </a:r>
            <a:endParaRPr lang="en-US" sz="1300" dirty="0"/>
          </a:p>
        </p:txBody>
      </p:sp>
      <p:sp>
        <p:nvSpPr>
          <p:cNvPr id="19" name="Text 17"/>
          <p:cNvSpPr/>
          <p:nvPr/>
        </p:nvSpPr>
        <p:spPr>
          <a:xfrm>
            <a:off x="4983481" y="3575304"/>
            <a:ext cx="3927168" cy="585216"/>
          </a:xfrm>
          <a:prstGeom prst="rect">
            <a:avLst/>
          </a:prstGeom>
          <a:noFill/>
          <a:ln/>
        </p:spPr>
        <p:txBody>
          <a:bodyPr wrap="square" rtlCol="0" anchor="t"/>
          <a:lstStyle/>
          <a:p>
            <a:pPr marL="0" indent="0">
              <a:buNone/>
            </a:pPr>
            <a:r>
              <a:rPr lang="en-US" sz="1250" dirty="0">
                <a:solidFill>
                  <a:srgbClr val="4A4A4A"/>
                </a:solidFill>
                <a:latin typeface="Aptos" pitchFamily="34" charset="0"/>
                <a:ea typeface="Aptos" pitchFamily="34" charset="-122"/>
                <a:cs typeface="Aptos" pitchFamily="34" charset="-120"/>
              </a:rPr>
              <a:t>Apply to 30-day readmission prediction; test sepsis early warning 6 hours ahead using sliding window</a:t>
            </a:r>
            <a:endParaRPr lang="en-US" sz="1250" dirty="0"/>
          </a:p>
        </p:txBody>
      </p:sp>
      <p:sp>
        <p:nvSpPr>
          <p:cNvPr id="21" name="Text 19"/>
          <p:cNvSpPr/>
          <p:nvPr/>
        </p:nvSpPr>
        <p:spPr>
          <a:xfrm>
            <a:off x="3566161" y="4306824"/>
            <a:ext cx="1516112" cy="585193"/>
          </a:xfrm>
          <a:prstGeom prst="rect">
            <a:avLst/>
          </a:prstGeom>
          <a:noFill/>
          <a:ln/>
        </p:spPr>
        <p:txBody>
          <a:bodyPr wrap="square" rtlCol="0" anchor="t"/>
          <a:lstStyle/>
          <a:p>
            <a:pPr marL="0" indent="0">
              <a:buNone/>
            </a:pPr>
            <a:r>
              <a:rPr lang="en-US" sz="1300" b="1" dirty="0">
                <a:solidFill>
                  <a:srgbClr val="111111"/>
                </a:solidFill>
                <a:latin typeface="Aptos Display" pitchFamily="34" charset="0"/>
                <a:ea typeface="Aptos Display" pitchFamily="34" charset="-122"/>
                <a:cs typeface="Aptos Display" pitchFamily="34" charset="-120"/>
              </a:rPr>
              <a:t>Fix Self-Consistency</a:t>
            </a:r>
            <a:endParaRPr lang="en-US" sz="1300" dirty="0"/>
          </a:p>
        </p:txBody>
      </p:sp>
      <p:sp>
        <p:nvSpPr>
          <p:cNvPr id="22" name="Text 20"/>
          <p:cNvSpPr/>
          <p:nvPr/>
        </p:nvSpPr>
        <p:spPr>
          <a:xfrm>
            <a:off x="4983481" y="4306824"/>
            <a:ext cx="3927168" cy="585216"/>
          </a:xfrm>
          <a:prstGeom prst="rect">
            <a:avLst/>
          </a:prstGeom>
          <a:noFill/>
          <a:ln/>
        </p:spPr>
        <p:txBody>
          <a:bodyPr wrap="square" rtlCol="0" anchor="t"/>
          <a:lstStyle/>
          <a:p>
            <a:pPr marL="0" indent="0">
              <a:buNone/>
            </a:pPr>
            <a:r>
              <a:rPr lang="en-US" sz="1250" dirty="0">
                <a:solidFill>
                  <a:srgbClr val="4A4A4A"/>
                </a:solidFill>
                <a:latin typeface="Aptos" pitchFamily="34" charset="0"/>
                <a:ea typeface="Aptos" pitchFamily="34" charset="-122"/>
                <a:cs typeface="Aptos" pitchFamily="34" charset="-120"/>
              </a:rPr>
              <a:t>Apply SC on the already-calibrated GPT-3.5 instead of the biased GPT-4o; increase to N=5 votes</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474720"/>
          </a:xfrm>
          <a:prstGeom prst="rect">
            <a:avLst/>
          </a:prstGeom>
          <a:solidFill>
            <a:srgbClr val="0E2841"/>
          </a:solidFill>
          <a:ln w="12700">
            <a:solidFill>
              <a:srgbClr val="0E2841"/>
            </a:solidFill>
            <a:prstDash val="solid"/>
          </a:ln>
        </p:spPr>
        <p:txBody>
          <a:bodyPr/>
          <a:lstStyle/>
          <a:p>
            <a:endParaRPr lang="en-US"/>
          </a:p>
        </p:txBody>
      </p:sp>
      <p:sp>
        <p:nvSpPr>
          <p:cNvPr id="3" name="Shape 1"/>
          <p:cNvSpPr/>
          <p:nvPr/>
        </p:nvSpPr>
        <p:spPr>
          <a:xfrm>
            <a:off x="5029200" y="-731520"/>
            <a:ext cx="5029200" cy="5029200"/>
          </a:xfrm>
          <a:prstGeom prst="ellipse">
            <a:avLst/>
          </a:prstGeom>
          <a:solidFill>
            <a:srgbClr val="156082">
              <a:alpha val="45000"/>
            </a:srgbClr>
          </a:solidFill>
          <a:ln w="12700">
            <a:solidFill>
              <a:srgbClr val="156082">
                <a:alpha val="45000"/>
              </a:srgbClr>
            </a:solidFill>
            <a:prstDash val="solid"/>
          </a:ln>
        </p:spPr>
        <p:txBody>
          <a:bodyPr/>
          <a:lstStyle/>
          <a:p>
            <a:endParaRPr lang="en-US"/>
          </a:p>
        </p:txBody>
      </p:sp>
      <p:sp>
        <p:nvSpPr>
          <p:cNvPr id="4" name="Text 2"/>
          <p:cNvSpPr/>
          <p:nvPr/>
        </p:nvSpPr>
        <p:spPr>
          <a:xfrm>
            <a:off x="548640" y="640080"/>
            <a:ext cx="8046720" cy="1097280"/>
          </a:xfrm>
          <a:prstGeom prst="rect">
            <a:avLst/>
          </a:prstGeom>
          <a:noFill/>
          <a:ln/>
        </p:spPr>
        <p:txBody>
          <a:bodyPr wrap="square" rtlCol="0" anchor="ctr"/>
          <a:lstStyle/>
          <a:p>
            <a:pPr marL="0" indent="0" algn="l">
              <a:buNone/>
            </a:pPr>
            <a:r>
              <a:rPr lang="en-US" sz="5200" dirty="0">
                <a:solidFill>
                  <a:srgbClr val="FFFFFF"/>
                </a:solidFill>
                <a:latin typeface="Aptos Display" pitchFamily="34" charset="0"/>
                <a:ea typeface="Aptos Display" pitchFamily="34" charset="-122"/>
                <a:cs typeface="Aptos Display" pitchFamily="34" charset="-120"/>
              </a:rPr>
              <a:t>Questions?</a:t>
            </a:r>
            <a:endParaRPr lang="en-US" sz="5200" dirty="0"/>
          </a:p>
        </p:txBody>
      </p:sp>
      <p:sp>
        <p:nvSpPr>
          <p:cNvPr id="5" name="Text 3"/>
          <p:cNvSpPr/>
          <p:nvPr/>
        </p:nvSpPr>
        <p:spPr>
          <a:xfrm>
            <a:off x="548640" y="1920240"/>
            <a:ext cx="2651760" cy="777240"/>
          </a:xfrm>
          <a:prstGeom prst="rect">
            <a:avLst/>
          </a:prstGeom>
          <a:noFill/>
          <a:ln/>
        </p:spPr>
        <p:txBody>
          <a:bodyPr wrap="square" rtlCol="0" anchor="ctr"/>
          <a:lstStyle/>
          <a:p>
            <a:pPr marL="0" indent="0" algn="ctr">
              <a:buNone/>
            </a:pPr>
            <a:r>
              <a:rPr lang="en-US" sz="3400" b="1" dirty="0">
                <a:solidFill>
                  <a:srgbClr val="FFFFFF"/>
                </a:solidFill>
                <a:latin typeface="Aptos Display" pitchFamily="34" charset="0"/>
                <a:ea typeface="Aptos Display" pitchFamily="34" charset="-122"/>
                <a:cs typeface="Aptos Display" pitchFamily="34" charset="-120"/>
              </a:rPr>
              <a:t>75%</a:t>
            </a:r>
            <a:endParaRPr lang="en-US" sz="3400" dirty="0"/>
          </a:p>
        </p:txBody>
      </p:sp>
      <p:sp>
        <p:nvSpPr>
          <p:cNvPr id="6" name="Text 4"/>
          <p:cNvSpPr/>
          <p:nvPr/>
        </p:nvSpPr>
        <p:spPr>
          <a:xfrm>
            <a:off x="548640" y="2633472"/>
            <a:ext cx="2651760" cy="594360"/>
          </a:xfrm>
          <a:prstGeom prst="rect">
            <a:avLst/>
          </a:prstGeom>
          <a:noFill/>
          <a:ln/>
        </p:spPr>
        <p:txBody>
          <a:bodyPr wrap="square" rtlCol="0" anchor="ctr"/>
          <a:lstStyle/>
          <a:p>
            <a:pPr marL="0" indent="0" algn="ctr">
              <a:buNone/>
            </a:pPr>
            <a:r>
              <a:rPr lang="en-US" sz="1200" dirty="0">
                <a:solidFill>
                  <a:srgbClr val="AECFD6"/>
                </a:solidFill>
                <a:latin typeface="Aptos" pitchFamily="34" charset="0"/>
                <a:ea typeface="Aptos" pitchFamily="34" charset="-122"/>
                <a:cs typeface="Aptos" pitchFamily="34" charset="-120"/>
              </a:rPr>
              <a:t>Best Mortality Accuracy</a:t>
            </a:r>
            <a:endParaRPr lang="en-US" sz="1200" dirty="0"/>
          </a:p>
          <a:p>
            <a:pPr marL="0" indent="0" algn="ctr">
              <a:buNone/>
            </a:pPr>
            <a:r>
              <a:rPr lang="en-US" sz="1200" dirty="0">
                <a:solidFill>
                  <a:srgbClr val="AECFD6"/>
                </a:solidFill>
                <a:latin typeface="Aptos" pitchFamily="34" charset="0"/>
                <a:ea typeface="Aptos" pitchFamily="34" charset="-122"/>
                <a:cs typeface="Aptos" pitchFamily="34" charset="-120"/>
              </a:rPr>
              <a:t>(GPT-3.5 Zero-shot)</a:t>
            </a:r>
            <a:endParaRPr lang="en-US" sz="1200" dirty="0"/>
          </a:p>
        </p:txBody>
      </p:sp>
      <p:sp>
        <p:nvSpPr>
          <p:cNvPr id="7" name="Text 5"/>
          <p:cNvSpPr/>
          <p:nvPr/>
        </p:nvSpPr>
        <p:spPr>
          <a:xfrm>
            <a:off x="3383280" y="1920240"/>
            <a:ext cx="2651760" cy="777240"/>
          </a:xfrm>
          <a:prstGeom prst="rect">
            <a:avLst/>
          </a:prstGeom>
          <a:noFill/>
          <a:ln/>
        </p:spPr>
        <p:txBody>
          <a:bodyPr wrap="square" rtlCol="0" anchor="ctr"/>
          <a:lstStyle/>
          <a:p>
            <a:pPr marL="0" indent="0" algn="ctr">
              <a:buNone/>
            </a:pPr>
            <a:r>
              <a:rPr lang="en-US" sz="3400" b="1" dirty="0">
                <a:solidFill>
                  <a:srgbClr val="FFFFFF"/>
                </a:solidFill>
                <a:latin typeface="Aptos Display" pitchFamily="34" charset="0"/>
                <a:ea typeface="Aptos Display" pitchFamily="34" charset="-122"/>
                <a:cs typeface="Aptos Display" pitchFamily="34" charset="-120"/>
              </a:rPr>
              <a:t>4.8/5</a:t>
            </a:r>
            <a:endParaRPr lang="en-US" sz="3400" dirty="0"/>
          </a:p>
        </p:txBody>
      </p:sp>
      <p:sp>
        <p:nvSpPr>
          <p:cNvPr id="8" name="Text 6"/>
          <p:cNvSpPr/>
          <p:nvPr/>
        </p:nvSpPr>
        <p:spPr>
          <a:xfrm>
            <a:off x="3383280" y="2633472"/>
            <a:ext cx="2651760" cy="594360"/>
          </a:xfrm>
          <a:prstGeom prst="rect">
            <a:avLst/>
          </a:prstGeom>
          <a:noFill/>
          <a:ln/>
        </p:spPr>
        <p:txBody>
          <a:bodyPr wrap="square" rtlCol="0" anchor="ctr"/>
          <a:lstStyle/>
          <a:p>
            <a:pPr marL="0" indent="0" algn="ctr">
              <a:buNone/>
            </a:pPr>
            <a:r>
              <a:rPr lang="en-US" sz="1200" dirty="0">
                <a:solidFill>
                  <a:srgbClr val="AECFD6"/>
                </a:solidFill>
                <a:latin typeface="Aptos" pitchFamily="34" charset="0"/>
                <a:ea typeface="Aptos" pitchFamily="34" charset="-122"/>
                <a:cs typeface="Aptos" pitchFamily="34" charset="-120"/>
              </a:rPr>
              <a:t>Hallucination Safety</a:t>
            </a:r>
            <a:endParaRPr lang="en-US" sz="1200" dirty="0"/>
          </a:p>
          <a:p>
            <a:pPr marL="0" indent="0" algn="ctr">
              <a:buNone/>
            </a:pPr>
            <a:r>
              <a:rPr lang="en-US" sz="1200" dirty="0">
                <a:solidFill>
                  <a:srgbClr val="AECFD6"/>
                </a:solidFill>
                <a:latin typeface="Aptos" pitchFamily="34" charset="0"/>
                <a:ea typeface="Aptos" pitchFamily="34" charset="-122"/>
                <a:cs typeface="Aptos" pitchFamily="34" charset="-120"/>
              </a:rPr>
              <a:t>(LLM-as-Judge)</a:t>
            </a:r>
            <a:endParaRPr lang="en-US" sz="1200" dirty="0"/>
          </a:p>
        </p:txBody>
      </p:sp>
      <p:sp>
        <p:nvSpPr>
          <p:cNvPr id="9" name="Text 7"/>
          <p:cNvSpPr/>
          <p:nvPr/>
        </p:nvSpPr>
        <p:spPr>
          <a:xfrm>
            <a:off x="6217920" y="1920240"/>
            <a:ext cx="2651760" cy="777240"/>
          </a:xfrm>
          <a:prstGeom prst="rect">
            <a:avLst/>
          </a:prstGeom>
          <a:noFill/>
          <a:ln/>
        </p:spPr>
        <p:txBody>
          <a:bodyPr wrap="square" rtlCol="0" anchor="ctr"/>
          <a:lstStyle/>
          <a:p>
            <a:pPr marL="0" indent="0" algn="ctr">
              <a:buNone/>
            </a:pPr>
            <a:r>
              <a:rPr lang="en-US" sz="3400" b="1" dirty="0">
                <a:solidFill>
                  <a:srgbClr val="FFFFFF"/>
                </a:solidFill>
                <a:latin typeface="Aptos Display" pitchFamily="34" charset="0"/>
                <a:ea typeface="Aptos Display" pitchFamily="34" charset="-122"/>
                <a:cs typeface="Aptos Display" pitchFamily="34" charset="-120"/>
              </a:rPr>
              <a:t>+6%</a:t>
            </a:r>
            <a:endParaRPr lang="en-US" sz="3400" dirty="0"/>
          </a:p>
        </p:txBody>
      </p:sp>
      <p:sp>
        <p:nvSpPr>
          <p:cNvPr id="10" name="Text 8"/>
          <p:cNvSpPr/>
          <p:nvPr/>
        </p:nvSpPr>
        <p:spPr>
          <a:xfrm>
            <a:off x="6217920" y="2633472"/>
            <a:ext cx="2651760" cy="594360"/>
          </a:xfrm>
          <a:prstGeom prst="rect">
            <a:avLst/>
          </a:prstGeom>
          <a:noFill/>
          <a:ln/>
        </p:spPr>
        <p:txBody>
          <a:bodyPr wrap="square" rtlCol="0" anchor="ctr"/>
          <a:lstStyle/>
          <a:p>
            <a:pPr marL="0" indent="0" algn="ctr">
              <a:buNone/>
            </a:pPr>
            <a:r>
              <a:rPr lang="en-US" sz="1200" dirty="0">
                <a:solidFill>
                  <a:srgbClr val="AECFD6"/>
                </a:solidFill>
                <a:latin typeface="Aptos" pitchFamily="34" charset="0"/>
                <a:ea typeface="Aptos" pitchFamily="34" charset="-122"/>
                <a:cs typeface="Aptos" pitchFamily="34" charset="-120"/>
              </a:rPr>
              <a:t>Downstream ML Gain</a:t>
            </a:r>
            <a:endParaRPr lang="en-US" sz="1200" dirty="0"/>
          </a:p>
          <a:p>
            <a:pPr marL="0" indent="0" algn="ctr">
              <a:buNone/>
            </a:pPr>
            <a:r>
              <a:rPr lang="en-US" sz="1200" dirty="0">
                <a:solidFill>
                  <a:srgbClr val="AECFD6"/>
                </a:solidFill>
                <a:latin typeface="Aptos" pitchFamily="34" charset="0"/>
                <a:ea typeface="Aptos" pitchFamily="34" charset="-122"/>
                <a:cs typeface="Aptos" pitchFamily="34" charset="-120"/>
              </a:rPr>
              <a:t>(Bonus Task)</a:t>
            </a:r>
            <a:endParaRPr lang="en-US" sz="1200" dirty="0"/>
          </a:p>
        </p:txBody>
      </p:sp>
      <p:sp>
        <p:nvSpPr>
          <p:cNvPr id="11" name="Text 9"/>
          <p:cNvSpPr/>
          <p:nvPr/>
        </p:nvSpPr>
        <p:spPr>
          <a:xfrm>
            <a:off x="548640" y="3657600"/>
            <a:ext cx="4114800" cy="320040"/>
          </a:xfrm>
          <a:prstGeom prst="rect">
            <a:avLst/>
          </a:prstGeom>
          <a:noFill/>
          <a:ln/>
        </p:spPr>
        <p:txBody>
          <a:bodyPr wrap="square" rtlCol="0" anchor="ctr"/>
          <a:lstStyle/>
          <a:p>
            <a:pPr marL="0" indent="0">
              <a:buNone/>
            </a:pPr>
            <a:r>
              <a:rPr lang="en-US" sz="1500" b="1" dirty="0">
                <a:solidFill>
                  <a:srgbClr val="111111"/>
                </a:solidFill>
                <a:latin typeface="Aptos Display" pitchFamily="34" charset="0"/>
                <a:ea typeface="Aptos Display" pitchFamily="34" charset="-122"/>
                <a:cs typeface="Aptos Display" pitchFamily="34" charset="-120"/>
              </a:rPr>
              <a:t>References</a:t>
            </a:r>
            <a:endParaRPr lang="en-US" sz="1500" dirty="0"/>
          </a:p>
        </p:txBody>
      </p:sp>
      <p:sp>
        <p:nvSpPr>
          <p:cNvPr id="12" name="Text 10"/>
          <p:cNvSpPr/>
          <p:nvPr/>
        </p:nvSpPr>
        <p:spPr>
          <a:xfrm>
            <a:off x="548640" y="4005072"/>
            <a:ext cx="8229600" cy="822960"/>
          </a:xfrm>
          <a:prstGeom prst="rect">
            <a:avLst/>
          </a:prstGeom>
          <a:noFill/>
          <a:ln/>
        </p:spPr>
        <p:txBody>
          <a:bodyPr wrap="square" rtlCol="0" anchor="ctr"/>
          <a:lstStyle/>
          <a:p>
            <a:pPr marL="0" indent="0">
              <a:buNone/>
            </a:pPr>
            <a:r>
              <a:rPr lang="en-US" sz="1300" dirty="0">
                <a:solidFill>
                  <a:srgbClr val="4A4A4A"/>
                </a:solidFill>
                <a:latin typeface="Aptos" pitchFamily="34" charset="0"/>
                <a:ea typeface="Aptos" pitchFamily="34" charset="-122"/>
                <a:cs typeface="Aptos" pitchFamily="34" charset="-120"/>
              </a:rPr>
              <a:t>Access the </a:t>
            </a:r>
            <a:r>
              <a:rPr lang="en-US" sz="1300" b="1" dirty="0">
                <a:solidFill>
                  <a:srgbClr val="4A4A4A"/>
                </a:solidFill>
                <a:latin typeface="Aptos" pitchFamily="34" charset="0"/>
                <a:ea typeface="Aptos" pitchFamily="34" charset="-122"/>
                <a:cs typeface="Aptos" pitchFamily="34" charset="-120"/>
              </a:rPr>
              <a:t>Jupyter Notebook</a:t>
            </a:r>
            <a:r>
              <a:rPr lang="en-US" sz="1300" dirty="0">
                <a:solidFill>
                  <a:srgbClr val="4A4A4A"/>
                </a:solidFill>
                <a:latin typeface="Aptos" pitchFamily="34" charset="0"/>
                <a:ea typeface="Aptos" pitchFamily="34" charset="-122"/>
                <a:cs typeface="Aptos" pitchFamily="34" charset="-120"/>
              </a:rPr>
              <a:t> for detailed code and visualisations.</a:t>
            </a:r>
            <a:endParaRPr lang="en-US" sz="1300" dirty="0"/>
          </a:p>
          <a:p>
            <a:pPr marL="0" indent="0">
              <a:buNone/>
            </a:pPr>
            <a:r>
              <a:rPr lang="en-US" sz="1300" dirty="0">
                <a:solidFill>
                  <a:srgbClr val="4A4A4A"/>
                </a:solidFill>
                <a:latin typeface="Aptos" pitchFamily="34" charset="0"/>
                <a:ea typeface="Aptos" pitchFamily="34" charset="-122"/>
                <a:cs typeface="Aptos" pitchFamily="34" charset="-120"/>
              </a:rPr>
              <a:t>MIMIC-III v1.4 — PhysioNet / MIT Lab for Computational Physiology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390</TotalTime>
  <Words>6682</Words>
  <Application>Microsoft Macintosh PowerPoint</Application>
  <PresentationFormat>On-screen Show (16:9)</PresentationFormat>
  <Paragraphs>646</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ICU Mortality &amp; LOS Prediction using LLMs on MIMIC-III</dc:title>
  <dc:subject>PptxGenJS Presentation</dc:subject>
  <dc:creator>PptxGenJS</dc:creator>
  <cp:lastModifiedBy>Sritama Paul</cp:lastModifiedBy>
  <cp:revision>33</cp:revision>
  <dcterms:created xsi:type="dcterms:W3CDTF">2026-04-20T19:55:18Z</dcterms:created>
  <dcterms:modified xsi:type="dcterms:W3CDTF">2026-04-21T02:29:21Z</dcterms:modified>
</cp:coreProperties>
</file>