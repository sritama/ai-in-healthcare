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9" r:id="rId3"/>
    <p:sldId id="319" r:id="rId4"/>
    <p:sldId id="309" r:id="rId5"/>
    <p:sldId id="307" r:id="rId6"/>
    <p:sldId id="258" r:id="rId7"/>
    <p:sldId id="262" r:id="rId8"/>
    <p:sldId id="293" r:id="rId9"/>
    <p:sldId id="310" r:id="rId10"/>
    <p:sldId id="308" r:id="rId11"/>
    <p:sldId id="294" r:id="rId12"/>
    <p:sldId id="298" r:id="rId13"/>
    <p:sldId id="295" r:id="rId14"/>
    <p:sldId id="297" r:id="rId15"/>
    <p:sldId id="312" r:id="rId16"/>
    <p:sldId id="311" r:id="rId17"/>
    <p:sldId id="296" r:id="rId18"/>
    <p:sldId id="299" r:id="rId19"/>
    <p:sldId id="300" r:id="rId20"/>
    <p:sldId id="305" r:id="rId21"/>
    <p:sldId id="314" r:id="rId22"/>
    <p:sldId id="313" r:id="rId23"/>
    <p:sldId id="302" r:id="rId24"/>
    <p:sldId id="303" r:id="rId25"/>
    <p:sldId id="304" r:id="rId26"/>
    <p:sldId id="301" r:id="rId27"/>
    <p:sldId id="315" r:id="rId28"/>
    <p:sldId id="317" r:id="rId29"/>
    <p:sldId id="316" r:id="rId30"/>
    <p:sldId id="306" r:id="rId31"/>
    <p:sldId id="31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B7261B-90C0-AF4C-8703-AE1CF5EFB13A}">
          <p14:sldIdLst>
            <p14:sldId id="256"/>
            <p14:sldId id="289"/>
            <p14:sldId id="319"/>
            <p14:sldId id="309"/>
            <p14:sldId id="307"/>
            <p14:sldId id="258"/>
          </p14:sldIdLst>
        </p14:section>
        <p14:section name="spaCy" id="{791BCFB0-B505-904E-850D-661990FE7C37}">
          <p14:sldIdLst>
            <p14:sldId id="262"/>
            <p14:sldId id="293"/>
            <p14:sldId id="310"/>
            <p14:sldId id="308"/>
            <p14:sldId id="294"/>
            <p14:sldId id="298"/>
          </p14:sldIdLst>
        </p14:section>
        <p14:section name="sciSpacy" id="{380B0882-F56B-E048-9722-513E0110B107}">
          <p14:sldIdLst>
            <p14:sldId id="295"/>
            <p14:sldId id="297"/>
            <p14:sldId id="312"/>
            <p14:sldId id="311"/>
            <p14:sldId id="296"/>
            <p14:sldId id="299"/>
          </p14:sldIdLst>
        </p14:section>
        <p14:section name="medSpacy" id="{853A4324-FACA-5046-AB34-BFD200D9372E}">
          <p14:sldIdLst>
            <p14:sldId id="300"/>
            <p14:sldId id="305"/>
            <p14:sldId id="314"/>
            <p14:sldId id="313"/>
            <p14:sldId id="302"/>
            <p14:sldId id="303"/>
          </p14:sldIdLst>
        </p14:section>
        <p14:section name="BioClinicalBERT" id="{06BEBD85-A867-DC47-9E5B-989566F2C213}">
          <p14:sldIdLst>
            <p14:sldId id="304"/>
            <p14:sldId id="301"/>
            <p14:sldId id="315"/>
            <p14:sldId id="317"/>
            <p14:sldId id="316"/>
            <p14:sldId id="306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6"/>
    <p:restoredTop sz="94748"/>
  </p:normalViewPr>
  <p:slideViewPr>
    <p:cSldViewPr snapToGrid="0">
      <p:cViewPr varScale="1">
        <p:scale>
          <a:sx n="100" d="100"/>
          <a:sy n="100" d="100"/>
        </p:scale>
        <p:origin x="1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F3E1B-5925-BC4F-802A-DD410E9D1AA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CEE3F-E9BC-9F42-9FEE-5AAD149E4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1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5CEE3F-E9BC-9F42-9FEE-5AAD149E4B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08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5E72-43E0-7A25-CAF5-76C1E8552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C38C8D-D7BA-9B15-4B2B-0F179E6C1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4882-618E-9052-4C44-1EC62DCA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8306A-D467-BCE2-EEF9-A2222FE2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19327-F407-C5CA-B8DB-447E18F0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73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68AD-B1F9-1B9A-4ED9-4632641E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EFC9-4FAD-5498-9871-3D83EFAF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22D7-F804-F333-4951-80ACEF34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89C6-21F2-4255-3679-E4E1591E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C0881-33F0-257C-61F4-5EA9455B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04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C30E-C050-6E8A-740F-6E6DF166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1B4C0-AF24-F9AB-3A7E-7192481CD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560E5-F6A7-3FF1-AB08-65CDA33C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9C38-86F6-C501-AC46-6F402E9F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0D3C-6D2D-70CC-0987-40B28CE6F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5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A3A1-2474-1E68-4F56-956BDC90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2B89-2447-55E5-F090-1FEC3348D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466ED-D345-4624-25E2-4703A5276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9FCCF-FD9B-725B-DC14-19EFBCCA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1CC7C-6422-FCD1-1100-69BA29FA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B50C3-A7BB-E604-BD2D-02E12CA1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20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6891-E726-49F2-D576-C61F75AF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FFB4B-3E4B-6551-61F9-31968558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8A37C-CF2E-EC21-0911-3B5176967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6D9F1D-E4F4-93D7-518E-5E596B36B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05E13-8544-E8AF-7E70-3D0950686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FDC9D-5A2C-0B76-5D68-27693F90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C28FF-CC40-3B7B-BE22-B5EF80CD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59EE4-5EC3-F9AC-FB25-B2DE929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95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98C6-F0B7-C86D-1721-0FC59781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2998E-D2F9-D56A-CAD9-C9BD7555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4034E-2FDE-62D3-F507-AB420C2A0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F1EE3-A8C1-B656-FFB0-934ABFE9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0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E2A1A-1F4C-7F2C-616F-C13C8C5C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9EECE-2212-1607-3033-77141290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F9442-1EB7-CA66-3EDE-60DE848D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9135-FAEC-EF28-8FF6-088927DE8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04E7-3AC3-FD92-4056-157806353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DD9E5-3AFB-DBF3-21AD-3F329D045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BC250-AA18-E4AC-8D61-C1C8AE73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3DF98-1E17-F917-3DC8-2C83584E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DCE39-1AA0-0593-0434-2F05A388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2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7213-427F-488B-A3E5-D0FD241F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15EBD-7829-A0DE-F71D-50AF64043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BC846-9334-E7F9-80EE-F3309D6C6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DA7C4-8D02-72AE-5D3F-A70DBEE4B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74D1C-EC05-9A0A-103F-099CFE0E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4777C-52BE-5338-F390-A6EE76C4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3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C088-E67B-31A8-6D2E-DD937934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822BB-5C29-07A9-F3EE-676A52980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9856B-DE69-6617-DCE6-537C1448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6FFE-F441-C2C4-12C9-FBB46CA2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3314-04E6-0E09-C180-AA5CEB88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B0666-8F9C-EB96-C958-C11DEB745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506DF-4395-4F72-087E-20F9C0D888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A471-A309-9B62-5F2C-C9ADA7203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A2FC-243F-9703-BC94-7A39462C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1A0A8-08F2-CEC5-8C93-1338798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72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3E8CF-2B70-D402-3E72-59A29FC86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73928-6FCE-02F4-24FF-F00571434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C1201-4FFE-88D2-548C-9181811CA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DA70C-32A2-E540-8569-3129A4615290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2083B-BA58-9D4B-4495-C098B6AD6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771FC-7E6D-E840-504E-DDD83550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5CDA-9A00-F640-BEC4-12025F7E6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7D5B-BB93-00A9-9B8A-970DB87A9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Semantic Visualization of Acute Myocardial Infarction (AMI) Clinical Notes Using NLP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886D0-50AE-ABEC-C684-4D0858CFB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620127"/>
            <a:ext cx="10005951" cy="1925052"/>
          </a:xfrm>
        </p:spPr>
        <p:txBody>
          <a:bodyPr anchor="ctr">
            <a:normAutofit/>
          </a:bodyPr>
          <a:lstStyle/>
          <a:p>
            <a:pPr algn="l"/>
            <a:r>
              <a:rPr lang="en-US" sz="1700" dirty="0"/>
              <a:t>By</a:t>
            </a:r>
          </a:p>
          <a:p>
            <a:pPr algn="l"/>
            <a:r>
              <a:rPr lang="en-US" sz="1700" dirty="0"/>
              <a:t>Sritama Paul</a:t>
            </a:r>
          </a:p>
          <a:p>
            <a:pPr algn="l"/>
            <a:r>
              <a:rPr lang="en-US" sz="1700" dirty="0"/>
              <a:t>AI 395T | AI In Healthcare </a:t>
            </a:r>
          </a:p>
          <a:p>
            <a:pPr algn="l"/>
            <a:r>
              <a:rPr lang="en-US" sz="1700" dirty="0"/>
              <a:t>University of Texas at Austin</a:t>
            </a:r>
          </a:p>
          <a:p>
            <a:pPr algn="l"/>
            <a:r>
              <a:rPr lang="en-US" sz="1700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338364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677576-8A0E-E6B1-4481-0C3EE085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FA80-2849-8BF6-2624-351FB26116C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504547" y="323385"/>
            <a:ext cx="7370776" cy="5919569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2500"/>
              </a:spcBef>
            </a:pPr>
            <a:r>
              <a:rPr lang="en-US" sz="2400" dirty="0"/>
              <a:t>Compare semantic structure of AMI discharge notes using  the following NLP framework/libraries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 err="1"/>
              <a:t>spaCy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 err="1"/>
              <a:t>sciSpaCy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 err="1"/>
              <a:t>medSpaCy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 err="1"/>
              <a:t>BioClinicalBERT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2400" dirty="0"/>
              <a:t>Techniques Used: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Named Entity Recognition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Embedding generation (word2vec, contextual)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Dimensionality reduction (t-SNE, UMAP)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Goal: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Evaluate clinical coherence, clustering behavior, and domain specificity.</a:t>
            </a:r>
          </a:p>
        </p:txBody>
      </p:sp>
    </p:spTree>
    <p:extLst>
      <p:ext uri="{BB962C8B-B14F-4D97-AF65-F5344CB8AC3E}">
        <p14:creationId xmlns:p14="http://schemas.microsoft.com/office/powerpoint/2010/main" val="341282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0BC80-6C39-D9C3-942E-7D9F91F4A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1E2C51-AFB3-2E1D-20E5-FD2E7898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FD0A858-BA2D-403E-6253-21F5981B2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364C66-C9C8-6EBC-8C14-CE9FB1B35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35CF2A-AC67-90B6-9098-E588A73F8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83040C-4F1D-7213-D307-0550A5EA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942D622-E64D-2747-E343-720969488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527FC4-AAC4-62F0-ED2D-654368542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4775D-844A-75A3-5D4A-71BC3325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Generate AMI Cohort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B5680-BBA5-B001-DA43-6093A170C6B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504547" y="323385"/>
            <a:ext cx="7370776" cy="5981125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Identify Acute Myocardial Infarction (AMI) patients from MIMIC-III for NLP analysis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Filter DIAGNOSES_ICD dataset with ICD-9 Code 410.xx -&gt; Acute Myocardial Infarction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Extract unique SUBJECT_ID and HADM_ID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Link them to NOTEEVENTS dataset and restrict them to `Discharge summary` category only</a:t>
            </a:r>
          </a:p>
          <a:p>
            <a:pPr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Cohort characteristics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Includes hospital admissions with confirmed AMI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Full discharge summaries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Medication section</a:t>
            </a:r>
          </a:p>
          <a:p>
            <a:pPr lvl="1">
              <a:lnSpc>
                <a:spcPct val="100000"/>
              </a:lnSpc>
              <a:spcBef>
                <a:spcPts val="2500"/>
              </a:spcBef>
            </a:pPr>
            <a:r>
              <a:rPr lang="en-US" sz="1800" dirty="0"/>
              <a:t>Laboratory and procedure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48031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71D1B-B511-3404-5A62-FA038B8C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818B34E-A34D-2379-6183-C38931030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383DDF-0FFD-660F-D72C-8068F832C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19FD27-F8CC-E484-F3A7-6476D9337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501BC3-FF0B-CEB4-A66E-ECA5156E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443464-2C2A-1CB2-423E-0F05B5EC5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BDCDB5B-2BB4-E60F-B5CE-66099C670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65382F-E16B-CABF-910E-7DA235FCD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0CBC5-44FD-BD99-A099-6A6F91274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NER and  Embeddings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D0072-198E-5097-2C64-5F1738C3463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504547" y="323385"/>
            <a:ext cx="7370776" cy="6324808"/>
          </a:xfrm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ts val="2500"/>
              </a:spcBef>
            </a:pPr>
            <a:r>
              <a:rPr lang="en-US" sz="2200" dirty="0"/>
              <a:t>Named Entity Recognition (NER) identifies what clinical concepts are present in the corpus such as 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Diseases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Medications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Lab Values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Procedures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sz="2200" dirty="0"/>
              <a:t>Severity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Word2Vec (Static Embeddings) answers which words appear in similar contexts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Assigns one fixed vector per word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Captures co-occurrence similarity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Dimensionality reduction (t-SNE, UMAP)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Contextual Embeddings (used in </a:t>
            </a:r>
            <a:r>
              <a:rPr lang="en-US" sz="2200" dirty="0" err="1"/>
              <a:t>BioClinicalBERT</a:t>
            </a:r>
            <a:r>
              <a:rPr lang="en-US" sz="2200" dirty="0"/>
              <a:t>) captures sentence level meaning</a:t>
            </a:r>
          </a:p>
          <a:p>
            <a:pPr lvl="1">
              <a:lnSpc>
                <a:spcPct val="100000"/>
              </a:lnSpc>
            </a:pPr>
            <a:r>
              <a:rPr lang="en-US" sz="2200" dirty="0"/>
              <a:t>Each word embedding depends on sentence context</a:t>
            </a:r>
          </a:p>
        </p:txBody>
      </p:sp>
    </p:spTree>
    <p:extLst>
      <p:ext uri="{BB962C8B-B14F-4D97-AF65-F5344CB8AC3E}">
        <p14:creationId xmlns:p14="http://schemas.microsoft.com/office/powerpoint/2010/main" val="2161063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ED764-8793-7B72-AFF5-4E2F65211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D221267-F13D-ED84-0244-5574FE21C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CF5C5A-9946-2D31-A66B-D70627E3E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E406CA-9A76-200D-0740-FBC8361BD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108181-32B2-7F9D-9991-9BB0B581E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BC7C07-5690-2C92-66A7-5CD3397D4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F76B18-EAB2-FCA9-CF19-BA51E9128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0EB141-F9B7-2A66-C3EE-BDA8249C6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E84B65-71E8-C9E2-3BCA-CD049E825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Initial Set Up in </a:t>
            </a:r>
            <a:r>
              <a:rPr lang="en-US" sz="4000" dirty="0" err="1">
                <a:solidFill>
                  <a:srgbClr val="FFFFFF"/>
                </a:solidFill>
              </a:rPr>
              <a:t>Jupyter</a:t>
            </a:r>
            <a:r>
              <a:rPr lang="en-US" sz="4000" dirty="0">
                <a:solidFill>
                  <a:srgbClr val="FFFFFF"/>
                </a:solidFill>
              </a:rPr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7AF5-FA09-B78D-C5CE-196D12B9176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SpPr>
        <p:spPr>
          <a:xfrm>
            <a:off x="4607625" y="323385"/>
            <a:ext cx="7243949" cy="6266985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spacy==3.6.1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</a:t>
            </a:r>
            <a:r>
              <a:rPr lang="en-US" sz="2000" b="1" dirty="0" err="1"/>
              <a:t>scispacy</a:t>
            </a:r>
            <a:r>
              <a:rPr lang="en-US" sz="2000" b="1" dirty="0"/>
              <a:t>==0.5.3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</a:t>
            </a:r>
            <a:r>
              <a:rPr lang="en-US" sz="2000" b="1" dirty="0" err="1"/>
              <a:t>medspacy</a:t>
            </a:r>
            <a:endParaRPr lang="en-US" sz="20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</a:t>
            </a:r>
            <a:r>
              <a:rPr lang="en-US" sz="2000" b="1" dirty="0" err="1"/>
              <a:t>gensim</a:t>
            </a:r>
            <a:endParaRPr lang="en-US" sz="20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</a:t>
            </a:r>
            <a:r>
              <a:rPr lang="en-US" sz="2000" b="1" dirty="0" err="1"/>
              <a:t>umap</a:t>
            </a:r>
            <a:r>
              <a:rPr lang="en-US" sz="2000" b="1" dirty="0"/>
              <a:t>-learn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# Install </a:t>
            </a:r>
            <a:r>
              <a:rPr lang="en-US" sz="2000" b="1" dirty="0" err="1"/>
              <a:t>en_core_web_sm</a:t>
            </a:r>
            <a:r>
              <a:rPr lang="en-US" sz="2000" b="1" dirty="0"/>
              <a:t> model for </a:t>
            </a:r>
            <a:r>
              <a:rPr lang="en-US" sz="2000" b="1" dirty="0" err="1"/>
              <a:t>spaCy</a:t>
            </a:r>
            <a:endParaRPr lang="en-US" sz="20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https://</a:t>
            </a:r>
            <a:r>
              <a:rPr lang="en-US" sz="2000" b="1" dirty="0" err="1"/>
              <a:t>github.com</a:t>
            </a:r>
            <a:r>
              <a:rPr lang="en-US" sz="2000" b="1" dirty="0"/>
              <a:t>/explosion/spacy-models/releases/download/en_core_web_sm-3.6.0/en_core_web_sm-3.6.0-py3-none-any.whl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# Install </a:t>
            </a:r>
            <a:r>
              <a:rPr lang="en-US" sz="2000" b="1" dirty="0" err="1"/>
              <a:t>en_core_sci_md</a:t>
            </a:r>
            <a:r>
              <a:rPr lang="en-US" sz="2000" b="1" dirty="0"/>
              <a:t> model for </a:t>
            </a:r>
            <a:r>
              <a:rPr lang="en-US" sz="2000" b="1" dirty="0" err="1"/>
              <a:t>SciSpaCy</a:t>
            </a:r>
            <a:endParaRPr lang="en-US" sz="20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sz="2000" b="1" dirty="0"/>
              <a:t>%pip install https://s3-us-west-2.amazonaws.com/ai2-s2-scispacy/releases/v0.5.3/en_core_sci_md-0.5.3.tar.gz</a:t>
            </a:r>
          </a:p>
        </p:txBody>
      </p:sp>
    </p:spTree>
    <p:extLst>
      <p:ext uri="{BB962C8B-B14F-4D97-AF65-F5344CB8AC3E}">
        <p14:creationId xmlns:p14="http://schemas.microsoft.com/office/powerpoint/2010/main" val="75805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9C819-2F8E-0CA2-24C1-895EF516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Charts produced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EA7F76-B9D4-B35D-8B50-05006F083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1232655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4487451" y="279882"/>
          <a:ext cx="6877887" cy="642572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238107">
                  <a:extLst>
                    <a:ext uri="{9D8B030D-6E8A-4147-A177-3AD203B41FA5}">
                      <a16:colId xmlns:a16="http://schemas.microsoft.com/office/drawing/2014/main" val="799075573"/>
                    </a:ext>
                  </a:extLst>
                </a:gridCol>
                <a:gridCol w="5639780">
                  <a:extLst>
                    <a:ext uri="{9D8B030D-6E8A-4147-A177-3AD203B41FA5}">
                      <a16:colId xmlns:a16="http://schemas.microsoft.com/office/drawing/2014/main" val="111629342"/>
                    </a:ext>
                  </a:extLst>
                </a:gridCol>
              </a:tblGrid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tSNE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spaCy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419680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UMAP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spaCy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404483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tSNE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SciSpaCy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144648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UMAP Plot for </a:t>
                      </a:r>
                      <a:r>
                        <a:rPr lang="en-US" sz="2100" b="0" cap="none" spc="0">
                          <a:solidFill>
                            <a:schemeClr val="tx1"/>
                          </a:solidFill>
                        </a:rPr>
                        <a:t>SciSpaCy 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302216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tSNE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MedSpaCy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24806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UMAP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MedSpaCy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Entity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17150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b="1" cap="none" spc="0" dirty="0">
                          <a:solidFill>
                            <a:schemeClr val="tx1"/>
                          </a:solidFill>
                        </a:rPr>
                        <a:t>07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tSNE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Plot for </a:t>
                      </a:r>
                      <a:r>
                        <a:rPr lang="en-US" sz="2100" b="0" cap="none" spc="0" dirty="0" err="1">
                          <a:solidFill>
                            <a:schemeClr val="tx1"/>
                          </a:solidFill>
                        </a:rPr>
                        <a:t>BioClinicalBERT</a:t>
                      </a:r>
                      <a:r>
                        <a:rPr lang="en-US" sz="2100" b="0" cap="none" spc="0" dirty="0">
                          <a:solidFill>
                            <a:schemeClr val="tx1"/>
                          </a:solidFill>
                        </a:rPr>
                        <a:t> Embeddings</a:t>
                      </a: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973025"/>
                  </a:ext>
                </a:extLst>
              </a:tr>
              <a:tr h="80321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21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1446" marR="141446" marT="141446" marB="14144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214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542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C52A3-7F82-DE2D-53A9-4B801535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01. </a:t>
            </a:r>
            <a:r>
              <a:rPr lang="en-US" sz="4000" dirty="0" err="1">
                <a:solidFill>
                  <a:srgbClr val="FFFFFF"/>
                </a:solidFill>
              </a:rPr>
              <a:t>tSNE</a:t>
            </a:r>
            <a:r>
              <a:rPr lang="en-US" sz="4000" dirty="0">
                <a:solidFill>
                  <a:srgbClr val="FFFFFF"/>
                </a:solidFill>
              </a:rPr>
              <a:t> Plot for </a:t>
            </a:r>
            <a:r>
              <a:rPr lang="en-US" sz="4000" dirty="0" err="1">
                <a:solidFill>
                  <a:srgbClr val="FFFFFF"/>
                </a:solidFill>
              </a:rPr>
              <a:t>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10" name="Content Placeholder 9" descr="A diagram of numbers and symbols&#10;&#10;AI-generated content may be incorrect.">
            <a:extLst>
              <a:ext uri="{FF2B5EF4-FFF2-40B4-BE49-F238E27FC236}">
                <a16:creationId xmlns:a16="http://schemas.microsoft.com/office/drawing/2014/main" id="{24B75579-577B-2584-3C59-D7DADDFAB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24302" y="633232"/>
            <a:ext cx="6883059" cy="561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79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7D4ECD-4F22-19C9-E368-8A2E0337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59D6C1-920A-B3C2-70D3-6118F2E42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2D795E-FF1F-1F1D-A3FA-6022A7C79A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3E1842-B299-1B1B-E5D2-38C9FF2D9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986F2F-FC97-D228-C77C-8EC8E6501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D8D80A-F5A0-77F3-61B7-23B6A9A5F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6C8F0B-5F7F-1A0A-307D-00762CA80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4FDC1-AE9C-9A4A-9959-37DB62B23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NER and Word2Vec in </a:t>
            </a:r>
            <a:r>
              <a:rPr lang="en-US" sz="4000" dirty="0" err="1">
                <a:solidFill>
                  <a:srgbClr val="FFFFFF"/>
                </a:solidFill>
              </a:rPr>
              <a:t>spaCy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1241B-8986-BB98-8DF3-EC6494ED0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56227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NER used </a:t>
            </a:r>
            <a:r>
              <a:rPr lang="en-US" dirty="0" err="1"/>
              <a:t>en_core_web_sm</a:t>
            </a:r>
            <a:r>
              <a:rPr lang="en-US" dirty="0"/>
              <a:t> model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Trained on general news/web data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Extracts names, dates, numbers, organizations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Weak biomedical recognition</a:t>
            </a:r>
          </a:p>
          <a:p>
            <a:pPr lvl="2">
              <a:lnSpc>
                <a:spcPct val="100000"/>
              </a:lnSpc>
            </a:pP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dirty="0"/>
              <a:t>Word2Vec Embeddings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Static, non-clinical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Limited medical semantic alignment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914400" lvl="2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6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41721-EDB2-DDC7-27AB-651D1B36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4E9D81-428B-424A-CDCE-DB5A84FF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4041F6-4865-62C4-6396-D2DC68A53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F2AC1-14F6-84B1-8246-42768814B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E705B-3376-3087-CC0A-FECE1CBB0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48C1B28-6F38-1A99-256E-9F85FE6F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A1171E-D8AF-83DB-0291-48B7E500A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C7566-FB6B-2DF9-1F9D-17F65FBC1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906AA-E92A-90AB-B593-06EA7B4FB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860" y="333988"/>
            <a:ext cx="7196615" cy="6210300"/>
          </a:xfrm>
        </p:spPr>
        <p:txBody>
          <a:bodyPr>
            <a:normAutofit fontScale="55000" lnSpcReduction="20000"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import spacy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from spacy import </a:t>
            </a:r>
            <a:r>
              <a:rPr lang="en-US" sz="2900" dirty="0" err="1"/>
              <a:t>displacy</a:t>
            </a: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 err="1"/>
              <a:t>nlp_spacy</a:t>
            </a:r>
            <a:r>
              <a:rPr lang="en-US" sz="2900" dirty="0"/>
              <a:t> = </a:t>
            </a:r>
            <a:r>
              <a:rPr lang="en-US" sz="2900" dirty="0" err="1"/>
              <a:t>spacy.load</a:t>
            </a:r>
            <a:r>
              <a:rPr lang="en-US" sz="2900" dirty="0"/>
              <a:t>("</a:t>
            </a:r>
            <a:r>
              <a:rPr lang="en-US" sz="2900" dirty="0" err="1"/>
              <a:t>en_core_web_sm</a:t>
            </a:r>
            <a:r>
              <a:rPr lang="en-US" sz="2900" dirty="0"/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 err="1"/>
              <a:t>spacy_entities_docs</a:t>
            </a:r>
            <a:r>
              <a:rPr lang="en-US" sz="2900" dirty="0"/>
              <a:t> = []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for doc in </a:t>
            </a:r>
            <a:r>
              <a:rPr lang="en-US" sz="2900" dirty="0" err="1"/>
              <a:t>nlp_spacy.pipe</a:t>
            </a:r>
            <a:r>
              <a:rPr lang="en-US" sz="2900" dirty="0"/>
              <a:t>(texts, </a:t>
            </a:r>
            <a:r>
              <a:rPr lang="en-US" sz="2900" dirty="0" err="1"/>
              <a:t>batch_size</a:t>
            </a:r>
            <a:r>
              <a:rPr lang="en-US" sz="2900" dirty="0"/>
              <a:t>=10):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entities = [</a:t>
            </a:r>
            <a:r>
              <a:rPr lang="en-US" sz="2900" dirty="0" err="1"/>
              <a:t>ent.text.lower</a:t>
            </a:r>
            <a:r>
              <a:rPr lang="en-US" sz="2900" dirty="0"/>
              <a:t>() for </a:t>
            </a:r>
            <a:r>
              <a:rPr lang="en-US" sz="2900" dirty="0" err="1"/>
              <a:t>ent</a:t>
            </a:r>
            <a:r>
              <a:rPr lang="en-US" sz="2900" dirty="0"/>
              <a:t> in </a:t>
            </a:r>
            <a:r>
              <a:rPr lang="en-US" sz="2900" dirty="0" err="1"/>
              <a:t>doc.ents</a:t>
            </a:r>
            <a:r>
              <a:rPr lang="en-US" sz="2900" dirty="0"/>
              <a:t>]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</a:t>
            </a:r>
            <a:r>
              <a:rPr lang="en-US" sz="2900" dirty="0" err="1"/>
              <a:t>spacy_entities_docs.append</a:t>
            </a:r>
            <a:r>
              <a:rPr lang="en-US" sz="2900" dirty="0"/>
              <a:t>(entities)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 err="1"/>
              <a:t>doc_example</a:t>
            </a:r>
            <a:r>
              <a:rPr lang="en-US" sz="2900" dirty="0"/>
              <a:t> = </a:t>
            </a:r>
            <a:r>
              <a:rPr lang="en-US" sz="2900" dirty="0" err="1"/>
              <a:t>nlp_spacy</a:t>
            </a:r>
            <a:r>
              <a:rPr lang="en-US" sz="2900" dirty="0"/>
              <a:t>(texts[0])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 err="1"/>
              <a:t>displacy.render</a:t>
            </a:r>
            <a:r>
              <a:rPr lang="en-US" sz="2900" dirty="0"/>
              <a:t>(</a:t>
            </a:r>
            <a:r>
              <a:rPr lang="en-US" sz="2900" dirty="0" err="1"/>
              <a:t>doc_example</a:t>
            </a:r>
            <a:r>
              <a:rPr lang="en-US" sz="2900" dirty="0"/>
              <a:t>, style="</a:t>
            </a:r>
            <a:r>
              <a:rPr lang="en-US" sz="2900" dirty="0" err="1"/>
              <a:t>ent</a:t>
            </a:r>
            <a:r>
              <a:rPr lang="en-US" sz="2900" dirty="0"/>
              <a:t>", </a:t>
            </a:r>
            <a:r>
              <a:rPr lang="en-US" sz="2900" dirty="0" err="1"/>
              <a:t>jupyter</a:t>
            </a:r>
            <a:r>
              <a:rPr lang="en-US" sz="2900" dirty="0"/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29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w2v_spacy = Word2Vec(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sentences=</a:t>
            </a:r>
            <a:r>
              <a:rPr lang="en-US" sz="2900" dirty="0" err="1"/>
              <a:t>spacy_entities_docs</a:t>
            </a:r>
            <a:r>
              <a:rPr lang="en-US" sz="2900" dirty="0"/>
              <a:t>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</a:t>
            </a:r>
            <a:r>
              <a:rPr lang="en-US" sz="2900" dirty="0" err="1"/>
              <a:t>vector_size</a:t>
            </a:r>
            <a:r>
              <a:rPr lang="en-US" sz="2900" dirty="0"/>
              <a:t>=100,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window=5,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</a:t>
            </a:r>
            <a:r>
              <a:rPr lang="en-US" sz="2900" dirty="0" err="1"/>
              <a:t>min_count</a:t>
            </a:r>
            <a:r>
              <a:rPr lang="en-US" sz="2900" dirty="0"/>
              <a:t>=3,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    workers=4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2900" dirty="0"/>
              <a:t>)</a:t>
            </a:r>
          </a:p>
          <a:p>
            <a:pPr lvl="2">
              <a:lnSpc>
                <a:spcPct val="100000"/>
              </a:lnSpc>
            </a:pPr>
            <a:endParaRPr lang="en-US" dirty="0"/>
          </a:p>
          <a:p>
            <a:pPr marL="914400" lvl="2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097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FF343-1C76-6068-E15E-724179F6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1931AC-E0A6-C2A1-27CE-1D6DE0E66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BCF44-2BA4-2CCC-EC3A-BFEF3E7C7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C4C8A-CB24-8770-8B61-B4B298E05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14966-1A46-E60F-5F92-CCB97E3B5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82F9A5-4121-C4C1-03CF-B84B97F2F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BE9AFF-C3B3-745B-2856-6C45B2D3D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B666F-5AFB-81FD-8F56-2DE33F12B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5E5B3-7B55-1FDA-E2D8-086DD7FC2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56227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Diffused clustering structure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Significant inclusion of numeric tokens (e.g., 10, 20, 50%)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Administrative phrases (e.g., discharge instructions, </a:t>
            </a:r>
            <a:r>
              <a:rPr lang="en-US" dirty="0" err="1"/>
              <a:t>followup</a:t>
            </a:r>
            <a:r>
              <a:rPr lang="en-US" dirty="0"/>
              <a:t> instructions)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Date-related entities (more prominent in </a:t>
            </a:r>
            <a:r>
              <a:rPr lang="en-US" dirty="0" err="1"/>
              <a:t>dispaCy</a:t>
            </a:r>
            <a:r>
              <a:rPr lang="en-US" dirty="0"/>
              <a:t> visualization)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Some clustering of cardiovascular terms (cad, cardiac, coronary)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Clusters are less clinically coherent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Captures structural entities but lacks sensitivity to AMI-specific terminology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Under-detection of cardiology-relevant concepts</a:t>
            </a:r>
          </a:p>
        </p:txBody>
      </p:sp>
    </p:spTree>
    <p:extLst>
      <p:ext uri="{BB962C8B-B14F-4D97-AF65-F5344CB8AC3E}">
        <p14:creationId xmlns:p14="http://schemas.microsoft.com/office/powerpoint/2010/main" val="3812209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F5106-3B4D-F765-B7ED-84AC6102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130F87-E8AB-EC33-52AC-B012A7981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C3AB62-DF58-8647-48CC-8DDD148BA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D2EBA-F72C-22C1-97E3-07AE0CB1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F918B3-CC43-F269-7160-90480ED11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6E19B85-AB8F-05E9-E196-406E0006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17A9C3-5C7C-8F31-EDA8-E9CC3862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12F31-C79F-2970-BFF1-A9B833C9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02. UMAP Plot for </a:t>
            </a:r>
            <a:r>
              <a:rPr lang="en-US" sz="4000" dirty="0" err="1">
                <a:solidFill>
                  <a:srgbClr val="FFFFFF"/>
                </a:solidFill>
              </a:rPr>
              <a:t>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6" name="Content Placeholder 5" descr="A diagram of a number of embeddings&#10;&#10;AI-generated content may be incorrect.">
            <a:extLst>
              <a:ext uri="{FF2B5EF4-FFF2-40B4-BE49-F238E27FC236}">
                <a16:creationId xmlns:a16="http://schemas.microsoft.com/office/drawing/2014/main" id="{906FCFD6-0F0E-5409-EACA-68452F8F1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8221" y="708025"/>
            <a:ext cx="7725979" cy="585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7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AC1D0-F4D4-AAFB-4281-B9D074BE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416CFE-5E09-4D18-DFCA-83195991E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51183D-AC49-AE37-9AB2-E2FCF5485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D1F8BB-0841-4B8D-DBB4-ADD1BB62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AC441D-DD1F-27E4-065A-812B1D2F3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9339C13-96EC-C92E-AA75-A7A41C91C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5F52E2-B8EB-BC04-5D53-63FA0DCB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B6FBC-5B71-1159-B9D8-D8DD232A1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39497-C999-5069-3B2E-A5C3D69A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463315" cy="52671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Clearer grouping than t-SNE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Clusters dominated by numeric entities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Administrative phrases (e.g., discharge instructions, </a:t>
            </a:r>
            <a:r>
              <a:rPr lang="en-US" dirty="0" err="1"/>
              <a:t>followup</a:t>
            </a:r>
            <a:r>
              <a:rPr lang="en-US" dirty="0"/>
              <a:t> instructions)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Mixed clinical and non-clinical grouping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Mild clustering of cardiac terms (cad, </a:t>
            </a:r>
            <a:r>
              <a:rPr lang="en-US" dirty="0" err="1"/>
              <a:t>chf</a:t>
            </a:r>
            <a:r>
              <a:rPr lang="en-US" dirty="0"/>
              <a:t>, </a:t>
            </a:r>
            <a:r>
              <a:rPr lang="en-US" dirty="0" err="1"/>
              <a:t>ekg</a:t>
            </a:r>
            <a:r>
              <a:rPr lang="en-US" dirty="0"/>
              <a:t>, </a:t>
            </a:r>
            <a:r>
              <a:rPr lang="en-US" dirty="0" err="1"/>
              <a:t>ecg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Domain specificity remains limited</a:t>
            </a:r>
          </a:p>
        </p:txBody>
      </p:sp>
    </p:spTree>
    <p:extLst>
      <p:ext uri="{BB962C8B-B14F-4D97-AF65-F5344CB8AC3E}">
        <p14:creationId xmlns:p14="http://schemas.microsoft.com/office/powerpoint/2010/main" val="3466943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82B60-0864-7D6C-E0E6-4C9D99D3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DA295F9-2099-C7D1-C69D-BBCDADBD4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46BC4E-6870-AEC8-F7BB-3C5200E31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12D0D-5231-E4B7-DA6B-F9E161FEB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26AF3E-C48B-75F1-C44F-CDD264BF9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D779B68-A185-A06D-3912-389591AE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ED0901-0919-373F-19A6-B341377F7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A36F1-D1D1-167D-8FE4-E5603DC1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03. </a:t>
            </a:r>
            <a:r>
              <a:rPr lang="en-US" sz="4000" dirty="0" err="1">
                <a:solidFill>
                  <a:srgbClr val="FFFFFF"/>
                </a:solidFill>
              </a:rPr>
              <a:t>tSNE</a:t>
            </a:r>
            <a:r>
              <a:rPr lang="en-US" sz="4000" dirty="0">
                <a:solidFill>
                  <a:srgbClr val="FFFFFF"/>
                </a:solidFill>
              </a:rPr>
              <a:t> Plot for </a:t>
            </a:r>
            <a:r>
              <a:rPr lang="en-US" sz="4000" dirty="0" err="1">
                <a:solidFill>
                  <a:srgbClr val="FFFFFF"/>
                </a:solidFill>
              </a:rPr>
              <a:t>scispaCy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6" name="Content Placeholder 5" descr="A diagram of a number of words&#10;&#10;AI-generated content may be incorrect.">
            <a:extLst>
              <a:ext uri="{FF2B5EF4-FFF2-40B4-BE49-F238E27FC236}">
                <a16:creationId xmlns:a16="http://schemas.microsoft.com/office/drawing/2014/main" id="{D06C8259-F9E5-A87C-52DB-2F0985008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4277" y="511387"/>
            <a:ext cx="7041245" cy="53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73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08BF87-1F43-0E04-B289-92A92E60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C4C5B2-D144-DD04-45DE-A7237CCA2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A89B19-8316-17C5-7449-89903AE16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40A709-2181-9988-AFCA-DC0846703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F0505D-5A32-F3AC-E12E-D59C7E295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96923CE-C689-2A8F-CDD9-87A395B22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08D752-0DBA-BB6B-9252-372A1A17C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9A533-BACA-7C8C-6769-5B60E12FD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NER and Word2Vec used in </a:t>
            </a:r>
            <a:r>
              <a:rPr lang="en-US" sz="4000" dirty="0" err="1">
                <a:solidFill>
                  <a:srgbClr val="FFFFFF"/>
                </a:solidFill>
              </a:rPr>
              <a:t>scispaCy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2DEC-981C-DA97-5C37-35F57033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511388"/>
            <a:ext cx="7118071" cy="48331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NER used </a:t>
            </a:r>
            <a:r>
              <a:rPr lang="en-US" dirty="0" err="1"/>
              <a:t>en_core_sci_md</a:t>
            </a:r>
            <a:r>
              <a:rPr lang="en-US" dirty="0"/>
              <a:t> model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Trained on biomedical corpora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Recognizes diseases, anatomy, chemicals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Better medical specificity</a:t>
            </a:r>
          </a:p>
          <a:p>
            <a:pPr lvl="2">
              <a:lnSpc>
                <a:spcPct val="100000"/>
              </a:lnSpc>
            </a:pP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dirty="0"/>
              <a:t>Word2Vec Embeddings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Biomedical vocabulary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Improved co-occurrence learning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2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AF930-C4A1-689C-A47F-D1C85ACE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7FE15E-EBFC-C109-3B01-5029978B7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577456-BF57-CE8A-9196-76D8927EA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9D3922-5C14-7CAB-5193-F3082871F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2EDB9E-62E5-CD8E-1C17-91B768DE8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ECEE40-D572-03B3-CBA9-C6FFACD1A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A10965-3759-D7FB-E37D-3DB00F075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215A1-C430-3CF0-D638-4D8EDBBA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CF1F3-D427-62C9-38A7-2D289B5AF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393700"/>
            <a:ext cx="7118071" cy="6184900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import spacy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from spacy import </a:t>
            </a:r>
            <a:r>
              <a:rPr lang="en-US" dirty="0" err="1"/>
              <a:t>displacy</a:t>
            </a: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nlp_sci</a:t>
            </a:r>
            <a:r>
              <a:rPr lang="en-US" dirty="0"/>
              <a:t> = </a:t>
            </a:r>
            <a:r>
              <a:rPr lang="en-US" dirty="0" err="1"/>
              <a:t>spacy.load</a:t>
            </a:r>
            <a:r>
              <a:rPr lang="en-US" dirty="0"/>
              <a:t>("</a:t>
            </a:r>
            <a:r>
              <a:rPr lang="en-US" dirty="0" err="1"/>
              <a:t>en_core_sci_md</a:t>
            </a:r>
            <a:r>
              <a:rPr lang="en-US" dirty="0"/>
              <a:t>")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scispacy_entities_docs</a:t>
            </a:r>
            <a:r>
              <a:rPr lang="en-US" dirty="0"/>
              <a:t> = []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for doc in </a:t>
            </a:r>
            <a:r>
              <a:rPr lang="en-US" dirty="0" err="1"/>
              <a:t>nlp_sci.pipe</a:t>
            </a:r>
            <a:r>
              <a:rPr lang="en-US" dirty="0"/>
              <a:t>(texts, </a:t>
            </a:r>
            <a:r>
              <a:rPr lang="en-US" dirty="0" err="1"/>
              <a:t>batch_size</a:t>
            </a:r>
            <a:r>
              <a:rPr lang="en-US" dirty="0"/>
              <a:t>=10):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entities = [</a:t>
            </a:r>
            <a:r>
              <a:rPr lang="en-US" dirty="0" err="1"/>
              <a:t>ent.text.lower</a:t>
            </a:r>
            <a:r>
              <a:rPr lang="en-US" dirty="0"/>
              <a:t>() for </a:t>
            </a:r>
            <a:r>
              <a:rPr lang="en-US" dirty="0" err="1"/>
              <a:t>ent</a:t>
            </a:r>
            <a:r>
              <a:rPr lang="en-US" dirty="0"/>
              <a:t> in </a:t>
            </a:r>
            <a:r>
              <a:rPr lang="en-US" dirty="0" err="1"/>
              <a:t>doc.ents</a:t>
            </a:r>
            <a:r>
              <a:rPr lang="en-US" dirty="0"/>
              <a:t>]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scispacy_entities_docs.append</a:t>
            </a:r>
            <a:r>
              <a:rPr lang="en-US" dirty="0"/>
              <a:t>(entities)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scispaCydoc_example</a:t>
            </a:r>
            <a:r>
              <a:rPr lang="en-US" dirty="0"/>
              <a:t> = </a:t>
            </a:r>
            <a:r>
              <a:rPr lang="en-US" dirty="0" err="1"/>
              <a:t>nlp_sci</a:t>
            </a:r>
            <a:r>
              <a:rPr lang="en-US" dirty="0"/>
              <a:t>(texts[0])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displacy.render</a:t>
            </a:r>
            <a:r>
              <a:rPr lang="en-US" dirty="0"/>
              <a:t>(</a:t>
            </a:r>
            <a:r>
              <a:rPr lang="en-US" dirty="0" err="1"/>
              <a:t>scispaCydoc_example</a:t>
            </a:r>
            <a:r>
              <a:rPr lang="en-US" dirty="0"/>
              <a:t>, style="</a:t>
            </a:r>
            <a:r>
              <a:rPr lang="en-US" dirty="0" err="1"/>
              <a:t>ent</a:t>
            </a:r>
            <a:r>
              <a:rPr lang="en-US" dirty="0"/>
              <a:t>", </a:t>
            </a:r>
            <a:r>
              <a:rPr lang="en-US" dirty="0" err="1"/>
              <a:t>jupyter</a:t>
            </a:r>
            <a:r>
              <a:rPr lang="en-US" dirty="0"/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w2v_sci = Word2Vec(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sentences=</a:t>
            </a:r>
            <a:r>
              <a:rPr lang="en-US" dirty="0" err="1"/>
              <a:t>scispacy_entities_docs</a:t>
            </a:r>
            <a:r>
              <a:rPr lang="en-US" dirty="0"/>
              <a:t>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vector_size</a:t>
            </a:r>
            <a:r>
              <a:rPr lang="en-US" dirty="0"/>
              <a:t>=100,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window=5,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min_count</a:t>
            </a:r>
            <a:r>
              <a:rPr lang="en-US" dirty="0"/>
              <a:t>=3,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workers=4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9462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192A8-6628-BBBA-353B-D73FDC67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09E2616-79E3-1650-6B7D-55B379BCA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90C90C-ED20-C0BE-7594-96F1C441C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21F6C-879B-409D-3A2D-574DB8F98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F7DB89-E1F6-1DC2-8F3E-1CC1D0E91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5FB9EB4-94DB-FA63-1B49-D8F34DA61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B76AA5-C675-A142-EF08-829158A8F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67688-6C40-874B-AE20-5FCC4F37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1C385-4DB9-67FD-9024-9787821E8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48331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Mild clusters observed – 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 </a:t>
            </a:r>
            <a:r>
              <a:rPr lang="en-US" sz="2400" dirty="0"/>
              <a:t>Medication cluster (aspirin, metoprolol, atorvastatin, heparin)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Cardiovascular disease cluster (cad, coronary artery disease, hypertension)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Severity modifiers (mild, moderate, severe)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Significantly improved clinical specificity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Reduction of administrative noise (e.g., discharge instructions, follow up instructions)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Indicates improved biomedical concept recognition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54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D777D2-D59A-D2C8-D24C-96D8C888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1999F7-79EB-64B1-7D33-B5F7BB664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A9319-7ED1-A47A-67E6-F00499FFC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16027-CF8F-4477-C186-16A671003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BC5B7-83B2-1866-DFD1-97DAAC1EC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E7DD8B2-70E9-7C91-CC2F-1312B24D1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F8EAB7-AF59-D03F-527D-D58A12E6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1C32D-7886-B308-25DD-F5D895E9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02. UMAP Plot for </a:t>
            </a:r>
            <a:r>
              <a:rPr lang="en-US" sz="4000" dirty="0" err="1">
                <a:solidFill>
                  <a:srgbClr val="FFFFFF"/>
                </a:solidFill>
              </a:rPr>
              <a:t>scispaCy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7" name="Content Placeholder 6" descr="A diagram of a number of blue dots&#10;&#10;AI-generated content may be incorrect.">
            <a:extLst>
              <a:ext uri="{FF2B5EF4-FFF2-40B4-BE49-F238E27FC236}">
                <a16:creationId xmlns:a16="http://schemas.microsoft.com/office/drawing/2014/main" id="{AD227B24-32BC-C808-5139-D58069769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7451" y="511388"/>
            <a:ext cx="7076036" cy="552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16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307D7-A82C-8F11-B0D8-22C73324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99E366-AFB8-5E2E-F965-EC6829ECF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7D738-1D2A-F457-19FE-14732989F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9E56F-A90F-CC7F-65FF-D331CC7A6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7D73D9-1889-404E-04E1-474ED64DF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0F766-8EB3-E822-9B63-F75455B68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DCEC3A-9D0A-E7E0-AA64-798FFB537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D6D22-B991-E030-57F3-EDD1BC59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BC3BE-16F8-E9FD-FD30-898A45BE2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514115" cy="58640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UMAP produces clearer macro-structure: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Medication-related entities grouped tightly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Disease-related terms grouped separately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Procedural terms (catheterization, surgery) forming localized groupings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Global organization is more interpretable than </a:t>
            </a:r>
            <a:r>
              <a:rPr lang="en-US" dirty="0" err="1"/>
              <a:t>spaCy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Conceptual neighborhoods visible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SciSpaCy</a:t>
            </a:r>
            <a:r>
              <a:rPr lang="en-US" dirty="0"/>
              <a:t> effectively captures biomedical semantic relationships, demonstrating: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Stronger domain alignment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Improved cluster separation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Meaningful cardiovascular subdomain segmentation</a:t>
            </a:r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288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F9AAF-B8EF-DE77-75DE-263FC928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FCF4F-78D8-66A9-47C4-1582DD6CA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0B79B-5017-28AC-B3CB-93DFADD68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00483-5911-4CCE-CCAE-A0F9E4F5C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FB4E4-83A2-C577-6C1E-5268EDC75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B3B549D-5B51-E32E-DD61-CBCD1BF9A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D44CE4-81D5-16FD-91C8-865A41D81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3F3E8-3EFC-3293-67E8-B835AE22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05. </a:t>
            </a:r>
            <a:r>
              <a:rPr lang="en-US" sz="4000" dirty="0" err="1">
                <a:solidFill>
                  <a:srgbClr val="FFFFFF"/>
                </a:solidFill>
              </a:rPr>
              <a:t>tSNE</a:t>
            </a:r>
            <a:r>
              <a:rPr lang="en-US" sz="4000" dirty="0">
                <a:solidFill>
                  <a:srgbClr val="FFFFFF"/>
                </a:solidFill>
              </a:rPr>
              <a:t> Plot for </a:t>
            </a:r>
            <a:r>
              <a:rPr lang="en-US" sz="4000" dirty="0" err="1">
                <a:solidFill>
                  <a:srgbClr val="FFFFFF"/>
                </a:solidFill>
              </a:rPr>
              <a:t>medspaCy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7" name="Content Placeholder 6" descr="A diagram of a medical condition&#10;&#10;AI-generated content may be incorrect.">
            <a:extLst>
              <a:ext uri="{FF2B5EF4-FFF2-40B4-BE49-F238E27FC236}">
                <a16:creationId xmlns:a16="http://schemas.microsoft.com/office/drawing/2014/main" id="{D0EF8656-ED06-4BBC-F065-24920D528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0806" y="511175"/>
            <a:ext cx="7531293" cy="609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6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0F666-7087-4D02-0D73-9296A2DC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C1FABF-9933-870D-E4CC-7E5E6968E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3D783F-765A-DEDC-255F-339324804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7997F5-A7D4-B121-4E2A-649FB94B7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8AB3EF-9277-AFE0-11E6-F24B5E39E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1F45F40-C39E-9674-E950-493858C52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AFAB7A-E88A-2AF0-FC5F-2E74C78FC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80430-0574-B197-E8A6-AE5B25E8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NER and Word2Vec used in </a:t>
            </a:r>
            <a:r>
              <a:rPr lang="en-US" sz="4000" dirty="0" err="1">
                <a:solidFill>
                  <a:srgbClr val="FFFFFF"/>
                </a:solidFill>
              </a:rPr>
              <a:t>medspaCy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0D9A3-9DFF-65D9-7619-112219B2C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511388"/>
            <a:ext cx="7006049" cy="61307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NER used </a:t>
            </a:r>
            <a:r>
              <a:rPr lang="en-US" dirty="0" err="1"/>
              <a:t>en_core_sci_md</a:t>
            </a:r>
            <a:r>
              <a:rPr lang="en-US" dirty="0"/>
              <a:t> model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Rule-enhanced clinical extraction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Focused on real EHR structure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Reduced administrative noise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Improved entity precision</a:t>
            </a:r>
          </a:p>
          <a:p>
            <a:pPr marL="914400" lvl="2" indent="0">
              <a:lnSpc>
                <a:spcPct val="100000"/>
              </a:lnSpc>
              <a:buNone/>
            </a:pP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dirty="0"/>
              <a:t>Word2Vec Embeddings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Similar static embedding base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Cleaner entity input</a:t>
            </a:r>
          </a:p>
          <a:p>
            <a:pPr lvl="2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06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7C533-F7C7-C60E-24E2-26D12ED7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22D60F-7640-9C06-FE75-3E918F3F6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B3E7C1-B663-3BED-CACC-3A7E3A385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D0666-3D16-38FF-5ED8-89E7F6E92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865B25-C15F-DDFE-003D-128F57AFF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C8D20FA-80C0-D645-BC8F-8A0913F4F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F33B8D-C920-2D43-F1C4-FE36D8D59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FF09C-1728-EBDC-C84F-33329B144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BAC94-6EF2-1CC9-A059-51C2929CA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6130712"/>
          </a:xfrm>
        </p:spPr>
        <p:txBody>
          <a:bodyPr>
            <a:normAutofit fontScale="70000" lnSpcReduction="20000"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import </a:t>
            </a:r>
            <a:r>
              <a:rPr lang="en-US" dirty="0" err="1"/>
              <a:t>medspacy</a:t>
            </a: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nlp_med</a:t>
            </a:r>
            <a:r>
              <a:rPr lang="en-US" dirty="0"/>
              <a:t> = </a:t>
            </a:r>
            <a:r>
              <a:rPr lang="en-US" dirty="0" err="1"/>
              <a:t>medspacy.load</a:t>
            </a:r>
            <a:r>
              <a:rPr lang="en-US" dirty="0"/>
              <a:t>("</a:t>
            </a:r>
            <a:r>
              <a:rPr lang="en-US" dirty="0" err="1"/>
              <a:t>en_core_sci_md</a:t>
            </a:r>
            <a:r>
              <a:rPr lang="en-US" dirty="0"/>
              <a:t>", disable=["parser"])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medspacy_entities_docs</a:t>
            </a:r>
            <a:r>
              <a:rPr lang="en-US" dirty="0"/>
              <a:t> = []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for doc in </a:t>
            </a:r>
            <a:r>
              <a:rPr lang="en-US" dirty="0" err="1"/>
              <a:t>nlp_med.pipe</a:t>
            </a:r>
            <a:r>
              <a:rPr lang="en-US" dirty="0"/>
              <a:t>(texts, </a:t>
            </a:r>
            <a:r>
              <a:rPr lang="en-US" dirty="0" err="1"/>
              <a:t>batch_size</a:t>
            </a:r>
            <a:r>
              <a:rPr lang="en-US" dirty="0"/>
              <a:t>=10):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entities = [</a:t>
            </a:r>
            <a:r>
              <a:rPr lang="en-US" dirty="0" err="1"/>
              <a:t>ent.text.lower</a:t>
            </a:r>
            <a:r>
              <a:rPr lang="en-US" dirty="0"/>
              <a:t>() for </a:t>
            </a:r>
            <a:r>
              <a:rPr lang="en-US" dirty="0" err="1"/>
              <a:t>ent</a:t>
            </a:r>
            <a:r>
              <a:rPr lang="en-US" dirty="0"/>
              <a:t> in </a:t>
            </a:r>
            <a:r>
              <a:rPr lang="en-US" dirty="0" err="1"/>
              <a:t>doc.ents</a:t>
            </a:r>
            <a:r>
              <a:rPr lang="en-US" dirty="0"/>
              <a:t>]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</a:t>
            </a:r>
            <a:r>
              <a:rPr lang="en-US" dirty="0" err="1"/>
              <a:t>medspacy_entities_docs.append</a:t>
            </a:r>
            <a:r>
              <a:rPr lang="en-US" dirty="0"/>
              <a:t>(entities)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medspacydoc_example</a:t>
            </a:r>
            <a:r>
              <a:rPr lang="en-US" dirty="0"/>
              <a:t> = </a:t>
            </a:r>
            <a:r>
              <a:rPr lang="en-US" dirty="0" err="1"/>
              <a:t>nlp_med</a:t>
            </a:r>
            <a:r>
              <a:rPr lang="en-US" dirty="0"/>
              <a:t>(texts[0])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 err="1"/>
              <a:t>displacy.render</a:t>
            </a:r>
            <a:r>
              <a:rPr lang="en-US" dirty="0"/>
              <a:t>(</a:t>
            </a:r>
            <a:r>
              <a:rPr lang="en-US" dirty="0" err="1"/>
              <a:t>medspacydoc_example</a:t>
            </a:r>
            <a:r>
              <a:rPr lang="en-US" dirty="0"/>
              <a:t>, style="</a:t>
            </a:r>
            <a:r>
              <a:rPr lang="en-US" dirty="0" err="1"/>
              <a:t>ent</a:t>
            </a:r>
            <a:r>
              <a:rPr lang="en-US" dirty="0"/>
              <a:t>", </a:t>
            </a:r>
            <a:r>
              <a:rPr lang="en-US" dirty="0" err="1"/>
              <a:t>jupyter</a:t>
            </a:r>
            <a:r>
              <a:rPr lang="en-US" dirty="0"/>
              <a:t>=True)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w2v_med = Word2Vec(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sentences=</a:t>
            </a:r>
            <a:r>
              <a:rPr lang="en-US" dirty="0" err="1"/>
              <a:t>medspacy_entities_docs</a:t>
            </a:r>
            <a:r>
              <a:rPr lang="en-US" dirty="0"/>
              <a:t>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</a:t>
            </a:r>
            <a:r>
              <a:rPr lang="en-US" dirty="0" err="1"/>
              <a:t>vector_size</a:t>
            </a:r>
            <a:r>
              <a:rPr lang="en-US" dirty="0"/>
              <a:t>=100,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window=5,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</a:t>
            </a:r>
            <a:r>
              <a:rPr lang="en-US" dirty="0" err="1"/>
              <a:t>min_count</a:t>
            </a:r>
            <a:r>
              <a:rPr lang="en-US" dirty="0"/>
              <a:t>=3,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  workers=4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7050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3DE03-CF36-2B41-2282-7C9BF53D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E65B561-E8F0-225A-DD2D-3E62F5AE0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AB9317-30A1-EE71-FB57-B44BEB7FE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644DF2-C3B3-C86A-C767-C69DB94B6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231327-C58F-CF67-B2E7-C9B3C24E6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7C0CCD1-6F1B-6013-8948-FE10237F1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36F8C-0EDA-E1A6-541B-A07D28D89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97295-FBD7-6FC2-12AC-82F62A1B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AC010-4E5D-D2C5-496B-5905B5D0F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61307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 err="1"/>
              <a:t>medSpaCy</a:t>
            </a:r>
            <a:r>
              <a:rPr lang="en-US" dirty="0"/>
              <a:t> demonstrates the strongest clinical coherence among the entity models.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Clusters correspond directly to clinical reasoning categories: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Biomarkers (troponin, CK, INR)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Disease states (CAD, stenosis, hypertension)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Medications (aspirin, statins, beta-blockers)</a:t>
            </a:r>
          </a:p>
          <a:p>
            <a:pPr lvl="2">
              <a:lnSpc>
                <a:spcPct val="100000"/>
              </a:lnSpc>
            </a:pPr>
            <a:r>
              <a:rPr lang="en-US" sz="2400" dirty="0"/>
              <a:t>Procedures (cardiac catheterization)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Best reflects real-world AMI care components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More compact clusters than </a:t>
            </a:r>
            <a:r>
              <a:rPr lang="en-US" dirty="0" err="1"/>
              <a:t>sciSpacy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Administrative entities are minimal (e.g., discharge instructions, follow up instructions)</a:t>
            </a:r>
          </a:p>
        </p:txBody>
      </p:sp>
    </p:spTree>
    <p:extLst>
      <p:ext uri="{BB962C8B-B14F-4D97-AF65-F5344CB8AC3E}">
        <p14:creationId xmlns:p14="http://schemas.microsoft.com/office/powerpoint/2010/main" val="134524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F7CDA-6753-7EE5-34F5-37F490C36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B5342D-3ED1-C62B-6A1A-479C58F2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5BAA12-993E-E539-E128-43F7CE207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550E8B-F135-A36E-BC1E-22FB79948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8FFBEA-4226-0538-2E1E-A90E2D278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8827BD-F803-07C9-E98C-FF5DABAB2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B77547-B036-81D7-21B4-A4B6AE47D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50AE6-0F10-9D39-BDF3-A28FE211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06. UMAP Plot for </a:t>
            </a:r>
            <a:r>
              <a:rPr lang="en-US" sz="4000" dirty="0" err="1">
                <a:solidFill>
                  <a:srgbClr val="FFFFFF"/>
                </a:solidFill>
              </a:rPr>
              <a:t>medspaCy</a:t>
            </a:r>
            <a:r>
              <a:rPr lang="en-US" sz="4000" dirty="0">
                <a:solidFill>
                  <a:srgbClr val="FFFFFF"/>
                </a:solidFill>
              </a:rPr>
              <a:t> Entity Embeddings</a:t>
            </a:r>
          </a:p>
        </p:txBody>
      </p:sp>
      <p:pic>
        <p:nvPicPr>
          <p:cNvPr id="14" name="Content Placeholder 13" descr="A map of the world&#10;&#10;AI-generated content may be incorrect.">
            <a:extLst>
              <a:ext uri="{FF2B5EF4-FFF2-40B4-BE49-F238E27FC236}">
                <a16:creationId xmlns:a16="http://schemas.microsoft.com/office/drawing/2014/main" id="{AED3A1E7-5508-4A9C-4013-CF3B72E1D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4062" y="665163"/>
            <a:ext cx="6941459" cy="54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86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4ED49-CFB1-563E-3C8B-C7127329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81D26-3B90-F004-EBB3-3FCD2E31B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D3E74C-8879-59EB-83D9-8DFD48EA7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641E34-DD97-2178-F683-C5BFAC60B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60F0BE-F725-0A6F-5E6E-8817E0BFD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B560D5-0F2B-D620-589B-213167509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316250-FEF8-AA3B-4AD4-89BCFFDB8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F488D-3BC3-7FAC-2555-8E35A94B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1EE44-B2AD-B79B-7F90-CC6548598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514115" cy="5864012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400" dirty="0"/>
              <a:t>Well defined clinical sub-domains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Tight lab value cluster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Distinct severity cluster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Tight pharmacologic cluster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dirty="0"/>
              <a:t>Procedural cluster (cardiac catheterization etc.)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Cluster boundaries are sharper than both </a:t>
            </a:r>
            <a:r>
              <a:rPr lang="en-US" dirty="0" err="1"/>
              <a:t>spaCy</a:t>
            </a:r>
            <a:r>
              <a:rPr lang="en-US" dirty="0"/>
              <a:t> and </a:t>
            </a:r>
            <a:r>
              <a:rPr lang="en-US" dirty="0" err="1"/>
              <a:t>SciSpaCy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Reduced semantic overlap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medSpaCy</a:t>
            </a:r>
            <a:r>
              <a:rPr lang="en-US" dirty="0"/>
              <a:t> provides the most clinically interpretable embedding space</a:t>
            </a:r>
          </a:p>
          <a:p>
            <a:pPr lvl="1">
              <a:lnSpc>
                <a:spcPct val="100000"/>
              </a:lnSpc>
            </a:pPr>
            <a:endParaRPr lang="en-US" sz="2400" dirty="0"/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2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A960F-27B0-6F2F-E913-9159A629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248F6F-2612-5DB2-83D9-074B801BD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6E4C77-2C7B-D4F4-F828-62D5B8ED7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C9F9C5-30C6-F5C6-6823-C11FD6C3B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03ACF-29B4-D146-A9CC-983B02E0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AB83F7C-D44E-1380-8A7D-186F85E06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75472A-584B-CA48-325D-9C10D65C9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CF235-63C6-6786-E8CC-6EEB3E14C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05" y="1683756"/>
            <a:ext cx="351173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07. </a:t>
            </a:r>
            <a:r>
              <a:rPr lang="en-US" sz="4000" dirty="0" err="1">
                <a:solidFill>
                  <a:srgbClr val="FFFFFF"/>
                </a:solidFill>
              </a:rPr>
              <a:t>tSNE</a:t>
            </a:r>
            <a:r>
              <a:rPr lang="en-US" sz="4000" dirty="0">
                <a:solidFill>
                  <a:srgbClr val="FFFFFF"/>
                </a:solidFill>
              </a:rPr>
              <a:t> Plot for </a:t>
            </a:r>
            <a:r>
              <a:rPr lang="en-US" sz="4000" dirty="0" err="1">
                <a:solidFill>
                  <a:srgbClr val="FFFFFF"/>
                </a:solidFill>
              </a:rPr>
              <a:t>BioClinialBERT</a:t>
            </a:r>
            <a:r>
              <a:rPr lang="en-US" sz="4000" dirty="0">
                <a:solidFill>
                  <a:srgbClr val="FFFFFF"/>
                </a:solidFill>
              </a:rPr>
              <a:t> Embeddings</a:t>
            </a:r>
          </a:p>
        </p:txBody>
      </p:sp>
      <p:pic>
        <p:nvPicPr>
          <p:cNvPr id="6" name="Content Placeholder 5" descr="A diagram of blue dots&#10;&#10;AI-generated content may be incorrect.">
            <a:extLst>
              <a:ext uri="{FF2B5EF4-FFF2-40B4-BE49-F238E27FC236}">
                <a16:creationId xmlns:a16="http://schemas.microsoft.com/office/drawing/2014/main" id="{2544CBE3-ABC8-0238-70C0-9473C6A03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4043" y="665163"/>
            <a:ext cx="7168641" cy="585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39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6529B-A434-C728-C40D-C12526E09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E983B3-D177-B530-4C72-7D1FB1BDA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8DE6C1-CEF0-EBD9-5AD2-4C5AFB220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612255-A65F-5262-15A1-1563D2DFA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B783ED-0F88-D96D-57B2-7852923AD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2408C3E-8FC3-7D8D-07DB-5E486E397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CBD3A8-7C0C-92BE-CA23-18EEBD26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42AC00-BA26-451E-005F-7A898DF3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NER and Embeddings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7EE06-8245-C36C-C43C-03DD6319C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511388"/>
            <a:ext cx="7387874" cy="61307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NER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inherently performing NER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Uses full text directly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 explicit entity filtering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Embeddings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Contextual transformer embeddings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Sentence-level semantics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Section-aware representation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Contextual embeddings can capture high-level document semantics without explicit NER.</a:t>
            </a:r>
          </a:p>
        </p:txBody>
      </p:sp>
    </p:spTree>
    <p:extLst>
      <p:ext uri="{BB962C8B-B14F-4D97-AF65-F5344CB8AC3E}">
        <p14:creationId xmlns:p14="http://schemas.microsoft.com/office/powerpoint/2010/main" val="1947823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612A1-5807-3D22-A234-3D097014A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4F9A38-387C-D671-0D9D-F4CD91E3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832224-CB92-53C0-34AC-9188CF91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E43CEA-FB76-11DC-163D-D40D09F6C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5B581-60E1-832A-1529-829C4D39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AD3C2F5-6A3A-9355-22AF-171E83B51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219F63-167D-8CBB-15C1-1E7C5247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DB710-085E-745E-221A-C977F3A3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9772E-08DB-8720-00C3-B7156D56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241300"/>
            <a:ext cx="7387874" cy="6400800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def </a:t>
            </a:r>
            <a:r>
              <a:rPr lang="en-US" sz="4000" dirty="0" err="1"/>
              <a:t>get_mean_embedding</a:t>
            </a:r>
            <a:r>
              <a:rPr lang="en-US" sz="4000" dirty="0"/>
              <a:t>(text):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inputs = tokenizer(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    text[:512],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    </a:t>
            </a:r>
            <a:r>
              <a:rPr lang="en-US" sz="4000" dirty="0" err="1"/>
              <a:t>return_tensors</a:t>
            </a:r>
            <a:r>
              <a:rPr lang="en-US" sz="4000" dirty="0"/>
              <a:t>="pt",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    truncation=True,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    padding=True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with </a:t>
            </a:r>
            <a:r>
              <a:rPr lang="en-US" sz="4000" dirty="0" err="1"/>
              <a:t>torch.no_grad</a:t>
            </a:r>
            <a:r>
              <a:rPr lang="en-US" sz="4000" dirty="0"/>
              <a:t>():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    outputs = model(**inputs)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</a:t>
            </a:r>
            <a:r>
              <a:rPr lang="en-US" sz="4000" dirty="0" err="1"/>
              <a:t>last_hidden</a:t>
            </a:r>
            <a:r>
              <a:rPr lang="en-US" sz="4000" dirty="0"/>
              <a:t> = </a:t>
            </a:r>
            <a:r>
              <a:rPr lang="en-US" sz="4000" dirty="0" err="1"/>
              <a:t>outputs.last_hidden_state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</a:t>
            </a:r>
            <a:r>
              <a:rPr lang="en-US" sz="4000" dirty="0" err="1"/>
              <a:t>attention_mask</a:t>
            </a:r>
            <a:r>
              <a:rPr lang="en-US" sz="4000" dirty="0"/>
              <a:t> = inputs["</a:t>
            </a:r>
            <a:r>
              <a:rPr lang="en-US" sz="4000" dirty="0" err="1"/>
              <a:t>attention_mask</a:t>
            </a:r>
            <a:r>
              <a:rPr lang="en-US" sz="4000" dirty="0"/>
              <a:t>"]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mask = </a:t>
            </a:r>
            <a:r>
              <a:rPr lang="en-US" sz="4000" dirty="0" err="1"/>
              <a:t>attention_mask.unsqueeze</a:t>
            </a:r>
            <a:r>
              <a:rPr lang="en-US" sz="4000" dirty="0"/>
              <a:t>(-1).expand(</a:t>
            </a:r>
            <a:r>
              <a:rPr lang="en-US" sz="4000" dirty="0" err="1"/>
              <a:t>last_hidden.size</a:t>
            </a:r>
            <a:r>
              <a:rPr lang="en-US" sz="4000" dirty="0"/>
              <a:t>()).float()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</a:t>
            </a:r>
            <a:r>
              <a:rPr lang="en-US" sz="4000" dirty="0" err="1"/>
              <a:t>masked_embeddings</a:t>
            </a:r>
            <a:r>
              <a:rPr lang="en-US" sz="4000" dirty="0"/>
              <a:t> = </a:t>
            </a:r>
            <a:r>
              <a:rPr lang="en-US" sz="4000" dirty="0" err="1"/>
              <a:t>last_hidden</a:t>
            </a:r>
            <a:r>
              <a:rPr lang="en-US" sz="4000" dirty="0"/>
              <a:t> * mask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</a:t>
            </a:r>
            <a:r>
              <a:rPr lang="en-US" sz="4000" dirty="0" err="1"/>
              <a:t>mean_embedding</a:t>
            </a:r>
            <a:r>
              <a:rPr lang="en-US" sz="4000" dirty="0"/>
              <a:t> = </a:t>
            </a:r>
            <a:r>
              <a:rPr lang="en-US" sz="4000" dirty="0" err="1"/>
              <a:t>masked_embeddings.sum</a:t>
            </a:r>
            <a:r>
              <a:rPr lang="en-US" sz="4000" dirty="0"/>
              <a:t>(1) / </a:t>
            </a:r>
            <a:r>
              <a:rPr lang="en-US" sz="4000" dirty="0" err="1"/>
              <a:t>mask.sum</a:t>
            </a:r>
            <a:r>
              <a:rPr lang="en-US" sz="4000" dirty="0"/>
              <a:t>(1)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    return </a:t>
            </a:r>
            <a:r>
              <a:rPr lang="en-US" sz="4000" dirty="0" err="1"/>
              <a:t>mean_embedding.squeeze</a:t>
            </a:r>
            <a:r>
              <a:rPr lang="en-US" sz="4000" dirty="0"/>
              <a:t>().</a:t>
            </a:r>
            <a:r>
              <a:rPr lang="en-US" sz="4000" dirty="0" err="1"/>
              <a:t>numpy</a:t>
            </a:r>
            <a:r>
              <a:rPr lang="en-US" sz="4000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 err="1"/>
              <a:t>bert_embeddings</a:t>
            </a:r>
            <a:r>
              <a:rPr lang="en-US" sz="4000" dirty="0"/>
              <a:t> = </a:t>
            </a:r>
            <a:r>
              <a:rPr lang="en-US" sz="4000" dirty="0" err="1"/>
              <a:t>np.vstack</a:t>
            </a:r>
            <a:r>
              <a:rPr lang="en-US" sz="4000" dirty="0"/>
              <a:t>([</a:t>
            </a:r>
            <a:r>
              <a:rPr lang="en-US" sz="4000" dirty="0" err="1"/>
              <a:t>get_mean_embedding</a:t>
            </a:r>
            <a:r>
              <a:rPr lang="en-US" sz="4000" dirty="0"/>
              <a:t>(t) for t in </a:t>
            </a:r>
            <a:r>
              <a:rPr lang="en-US" sz="4000" dirty="0" err="1"/>
              <a:t>sample_texts</a:t>
            </a:r>
            <a:r>
              <a:rPr lang="en-US" sz="4000" dirty="0"/>
              <a:t>])</a:t>
            </a:r>
          </a:p>
          <a:p>
            <a:pPr lvl="3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706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FD768-E0C3-75B7-9831-56E735D0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D641E6-F544-00B8-BC48-0CE3E6652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62930-B359-4524-4193-B53DEFB5B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7F467-1047-0DD7-703E-24B27819D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3E278E-044F-7734-EE17-34A399A87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136370F-AFD7-1D13-AB49-1EE443799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F8DB69-F7CC-37EE-B4AD-8D91469CF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CC1CB-D61E-F57A-4D61-A5FD39822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ECA2F-431B-F84B-0077-EE01055F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241300"/>
            <a:ext cx="7387874" cy="6400800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from collections import Counter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def </a:t>
            </a:r>
            <a:r>
              <a:rPr lang="en-US" sz="1400" dirty="0" err="1"/>
              <a:t>most_frequent_entity</a:t>
            </a:r>
            <a:r>
              <a:rPr lang="en-US" sz="1400" dirty="0"/>
              <a:t>(entities):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"""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entities: list of entity strings extracted from a single document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returns: most frequent entity string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"""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if not entities: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    return "none"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normalized = [</a:t>
            </a:r>
            <a:r>
              <a:rPr lang="en-US" sz="1400" dirty="0" err="1"/>
              <a:t>e.lower</a:t>
            </a:r>
            <a:r>
              <a:rPr lang="en-US" sz="1400" dirty="0"/>
              <a:t>().strip() for e in entities]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counts = Counter(normalized)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</a:t>
            </a:r>
            <a:r>
              <a:rPr lang="en-US" sz="1400" dirty="0" err="1"/>
              <a:t>most_common_entity</a:t>
            </a:r>
            <a:r>
              <a:rPr lang="en-US" sz="1400" dirty="0"/>
              <a:t> = </a:t>
            </a:r>
            <a:r>
              <a:rPr lang="en-US" sz="1400" dirty="0" err="1"/>
              <a:t>counts.most_common</a:t>
            </a:r>
            <a:r>
              <a:rPr lang="en-US" sz="1400" dirty="0"/>
              <a:t>(1)[0][0]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return </a:t>
            </a:r>
            <a:r>
              <a:rPr lang="en-US" sz="1400" dirty="0" err="1"/>
              <a:t>most_common_entity</a:t>
            </a:r>
            <a:endParaRPr lang="en-US" sz="14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 err="1"/>
              <a:t>primary_labels</a:t>
            </a:r>
            <a:r>
              <a:rPr lang="en-US" sz="1400" dirty="0"/>
              <a:t> = []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14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for ents in </a:t>
            </a:r>
            <a:r>
              <a:rPr lang="en-US" sz="1400" dirty="0" err="1"/>
              <a:t>scispacy_entities_docs</a:t>
            </a:r>
            <a:r>
              <a:rPr lang="en-US" sz="1400" dirty="0"/>
              <a:t>[: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tsne_embedding</a:t>
            </a:r>
            <a:r>
              <a:rPr lang="en-US" sz="1400" dirty="0"/>
              <a:t>)]: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if </a:t>
            </a:r>
            <a:r>
              <a:rPr lang="en-US" sz="1400" dirty="0" err="1"/>
              <a:t>len</a:t>
            </a:r>
            <a:r>
              <a:rPr lang="en-US" sz="1400" dirty="0"/>
              <a:t>(ents) &gt; 0: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    # </a:t>
            </a:r>
            <a:r>
              <a:rPr lang="en-US" sz="1400" dirty="0" err="1"/>
              <a:t>primary_labels.append</a:t>
            </a:r>
            <a:r>
              <a:rPr lang="en-US" sz="1400" dirty="0"/>
              <a:t>(ents[0])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    </a:t>
            </a:r>
            <a:r>
              <a:rPr lang="en-US" sz="1400" dirty="0" err="1"/>
              <a:t>primary_labels.append</a:t>
            </a:r>
            <a:r>
              <a:rPr lang="en-US" sz="1400" dirty="0"/>
              <a:t>(</a:t>
            </a:r>
            <a:r>
              <a:rPr lang="en-US" sz="1400" dirty="0" err="1"/>
              <a:t>most_frequent_entity</a:t>
            </a:r>
            <a:r>
              <a:rPr lang="en-US" sz="1400" dirty="0"/>
              <a:t>(ents))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else: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400" dirty="0"/>
              <a:t>        </a:t>
            </a:r>
            <a:r>
              <a:rPr lang="en-US" sz="1400" dirty="0" err="1"/>
              <a:t>primary_labels.append</a:t>
            </a:r>
            <a:r>
              <a:rPr lang="en-US" sz="1400" dirty="0"/>
              <a:t>("none")</a:t>
            </a:r>
          </a:p>
        </p:txBody>
      </p:sp>
    </p:spTree>
    <p:extLst>
      <p:ext uri="{BB962C8B-B14F-4D97-AF65-F5344CB8AC3E}">
        <p14:creationId xmlns:p14="http://schemas.microsoft.com/office/powerpoint/2010/main" val="40556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D0C81-E65F-FAF6-CE30-E07BCFAA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1F6F3E-826D-F5C6-A0F6-90DA2243F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07F2B9-549C-0C35-B739-772DD9897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8BEAA-1737-1131-1158-3C1316486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8B8134-0DDA-BE01-726C-9981723B3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B7AA02-BA28-98E7-A22D-175A089AB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0B7D35-745B-9DD6-C106-5A47CF145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846F5E-805C-11BD-0C87-9B5CAD51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Observation and Interpretation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12890-5AD5-13F7-FA67-126DBEB13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511388"/>
            <a:ext cx="7387874" cy="61307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The </a:t>
            </a:r>
            <a:r>
              <a:rPr lang="en-US" sz="2600" dirty="0" err="1"/>
              <a:t>BioClinicalBERT</a:t>
            </a:r>
            <a:r>
              <a:rPr lang="en-US" sz="2600" dirty="0"/>
              <a:t> document-level t-SNE plot reveals two major clusters: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Cluster A: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Dominated by generic entities (e.g., “patient”)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Cluster B: 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Dominated by medication-related labels (“tablet”, “daily”)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Prescription and medication reconciliation sections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The clustering is strong and visually distinct.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Unlike entity-level models, </a:t>
            </a:r>
            <a:r>
              <a:rPr lang="en-US" sz="2600" dirty="0" err="1"/>
              <a:t>BioClinicalBERT</a:t>
            </a:r>
            <a:r>
              <a:rPr lang="en-US" sz="2600" dirty="0"/>
              <a:t> captures: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Document-level semantics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Section-level structure</a:t>
            </a:r>
          </a:p>
          <a:p>
            <a:pPr>
              <a:lnSpc>
                <a:spcPct val="100000"/>
              </a:lnSpc>
            </a:pPr>
            <a:r>
              <a:rPr lang="en-US" sz="2600" dirty="0"/>
              <a:t>Embeddings demonstrates strong contextual representation learning</a:t>
            </a:r>
          </a:p>
          <a:p>
            <a:pPr lvl="3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956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D4819-7CC3-2235-9F32-BEF18F116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69A227-6B38-F669-DE37-46F0C5685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D2541-C67D-3FFC-1D46-3D1EF8A6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356997-08AA-8FDF-9510-5FD96F2E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946196-A3BA-2606-1554-055DA10F8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7314859-1C82-2BDD-5D0C-8506AEB10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3DCADA-8701-84ED-31B8-BB3DB4280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5B25F-1FE9-26E6-98CF-B1930EE8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Summary and Model Comparison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1EF29-5841-D86C-D1B2-69488A0A8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85" y="511388"/>
            <a:ext cx="7841566" cy="613071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analysis demonstrates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Domain adaptation significantly improves entity embedding interpretability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Dimensionality reduction techniques (t-SNE, UMAP) effectively reveal latent </a:t>
            </a:r>
            <a:r>
              <a:rPr lang="en-US"/>
              <a:t>clinical organization</a:t>
            </a:r>
            <a:endParaRPr lang="en-US" dirty="0"/>
          </a:p>
          <a:p>
            <a:pPr lvl="2"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/>
              <a:t>Model comparison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spaCy</a:t>
            </a:r>
            <a:r>
              <a:rPr lang="en-US" dirty="0"/>
              <a:t> lacks domain specificity and produces noisy clusters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sciSpaCy</a:t>
            </a:r>
            <a:r>
              <a:rPr lang="en-US" dirty="0"/>
              <a:t> improves biomedical coherence significantly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medSpaCy</a:t>
            </a:r>
            <a:r>
              <a:rPr lang="en-US" dirty="0"/>
              <a:t> provides the cleanest and most clinically meaningful entity clustering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BioClinicalBERT</a:t>
            </a:r>
            <a:r>
              <a:rPr lang="en-US" dirty="0"/>
              <a:t> captures high-level document semantics rather than entity similarity.</a:t>
            </a:r>
          </a:p>
        </p:txBody>
      </p:sp>
    </p:spTree>
    <p:extLst>
      <p:ext uri="{BB962C8B-B14F-4D97-AF65-F5344CB8AC3E}">
        <p14:creationId xmlns:p14="http://schemas.microsoft.com/office/powerpoint/2010/main" val="761294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6CD72-38D4-9A0D-63FA-48647767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506B71-F236-0AF9-3C79-9F4934F1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7F1CC-220E-CEB0-27EF-D01490AD2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C33EC4-7F58-D978-68FA-B8F052CA5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29979-0C96-1F67-2E0C-8C26478C8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883AD8-8C4F-484D-699F-BE2159A7A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050C1B-E8DE-D5C6-7F90-33C87373B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BA384-FA91-58AA-1251-07D20685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Comparison Chart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5BE13-7E5E-BC85-4800-C556A98F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451" y="511388"/>
            <a:ext cx="7387874" cy="6130712"/>
          </a:xfrm>
        </p:spPr>
        <p:txBody>
          <a:bodyPr>
            <a:normAutofit/>
          </a:bodyPr>
          <a:lstStyle/>
          <a:p>
            <a:pPr lvl="3">
              <a:lnSpc>
                <a:spcPct val="100000"/>
              </a:lnSpc>
            </a:pPr>
            <a:endParaRPr lang="en-US"/>
          </a:p>
          <a:p>
            <a:pPr lvl="1">
              <a:lnSpc>
                <a:spcPct val="100000"/>
              </a:lnSpc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3B47E8-9A1F-3138-467D-183F88FBA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043759"/>
              </p:ext>
            </p:extLst>
          </p:nvPr>
        </p:nvGraphicFramePr>
        <p:xfrm>
          <a:off x="4170776" y="850054"/>
          <a:ext cx="770455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777">
                  <a:extLst>
                    <a:ext uri="{9D8B030D-6E8A-4147-A177-3AD203B41FA5}">
                      <a16:colId xmlns:a16="http://schemas.microsoft.com/office/drawing/2014/main" val="372638566"/>
                    </a:ext>
                  </a:extLst>
                </a:gridCol>
                <a:gridCol w="1029447">
                  <a:extLst>
                    <a:ext uri="{9D8B030D-6E8A-4147-A177-3AD203B41FA5}">
                      <a16:colId xmlns:a16="http://schemas.microsoft.com/office/drawing/2014/main" val="1301737018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1875132047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4294694648"/>
                    </a:ext>
                  </a:extLst>
                </a:gridCol>
                <a:gridCol w="2274126">
                  <a:extLst>
                    <a:ext uri="{9D8B030D-6E8A-4147-A177-3AD203B41FA5}">
                      <a16:colId xmlns:a16="http://schemas.microsoft.com/office/drawing/2014/main" val="1477559924"/>
                    </a:ext>
                  </a:extLst>
                </a:gridCol>
              </a:tblGrid>
              <a:tr h="265006">
                <a:tc>
                  <a:txBody>
                    <a:bodyPr/>
                    <a:lstStyle/>
                    <a:p>
                      <a:r>
                        <a:rPr lang="en-US"/>
                        <a:t>Aspect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spaCy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scispaCy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medspaCy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BioClinicalBERT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0671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Entity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735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1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Embedding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Contextual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01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Context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41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Cluster Clinical 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(document-level)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549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52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5379</TotalTime>
  <Words>1896</Words>
  <Application>Microsoft Macintosh PowerPoint</Application>
  <PresentationFormat>Widescreen</PresentationFormat>
  <Paragraphs>334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Semantic Visualization of Acute Myocardial Infarction (AMI) Clinical Notes Using NLP Models</vt:lpstr>
      <vt:lpstr>Objective</vt:lpstr>
      <vt:lpstr>Generate AMI Cohort</vt:lpstr>
      <vt:lpstr>NER and  Embeddings </vt:lpstr>
      <vt:lpstr>Initial Set Up in Jupyter Notebook</vt:lpstr>
      <vt:lpstr>Charts produced</vt:lpstr>
      <vt:lpstr>01. tSNE Plot for spaCy Entity Embeddings</vt:lpstr>
      <vt:lpstr>NER and Word2Vec in spaCy</vt:lpstr>
      <vt:lpstr>Code</vt:lpstr>
      <vt:lpstr>Observation and Interpretation</vt:lpstr>
      <vt:lpstr>02. UMAP Plot for spaCy Entity Embeddings</vt:lpstr>
      <vt:lpstr>Observation and Interpretation</vt:lpstr>
      <vt:lpstr>03. tSNE Plot for scispaCy Entity Embeddings</vt:lpstr>
      <vt:lpstr>NER and Word2Vec used in scispaCy</vt:lpstr>
      <vt:lpstr>Code</vt:lpstr>
      <vt:lpstr>Observation and Interpretation</vt:lpstr>
      <vt:lpstr>02. UMAP Plot for scispaCy Entity Embeddings</vt:lpstr>
      <vt:lpstr>Observation and Interpretation</vt:lpstr>
      <vt:lpstr>05. tSNE Plot for medspaCy Entity Embeddings</vt:lpstr>
      <vt:lpstr>NER and Word2Vec used in medspaCy</vt:lpstr>
      <vt:lpstr>Code</vt:lpstr>
      <vt:lpstr>Observation and Interpretation</vt:lpstr>
      <vt:lpstr>06. UMAP Plot for medspaCy Entity Embeddings</vt:lpstr>
      <vt:lpstr>Observation and Interpretation</vt:lpstr>
      <vt:lpstr>07. tSNE Plot for BioClinialBERT Embeddings</vt:lpstr>
      <vt:lpstr>NER and Embeddings</vt:lpstr>
      <vt:lpstr>Code</vt:lpstr>
      <vt:lpstr>Code</vt:lpstr>
      <vt:lpstr>Observation and Interpretation</vt:lpstr>
      <vt:lpstr>Summary and Model Comparison</vt:lpstr>
      <vt:lpstr>Comparison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Sritama Paul</dc:creator>
  <cp:lastModifiedBy>Sritama Paul</cp:lastModifiedBy>
  <cp:revision>33</cp:revision>
  <dcterms:created xsi:type="dcterms:W3CDTF">2026-02-07T20:48:50Z</dcterms:created>
  <dcterms:modified xsi:type="dcterms:W3CDTF">2026-03-02T08:47:46Z</dcterms:modified>
</cp:coreProperties>
</file>