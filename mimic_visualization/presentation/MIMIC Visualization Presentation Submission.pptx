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89" r:id="rId4"/>
    <p:sldId id="262" r:id="rId5"/>
    <p:sldId id="260" r:id="rId6"/>
    <p:sldId id="268" r:id="rId7"/>
    <p:sldId id="287" r:id="rId8"/>
    <p:sldId id="265" r:id="rId9"/>
    <p:sldId id="266" r:id="rId10"/>
    <p:sldId id="269" r:id="rId11"/>
    <p:sldId id="267" r:id="rId12"/>
    <p:sldId id="270" r:id="rId13"/>
    <p:sldId id="271" r:id="rId14"/>
    <p:sldId id="288" r:id="rId15"/>
    <p:sldId id="272" r:id="rId16"/>
    <p:sldId id="273" r:id="rId17"/>
    <p:sldId id="290" r:id="rId18"/>
    <p:sldId id="274" r:id="rId19"/>
    <p:sldId id="275" r:id="rId20"/>
    <p:sldId id="280" r:id="rId21"/>
    <p:sldId id="277" r:id="rId22"/>
    <p:sldId id="291" r:id="rId23"/>
    <p:sldId id="281" r:id="rId24"/>
    <p:sldId id="282" r:id="rId25"/>
    <p:sldId id="283" r:id="rId26"/>
    <p:sldId id="284" r:id="rId27"/>
    <p:sldId id="285" r:id="rId28"/>
    <p:sldId id="286" r:id="rId29"/>
    <p:sldId id="29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6B7261B-90C0-AF4C-8703-AE1CF5EFB13A}">
          <p14:sldIdLst>
            <p14:sldId id="256"/>
            <p14:sldId id="258"/>
            <p14:sldId id="289"/>
          </p14:sldIdLst>
        </p14:section>
        <p14:section name="Chart 1" id="{E7068AD0-5076-3342-8605-1F7B6914AB94}">
          <p14:sldIdLst>
            <p14:sldId id="262"/>
            <p14:sldId id="260"/>
            <p14:sldId id="268"/>
            <p14:sldId id="287"/>
          </p14:sldIdLst>
        </p14:section>
        <p14:section name="Chart 2" id="{5E10FF2F-4BAF-2347-B786-276FE648B453}">
          <p14:sldIdLst>
            <p14:sldId id="265"/>
            <p14:sldId id="266"/>
            <p14:sldId id="269"/>
          </p14:sldIdLst>
        </p14:section>
        <p14:section name="Chart 3" id="{BA96CA30-FAE8-324D-A57D-F0CB494DFEE6}">
          <p14:sldIdLst>
            <p14:sldId id="267"/>
            <p14:sldId id="270"/>
            <p14:sldId id="271"/>
            <p14:sldId id="288"/>
          </p14:sldIdLst>
        </p14:section>
        <p14:section name="Chart 4" id="{EBFFC9DC-67A7-B94C-A55C-0FDC7DBFA7F5}">
          <p14:sldIdLst>
            <p14:sldId id="272"/>
            <p14:sldId id="273"/>
            <p14:sldId id="290"/>
            <p14:sldId id="274"/>
          </p14:sldIdLst>
        </p14:section>
        <p14:section name="Chart 5" id="{E5045EAC-370F-054F-B145-9824B10410AC}">
          <p14:sldIdLst>
            <p14:sldId id="275"/>
            <p14:sldId id="280"/>
            <p14:sldId id="277"/>
            <p14:sldId id="291"/>
          </p14:sldIdLst>
        </p14:section>
        <p14:section name="Chart 6" id="{51D334E3-DF97-B447-BB50-7247A7FAF220}">
          <p14:sldIdLst>
            <p14:sldId id="281"/>
            <p14:sldId id="282"/>
            <p14:sldId id="283"/>
          </p14:sldIdLst>
        </p14:section>
        <p14:section name="Chart 7" id="{41112CBB-EF27-A54A-B939-0EB22B9C3FFA}">
          <p14:sldIdLst>
            <p14:sldId id="284"/>
            <p14:sldId id="285"/>
            <p14:sldId id="286"/>
            <p14:sldId id="29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327B6C-2DF8-4FCF-8080-FD0B8CAD889A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E32F696-47D6-43BF-B064-FE199A6B6DFF}">
      <dgm:prSet/>
      <dgm:spPr/>
      <dgm:t>
        <a:bodyPr/>
        <a:lstStyle/>
        <a:p>
          <a:r>
            <a:rPr lang="en-US" dirty="0"/>
            <a:t>Data used : </a:t>
          </a:r>
          <a:r>
            <a:rPr lang="en-US" dirty="0" err="1"/>
            <a:t>PATIENTS.csv</a:t>
          </a:r>
          <a:r>
            <a:rPr lang="en-US" dirty="0"/>
            <a:t> dataset </a:t>
          </a:r>
        </a:p>
      </dgm:t>
    </dgm:pt>
    <dgm:pt modelId="{1264ABD0-99BB-446B-8E4D-CC06B466E953}" type="parTrans" cxnId="{15ADA764-488C-4102-82AD-BF4E45DD90A0}">
      <dgm:prSet/>
      <dgm:spPr/>
      <dgm:t>
        <a:bodyPr/>
        <a:lstStyle/>
        <a:p>
          <a:endParaRPr lang="en-US"/>
        </a:p>
      </dgm:t>
    </dgm:pt>
    <dgm:pt modelId="{F60EE35C-19EB-438B-A823-C98BA4E48206}" type="sibTrans" cxnId="{15ADA764-488C-4102-82AD-BF4E45DD90A0}">
      <dgm:prSet/>
      <dgm:spPr/>
      <dgm:t>
        <a:bodyPr/>
        <a:lstStyle/>
        <a:p>
          <a:endParaRPr lang="en-US"/>
        </a:p>
      </dgm:t>
    </dgm:pt>
    <dgm:pt modelId="{97FAEA82-0130-4A56-B926-F15BD13279A0}">
      <dgm:prSet/>
      <dgm:spPr/>
      <dgm:t>
        <a:bodyPr/>
        <a:lstStyle/>
        <a:p>
          <a:r>
            <a:rPr lang="en-US"/>
            <a:t>Steps </a:t>
          </a:r>
        </a:p>
      </dgm:t>
    </dgm:pt>
    <dgm:pt modelId="{960710EC-77F5-48E8-87E9-D1C329FCA49D}" type="parTrans" cxnId="{81493990-D85A-4F35-A6A4-6F35CDE864F9}">
      <dgm:prSet/>
      <dgm:spPr/>
      <dgm:t>
        <a:bodyPr/>
        <a:lstStyle/>
        <a:p>
          <a:endParaRPr lang="en-US"/>
        </a:p>
      </dgm:t>
    </dgm:pt>
    <dgm:pt modelId="{D58EBBCF-21D8-4D0C-A83E-CBF2DAC83EAA}" type="sibTrans" cxnId="{81493990-D85A-4F35-A6A4-6F35CDE864F9}">
      <dgm:prSet/>
      <dgm:spPr/>
      <dgm:t>
        <a:bodyPr/>
        <a:lstStyle/>
        <a:p>
          <a:endParaRPr lang="en-US"/>
        </a:p>
      </dgm:t>
    </dgm:pt>
    <dgm:pt modelId="{1C41598C-C5A5-4E4D-B533-977192AD2061}">
      <dgm:prSet/>
      <dgm:spPr/>
      <dgm:t>
        <a:bodyPr/>
        <a:lstStyle/>
        <a:p>
          <a:r>
            <a:rPr lang="en-US"/>
            <a:t>Calculate the patients age (filter for patients with age &lt; 120 years)</a:t>
          </a:r>
        </a:p>
      </dgm:t>
    </dgm:pt>
    <dgm:pt modelId="{8CC1C07B-8734-4B25-A142-4A4C99A0D94F}" type="parTrans" cxnId="{00C48C7E-41D0-4CA0-9700-560C1DC5B878}">
      <dgm:prSet/>
      <dgm:spPr/>
      <dgm:t>
        <a:bodyPr/>
        <a:lstStyle/>
        <a:p>
          <a:endParaRPr lang="en-US"/>
        </a:p>
      </dgm:t>
    </dgm:pt>
    <dgm:pt modelId="{268FCAF0-BA3A-429B-A637-C3A8E6A04B36}" type="sibTrans" cxnId="{00C48C7E-41D0-4CA0-9700-560C1DC5B878}">
      <dgm:prSet/>
      <dgm:spPr/>
      <dgm:t>
        <a:bodyPr/>
        <a:lstStyle/>
        <a:p>
          <a:endParaRPr lang="en-US"/>
        </a:p>
      </dgm:t>
    </dgm:pt>
    <dgm:pt modelId="{68A18F85-B9F4-4175-BA8E-FC28DE51E1D6}">
      <dgm:prSet/>
      <dgm:spPr/>
      <dgm:t>
        <a:bodyPr/>
        <a:lstStyle/>
        <a:p>
          <a:r>
            <a:rPr lang="en-US" dirty="0"/>
            <a:t>Ages are grouped into ranges (e.g., 50–54, 55–59, …). </a:t>
          </a:r>
        </a:p>
      </dgm:t>
    </dgm:pt>
    <dgm:pt modelId="{FAD084B9-EA09-4E8A-840D-58E66F9B2E74}" type="parTrans" cxnId="{8B3AE8B1-9885-4E02-A61E-4FDA3E9FD844}">
      <dgm:prSet/>
      <dgm:spPr/>
      <dgm:t>
        <a:bodyPr/>
        <a:lstStyle/>
        <a:p>
          <a:endParaRPr lang="en-US"/>
        </a:p>
      </dgm:t>
    </dgm:pt>
    <dgm:pt modelId="{E62902A8-72D2-48C9-8AF4-52D335548B5F}" type="sibTrans" cxnId="{8B3AE8B1-9885-4E02-A61E-4FDA3E9FD844}">
      <dgm:prSet/>
      <dgm:spPr/>
      <dgm:t>
        <a:bodyPr/>
        <a:lstStyle/>
        <a:p>
          <a:endParaRPr lang="en-US"/>
        </a:p>
      </dgm:t>
    </dgm:pt>
    <dgm:pt modelId="{BB7D9B60-D712-417A-918B-F6D3B042B000}">
      <dgm:prSet/>
      <dgm:spPr/>
      <dgm:t>
        <a:bodyPr/>
        <a:lstStyle/>
        <a:p>
          <a:r>
            <a:rPr lang="en-US" dirty="0"/>
            <a:t>Count the number of Male and Female patients in each age group</a:t>
          </a:r>
        </a:p>
      </dgm:t>
    </dgm:pt>
    <dgm:pt modelId="{C070CD26-C8E2-4BB3-9931-07A77A9B894D}" type="parTrans" cxnId="{06295CAF-B3CE-465F-8B6D-30DA1FD1F7A3}">
      <dgm:prSet/>
      <dgm:spPr/>
      <dgm:t>
        <a:bodyPr/>
        <a:lstStyle/>
        <a:p>
          <a:endParaRPr lang="en-US"/>
        </a:p>
      </dgm:t>
    </dgm:pt>
    <dgm:pt modelId="{4723A0AA-48BD-42C6-87C5-5A9849AC7480}" type="sibTrans" cxnId="{06295CAF-B3CE-465F-8B6D-30DA1FD1F7A3}">
      <dgm:prSet/>
      <dgm:spPr/>
      <dgm:t>
        <a:bodyPr/>
        <a:lstStyle/>
        <a:p>
          <a:endParaRPr lang="en-US"/>
        </a:p>
      </dgm:t>
    </dgm:pt>
    <dgm:pt modelId="{F107A699-294D-6446-8467-E82BA431B2D1}">
      <dgm:prSet/>
      <dgm:spPr/>
      <dgm:t>
        <a:bodyPr/>
        <a:lstStyle/>
        <a:p>
          <a:r>
            <a:rPr lang="en-US" dirty="0"/>
            <a:t>A horizontal bar chart is plotted with males on one side (negative values) and females on the other.</a:t>
          </a:r>
        </a:p>
      </dgm:t>
    </dgm:pt>
    <dgm:pt modelId="{2950972B-BB19-154D-AFEF-33096D82A3B3}" type="parTrans" cxnId="{44F89CF1-8C96-E849-98F8-E26E30255DF5}">
      <dgm:prSet/>
      <dgm:spPr/>
      <dgm:t>
        <a:bodyPr/>
        <a:lstStyle/>
        <a:p>
          <a:endParaRPr lang="en-US"/>
        </a:p>
      </dgm:t>
    </dgm:pt>
    <dgm:pt modelId="{3FEB389D-F2D2-6340-8AE4-33A596FE8FAE}" type="sibTrans" cxnId="{44F89CF1-8C96-E849-98F8-E26E30255DF5}">
      <dgm:prSet/>
      <dgm:spPr/>
      <dgm:t>
        <a:bodyPr/>
        <a:lstStyle/>
        <a:p>
          <a:endParaRPr lang="en-US"/>
        </a:p>
      </dgm:t>
    </dgm:pt>
    <dgm:pt modelId="{9AEF45B7-1D05-B843-95C0-2E48D15C4856}" type="pres">
      <dgm:prSet presAssocID="{99327B6C-2DF8-4FCF-8080-FD0B8CAD889A}" presName="linear" presStyleCnt="0">
        <dgm:presLayoutVars>
          <dgm:dir/>
          <dgm:animLvl val="lvl"/>
          <dgm:resizeHandles val="exact"/>
        </dgm:presLayoutVars>
      </dgm:prSet>
      <dgm:spPr/>
    </dgm:pt>
    <dgm:pt modelId="{AC360863-1BED-6B41-8602-627C97E95503}" type="pres">
      <dgm:prSet presAssocID="{DE32F696-47D6-43BF-B064-FE199A6B6DFF}" presName="parentLin" presStyleCnt="0"/>
      <dgm:spPr/>
    </dgm:pt>
    <dgm:pt modelId="{428776DF-7C61-5B42-85F6-A71229B10ECB}" type="pres">
      <dgm:prSet presAssocID="{DE32F696-47D6-43BF-B064-FE199A6B6DFF}" presName="parentLeftMargin" presStyleLbl="node1" presStyleIdx="0" presStyleCnt="2"/>
      <dgm:spPr/>
    </dgm:pt>
    <dgm:pt modelId="{FFA54353-AEB8-8742-9FD2-0BF1D13A9CFB}" type="pres">
      <dgm:prSet presAssocID="{DE32F696-47D6-43BF-B064-FE199A6B6DF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CB1DBC-2129-624B-87A8-6703314D65A3}" type="pres">
      <dgm:prSet presAssocID="{DE32F696-47D6-43BF-B064-FE199A6B6DFF}" presName="negativeSpace" presStyleCnt="0"/>
      <dgm:spPr/>
    </dgm:pt>
    <dgm:pt modelId="{C7E25028-E3FC-D04D-BB4A-DE72A50FF8BC}" type="pres">
      <dgm:prSet presAssocID="{DE32F696-47D6-43BF-B064-FE199A6B6DFF}" presName="childText" presStyleLbl="conFgAcc1" presStyleIdx="0" presStyleCnt="2">
        <dgm:presLayoutVars>
          <dgm:bulletEnabled val="1"/>
        </dgm:presLayoutVars>
      </dgm:prSet>
      <dgm:spPr/>
    </dgm:pt>
    <dgm:pt modelId="{002BD261-98A9-684E-A0F3-21D4E5020A91}" type="pres">
      <dgm:prSet presAssocID="{F60EE35C-19EB-438B-A823-C98BA4E48206}" presName="spaceBetweenRectangles" presStyleCnt="0"/>
      <dgm:spPr/>
    </dgm:pt>
    <dgm:pt modelId="{60B01A9C-E846-A246-8555-91AD5625696E}" type="pres">
      <dgm:prSet presAssocID="{97FAEA82-0130-4A56-B926-F15BD13279A0}" presName="parentLin" presStyleCnt="0"/>
      <dgm:spPr/>
    </dgm:pt>
    <dgm:pt modelId="{61EDA9B9-FEE0-7745-A630-EB71FA1452E3}" type="pres">
      <dgm:prSet presAssocID="{97FAEA82-0130-4A56-B926-F15BD13279A0}" presName="parentLeftMargin" presStyleLbl="node1" presStyleIdx="0" presStyleCnt="2"/>
      <dgm:spPr/>
    </dgm:pt>
    <dgm:pt modelId="{FACD41D5-8B02-7E48-80D4-00157B7C2A09}" type="pres">
      <dgm:prSet presAssocID="{97FAEA82-0130-4A56-B926-F15BD13279A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1102CC6-99F5-4A4A-859C-D1D2280F9BD5}" type="pres">
      <dgm:prSet presAssocID="{97FAEA82-0130-4A56-B926-F15BD13279A0}" presName="negativeSpace" presStyleCnt="0"/>
      <dgm:spPr/>
    </dgm:pt>
    <dgm:pt modelId="{773E713E-BE04-4D4B-9432-D06F65D97511}" type="pres">
      <dgm:prSet presAssocID="{97FAEA82-0130-4A56-B926-F15BD13279A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5FFB53B-5527-784F-BFEC-64A909AFC845}" type="presOf" srcId="{68A18F85-B9F4-4175-BA8E-FC28DE51E1D6}" destId="{773E713E-BE04-4D4B-9432-D06F65D97511}" srcOrd="0" destOrd="1" presId="urn:microsoft.com/office/officeart/2005/8/layout/list1"/>
    <dgm:cxn modelId="{17848046-4602-6D4B-98FB-1781B34705D9}" type="presOf" srcId="{99327B6C-2DF8-4FCF-8080-FD0B8CAD889A}" destId="{9AEF45B7-1D05-B843-95C0-2E48D15C4856}" srcOrd="0" destOrd="0" presId="urn:microsoft.com/office/officeart/2005/8/layout/list1"/>
    <dgm:cxn modelId="{15ADA764-488C-4102-82AD-BF4E45DD90A0}" srcId="{99327B6C-2DF8-4FCF-8080-FD0B8CAD889A}" destId="{DE32F696-47D6-43BF-B064-FE199A6B6DFF}" srcOrd="0" destOrd="0" parTransId="{1264ABD0-99BB-446B-8E4D-CC06B466E953}" sibTransId="{F60EE35C-19EB-438B-A823-C98BA4E48206}"/>
    <dgm:cxn modelId="{3895366B-5B0A-BB43-903B-C80E8146B5EB}" type="presOf" srcId="{97FAEA82-0130-4A56-B926-F15BD13279A0}" destId="{FACD41D5-8B02-7E48-80D4-00157B7C2A09}" srcOrd="1" destOrd="0" presId="urn:microsoft.com/office/officeart/2005/8/layout/list1"/>
    <dgm:cxn modelId="{1EDC2976-9D90-6C42-A8DE-CDBCACBD0BEC}" type="presOf" srcId="{DE32F696-47D6-43BF-B064-FE199A6B6DFF}" destId="{428776DF-7C61-5B42-85F6-A71229B10ECB}" srcOrd="0" destOrd="0" presId="urn:microsoft.com/office/officeart/2005/8/layout/list1"/>
    <dgm:cxn modelId="{00C48C7E-41D0-4CA0-9700-560C1DC5B878}" srcId="{97FAEA82-0130-4A56-B926-F15BD13279A0}" destId="{1C41598C-C5A5-4E4D-B533-977192AD2061}" srcOrd="0" destOrd="0" parTransId="{8CC1C07B-8734-4B25-A142-4A4C99A0D94F}" sibTransId="{268FCAF0-BA3A-429B-A637-C3A8E6A04B36}"/>
    <dgm:cxn modelId="{81493990-D85A-4F35-A6A4-6F35CDE864F9}" srcId="{99327B6C-2DF8-4FCF-8080-FD0B8CAD889A}" destId="{97FAEA82-0130-4A56-B926-F15BD13279A0}" srcOrd="1" destOrd="0" parTransId="{960710EC-77F5-48E8-87E9-D1C329FCA49D}" sibTransId="{D58EBBCF-21D8-4D0C-A83E-CBF2DAC83EAA}"/>
    <dgm:cxn modelId="{64053294-BD3F-C944-BFA7-5328E9F4728D}" type="presOf" srcId="{BB7D9B60-D712-417A-918B-F6D3B042B000}" destId="{773E713E-BE04-4D4B-9432-D06F65D97511}" srcOrd="0" destOrd="2" presId="urn:microsoft.com/office/officeart/2005/8/layout/list1"/>
    <dgm:cxn modelId="{965450A3-B25D-2545-BD2A-28D06A1A2940}" type="presOf" srcId="{F107A699-294D-6446-8467-E82BA431B2D1}" destId="{773E713E-BE04-4D4B-9432-D06F65D97511}" srcOrd="0" destOrd="3" presId="urn:microsoft.com/office/officeart/2005/8/layout/list1"/>
    <dgm:cxn modelId="{FFCF75AE-BB79-D84D-880C-3A729ED73CF4}" type="presOf" srcId="{97FAEA82-0130-4A56-B926-F15BD13279A0}" destId="{61EDA9B9-FEE0-7745-A630-EB71FA1452E3}" srcOrd="0" destOrd="0" presId="urn:microsoft.com/office/officeart/2005/8/layout/list1"/>
    <dgm:cxn modelId="{06295CAF-B3CE-465F-8B6D-30DA1FD1F7A3}" srcId="{97FAEA82-0130-4A56-B926-F15BD13279A0}" destId="{BB7D9B60-D712-417A-918B-F6D3B042B000}" srcOrd="2" destOrd="0" parTransId="{C070CD26-C8E2-4BB3-9931-07A77A9B894D}" sibTransId="{4723A0AA-48BD-42C6-87C5-5A9849AC7480}"/>
    <dgm:cxn modelId="{8B3AE8B1-9885-4E02-A61E-4FDA3E9FD844}" srcId="{97FAEA82-0130-4A56-B926-F15BD13279A0}" destId="{68A18F85-B9F4-4175-BA8E-FC28DE51E1D6}" srcOrd="1" destOrd="0" parTransId="{FAD084B9-EA09-4E8A-840D-58E66F9B2E74}" sibTransId="{E62902A8-72D2-48C9-8AF4-52D335548B5F}"/>
    <dgm:cxn modelId="{F5E6B5BA-D128-B742-B0B9-CFD59487C261}" type="presOf" srcId="{1C41598C-C5A5-4E4D-B533-977192AD2061}" destId="{773E713E-BE04-4D4B-9432-D06F65D97511}" srcOrd="0" destOrd="0" presId="urn:microsoft.com/office/officeart/2005/8/layout/list1"/>
    <dgm:cxn modelId="{44F89CF1-8C96-E849-98F8-E26E30255DF5}" srcId="{97FAEA82-0130-4A56-B926-F15BD13279A0}" destId="{F107A699-294D-6446-8467-E82BA431B2D1}" srcOrd="3" destOrd="0" parTransId="{2950972B-BB19-154D-AFEF-33096D82A3B3}" sibTransId="{3FEB389D-F2D2-6340-8AE4-33A596FE8FAE}"/>
    <dgm:cxn modelId="{C30D87F9-46CA-CC4C-B86C-B1896EF25041}" type="presOf" srcId="{DE32F696-47D6-43BF-B064-FE199A6B6DFF}" destId="{FFA54353-AEB8-8742-9FD2-0BF1D13A9CFB}" srcOrd="1" destOrd="0" presId="urn:microsoft.com/office/officeart/2005/8/layout/list1"/>
    <dgm:cxn modelId="{2F6E0671-0590-4A47-8D36-77DF3D373B9C}" type="presParOf" srcId="{9AEF45B7-1D05-B843-95C0-2E48D15C4856}" destId="{AC360863-1BED-6B41-8602-627C97E95503}" srcOrd="0" destOrd="0" presId="urn:microsoft.com/office/officeart/2005/8/layout/list1"/>
    <dgm:cxn modelId="{B2DF6624-2775-BB41-AAC9-D6805D69C748}" type="presParOf" srcId="{AC360863-1BED-6B41-8602-627C97E95503}" destId="{428776DF-7C61-5B42-85F6-A71229B10ECB}" srcOrd="0" destOrd="0" presId="urn:microsoft.com/office/officeart/2005/8/layout/list1"/>
    <dgm:cxn modelId="{7A509A62-0E76-2545-A6E5-509704665474}" type="presParOf" srcId="{AC360863-1BED-6B41-8602-627C97E95503}" destId="{FFA54353-AEB8-8742-9FD2-0BF1D13A9CFB}" srcOrd="1" destOrd="0" presId="urn:microsoft.com/office/officeart/2005/8/layout/list1"/>
    <dgm:cxn modelId="{699A63D2-AB87-3044-BB42-65A20A3B33F8}" type="presParOf" srcId="{9AEF45B7-1D05-B843-95C0-2E48D15C4856}" destId="{61CB1DBC-2129-624B-87A8-6703314D65A3}" srcOrd="1" destOrd="0" presId="urn:microsoft.com/office/officeart/2005/8/layout/list1"/>
    <dgm:cxn modelId="{F3568F9C-8BEC-0244-AC19-A4BDF104790F}" type="presParOf" srcId="{9AEF45B7-1D05-B843-95C0-2E48D15C4856}" destId="{C7E25028-E3FC-D04D-BB4A-DE72A50FF8BC}" srcOrd="2" destOrd="0" presId="urn:microsoft.com/office/officeart/2005/8/layout/list1"/>
    <dgm:cxn modelId="{27EACDED-0F6C-3F46-8E98-714BD0BB268B}" type="presParOf" srcId="{9AEF45B7-1D05-B843-95C0-2E48D15C4856}" destId="{002BD261-98A9-684E-A0F3-21D4E5020A91}" srcOrd="3" destOrd="0" presId="urn:microsoft.com/office/officeart/2005/8/layout/list1"/>
    <dgm:cxn modelId="{D8EB7A98-0766-424E-80B8-A3B3C2D54F34}" type="presParOf" srcId="{9AEF45B7-1D05-B843-95C0-2E48D15C4856}" destId="{60B01A9C-E846-A246-8555-91AD5625696E}" srcOrd="4" destOrd="0" presId="urn:microsoft.com/office/officeart/2005/8/layout/list1"/>
    <dgm:cxn modelId="{564E8DF0-3D3F-4446-B313-F63205957029}" type="presParOf" srcId="{60B01A9C-E846-A246-8555-91AD5625696E}" destId="{61EDA9B9-FEE0-7745-A630-EB71FA1452E3}" srcOrd="0" destOrd="0" presId="urn:microsoft.com/office/officeart/2005/8/layout/list1"/>
    <dgm:cxn modelId="{B48C1E5A-8A1F-7D46-9CCC-2549C7C84A0C}" type="presParOf" srcId="{60B01A9C-E846-A246-8555-91AD5625696E}" destId="{FACD41D5-8B02-7E48-80D4-00157B7C2A09}" srcOrd="1" destOrd="0" presId="urn:microsoft.com/office/officeart/2005/8/layout/list1"/>
    <dgm:cxn modelId="{AF0DD771-429B-0841-9255-15C4ABA132F7}" type="presParOf" srcId="{9AEF45B7-1D05-B843-95C0-2E48D15C4856}" destId="{B1102CC6-99F5-4A4A-859C-D1D2280F9BD5}" srcOrd="5" destOrd="0" presId="urn:microsoft.com/office/officeart/2005/8/layout/list1"/>
    <dgm:cxn modelId="{95BC7DFF-2B12-134A-919C-1A2C6A66267B}" type="presParOf" srcId="{9AEF45B7-1D05-B843-95C0-2E48D15C4856}" destId="{773E713E-BE04-4D4B-9432-D06F65D9751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327B6C-2DF8-4FCF-8080-FD0B8CAD889A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E32F696-47D6-43BF-B064-FE199A6B6DFF}">
      <dgm:prSet/>
      <dgm:spPr/>
      <dgm:t>
        <a:bodyPr/>
        <a:lstStyle/>
        <a:p>
          <a:r>
            <a:rPr lang="en-US" dirty="0"/>
            <a:t>Data used : </a:t>
          </a:r>
          <a:r>
            <a:rPr lang="en-US" dirty="0" err="1"/>
            <a:t>ADMISSIONS.csv</a:t>
          </a:r>
          <a:r>
            <a:rPr lang="en-US" dirty="0"/>
            <a:t> dataset </a:t>
          </a:r>
        </a:p>
      </dgm:t>
    </dgm:pt>
    <dgm:pt modelId="{1264ABD0-99BB-446B-8E4D-CC06B466E953}" type="parTrans" cxnId="{15ADA764-488C-4102-82AD-BF4E45DD90A0}">
      <dgm:prSet/>
      <dgm:spPr/>
      <dgm:t>
        <a:bodyPr/>
        <a:lstStyle/>
        <a:p>
          <a:endParaRPr lang="en-US"/>
        </a:p>
      </dgm:t>
    </dgm:pt>
    <dgm:pt modelId="{F60EE35C-19EB-438B-A823-C98BA4E48206}" type="sibTrans" cxnId="{15ADA764-488C-4102-82AD-BF4E45DD90A0}">
      <dgm:prSet/>
      <dgm:spPr/>
      <dgm:t>
        <a:bodyPr/>
        <a:lstStyle/>
        <a:p>
          <a:endParaRPr lang="en-US"/>
        </a:p>
      </dgm:t>
    </dgm:pt>
    <dgm:pt modelId="{97FAEA82-0130-4A56-B926-F15BD13279A0}">
      <dgm:prSet/>
      <dgm:spPr/>
      <dgm:t>
        <a:bodyPr/>
        <a:lstStyle/>
        <a:p>
          <a:r>
            <a:rPr lang="en-US"/>
            <a:t>Steps </a:t>
          </a:r>
        </a:p>
      </dgm:t>
    </dgm:pt>
    <dgm:pt modelId="{960710EC-77F5-48E8-87E9-D1C329FCA49D}" type="parTrans" cxnId="{81493990-D85A-4F35-A6A4-6F35CDE864F9}">
      <dgm:prSet/>
      <dgm:spPr/>
      <dgm:t>
        <a:bodyPr/>
        <a:lstStyle/>
        <a:p>
          <a:endParaRPr lang="en-US"/>
        </a:p>
      </dgm:t>
    </dgm:pt>
    <dgm:pt modelId="{D58EBBCF-21D8-4D0C-A83E-CBF2DAC83EAA}" type="sibTrans" cxnId="{81493990-D85A-4F35-A6A4-6F35CDE864F9}">
      <dgm:prSet/>
      <dgm:spPr/>
      <dgm:t>
        <a:bodyPr/>
        <a:lstStyle/>
        <a:p>
          <a:endParaRPr lang="en-US"/>
        </a:p>
      </dgm:t>
    </dgm:pt>
    <dgm:pt modelId="{1C41598C-C5A5-4E4D-B533-977192AD2061}">
      <dgm:prSet/>
      <dgm:spPr/>
      <dgm:t>
        <a:bodyPr/>
        <a:lstStyle/>
        <a:p>
          <a:r>
            <a:rPr lang="en-US" dirty="0"/>
            <a:t>Admission timestamps are extracted into day of week and hour of day.</a:t>
          </a:r>
        </a:p>
      </dgm:t>
    </dgm:pt>
    <dgm:pt modelId="{8CC1C07B-8734-4B25-A142-4A4C99A0D94F}" type="parTrans" cxnId="{00C48C7E-41D0-4CA0-9700-560C1DC5B878}">
      <dgm:prSet/>
      <dgm:spPr/>
      <dgm:t>
        <a:bodyPr/>
        <a:lstStyle/>
        <a:p>
          <a:endParaRPr lang="en-US"/>
        </a:p>
      </dgm:t>
    </dgm:pt>
    <dgm:pt modelId="{268FCAF0-BA3A-429B-A637-C3A8E6A04B36}" type="sibTrans" cxnId="{00C48C7E-41D0-4CA0-9700-560C1DC5B878}">
      <dgm:prSet/>
      <dgm:spPr/>
      <dgm:t>
        <a:bodyPr/>
        <a:lstStyle/>
        <a:p>
          <a:endParaRPr lang="en-US"/>
        </a:p>
      </dgm:t>
    </dgm:pt>
    <dgm:pt modelId="{68A18F85-B9F4-4175-BA8E-FC28DE51E1D6}">
      <dgm:prSet/>
      <dgm:spPr/>
      <dgm:t>
        <a:bodyPr/>
        <a:lstStyle/>
        <a:p>
          <a:r>
            <a:rPr lang="en-US" dirty="0"/>
            <a:t>Admissions are counted for each (day, hour) combination.</a:t>
          </a:r>
        </a:p>
      </dgm:t>
    </dgm:pt>
    <dgm:pt modelId="{FAD084B9-EA09-4E8A-840D-58E66F9B2E74}" type="parTrans" cxnId="{8B3AE8B1-9885-4E02-A61E-4FDA3E9FD844}">
      <dgm:prSet/>
      <dgm:spPr/>
      <dgm:t>
        <a:bodyPr/>
        <a:lstStyle/>
        <a:p>
          <a:endParaRPr lang="en-US"/>
        </a:p>
      </dgm:t>
    </dgm:pt>
    <dgm:pt modelId="{E62902A8-72D2-48C9-8AF4-52D335548B5F}" type="sibTrans" cxnId="{8B3AE8B1-9885-4E02-A61E-4FDA3E9FD844}">
      <dgm:prSet/>
      <dgm:spPr/>
      <dgm:t>
        <a:bodyPr/>
        <a:lstStyle/>
        <a:p>
          <a:endParaRPr lang="en-US"/>
        </a:p>
      </dgm:t>
    </dgm:pt>
    <dgm:pt modelId="{BB7D9B60-D712-417A-918B-F6D3B042B000}">
      <dgm:prSet/>
      <dgm:spPr/>
      <dgm:t>
        <a:bodyPr/>
        <a:lstStyle/>
        <a:p>
          <a:r>
            <a:rPr lang="en-US" dirty="0"/>
            <a:t>A heatmap is generated using color intensity to represent volume.</a:t>
          </a:r>
        </a:p>
      </dgm:t>
    </dgm:pt>
    <dgm:pt modelId="{C070CD26-C8E2-4BB3-9931-07A77A9B894D}" type="parTrans" cxnId="{06295CAF-B3CE-465F-8B6D-30DA1FD1F7A3}">
      <dgm:prSet/>
      <dgm:spPr/>
      <dgm:t>
        <a:bodyPr/>
        <a:lstStyle/>
        <a:p>
          <a:endParaRPr lang="en-US"/>
        </a:p>
      </dgm:t>
    </dgm:pt>
    <dgm:pt modelId="{4723A0AA-48BD-42C6-87C5-5A9849AC7480}" type="sibTrans" cxnId="{06295CAF-B3CE-465F-8B6D-30DA1FD1F7A3}">
      <dgm:prSet/>
      <dgm:spPr/>
      <dgm:t>
        <a:bodyPr/>
        <a:lstStyle/>
        <a:p>
          <a:endParaRPr lang="en-US"/>
        </a:p>
      </dgm:t>
    </dgm:pt>
    <dgm:pt modelId="{9AEF45B7-1D05-B843-95C0-2E48D15C4856}" type="pres">
      <dgm:prSet presAssocID="{99327B6C-2DF8-4FCF-8080-FD0B8CAD889A}" presName="linear" presStyleCnt="0">
        <dgm:presLayoutVars>
          <dgm:dir/>
          <dgm:animLvl val="lvl"/>
          <dgm:resizeHandles val="exact"/>
        </dgm:presLayoutVars>
      </dgm:prSet>
      <dgm:spPr/>
    </dgm:pt>
    <dgm:pt modelId="{AC360863-1BED-6B41-8602-627C97E95503}" type="pres">
      <dgm:prSet presAssocID="{DE32F696-47D6-43BF-B064-FE199A6B6DFF}" presName="parentLin" presStyleCnt="0"/>
      <dgm:spPr/>
    </dgm:pt>
    <dgm:pt modelId="{428776DF-7C61-5B42-85F6-A71229B10ECB}" type="pres">
      <dgm:prSet presAssocID="{DE32F696-47D6-43BF-B064-FE199A6B6DFF}" presName="parentLeftMargin" presStyleLbl="node1" presStyleIdx="0" presStyleCnt="2"/>
      <dgm:spPr/>
    </dgm:pt>
    <dgm:pt modelId="{FFA54353-AEB8-8742-9FD2-0BF1D13A9CFB}" type="pres">
      <dgm:prSet presAssocID="{DE32F696-47D6-43BF-B064-FE199A6B6DF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CB1DBC-2129-624B-87A8-6703314D65A3}" type="pres">
      <dgm:prSet presAssocID="{DE32F696-47D6-43BF-B064-FE199A6B6DFF}" presName="negativeSpace" presStyleCnt="0"/>
      <dgm:spPr/>
    </dgm:pt>
    <dgm:pt modelId="{C7E25028-E3FC-D04D-BB4A-DE72A50FF8BC}" type="pres">
      <dgm:prSet presAssocID="{DE32F696-47D6-43BF-B064-FE199A6B6DFF}" presName="childText" presStyleLbl="conFgAcc1" presStyleIdx="0" presStyleCnt="2">
        <dgm:presLayoutVars>
          <dgm:bulletEnabled val="1"/>
        </dgm:presLayoutVars>
      </dgm:prSet>
      <dgm:spPr/>
    </dgm:pt>
    <dgm:pt modelId="{002BD261-98A9-684E-A0F3-21D4E5020A91}" type="pres">
      <dgm:prSet presAssocID="{F60EE35C-19EB-438B-A823-C98BA4E48206}" presName="spaceBetweenRectangles" presStyleCnt="0"/>
      <dgm:spPr/>
    </dgm:pt>
    <dgm:pt modelId="{60B01A9C-E846-A246-8555-91AD5625696E}" type="pres">
      <dgm:prSet presAssocID="{97FAEA82-0130-4A56-B926-F15BD13279A0}" presName="parentLin" presStyleCnt="0"/>
      <dgm:spPr/>
    </dgm:pt>
    <dgm:pt modelId="{61EDA9B9-FEE0-7745-A630-EB71FA1452E3}" type="pres">
      <dgm:prSet presAssocID="{97FAEA82-0130-4A56-B926-F15BD13279A0}" presName="parentLeftMargin" presStyleLbl="node1" presStyleIdx="0" presStyleCnt="2"/>
      <dgm:spPr/>
    </dgm:pt>
    <dgm:pt modelId="{FACD41D5-8B02-7E48-80D4-00157B7C2A09}" type="pres">
      <dgm:prSet presAssocID="{97FAEA82-0130-4A56-B926-F15BD13279A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1102CC6-99F5-4A4A-859C-D1D2280F9BD5}" type="pres">
      <dgm:prSet presAssocID="{97FAEA82-0130-4A56-B926-F15BD13279A0}" presName="negativeSpace" presStyleCnt="0"/>
      <dgm:spPr/>
    </dgm:pt>
    <dgm:pt modelId="{773E713E-BE04-4D4B-9432-D06F65D97511}" type="pres">
      <dgm:prSet presAssocID="{97FAEA82-0130-4A56-B926-F15BD13279A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5FFB53B-5527-784F-BFEC-64A909AFC845}" type="presOf" srcId="{68A18F85-B9F4-4175-BA8E-FC28DE51E1D6}" destId="{773E713E-BE04-4D4B-9432-D06F65D97511}" srcOrd="0" destOrd="1" presId="urn:microsoft.com/office/officeart/2005/8/layout/list1"/>
    <dgm:cxn modelId="{17848046-4602-6D4B-98FB-1781B34705D9}" type="presOf" srcId="{99327B6C-2DF8-4FCF-8080-FD0B8CAD889A}" destId="{9AEF45B7-1D05-B843-95C0-2E48D15C4856}" srcOrd="0" destOrd="0" presId="urn:microsoft.com/office/officeart/2005/8/layout/list1"/>
    <dgm:cxn modelId="{15ADA764-488C-4102-82AD-BF4E45DD90A0}" srcId="{99327B6C-2DF8-4FCF-8080-FD0B8CAD889A}" destId="{DE32F696-47D6-43BF-B064-FE199A6B6DFF}" srcOrd="0" destOrd="0" parTransId="{1264ABD0-99BB-446B-8E4D-CC06B466E953}" sibTransId="{F60EE35C-19EB-438B-A823-C98BA4E48206}"/>
    <dgm:cxn modelId="{3895366B-5B0A-BB43-903B-C80E8146B5EB}" type="presOf" srcId="{97FAEA82-0130-4A56-B926-F15BD13279A0}" destId="{FACD41D5-8B02-7E48-80D4-00157B7C2A09}" srcOrd="1" destOrd="0" presId="urn:microsoft.com/office/officeart/2005/8/layout/list1"/>
    <dgm:cxn modelId="{1EDC2976-9D90-6C42-A8DE-CDBCACBD0BEC}" type="presOf" srcId="{DE32F696-47D6-43BF-B064-FE199A6B6DFF}" destId="{428776DF-7C61-5B42-85F6-A71229B10ECB}" srcOrd="0" destOrd="0" presId="urn:microsoft.com/office/officeart/2005/8/layout/list1"/>
    <dgm:cxn modelId="{00C48C7E-41D0-4CA0-9700-560C1DC5B878}" srcId="{97FAEA82-0130-4A56-B926-F15BD13279A0}" destId="{1C41598C-C5A5-4E4D-B533-977192AD2061}" srcOrd="0" destOrd="0" parTransId="{8CC1C07B-8734-4B25-A142-4A4C99A0D94F}" sibTransId="{268FCAF0-BA3A-429B-A637-C3A8E6A04B36}"/>
    <dgm:cxn modelId="{81493990-D85A-4F35-A6A4-6F35CDE864F9}" srcId="{99327B6C-2DF8-4FCF-8080-FD0B8CAD889A}" destId="{97FAEA82-0130-4A56-B926-F15BD13279A0}" srcOrd="1" destOrd="0" parTransId="{960710EC-77F5-48E8-87E9-D1C329FCA49D}" sibTransId="{D58EBBCF-21D8-4D0C-A83E-CBF2DAC83EAA}"/>
    <dgm:cxn modelId="{64053294-BD3F-C944-BFA7-5328E9F4728D}" type="presOf" srcId="{BB7D9B60-D712-417A-918B-F6D3B042B000}" destId="{773E713E-BE04-4D4B-9432-D06F65D97511}" srcOrd="0" destOrd="2" presId="urn:microsoft.com/office/officeart/2005/8/layout/list1"/>
    <dgm:cxn modelId="{FFCF75AE-BB79-D84D-880C-3A729ED73CF4}" type="presOf" srcId="{97FAEA82-0130-4A56-B926-F15BD13279A0}" destId="{61EDA9B9-FEE0-7745-A630-EB71FA1452E3}" srcOrd="0" destOrd="0" presId="urn:microsoft.com/office/officeart/2005/8/layout/list1"/>
    <dgm:cxn modelId="{06295CAF-B3CE-465F-8B6D-30DA1FD1F7A3}" srcId="{97FAEA82-0130-4A56-B926-F15BD13279A0}" destId="{BB7D9B60-D712-417A-918B-F6D3B042B000}" srcOrd="2" destOrd="0" parTransId="{C070CD26-C8E2-4BB3-9931-07A77A9B894D}" sibTransId="{4723A0AA-48BD-42C6-87C5-5A9849AC7480}"/>
    <dgm:cxn modelId="{8B3AE8B1-9885-4E02-A61E-4FDA3E9FD844}" srcId="{97FAEA82-0130-4A56-B926-F15BD13279A0}" destId="{68A18F85-B9F4-4175-BA8E-FC28DE51E1D6}" srcOrd="1" destOrd="0" parTransId="{FAD084B9-EA09-4E8A-840D-58E66F9B2E74}" sibTransId="{E62902A8-72D2-48C9-8AF4-52D335548B5F}"/>
    <dgm:cxn modelId="{F5E6B5BA-D128-B742-B0B9-CFD59487C261}" type="presOf" srcId="{1C41598C-C5A5-4E4D-B533-977192AD2061}" destId="{773E713E-BE04-4D4B-9432-D06F65D97511}" srcOrd="0" destOrd="0" presId="urn:microsoft.com/office/officeart/2005/8/layout/list1"/>
    <dgm:cxn modelId="{C30D87F9-46CA-CC4C-B86C-B1896EF25041}" type="presOf" srcId="{DE32F696-47D6-43BF-B064-FE199A6B6DFF}" destId="{FFA54353-AEB8-8742-9FD2-0BF1D13A9CFB}" srcOrd="1" destOrd="0" presId="urn:microsoft.com/office/officeart/2005/8/layout/list1"/>
    <dgm:cxn modelId="{2F6E0671-0590-4A47-8D36-77DF3D373B9C}" type="presParOf" srcId="{9AEF45B7-1D05-B843-95C0-2E48D15C4856}" destId="{AC360863-1BED-6B41-8602-627C97E95503}" srcOrd="0" destOrd="0" presId="urn:microsoft.com/office/officeart/2005/8/layout/list1"/>
    <dgm:cxn modelId="{B2DF6624-2775-BB41-AAC9-D6805D69C748}" type="presParOf" srcId="{AC360863-1BED-6B41-8602-627C97E95503}" destId="{428776DF-7C61-5B42-85F6-A71229B10ECB}" srcOrd="0" destOrd="0" presId="urn:microsoft.com/office/officeart/2005/8/layout/list1"/>
    <dgm:cxn modelId="{7A509A62-0E76-2545-A6E5-509704665474}" type="presParOf" srcId="{AC360863-1BED-6B41-8602-627C97E95503}" destId="{FFA54353-AEB8-8742-9FD2-0BF1D13A9CFB}" srcOrd="1" destOrd="0" presId="urn:microsoft.com/office/officeart/2005/8/layout/list1"/>
    <dgm:cxn modelId="{699A63D2-AB87-3044-BB42-65A20A3B33F8}" type="presParOf" srcId="{9AEF45B7-1D05-B843-95C0-2E48D15C4856}" destId="{61CB1DBC-2129-624B-87A8-6703314D65A3}" srcOrd="1" destOrd="0" presId="urn:microsoft.com/office/officeart/2005/8/layout/list1"/>
    <dgm:cxn modelId="{F3568F9C-8BEC-0244-AC19-A4BDF104790F}" type="presParOf" srcId="{9AEF45B7-1D05-B843-95C0-2E48D15C4856}" destId="{C7E25028-E3FC-D04D-BB4A-DE72A50FF8BC}" srcOrd="2" destOrd="0" presId="urn:microsoft.com/office/officeart/2005/8/layout/list1"/>
    <dgm:cxn modelId="{27EACDED-0F6C-3F46-8E98-714BD0BB268B}" type="presParOf" srcId="{9AEF45B7-1D05-B843-95C0-2E48D15C4856}" destId="{002BD261-98A9-684E-A0F3-21D4E5020A91}" srcOrd="3" destOrd="0" presId="urn:microsoft.com/office/officeart/2005/8/layout/list1"/>
    <dgm:cxn modelId="{D8EB7A98-0766-424E-80B8-A3B3C2D54F34}" type="presParOf" srcId="{9AEF45B7-1D05-B843-95C0-2E48D15C4856}" destId="{60B01A9C-E846-A246-8555-91AD5625696E}" srcOrd="4" destOrd="0" presId="urn:microsoft.com/office/officeart/2005/8/layout/list1"/>
    <dgm:cxn modelId="{564E8DF0-3D3F-4446-B313-F63205957029}" type="presParOf" srcId="{60B01A9C-E846-A246-8555-91AD5625696E}" destId="{61EDA9B9-FEE0-7745-A630-EB71FA1452E3}" srcOrd="0" destOrd="0" presId="urn:microsoft.com/office/officeart/2005/8/layout/list1"/>
    <dgm:cxn modelId="{B48C1E5A-8A1F-7D46-9CCC-2549C7C84A0C}" type="presParOf" srcId="{60B01A9C-E846-A246-8555-91AD5625696E}" destId="{FACD41D5-8B02-7E48-80D4-00157B7C2A09}" srcOrd="1" destOrd="0" presId="urn:microsoft.com/office/officeart/2005/8/layout/list1"/>
    <dgm:cxn modelId="{AF0DD771-429B-0841-9255-15C4ABA132F7}" type="presParOf" srcId="{9AEF45B7-1D05-B843-95C0-2E48D15C4856}" destId="{B1102CC6-99F5-4A4A-859C-D1D2280F9BD5}" srcOrd="5" destOrd="0" presId="urn:microsoft.com/office/officeart/2005/8/layout/list1"/>
    <dgm:cxn modelId="{95BC7DFF-2B12-134A-919C-1A2C6A66267B}" type="presParOf" srcId="{9AEF45B7-1D05-B843-95C0-2E48D15C4856}" destId="{773E713E-BE04-4D4B-9432-D06F65D9751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327B6C-2DF8-4FCF-8080-FD0B8CAD889A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E32F696-47D6-43BF-B064-FE199A6B6DFF}">
      <dgm:prSet/>
      <dgm:spPr/>
      <dgm:t>
        <a:bodyPr/>
        <a:lstStyle/>
        <a:p>
          <a:r>
            <a:rPr lang="en-US" dirty="0"/>
            <a:t>Data used : </a:t>
          </a:r>
          <a:r>
            <a:rPr lang="en-US" dirty="0" err="1"/>
            <a:t>ADMISSIONS.csv</a:t>
          </a:r>
          <a:r>
            <a:rPr lang="en-US" dirty="0"/>
            <a:t> dataset </a:t>
          </a:r>
        </a:p>
      </dgm:t>
    </dgm:pt>
    <dgm:pt modelId="{1264ABD0-99BB-446B-8E4D-CC06B466E953}" type="parTrans" cxnId="{15ADA764-488C-4102-82AD-BF4E45DD90A0}">
      <dgm:prSet/>
      <dgm:spPr/>
      <dgm:t>
        <a:bodyPr/>
        <a:lstStyle/>
        <a:p>
          <a:endParaRPr lang="en-US"/>
        </a:p>
      </dgm:t>
    </dgm:pt>
    <dgm:pt modelId="{F60EE35C-19EB-438B-A823-C98BA4E48206}" type="sibTrans" cxnId="{15ADA764-488C-4102-82AD-BF4E45DD90A0}">
      <dgm:prSet/>
      <dgm:spPr/>
      <dgm:t>
        <a:bodyPr/>
        <a:lstStyle/>
        <a:p>
          <a:endParaRPr lang="en-US"/>
        </a:p>
      </dgm:t>
    </dgm:pt>
    <dgm:pt modelId="{97FAEA82-0130-4A56-B926-F15BD13279A0}">
      <dgm:prSet/>
      <dgm:spPr/>
      <dgm:t>
        <a:bodyPr/>
        <a:lstStyle/>
        <a:p>
          <a:r>
            <a:rPr lang="en-US"/>
            <a:t>Steps </a:t>
          </a:r>
        </a:p>
      </dgm:t>
    </dgm:pt>
    <dgm:pt modelId="{960710EC-77F5-48E8-87E9-D1C329FCA49D}" type="parTrans" cxnId="{81493990-D85A-4F35-A6A4-6F35CDE864F9}">
      <dgm:prSet/>
      <dgm:spPr/>
      <dgm:t>
        <a:bodyPr/>
        <a:lstStyle/>
        <a:p>
          <a:endParaRPr lang="en-US"/>
        </a:p>
      </dgm:t>
    </dgm:pt>
    <dgm:pt modelId="{D58EBBCF-21D8-4D0C-A83E-CBF2DAC83EAA}" type="sibTrans" cxnId="{81493990-D85A-4F35-A6A4-6F35CDE864F9}">
      <dgm:prSet/>
      <dgm:spPr/>
      <dgm:t>
        <a:bodyPr/>
        <a:lstStyle/>
        <a:p>
          <a:endParaRPr lang="en-US"/>
        </a:p>
      </dgm:t>
    </dgm:pt>
    <dgm:pt modelId="{1C41598C-C5A5-4E4D-B533-977192AD2061}">
      <dgm:prSet/>
      <dgm:spPr/>
      <dgm:t>
        <a:bodyPr/>
        <a:lstStyle/>
        <a:p>
          <a:r>
            <a:rPr lang="en-US" dirty="0"/>
            <a:t>Length of stay is calculated as discharge time minus admission time (in days).</a:t>
          </a:r>
        </a:p>
      </dgm:t>
    </dgm:pt>
    <dgm:pt modelId="{8CC1C07B-8734-4B25-A142-4A4C99A0D94F}" type="parTrans" cxnId="{00C48C7E-41D0-4CA0-9700-560C1DC5B878}">
      <dgm:prSet/>
      <dgm:spPr/>
      <dgm:t>
        <a:bodyPr/>
        <a:lstStyle/>
        <a:p>
          <a:endParaRPr lang="en-US"/>
        </a:p>
      </dgm:t>
    </dgm:pt>
    <dgm:pt modelId="{268FCAF0-BA3A-429B-A637-C3A8E6A04B36}" type="sibTrans" cxnId="{00C48C7E-41D0-4CA0-9700-560C1DC5B878}">
      <dgm:prSet/>
      <dgm:spPr/>
      <dgm:t>
        <a:bodyPr/>
        <a:lstStyle/>
        <a:p>
          <a:endParaRPr lang="en-US"/>
        </a:p>
      </dgm:t>
    </dgm:pt>
    <dgm:pt modelId="{68A18F85-B9F4-4175-BA8E-FC28DE51E1D6}">
      <dgm:prSet/>
      <dgm:spPr/>
      <dgm:t>
        <a:bodyPr/>
        <a:lstStyle/>
        <a:p>
          <a:r>
            <a:rPr lang="en-US" dirty="0"/>
            <a:t>Mortality status is derived from </a:t>
          </a:r>
          <a:r>
            <a:rPr lang="en-US" b="0" dirty="0"/>
            <a:t>HOSPITAL_EXPIRE_FLAG</a:t>
          </a:r>
          <a:r>
            <a:rPr lang="en-US" dirty="0"/>
            <a:t> death indicators.</a:t>
          </a:r>
        </a:p>
      </dgm:t>
    </dgm:pt>
    <dgm:pt modelId="{FAD084B9-EA09-4E8A-840D-58E66F9B2E74}" type="parTrans" cxnId="{8B3AE8B1-9885-4E02-A61E-4FDA3E9FD844}">
      <dgm:prSet/>
      <dgm:spPr/>
      <dgm:t>
        <a:bodyPr/>
        <a:lstStyle/>
        <a:p>
          <a:endParaRPr lang="en-US"/>
        </a:p>
      </dgm:t>
    </dgm:pt>
    <dgm:pt modelId="{E62902A8-72D2-48C9-8AF4-52D335548B5F}" type="sibTrans" cxnId="{8B3AE8B1-9885-4E02-A61E-4FDA3E9FD844}">
      <dgm:prSet/>
      <dgm:spPr/>
      <dgm:t>
        <a:bodyPr/>
        <a:lstStyle/>
        <a:p>
          <a:endParaRPr lang="en-US"/>
        </a:p>
      </dgm:t>
    </dgm:pt>
    <dgm:pt modelId="{BB7D9B60-D712-417A-918B-F6D3B042B000}">
      <dgm:prSet/>
      <dgm:spPr/>
      <dgm:t>
        <a:bodyPr/>
        <a:lstStyle/>
        <a:p>
          <a:r>
            <a:rPr lang="en-US" dirty="0"/>
            <a:t>A density-based visualization plot (KDE Plot) based on mortality status.</a:t>
          </a:r>
        </a:p>
      </dgm:t>
    </dgm:pt>
    <dgm:pt modelId="{C070CD26-C8E2-4BB3-9931-07A77A9B894D}" type="parTrans" cxnId="{06295CAF-B3CE-465F-8B6D-30DA1FD1F7A3}">
      <dgm:prSet/>
      <dgm:spPr/>
      <dgm:t>
        <a:bodyPr/>
        <a:lstStyle/>
        <a:p>
          <a:endParaRPr lang="en-US"/>
        </a:p>
      </dgm:t>
    </dgm:pt>
    <dgm:pt modelId="{4723A0AA-48BD-42C6-87C5-5A9849AC7480}" type="sibTrans" cxnId="{06295CAF-B3CE-465F-8B6D-30DA1FD1F7A3}">
      <dgm:prSet/>
      <dgm:spPr/>
      <dgm:t>
        <a:bodyPr/>
        <a:lstStyle/>
        <a:p>
          <a:endParaRPr lang="en-US"/>
        </a:p>
      </dgm:t>
    </dgm:pt>
    <dgm:pt modelId="{9AEF45B7-1D05-B843-95C0-2E48D15C4856}" type="pres">
      <dgm:prSet presAssocID="{99327B6C-2DF8-4FCF-8080-FD0B8CAD889A}" presName="linear" presStyleCnt="0">
        <dgm:presLayoutVars>
          <dgm:dir/>
          <dgm:animLvl val="lvl"/>
          <dgm:resizeHandles val="exact"/>
        </dgm:presLayoutVars>
      </dgm:prSet>
      <dgm:spPr/>
    </dgm:pt>
    <dgm:pt modelId="{AC360863-1BED-6B41-8602-627C97E95503}" type="pres">
      <dgm:prSet presAssocID="{DE32F696-47D6-43BF-B064-FE199A6B6DFF}" presName="parentLin" presStyleCnt="0"/>
      <dgm:spPr/>
    </dgm:pt>
    <dgm:pt modelId="{428776DF-7C61-5B42-85F6-A71229B10ECB}" type="pres">
      <dgm:prSet presAssocID="{DE32F696-47D6-43BF-B064-FE199A6B6DFF}" presName="parentLeftMargin" presStyleLbl="node1" presStyleIdx="0" presStyleCnt="2"/>
      <dgm:spPr/>
    </dgm:pt>
    <dgm:pt modelId="{FFA54353-AEB8-8742-9FD2-0BF1D13A9CFB}" type="pres">
      <dgm:prSet presAssocID="{DE32F696-47D6-43BF-B064-FE199A6B6DF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CB1DBC-2129-624B-87A8-6703314D65A3}" type="pres">
      <dgm:prSet presAssocID="{DE32F696-47D6-43BF-B064-FE199A6B6DFF}" presName="negativeSpace" presStyleCnt="0"/>
      <dgm:spPr/>
    </dgm:pt>
    <dgm:pt modelId="{C7E25028-E3FC-D04D-BB4A-DE72A50FF8BC}" type="pres">
      <dgm:prSet presAssocID="{DE32F696-47D6-43BF-B064-FE199A6B6DFF}" presName="childText" presStyleLbl="conFgAcc1" presStyleIdx="0" presStyleCnt="2">
        <dgm:presLayoutVars>
          <dgm:bulletEnabled val="1"/>
        </dgm:presLayoutVars>
      </dgm:prSet>
      <dgm:spPr/>
    </dgm:pt>
    <dgm:pt modelId="{002BD261-98A9-684E-A0F3-21D4E5020A91}" type="pres">
      <dgm:prSet presAssocID="{F60EE35C-19EB-438B-A823-C98BA4E48206}" presName="spaceBetweenRectangles" presStyleCnt="0"/>
      <dgm:spPr/>
    </dgm:pt>
    <dgm:pt modelId="{60B01A9C-E846-A246-8555-91AD5625696E}" type="pres">
      <dgm:prSet presAssocID="{97FAEA82-0130-4A56-B926-F15BD13279A0}" presName="parentLin" presStyleCnt="0"/>
      <dgm:spPr/>
    </dgm:pt>
    <dgm:pt modelId="{61EDA9B9-FEE0-7745-A630-EB71FA1452E3}" type="pres">
      <dgm:prSet presAssocID="{97FAEA82-0130-4A56-B926-F15BD13279A0}" presName="parentLeftMargin" presStyleLbl="node1" presStyleIdx="0" presStyleCnt="2"/>
      <dgm:spPr/>
    </dgm:pt>
    <dgm:pt modelId="{FACD41D5-8B02-7E48-80D4-00157B7C2A09}" type="pres">
      <dgm:prSet presAssocID="{97FAEA82-0130-4A56-B926-F15BD13279A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1102CC6-99F5-4A4A-859C-D1D2280F9BD5}" type="pres">
      <dgm:prSet presAssocID="{97FAEA82-0130-4A56-B926-F15BD13279A0}" presName="negativeSpace" presStyleCnt="0"/>
      <dgm:spPr/>
    </dgm:pt>
    <dgm:pt modelId="{773E713E-BE04-4D4B-9432-D06F65D97511}" type="pres">
      <dgm:prSet presAssocID="{97FAEA82-0130-4A56-B926-F15BD13279A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5FFB53B-5527-784F-BFEC-64A909AFC845}" type="presOf" srcId="{68A18F85-B9F4-4175-BA8E-FC28DE51E1D6}" destId="{773E713E-BE04-4D4B-9432-D06F65D97511}" srcOrd="0" destOrd="1" presId="urn:microsoft.com/office/officeart/2005/8/layout/list1"/>
    <dgm:cxn modelId="{17848046-4602-6D4B-98FB-1781B34705D9}" type="presOf" srcId="{99327B6C-2DF8-4FCF-8080-FD0B8CAD889A}" destId="{9AEF45B7-1D05-B843-95C0-2E48D15C4856}" srcOrd="0" destOrd="0" presId="urn:microsoft.com/office/officeart/2005/8/layout/list1"/>
    <dgm:cxn modelId="{15ADA764-488C-4102-82AD-BF4E45DD90A0}" srcId="{99327B6C-2DF8-4FCF-8080-FD0B8CAD889A}" destId="{DE32F696-47D6-43BF-B064-FE199A6B6DFF}" srcOrd="0" destOrd="0" parTransId="{1264ABD0-99BB-446B-8E4D-CC06B466E953}" sibTransId="{F60EE35C-19EB-438B-A823-C98BA4E48206}"/>
    <dgm:cxn modelId="{3895366B-5B0A-BB43-903B-C80E8146B5EB}" type="presOf" srcId="{97FAEA82-0130-4A56-B926-F15BD13279A0}" destId="{FACD41D5-8B02-7E48-80D4-00157B7C2A09}" srcOrd="1" destOrd="0" presId="urn:microsoft.com/office/officeart/2005/8/layout/list1"/>
    <dgm:cxn modelId="{1EDC2976-9D90-6C42-A8DE-CDBCACBD0BEC}" type="presOf" srcId="{DE32F696-47D6-43BF-B064-FE199A6B6DFF}" destId="{428776DF-7C61-5B42-85F6-A71229B10ECB}" srcOrd="0" destOrd="0" presId="urn:microsoft.com/office/officeart/2005/8/layout/list1"/>
    <dgm:cxn modelId="{00C48C7E-41D0-4CA0-9700-560C1DC5B878}" srcId="{97FAEA82-0130-4A56-B926-F15BD13279A0}" destId="{1C41598C-C5A5-4E4D-B533-977192AD2061}" srcOrd="0" destOrd="0" parTransId="{8CC1C07B-8734-4B25-A142-4A4C99A0D94F}" sibTransId="{268FCAF0-BA3A-429B-A637-C3A8E6A04B36}"/>
    <dgm:cxn modelId="{81493990-D85A-4F35-A6A4-6F35CDE864F9}" srcId="{99327B6C-2DF8-4FCF-8080-FD0B8CAD889A}" destId="{97FAEA82-0130-4A56-B926-F15BD13279A0}" srcOrd="1" destOrd="0" parTransId="{960710EC-77F5-48E8-87E9-D1C329FCA49D}" sibTransId="{D58EBBCF-21D8-4D0C-A83E-CBF2DAC83EAA}"/>
    <dgm:cxn modelId="{64053294-BD3F-C944-BFA7-5328E9F4728D}" type="presOf" srcId="{BB7D9B60-D712-417A-918B-F6D3B042B000}" destId="{773E713E-BE04-4D4B-9432-D06F65D97511}" srcOrd="0" destOrd="2" presId="urn:microsoft.com/office/officeart/2005/8/layout/list1"/>
    <dgm:cxn modelId="{FFCF75AE-BB79-D84D-880C-3A729ED73CF4}" type="presOf" srcId="{97FAEA82-0130-4A56-B926-F15BD13279A0}" destId="{61EDA9B9-FEE0-7745-A630-EB71FA1452E3}" srcOrd="0" destOrd="0" presId="urn:microsoft.com/office/officeart/2005/8/layout/list1"/>
    <dgm:cxn modelId="{06295CAF-B3CE-465F-8B6D-30DA1FD1F7A3}" srcId="{97FAEA82-0130-4A56-B926-F15BD13279A0}" destId="{BB7D9B60-D712-417A-918B-F6D3B042B000}" srcOrd="2" destOrd="0" parTransId="{C070CD26-C8E2-4BB3-9931-07A77A9B894D}" sibTransId="{4723A0AA-48BD-42C6-87C5-5A9849AC7480}"/>
    <dgm:cxn modelId="{8B3AE8B1-9885-4E02-A61E-4FDA3E9FD844}" srcId="{97FAEA82-0130-4A56-B926-F15BD13279A0}" destId="{68A18F85-B9F4-4175-BA8E-FC28DE51E1D6}" srcOrd="1" destOrd="0" parTransId="{FAD084B9-EA09-4E8A-840D-58E66F9B2E74}" sibTransId="{E62902A8-72D2-48C9-8AF4-52D335548B5F}"/>
    <dgm:cxn modelId="{F5E6B5BA-D128-B742-B0B9-CFD59487C261}" type="presOf" srcId="{1C41598C-C5A5-4E4D-B533-977192AD2061}" destId="{773E713E-BE04-4D4B-9432-D06F65D97511}" srcOrd="0" destOrd="0" presId="urn:microsoft.com/office/officeart/2005/8/layout/list1"/>
    <dgm:cxn modelId="{C30D87F9-46CA-CC4C-B86C-B1896EF25041}" type="presOf" srcId="{DE32F696-47D6-43BF-B064-FE199A6B6DFF}" destId="{FFA54353-AEB8-8742-9FD2-0BF1D13A9CFB}" srcOrd="1" destOrd="0" presId="urn:microsoft.com/office/officeart/2005/8/layout/list1"/>
    <dgm:cxn modelId="{2F6E0671-0590-4A47-8D36-77DF3D373B9C}" type="presParOf" srcId="{9AEF45B7-1D05-B843-95C0-2E48D15C4856}" destId="{AC360863-1BED-6B41-8602-627C97E95503}" srcOrd="0" destOrd="0" presId="urn:microsoft.com/office/officeart/2005/8/layout/list1"/>
    <dgm:cxn modelId="{B2DF6624-2775-BB41-AAC9-D6805D69C748}" type="presParOf" srcId="{AC360863-1BED-6B41-8602-627C97E95503}" destId="{428776DF-7C61-5B42-85F6-A71229B10ECB}" srcOrd="0" destOrd="0" presId="urn:microsoft.com/office/officeart/2005/8/layout/list1"/>
    <dgm:cxn modelId="{7A509A62-0E76-2545-A6E5-509704665474}" type="presParOf" srcId="{AC360863-1BED-6B41-8602-627C97E95503}" destId="{FFA54353-AEB8-8742-9FD2-0BF1D13A9CFB}" srcOrd="1" destOrd="0" presId="urn:microsoft.com/office/officeart/2005/8/layout/list1"/>
    <dgm:cxn modelId="{699A63D2-AB87-3044-BB42-65A20A3B33F8}" type="presParOf" srcId="{9AEF45B7-1D05-B843-95C0-2E48D15C4856}" destId="{61CB1DBC-2129-624B-87A8-6703314D65A3}" srcOrd="1" destOrd="0" presId="urn:microsoft.com/office/officeart/2005/8/layout/list1"/>
    <dgm:cxn modelId="{F3568F9C-8BEC-0244-AC19-A4BDF104790F}" type="presParOf" srcId="{9AEF45B7-1D05-B843-95C0-2E48D15C4856}" destId="{C7E25028-E3FC-D04D-BB4A-DE72A50FF8BC}" srcOrd="2" destOrd="0" presId="urn:microsoft.com/office/officeart/2005/8/layout/list1"/>
    <dgm:cxn modelId="{27EACDED-0F6C-3F46-8E98-714BD0BB268B}" type="presParOf" srcId="{9AEF45B7-1D05-B843-95C0-2E48D15C4856}" destId="{002BD261-98A9-684E-A0F3-21D4E5020A91}" srcOrd="3" destOrd="0" presId="urn:microsoft.com/office/officeart/2005/8/layout/list1"/>
    <dgm:cxn modelId="{D8EB7A98-0766-424E-80B8-A3B3C2D54F34}" type="presParOf" srcId="{9AEF45B7-1D05-B843-95C0-2E48D15C4856}" destId="{60B01A9C-E846-A246-8555-91AD5625696E}" srcOrd="4" destOrd="0" presId="urn:microsoft.com/office/officeart/2005/8/layout/list1"/>
    <dgm:cxn modelId="{564E8DF0-3D3F-4446-B313-F63205957029}" type="presParOf" srcId="{60B01A9C-E846-A246-8555-91AD5625696E}" destId="{61EDA9B9-FEE0-7745-A630-EB71FA1452E3}" srcOrd="0" destOrd="0" presId="urn:microsoft.com/office/officeart/2005/8/layout/list1"/>
    <dgm:cxn modelId="{B48C1E5A-8A1F-7D46-9CCC-2549C7C84A0C}" type="presParOf" srcId="{60B01A9C-E846-A246-8555-91AD5625696E}" destId="{FACD41D5-8B02-7E48-80D4-00157B7C2A09}" srcOrd="1" destOrd="0" presId="urn:microsoft.com/office/officeart/2005/8/layout/list1"/>
    <dgm:cxn modelId="{AF0DD771-429B-0841-9255-15C4ABA132F7}" type="presParOf" srcId="{9AEF45B7-1D05-B843-95C0-2E48D15C4856}" destId="{B1102CC6-99F5-4A4A-859C-D1D2280F9BD5}" srcOrd="5" destOrd="0" presId="urn:microsoft.com/office/officeart/2005/8/layout/list1"/>
    <dgm:cxn modelId="{95BC7DFF-2B12-134A-919C-1A2C6A66267B}" type="presParOf" srcId="{9AEF45B7-1D05-B843-95C0-2E48D15C4856}" destId="{773E713E-BE04-4D4B-9432-D06F65D9751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327B6C-2DF8-4FCF-8080-FD0B8CAD889A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E32F696-47D6-43BF-B064-FE199A6B6DFF}">
      <dgm:prSet/>
      <dgm:spPr/>
      <dgm:t>
        <a:bodyPr/>
        <a:lstStyle/>
        <a:p>
          <a:r>
            <a:rPr lang="en-US" dirty="0"/>
            <a:t>Data used : </a:t>
          </a:r>
          <a:r>
            <a:rPr lang="en-US" dirty="0" err="1"/>
            <a:t>ADMISSIONS.csv</a:t>
          </a:r>
          <a:r>
            <a:rPr lang="en-US" dirty="0"/>
            <a:t> dataset </a:t>
          </a:r>
        </a:p>
      </dgm:t>
    </dgm:pt>
    <dgm:pt modelId="{1264ABD0-99BB-446B-8E4D-CC06B466E953}" type="parTrans" cxnId="{15ADA764-488C-4102-82AD-BF4E45DD90A0}">
      <dgm:prSet/>
      <dgm:spPr/>
      <dgm:t>
        <a:bodyPr/>
        <a:lstStyle/>
        <a:p>
          <a:endParaRPr lang="en-US"/>
        </a:p>
      </dgm:t>
    </dgm:pt>
    <dgm:pt modelId="{F60EE35C-19EB-438B-A823-C98BA4E48206}" type="sibTrans" cxnId="{15ADA764-488C-4102-82AD-BF4E45DD90A0}">
      <dgm:prSet/>
      <dgm:spPr/>
      <dgm:t>
        <a:bodyPr/>
        <a:lstStyle/>
        <a:p>
          <a:endParaRPr lang="en-US"/>
        </a:p>
      </dgm:t>
    </dgm:pt>
    <dgm:pt modelId="{97FAEA82-0130-4A56-B926-F15BD13279A0}">
      <dgm:prSet/>
      <dgm:spPr/>
      <dgm:t>
        <a:bodyPr/>
        <a:lstStyle/>
        <a:p>
          <a:r>
            <a:rPr lang="en-US"/>
            <a:t>Steps </a:t>
          </a:r>
        </a:p>
      </dgm:t>
    </dgm:pt>
    <dgm:pt modelId="{960710EC-77F5-48E8-87E9-D1C329FCA49D}" type="parTrans" cxnId="{81493990-D85A-4F35-A6A4-6F35CDE864F9}">
      <dgm:prSet/>
      <dgm:spPr/>
      <dgm:t>
        <a:bodyPr/>
        <a:lstStyle/>
        <a:p>
          <a:endParaRPr lang="en-US"/>
        </a:p>
      </dgm:t>
    </dgm:pt>
    <dgm:pt modelId="{D58EBBCF-21D8-4D0C-A83E-CBF2DAC83EAA}" type="sibTrans" cxnId="{81493990-D85A-4F35-A6A4-6F35CDE864F9}">
      <dgm:prSet/>
      <dgm:spPr/>
      <dgm:t>
        <a:bodyPr/>
        <a:lstStyle/>
        <a:p>
          <a:endParaRPr lang="en-US"/>
        </a:p>
      </dgm:t>
    </dgm:pt>
    <dgm:pt modelId="{1C41598C-C5A5-4E4D-B533-977192AD2061}">
      <dgm:prSet/>
      <dgm:spPr/>
      <dgm:t>
        <a:bodyPr/>
        <a:lstStyle/>
        <a:p>
          <a:r>
            <a:rPr lang="en-US" dirty="0"/>
            <a:t>Length of stay is calculated as discharge time minus admission time (in days).</a:t>
          </a:r>
        </a:p>
      </dgm:t>
    </dgm:pt>
    <dgm:pt modelId="{8CC1C07B-8734-4B25-A142-4A4C99A0D94F}" type="parTrans" cxnId="{00C48C7E-41D0-4CA0-9700-560C1DC5B878}">
      <dgm:prSet/>
      <dgm:spPr/>
      <dgm:t>
        <a:bodyPr/>
        <a:lstStyle/>
        <a:p>
          <a:endParaRPr lang="en-US"/>
        </a:p>
      </dgm:t>
    </dgm:pt>
    <dgm:pt modelId="{268FCAF0-BA3A-429B-A637-C3A8E6A04B36}" type="sibTrans" cxnId="{00C48C7E-41D0-4CA0-9700-560C1DC5B878}">
      <dgm:prSet/>
      <dgm:spPr/>
      <dgm:t>
        <a:bodyPr/>
        <a:lstStyle/>
        <a:p>
          <a:endParaRPr lang="en-US"/>
        </a:p>
      </dgm:t>
    </dgm:pt>
    <dgm:pt modelId="{68A18F85-B9F4-4175-BA8E-FC28DE51E1D6}">
      <dgm:prSet/>
      <dgm:spPr/>
      <dgm:t>
        <a:bodyPr/>
        <a:lstStyle/>
        <a:p>
          <a:r>
            <a:rPr lang="en-US" dirty="0"/>
            <a:t>Censoring is applied for patients discharged alive.</a:t>
          </a:r>
        </a:p>
      </dgm:t>
    </dgm:pt>
    <dgm:pt modelId="{FAD084B9-EA09-4E8A-840D-58E66F9B2E74}" type="parTrans" cxnId="{8B3AE8B1-9885-4E02-A61E-4FDA3E9FD844}">
      <dgm:prSet/>
      <dgm:spPr/>
      <dgm:t>
        <a:bodyPr/>
        <a:lstStyle/>
        <a:p>
          <a:endParaRPr lang="en-US"/>
        </a:p>
      </dgm:t>
    </dgm:pt>
    <dgm:pt modelId="{E62902A8-72D2-48C9-8AF4-52D335548B5F}" type="sibTrans" cxnId="{8B3AE8B1-9885-4E02-A61E-4FDA3E9FD844}">
      <dgm:prSet/>
      <dgm:spPr/>
      <dgm:t>
        <a:bodyPr/>
        <a:lstStyle/>
        <a:p>
          <a:endParaRPr lang="en-US"/>
        </a:p>
      </dgm:t>
    </dgm:pt>
    <dgm:pt modelId="{BB7D9B60-D712-417A-918B-F6D3B042B000}">
      <dgm:prSet/>
      <dgm:spPr/>
      <dgm:t>
        <a:bodyPr/>
        <a:lstStyle/>
        <a:p>
          <a:r>
            <a:rPr lang="en-US" b="0" i="0" dirty="0"/>
            <a:t>A Kaplan-Meier (K-M) survival curve (a step plot) </a:t>
          </a:r>
          <a:r>
            <a:rPr lang="en-US" dirty="0"/>
            <a:t>is generated to represent survival probability over time.</a:t>
          </a:r>
        </a:p>
      </dgm:t>
    </dgm:pt>
    <dgm:pt modelId="{C070CD26-C8E2-4BB3-9931-07A77A9B894D}" type="parTrans" cxnId="{06295CAF-B3CE-465F-8B6D-30DA1FD1F7A3}">
      <dgm:prSet/>
      <dgm:spPr/>
      <dgm:t>
        <a:bodyPr/>
        <a:lstStyle/>
        <a:p>
          <a:endParaRPr lang="en-US"/>
        </a:p>
      </dgm:t>
    </dgm:pt>
    <dgm:pt modelId="{4723A0AA-48BD-42C6-87C5-5A9849AC7480}" type="sibTrans" cxnId="{06295CAF-B3CE-465F-8B6D-30DA1FD1F7A3}">
      <dgm:prSet/>
      <dgm:spPr/>
      <dgm:t>
        <a:bodyPr/>
        <a:lstStyle/>
        <a:p>
          <a:endParaRPr lang="en-US"/>
        </a:p>
      </dgm:t>
    </dgm:pt>
    <dgm:pt modelId="{97D8EF75-81C6-CB4F-B353-49D377D484E4}">
      <dgm:prSet/>
      <dgm:spPr/>
      <dgm:t>
        <a:bodyPr/>
        <a:lstStyle/>
        <a:p>
          <a:r>
            <a:rPr lang="en-US" dirty="0"/>
            <a:t>Write a function to generate survival probability data over time periods </a:t>
          </a:r>
        </a:p>
      </dgm:t>
    </dgm:pt>
    <dgm:pt modelId="{710838CF-9475-674C-833F-7A09A08B4DA9}" type="parTrans" cxnId="{1A15D6C3-F5DE-974F-8C5E-EF725CD0E6EB}">
      <dgm:prSet/>
      <dgm:spPr/>
    </dgm:pt>
    <dgm:pt modelId="{74C08DE4-01B1-6342-9977-045182788409}" type="sibTrans" cxnId="{1A15D6C3-F5DE-974F-8C5E-EF725CD0E6EB}">
      <dgm:prSet/>
      <dgm:spPr/>
    </dgm:pt>
    <dgm:pt modelId="{9AEF45B7-1D05-B843-95C0-2E48D15C4856}" type="pres">
      <dgm:prSet presAssocID="{99327B6C-2DF8-4FCF-8080-FD0B8CAD889A}" presName="linear" presStyleCnt="0">
        <dgm:presLayoutVars>
          <dgm:dir/>
          <dgm:animLvl val="lvl"/>
          <dgm:resizeHandles val="exact"/>
        </dgm:presLayoutVars>
      </dgm:prSet>
      <dgm:spPr/>
    </dgm:pt>
    <dgm:pt modelId="{AC360863-1BED-6B41-8602-627C97E95503}" type="pres">
      <dgm:prSet presAssocID="{DE32F696-47D6-43BF-B064-FE199A6B6DFF}" presName="parentLin" presStyleCnt="0"/>
      <dgm:spPr/>
    </dgm:pt>
    <dgm:pt modelId="{428776DF-7C61-5B42-85F6-A71229B10ECB}" type="pres">
      <dgm:prSet presAssocID="{DE32F696-47D6-43BF-B064-FE199A6B6DFF}" presName="parentLeftMargin" presStyleLbl="node1" presStyleIdx="0" presStyleCnt="2"/>
      <dgm:spPr/>
    </dgm:pt>
    <dgm:pt modelId="{FFA54353-AEB8-8742-9FD2-0BF1D13A9CFB}" type="pres">
      <dgm:prSet presAssocID="{DE32F696-47D6-43BF-B064-FE199A6B6DF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CB1DBC-2129-624B-87A8-6703314D65A3}" type="pres">
      <dgm:prSet presAssocID="{DE32F696-47D6-43BF-B064-FE199A6B6DFF}" presName="negativeSpace" presStyleCnt="0"/>
      <dgm:spPr/>
    </dgm:pt>
    <dgm:pt modelId="{C7E25028-E3FC-D04D-BB4A-DE72A50FF8BC}" type="pres">
      <dgm:prSet presAssocID="{DE32F696-47D6-43BF-B064-FE199A6B6DFF}" presName="childText" presStyleLbl="conFgAcc1" presStyleIdx="0" presStyleCnt="2">
        <dgm:presLayoutVars>
          <dgm:bulletEnabled val="1"/>
        </dgm:presLayoutVars>
      </dgm:prSet>
      <dgm:spPr/>
    </dgm:pt>
    <dgm:pt modelId="{002BD261-98A9-684E-A0F3-21D4E5020A91}" type="pres">
      <dgm:prSet presAssocID="{F60EE35C-19EB-438B-A823-C98BA4E48206}" presName="spaceBetweenRectangles" presStyleCnt="0"/>
      <dgm:spPr/>
    </dgm:pt>
    <dgm:pt modelId="{60B01A9C-E846-A246-8555-91AD5625696E}" type="pres">
      <dgm:prSet presAssocID="{97FAEA82-0130-4A56-B926-F15BD13279A0}" presName="parentLin" presStyleCnt="0"/>
      <dgm:spPr/>
    </dgm:pt>
    <dgm:pt modelId="{61EDA9B9-FEE0-7745-A630-EB71FA1452E3}" type="pres">
      <dgm:prSet presAssocID="{97FAEA82-0130-4A56-B926-F15BD13279A0}" presName="parentLeftMargin" presStyleLbl="node1" presStyleIdx="0" presStyleCnt="2"/>
      <dgm:spPr/>
    </dgm:pt>
    <dgm:pt modelId="{FACD41D5-8B02-7E48-80D4-00157B7C2A09}" type="pres">
      <dgm:prSet presAssocID="{97FAEA82-0130-4A56-B926-F15BD13279A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1102CC6-99F5-4A4A-859C-D1D2280F9BD5}" type="pres">
      <dgm:prSet presAssocID="{97FAEA82-0130-4A56-B926-F15BD13279A0}" presName="negativeSpace" presStyleCnt="0"/>
      <dgm:spPr/>
    </dgm:pt>
    <dgm:pt modelId="{773E713E-BE04-4D4B-9432-D06F65D97511}" type="pres">
      <dgm:prSet presAssocID="{97FAEA82-0130-4A56-B926-F15BD13279A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5FFB53B-5527-784F-BFEC-64A909AFC845}" type="presOf" srcId="{68A18F85-B9F4-4175-BA8E-FC28DE51E1D6}" destId="{773E713E-BE04-4D4B-9432-D06F65D97511}" srcOrd="0" destOrd="1" presId="urn:microsoft.com/office/officeart/2005/8/layout/list1"/>
    <dgm:cxn modelId="{ECF6AD40-C95F-324B-8153-93494728A656}" type="presOf" srcId="{97D8EF75-81C6-CB4F-B353-49D377D484E4}" destId="{773E713E-BE04-4D4B-9432-D06F65D97511}" srcOrd="0" destOrd="2" presId="urn:microsoft.com/office/officeart/2005/8/layout/list1"/>
    <dgm:cxn modelId="{17848046-4602-6D4B-98FB-1781B34705D9}" type="presOf" srcId="{99327B6C-2DF8-4FCF-8080-FD0B8CAD889A}" destId="{9AEF45B7-1D05-B843-95C0-2E48D15C4856}" srcOrd="0" destOrd="0" presId="urn:microsoft.com/office/officeart/2005/8/layout/list1"/>
    <dgm:cxn modelId="{15ADA764-488C-4102-82AD-BF4E45DD90A0}" srcId="{99327B6C-2DF8-4FCF-8080-FD0B8CAD889A}" destId="{DE32F696-47D6-43BF-B064-FE199A6B6DFF}" srcOrd="0" destOrd="0" parTransId="{1264ABD0-99BB-446B-8E4D-CC06B466E953}" sibTransId="{F60EE35C-19EB-438B-A823-C98BA4E48206}"/>
    <dgm:cxn modelId="{3895366B-5B0A-BB43-903B-C80E8146B5EB}" type="presOf" srcId="{97FAEA82-0130-4A56-B926-F15BD13279A0}" destId="{FACD41D5-8B02-7E48-80D4-00157B7C2A09}" srcOrd="1" destOrd="0" presId="urn:microsoft.com/office/officeart/2005/8/layout/list1"/>
    <dgm:cxn modelId="{1EDC2976-9D90-6C42-A8DE-CDBCACBD0BEC}" type="presOf" srcId="{DE32F696-47D6-43BF-B064-FE199A6B6DFF}" destId="{428776DF-7C61-5B42-85F6-A71229B10ECB}" srcOrd="0" destOrd="0" presId="urn:microsoft.com/office/officeart/2005/8/layout/list1"/>
    <dgm:cxn modelId="{00C48C7E-41D0-4CA0-9700-560C1DC5B878}" srcId="{97FAEA82-0130-4A56-B926-F15BD13279A0}" destId="{1C41598C-C5A5-4E4D-B533-977192AD2061}" srcOrd="0" destOrd="0" parTransId="{8CC1C07B-8734-4B25-A142-4A4C99A0D94F}" sibTransId="{268FCAF0-BA3A-429B-A637-C3A8E6A04B36}"/>
    <dgm:cxn modelId="{81493990-D85A-4F35-A6A4-6F35CDE864F9}" srcId="{99327B6C-2DF8-4FCF-8080-FD0B8CAD889A}" destId="{97FAEA82-0130-4A56-B926-F15BD13279A0}" srcOrd="1" destOrd="0" parTransId="{960710EC-77F5-48E8-87E9-D1C329FCA49D}" sibTransId="{D58EBBCF-21D8-4D0C-A83E-CBF2DAC83EAA}"/>
    <dgm:cxn modelId="{64053294-BD3F-C944-BFA7-5328E9F4728D}" type="presOf" srcId="{BB7D9B60-D712-417A-918B-F6D3B042B000}" destId="{773E713E-BE04-4D4B-9432-D06F65D97511}" srcOrd="0" destOrd="3" presId="urn:microsoft.com/office/officeart/2005/8/layout/list1"/>
    <dgm:cxn modelId="{FFCF75AE-BB79-D84D-880C-3A729ED73CF4}" type="presOf" srcId="{97FAEA82-0130-4A56-B926-F15BD13279A0}" destId="{61EDA9B9-FEE0-7745-A630-EB71FA1452E3}" srcOrd="0" destOrd="0" presId="urn:microsoft.com/office/officeart/2005/8/layout/list1"/>
    <dgm:cxn modelId="{06295CAF-B3CE-465F-8B6D-30DA1FD1F7A3}" srcId="{97FAEA82-0130-4A56-B926-F15BD13279A0}" destId="{BB7D9B60-D712-417A-918B-F6D3B042B000}" srcOrd="3" destOrd="0" parTransId="{C070CD26-C8E2-4BB3-9931-07A77A9B894D}" sibTransId="{4723A0AA-48BD-42C6-87C5-5A9849AC7480}"/>
    <dgm:cxn modelId="{8B3AE8B1-9885-4E02-A61E-4FDA3E9FD844}" srcId="{97FAEA82-0130-4A56-B926-F15BD13279A0}" destId="{68A18F85-B9F4-4175-BA8E-FC28DE51E1D6}" srcOrd="1" destOrd="0" parTransId="{FAD084B9-EA09-4E8A-840D-58E66F9B2E74}" sibTransId="{E62902A8-72D2-48C9-8AF4-52D335548B5F}"/>
    <dgm:cxn modelId="{F5E6B5BA-D128-B742-B0B9-CFD59487C261}" type="presOf" srcId="{1C41598C-C5A5-4E4D-B533-977192AD2061}" destId="{773E713E-BE04-4D4B-9432-D06F65D97511}" srcOrd="0" destOrd="0" presId="urn:microsoft.com/office/officeart/2005/8/layout/list1"/>
    <dgm:cxn modelId="{1A15D6C3-F5DE-974F-8C5E-EF725CD0E6EB}" srcId="{97FAEA82-0130-4A56-B926-F15BD13279A0}" destId="{97D8EF75-81C6-CB4F-B353-49D377D484E4}" srcOrd="2" destOrd="0" parTransId="{710838CF-9475-674C-833F-7A09A08B4DA9}" sibTransId="{74C08DE4-01B1-6342-9977-045182788409}"/>
    <dgm:cxn modelId="{C30D87F9-46CA-CC4C-B86C-B1896EF25041}" type="presOf" srcId="{DE32F696-47D6-43BF-B064-FE199A6B6DFF}" destId="{FFA54353-AEB8-8742-9FD2-0BF1D13A9CFB}" srcOrd="1" destOrd="0" presId="urn:microsoft.com/office/officeart/2005/8/layout/list1"/>
    <dgm:cxn modelId="{2F6E0671-0590-4A47-8D36-77DF3D373B9C}" type="presParOf" srcId="{9AEF45B7-1D05-B843-95C0-2E48D15C4856}" destId="{AC360863-1BED-6B41-8602-627C97E95503}" srcOrd="0" destOrd="0" presId="urn:microsoft.com/office/officeart/2005/8/layout/list1"/>
    <dgm:cxn modelId="{B2DF6624-2775-BB41-AAC9-D6805D69C748}" type="presParOf" srcId="{AC360863-1BED-6B41-8602-627C97E95503}" destId="{428776DF-7C61-5B42-85F6-A71229B10ECB}" srcOrd="0" destOrd="0" presId="urn:microsoft.com/office/officeart/2005/8/layout/list1"/>
    <dgm:cxn modelId="{7A509A62-0E76-2545-A6E5-509704665474}" type="presParOf" srcId="{AC360863-1BED-6B41-8602-627C97E95503}" destId="{FFA54353-AEB8-8742-9FD2-0BF1D13A9CFB}" srcOrd="1" destOrd="0" presId="urn:microsoft.com/office/officeart/2005/8/layout/list1"/>
    <dgm:cxn modelId="{699A63D2-AB87-3044-BB42-65A20A3B33F8}" type="presParOf" srcId="{9AEF45B7-1D05-B843-95C0-2E48D15C4856}" destId="{61CB1DBC-2129-624B-87A8-6703314D65A3}" srcOrd="1" destOrd="0" presId="urn:microsoft.com/office/officeart/2005/8/layout/list1"/>
    <dgm:cxn modelId="{F3568F9C-8BEC-0244-AC19-A4BDF104790F}" type="presParOf" srcId="{9AEF45B7-1D05-B843-95C0-2E48D15C4856}" destId="{C7E25028-E3FC-D04D-BB4A-DE72A50FF8BC}" srcOrd="2" destOrd="0" presId="urn:microsoft.com/office/officeart/2005/8/layout/list1"/>
    <dgm:cxn modelId="{27EACDED-0F6C-3F46-8E98-714BD0BB268B}" type="presParOf" srcId="{9AEF45B7-1D05-B843-95C0-2E48D15C4856}" destId="{002BD261-98A9-684E-A0F3-21D4E5020A91}" srcOrd="3" destOrd="0" presId="urn:microsoft.com/office/officeart/2005/8/layout/list1"/>
    <dgm:cxn modelId="{D8EB7A98-0766-424E-80B8-A3B3C2D54F34}" type="presParOf" srcId="{9AEF45B7-1D05-B843-95C0-2E48D15C4856}" destId="{60B01A9C-E846-A246-8555-91AD5625696E}" srcOrd="4" destOrd="0" presId="urn:microsoft.com/office/officeart/2005/8/layout/list1"/>
    <dgm:cxn modelId="{564E8DF0-3D3F-4446-B313-F63205957029}" type="presParOf" srcId="{60B01A9C-E846-A246-8555-91AD5625696E}" destId="{61EDA9B9-FEE0-7745-A630-EB71FA1452E3}" srcOrd="0" destOrd="0" presId="urn:microsoft.com/office/officeart/2005/8/layout/list1"/>
    <dgm:cxn modelId="{B48C1E5A-8A1F-7D46-9CCC-2549C7C84A0C}" type="presParOf" srcId="{60B01A9C-E846-A246-8555-91AD5625696E}" destId="{FACD41D5-8B02-7E48-80D4-00157B7C2A09}" srcOrd="1" destOrd="0" presId="urn:microsoft.com/office/officeart/2005/8/layout/list1"/>
    <dgm:cxn modelId="{AF0DD771-429B-0841-9255-15C4ABA132F7}" type="presParOf" srcId="{9AEF45B7-1D05-B843-95C0-2E48D15C4856}" destId="{B1102CC6-99F5-4A4A-859C-D1D2280F9BD5}" srcOrd="5" destOrd="0" presId="urn:microsoft.com/office/officeart/2005/8/layout/list1"/>
    <dgm:cxn modelId="{95BC7DFF-2B12-134A-919C-1A2C6A66267B}" type="presParOf" srcId="{9AEF45B7-1D05-B843-95C0-2E48D15C4856}" destId="{773E713E-BE04-4D4B-9432-D06F65D9751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327B6C-2DF8-4FCF-8080-FD0B8CAD889A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E32F696-47D6-43BF-B064-FE199A6B6DFF}">
      <dgm:prSet custT="1"/>
      <dgm:spPr/>
      <dgm:t>
        <a:bodyPr/>
        <a:lstStyle/>
        <a:p>
          <a:r>
            <a:rPr lang="en-US" sz="2400" dirty="0"/>
            <a:t>Data used : </a:t>
          </a:r>
          <a:r>
            <a:rPr lang="en-US" sz="2400" dirty="0" err="1"/>
            <a:t>ICUSTAYS.csv</a:t>
          </a:r>
          <a:r>
            <a:rPr lang="en-US" sz="2400" dirty="0"/>
            <a:t>, </a:t>
          </a:r>
        </a:p>
        <a:p>
          <a:r>
            <a:rPr lang="en-US" sz="2400" b="0" dirty="0" err="1"/>
            <a:t>PRESCRIPTIONS</a:t>
          </a:r>
          <a:r>
            <a:rPr lang="en-US" sz="2400" dirty="0" err="1"/>
            <a:t>.csv</a:t>
          </a:r>
          <a:r>
            <a:rPr lang="en-US" sz="2400" dirty="0"/>
            <a:t> dataset</a:t>
          </a:r>
          <a:r>
            <a:rPr lang="en-US" sz="2700" dirty="0"/>
            <a:t> </a:t>
          </a:r>
        </a:p>
      </dgm:t>
    </dgm:pt>
    <dgm:pt modelId="{1264ABD0-99BB-446B-8E4D-CC06B466E953}" type="parTrans" cxnId="{15ADA764-488C-4102-82AD-BF4E45DD90A0}">
      <dgm:prSet/>
      <dgm:spPr/>
      <dgm:t>
        <a:bodyPr/>
        <a:lstStyle/>
        <a:p>
          <a:endParaRPr lang="en-US"/>
        </a:p>
      </dgm:t>
    </dgm:pt>
    <dgm:pt modelId="{F60EE35C-19EB-438B-A823-C98BA4E48206}" type="sibTrans" cxnId="{15ADA764-488C-4102-82AD-BF4E45DD90A0}">
      <dgm:prSet/>
      <dgm:spPr/>
      <dgm:t>
        <a:bodyPr/>
        <a:lstStyle/>
        <a:p>
          <a:endParaRPr lang="en-US"/>
        </a:p>
      </dgm:t>
    </dgm:pt>
    <dgm:pt modelId="{97FAEA82-0130-4A56-B926-F15BD13279A0}">
      <dgm:prSet/>
      <dgm:spPr/>
      <dgm:t>
        <a:bodyPr/>
        <a:lstStyle/>
        <a:p>
          <a:r>
            <a:rPr lang="en-US"/>
            <a:t>Steps </a:t>
          </a:r>
        </a:p>
      </dgm:t>
    </dgm:pt>
    <dgm:pt modelId="{960710EC-77F5-48E8-87E9-D1C329FCA49D}" type="parTrans" cxnId="{81493990-D85A-4F35-A6A4-6F35CDE864F9}">
      <dgm:prSet/>
      <dgm:spPr/>
      <dgm:t>
        <a:bodyPr/>
        <a:lstStyle/>
        <a:p>
          <a:endParaRPr lang="en-US"/>
        </a:p>
      </dgm:t>
    </dgm:pt>
    <dgm:pt modelId="{D58EBBCF-21D8-4D0C-A83E-CBF2DAC83EAA}" type="sibTrans" cxnId="{81493990-D85A-4F35-A6A4-6F35CDE864F9}">
      <dgm:prSet/>
      <dgm:spPr/>
      <dgm:t>
        <a:bodyPr/>
        <a:lstStyle/>
        <a:p>
          <a:endParaRPr lang="en-US"/>
        </a:p>
      </dgm:t>
    </dgm:pt>
    <dgm:pt modelId="{1C41598C-C5A5-4E4D-B533-977192AD2061}">
      <dgm:prSet/>
      <dgm:spPr/>
      <dgm:t>
        <a:bodyPr/>
        <a:lstStyle/>
        <a:p>
          <a:r>
            <a:rPr lang="en-US" dirty="0"/>
            <a:t>Medication administration records are filtered to ICU stays..</a:t>
          </a:r>
        </a:p>
      </dgm:t>
    </dgm:pt>
    <dgm:pt modelId="{8CC1C07B-8734-4B25-A142-4A4C99A0D94F}" type="parTrans" cxnId="{00C48C7E-41D0-4CA0-9700-560C1DC5B878}">
      <dgm:prSet/>
      <dgm:spPr/>
      <dgm:t>
        <a:bodyPr/>
        <a:lstStyle/>
        <a:p>
          <a:endParaRPr lang="en-US"/>
        </a:p>
      </dgm:t>
    </dgm:pt>
    <dgm:pt modelId="{268FCAF0-BA3A-429B-A637-C3A8E6A04B36}" type="sibTrans" cxnId="{00C48C7E-41D0-4CA0-9700-560C1DC5B878}">
      <dgm:prSet/>
      <dgm:spPr/>
      <dgm:t>
        <a:bodyPr/>
        <a:lstStyle/>
        <a:p>
          <a:endParaRPr lang="en-US"/>
        </a:p>
      </dgm:t>
    </dgm:pt>
    <dgm:pt modelId="{68A18F85-B9F4-4175-BA8E-FC28DE51E1D6}">
      <dgm:prSet/>
      <dgm:spPr/>
      <dgm:t>
        <a:bodyPr/>
        <a:lstStyle/>
        <a:p>
          <a:r>
            <a:rPr lang="en-US" dirty="0"/>
            <a:t>Medication names are counted by frequency.</a:t>
          </a:r>
        </a:p>
      </dgm:t>
    </dgm:pt>
    <dgm:pt modelId="{FAD084B9-EA09-4E8A-840D-58E66F9B2E74}" type="parTrans" cxnId="{8B3AE8B1-9885-4E02-A61E-4FDA3E9FD844}">
      <dgm:prSet/>
      <dgm:spPr/>
      <dgm:t>
        <a:bodyPr/>
        <a:lstStyle/>
        <a:p>
          <a:endParaRPr lang="en-US"/>
        </a:p>
      </dgm:t>
    </dgm:pt>
    <dgm:pt modelId="{E62902A8-72D2-48C9-8AF4-52D335548B5F}" type="sibTrans" cxnId="{8B3AE8B1-9885-4E02-A61E-4FDA3E9FD844}">
      <dgm:prSet/>
      <dgm:spPr/>
      <dgm:t>
        <a:bodyPr/>
        <a:lstStyle/>
        <a:p>
          <a:endParaRPr lang="en-US"/>
        </a:p>
      </dgm:t>
    </dgm:pt>
    <dgm:pt modelId="{BB7D9B60-D712-417A-918B-F6D3B042B000}">
      <dgm:prSet/>
      <dgm:spPr/>
      <dgm:t>
        <a:bodyPr/>
        <a:lstStyle/>
        <a:p>
          <a:r>
            <a:rPr lang="en-US" dirty="0"/>
            <a:t>A bar chart displays the most commonly administered drugs.</a:t>
          </a:r>
        </a:p>
      </dgm:t>
    </dgm:pt>
    <dgm:pt modelId="{C070CD26-C8E2-4BB3-9931-07A77A9B894D}" type="parTrans" cxnId="{06295CAF-B3CE-465F-8B6D-30DA1FD1F7A3}">
      <dgm:prSet/>
      <dgm:spPr/>
      <dgm:t>
        <a:bodyPr/>
        <a:lstStyle/>
        <a:p>
          <a:endParaRPr lang="en-US"/>
        </a:p>
      </dgm:t>
    </dgm:pt>
    <dgm:pt modelId="{4723A0AA-48BD-42C6-87C5-5A9849AC7480}" type="sibTrans" cxnId="{06295CAF-B3CE-465F-8B6D-30DA1FD1F7A3}">
      <dgm:prSet/>
      <dgm:spPr/>
      <dgm:t>
        <a:bodyPr/>
        <a:lstStyle/>
        <a:p>
          <a:endParaRPr lang="en-US"/>
        </a:p>
      </dgm:t>
    </dgm:pt>
    <dgm:pt modelId="{9AEF45B7-1D05-B843-95C0-2E48D15C4856}" type="pres">
      <dgm:prSet presAssocID="{99327B6C-2DF8-4FCF-8080-FD0B8CAD889A}" presName="linear" presStyleCnt="0">
        <dgm:presLayoutVars>
          <dgm:dir/>
          <dgm:animLvl val="lvl"/>
          <dgm:resizeHandles val="exact"/>
        </dgm:presLayoutVars>
      </dgm:prSet>
      <dgm:spPr/>
    </dgm:pt>
    <dgm:pt modelId="{AC360863-1BED-6B41-8602-627C97E95503}" type="pres">
      <dgm:prSet presAssocID="{DE32F696-47D6-43BF-B064-FE199A6B6DFF}" presName="parentLin" presStyleCnt="0"/>
      <dgm:spPr/>
    </dgm:pt>
    <dgm:pt modelId="{428776DF-7C61-5B42-85F6-A71229B10ECB}" type="pres">
      <dgm:prSet presAssocID="{DE32F696-47D6-43BF-B064-FE199A6B6DFF}" presName="parentLeftMargin" presStyleLbl="node1" presStyleIdx="0" presStyleCnt="2"/>
      <dgm:spPr/>
    </dgm:pt>
    <dgm:pt modelId="{FFA54353-AEB8-8742-9FD2-0BF1D13A9CFB}" type="pres">
      <dgm:prSet presAssocID="{DE32F696-47D6-43BF-B064-FE199A6B6DFF}" presName="parentText" presStyleLbl="node1" presStyleIdx="0" presStyleCnt="2" custLinFactNeighborX="15914" custLinFactNeighborY="1510">
        <dgm:presLayoutVars>
          <dgm:chMax val="0"/>
          <dgm:bulletEnabled val="1"/>
        </dgm:presLayoutVars>
      </dgm:prSet>
      <dgm:spPr/>
    </dgm:pt>
    <dgm:pt modelId="{61CB1DBC-2129-624B-87A8-6703314D65A3}" type="pres">
      <dgm:prSet presAssocID="{DE32F696-47D6-43BF-B064-FE199A6B6DFF}" presName="negativeSpace" presStyleCnt="0"/>
      <dgm:spPr/>
    </dgm:pt>
    <dgm:pt modelId="{C7E25028-E3FC-D04D-BB4A-DE72A50FF8BC}" type="pres">
      <dgm:prSet presAssocID="{DE32F696-47D6-43BF-B064-FE199A6B6DFF}" presName="childText" presStyleLbl="conFgAcc1" presStyleIdx="0" presStyleCnt="2">
        <dgm:presLayoutVars>
          <dgm:bulletEnabled val="1"/>
        </dgm:presLayoutVars>
      </dgm:prSet>
      <dgm:spPr/>
    </dgm:pt>
    <dgm:pt modelId="{002BD261-98A9-684E-A0F3-21D4E5020A91}" type="pres">
      <dgm:prSet presAssocID="{F60EE35C-19EB-438B-A823-C98BA4E48206}" presName="spaceBetweenRectangles" presStyleCnt="0"/>
      <dgm:spPr/>
    </dgm:pt>
    <dgm:pt modelId="{60B01A9C-E846-A246-8555-91AD5625696E}" type="pres">
      <dgm:prSet presAssocID="{97FAEA82-0130-4A56-B926-F15BD13279A0}" presName="parentLin" presStyleCnt="0"/>
      <dgm:spPr/>
    </dgm:pt>
    <dgm:pt modelId="{61EDA9B9-FEE0-7745-A630-EB71FA1452E3}" type="pres">
      <dgm:prSet presAssocID="{97FAEA82-0130-4A56-B926-F15BD13279A0}" presName="parentLeftMargin" presStyleLbl="node1" presStyleIdx="0" presStyleCnt="2"/>
      <dgm:spPr/>
    </dgm:pt>
    <dgm:pt modelId="{FACD41D5-8B02-7E48-80D4-00157B7C2A09}" type="pres">
      <dgm:prSet presAssocID="{97FAEA82-0130-4A56-B926-F15BD13279A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1102CC6-99F5-4A4A-859C-D1D2280F9BD5}" type="pres">
      <dgm:prSet presAssocID="{97FAEA82-0130-4A56-B926-F15BD13279A0}" presName="negativeSpace" presStyleCnt="0"/>
      <dgm:spPr/>
    </dgm:pt>
    <dgm:pt modelId="{773E713E-BE04-4D4B-9432-D06F65D97511}" type="pres">
      <dgm:prSet presAssocID="{97FAEA82-0130-4A56-B926-F15BD13279A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5FFB53B-5527-784F-BFEC-64A909AFC845}" type="presOf" srcId="{68A18F85-B9F4-4175-BA8E-FC28DE51E1D6}" destId="{773E713E-BE04-4D4B-9432-D06F65D97511}" srcOrd="0" destOrd="1" presId="urn:microsoft.com/office/officeart/2005/8/layout/list1"/>
    <dgm:cxn modelId="{17848046-4602-6D4B-98FB-1781B34705D9}" type="presOf" srcId="{99327B6C-2DF8-4FCF-8080-FD0B8CAD889A}" destId="{9AEF45B7-1D05-B843-95C0-2E48D15C4856}" srcOrd="0" destOrd="0" presId="urn:microsoft.com/office/officeart/2005/8/layout/list1"/>
    <dgm:cxn modelId="{15ADA764-488C-4102-82AD-BF4E45DD90A0}" srcId="{99327B6C-2DF8-4FCF-8080-FD0B8CAD889A}" destId="{DE32F696-47D6-43BF-B064-FE199A6B6DFF}" srcOrd="0" destOrd="0" parTransId="{1264ABD0-99BB-446B-8E4D-CC06B466E953}" sibTransId="{F60EE35C-19EB-438B-A823-C98BA4E48206}"/>
    <dgm:cxn modelId="{3895366B-5B0A-BB43-903B-C80E8146B5EB}" type="presOf" srcId="{97FAEA82-0130-4A56-B926-F15BD13279A0}" destId="{FACD41D5-8B02-7E48-80D4-00157B7C2A09}" srcOrd="1" destOrd="0" presId="urn:microsoft.com/office/officeart/2005/8/layout/list1"/>
    <dgm:cxn modelId="{1EDC2976-9D90-6C42-A8DE-CDBCACBD0BEC}" type="presOf" srcId="{DE32F696-47D6-43BF-B064-FE199A6B6DFF}" destId="{428776DF-7C61-5B42-85F6-A71229B10ECB}" srcOrd="0" destOrd="0" presId="urn:microsoft.com/office/officeart/2005/8/layout/list1"/>
    <dgm:cxn modelId="{00C48C7E-41D0-4CA0-9700-560C1DC5B878}" srcId="{97FAEA82-0130-4A56-B926-F15BD13279A0}" destId="{1C41598C-C5A5-4E4D-B533-977192AD2061}" srcOrd="0" destOrd="0" parTransId="{8CC1C07B-8734-4B25-A142-4A4C99A0D94F}" sibTransId="{268FCAF0-BA3A-429B-A637-C3A8E6A04B36}"/>
    <dgm:cxn modelId="{81493990-D85A-4F35-A6A4-6F35CDE864F9}" srcId="{99327B6C-2DF8-4FCF-8080-FD0B8CAD889A}" destId="{97FAEA82-0130-4A56-B926-F15BD13279A0}" srcOrd="1" destOrd="0" parTransId="{960710EC-77F5-48E8-87E9-D1C329FCA49D}" sibTransId="{D58EBBCF-21D8-4D0C-A83E-CBF2DAC83EAA}"/>
    <dgm:cxn modelId="{64053294-BD3F-C944-BFA7-5328E9F4728D}" type="presOf" srcId="{BB7D9B60-D712-417A-918B-F6D3B042B000}" destId="{773E713E-BE04-4D4B-9432-D06F65D97511}" srcOrd="0" destOrd="2" presId="urn:microsoft.com/office/officeart/2005/8/layout/list1"/>
    <dgm:cxn modelId="{FFCF75AE-BB79-D84D-880C-3A729ED73CF4}" type="presOf" srcId="{97FAEA82-0130-4A56-B926-F15BD13279A0}" destId="{61EDA9B9-FEE0-7745-A630-EB71FA1452E3}" srcOrd="0" destOrd="0" presId="urn:microsoft.com/office/officeart/2005/8/layout/list1"/>
    <dgm:cxn modelId="{06295CAF-B3CE-465F-8B6D-30DA1FD1F7A3}" srcId="{97FAEA82-0130-4A56-B926-F15BD13279A0}" destId="{BB7D9B60-D712-417A-918B-F6D3B042B000}" srcOrd="2" destOrd="0" parTransId="{C070CD26-C8E2-4BB3-9931-07A77A9B894D}" sibTransId="{4723A0AA-48BD-42C6-87C5-5A9849AC7480}"/>
    <dgm:cxn modelId="{8B3AE8B1-9885-4E02-A61E-4FDA3E9FD844}" srcId="{97FAEA82-0130-4A56-B926-F15BD13279A0}" destId="{68A18F85-B9F4-4175-BA8E-FC28DE51E1D6}" srcOrd="1" destOrd="0" parTransId="{FAD084B9-EA09-4E8A-840D-58E66F9B2E74}" sibTransId="{E62902A8-72D2-48C9-8AF4-52D335548B5F}"/>
    <dgm:cxn modelId="{F5E6B5BA-D128-B742-B0B9-CFD59487C261}" type="presOf" srcId="{1C41598C-C5A5-4E4D-B533-977192AD2061}" destId="{773E713E-BE04-4D4B-9432-D06F65D97511}" srcOrd="0" destOrd="0" presId="urn:microsoft.com/office/officeart/2005/8/layout/list1"/>
    <dgm:cxn modelId="{C30D87F9-46CA-CC4C-B86C-B1896EF25041}" type="presOf" srcId="{DE32F696-47D6-43BF-B064-FE199A6B6DFF}" destId="{FFA54353-AEB8-8742-9FD2-0BF1D13A9CFB}" srcOrd="1" destOrd="0" presId="urn:microsoft.com/office/officeart/2005/8/layout/list1"/>
    <dgm:cxn modelId="{2F6E0671-0590-4A47-8D36-77DF3D373B9C}" type="presParOf" srcId="{9AEF45B7-1D05-B843-95C0-2E48D15C4856}" destId="{AC360863-1BED-6B41-8602-627C97E95503}" srcOrd="0" destOrd="0" presId="urn:microsoft.com/office/officeart/2005/8/layout/list1"/>
    <dgm:cxn modelId="{B2DF6624-2775-BB41-AAC9-D6805D69C748}" type="presParOf" srcId="{AC360863-1BED-6B41-8602-627C97E95503}" destId="{428776DF-7C61-5B42-85F6-A71229B10ECB}" srcOrd="0" destOrd="0" presId="urn:microsoft.com/office/officeart/2005/8/layout/list1"/>
    <dgm:cxn modelId="{7A509A62-0E76-2545-A6E5-509704665474}" type="presParOf" srcId="{AC360863-1BED-6B41-8602-627C97E95503}" destId="{FFA54353-AEB8-8742-9FD2-0BF1D13A9CFB}" srcOrd="1" destOrd="0" presId="urn:microsoft.com/office/officeart/2005/8/layout/list1"/>
    <dgm:cxn modelId="{699A63D2-AB87-3044-BB42-65A20A3B33F8}" type="presParOf" srcId="{9AEF45B7-1D05-B843-95C0-2E48D15C4856}" destId="{61CB1DBC-2129-624B-87A8-6703314D65A3}" srcOrd="1" destOrd="0" presId="urn:microsoft.com/office/officeart/2005/8/layout/list1"/>
    <dgm:cxn modelId="{F3568F9C-8BEC-0244-AC19-A4BDF104790F}" type="presParOf" srcId="{9AEF45B7-1D05-B843-95C0-2E48D15C4856}" destId="{C7E25028-E3FC-D04D-BB4A-DE72A50FF8BC}" srcOrd="2" destOrd="0" presId="urn:microsoft.com/office/officeart/2005/8/layout/list1"/>
    <dgm:cxn modelId="{27EACDED-0F6C-3F46-8E98-714BD0BB268B}" type="presParOf" srcId="{9AEF45B7-1D05-B843-95C0-2E48D15C4856}" destId="{002BD261-98A9-684E-A0F3-21D4E5020A91}" srcOrd="3" destOrd="0" presId="urn:microsoft.com/office/officeart/2005/8/layout/list1"/>
    <dgm:cxn modelId="{D8EB7A98-0766-424E-80B8-A3B3C2D54F34}" type="presParOf" srcId="{9AEF45B7-1D05-B843-95C0-2E48D15C4856}" destId="{60B01A9C-E846-A246-8555-91AD5625696E}" srcOrd="4" destOrd="0" presId="urn:microsoft.com/office/officeart/2005/8/layout/list1"/>
    <dgm:cxn modelId="{564E8DF0-3D3F-4446-B313-F63205957029}" type="presParOf" srcId="{60B01A9C-E846-A246-8555-91AD5625696E}" destId="{61EDA9B9-FEE0-7745-A630-EB71FA1452E3}" srcOrd="0" destOrd="0" presId="urn:microsoft.com/office/officeart/2005/8/layout/list1"/>
    <dgm:cxn modelId="{B48C1E5A-8A1F-7D46-9CCC-2549C7C84A0C}" type="presParOf" srcId="{60B01A9C-E846-A246-8555-91AD5625696E}" destId="{FACD41D5-8B02-7E48-80D4-00157B7C2A09}" srcOrd="1" destOrd="0" presId="urn:microsoft.com/office/officeart/2005/8/layout/list1"/>
    <dgm:cxn modelId="{AF0DD771-429B-0841-9255-15C4ABA132F7}" type="presParOf" srcId="{9AEF45B7-1D05-B843-95C0-2E48D15C4856}" destId="{B1102CC6-99F5-4A4A-859C-D1D2280F9BD5}" srcOrd="5" destOrd="0" presId="urn:microsoft.com/office/officeart/2005/8/layout/list1"/>
    <dgm:cxn modelId="{95BC7DFF-2B12-134A-919C-1A2C6A66267B}" type="presParOf" srcId="{9AEF45B7-1D05-B843-95C0-2E48D15C4856}" destId="{773E713E-BE04-4D4B-9432-D06F65D9751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9327B6C-2DF8-4FCF-8080-FD0B8CAD889A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E32F696-47D6-43BF-B064-FE199A6B6DFF}">
      <dgm:prSet/>
      <dgm:spPr/>
      <dgm:t>
        <a:bodyPr/>
        <a:lstStyle/>
        <a:p>
          <a:r>
            <a:rPr lang="en-US" dirty="0"/>
            <a:t>Data used : </a:t>
          </a:r>
          <a:r>
            <a:rPr lang="en-US" b="0" dirty="0" err="1"/>
            <a:t>ICUSTAYS</a:t>
          </a:r>
          <a:r>
            <a:rPr lang="en-US" dirty="0" err="1"/>
            <a:t>.csv</a:t>
          </a:r>
          <a:r>
            <a:rPr lang="en-US" dirty="0"/>
            <a:t> dataset </a:t>
          </a:r>
        </a:p>
      </dgm:t>
    </dgm:pt>
    <dgm:pt modelId="{1264ABD0-99BB-446B-8E4D-CC06B466E953}" type="parTrans" cxnId="{15ADA764-488C-4102-82AD-BF4E45DD90A0}">
      <dgm:prSet/>
      <dgm:spPr/>
      <dgm:t>
        <a:bodyPr/>
        <a:lstStyle/>
        <a:p>
          <a:endParaRPr lang="en-US"/>
        </a:p>
      </dgm:t>
    </dgm:pt>
    <dgm:pt modelId="{F60EE35C-19EB-438B-A823-C98BA4E48206}" type="sibTrans" cxnId="{15ADA764-488C-4102-82AD-BF4E45DD90A0}">
      <dgm:prSet/>
      <dgm:spPr/>
      <dgm:t>
        <a:bodyPr/>
        <a:lstStyle/>
        <a:p>
          <a:endParaRPr lang="en-US"/>
        </a:p>
      </dgm:t>
    </dgm:pt>
    <dgm:pt modelId="{97FAEA82-0130-4A56-B926-F15BD13279A0}">
      <dgm:prSet/>
      <dgm:spPr/>
      <dgm:t>
        <a:bodyPr/>
        <a:lstStyle/>
        <a:p>
          <a:r>
            <a:rPr lang="en-US"/>
            <a:t>Steps </a:t>
          </a:r>
        </a:p>
      </dgm:t>
    </dgm:pt>
    <dgm:pt modelId="{960710EC-77F5-48E8-87E9-D1C329FCA49D}" type="parTrans" cxnId="{81493990-D85A-4F35-A6A4-6F35CDE864F9}">
      <dgm:prSet/>
      <dgm:spPr/>
      <dgm:t>
        <a:bodyPr/>
        <a:lstStyle/>
        <a:p>
          <a:endParaRPr lang="en-US"/>
        </a:p>
      </dgm:t>
    </dgm:pt>
    <dgm:pt modelId="{D58EBBCF-21D8-4D0C-A83E-CBF2DAC83EAA}" type="sibTrans" cxnId="{81493990-D85A-4F35-A6A4-6F35CDE864F9}">
      <dgm:prSet/>
      <dgm:spPr/>
      <dgm:t>
        <a:bodyPr/>
        <a:lstStyle/>
        <a:p>
          <a:endParaRPr lang="en-US"/>
        </a:p>
      </dgm:t>
    </dgm:pt>
    <dgm:pt modelId="{1C41598C-C5A5-4E4D-B533-977192AD2061}">
      <dgm:prSet/>
      <dgm:spPr/>
      <dgm:t>
        <a:bodyPr/>
        <a:lstStyle/>
        <a:p>
          <a:r>
            <a:rPr lang="en-US" dirty="0"/>
            <a:t>ICU stay durations are calculated for each ICU admission.</a:t>
          </a:r>
        </a:p>
      </dgm:t>
    </dgm:pt>
    <dgm:pt modelId="{8CC1C07B-8734-4B25-A142-4A4C99A0D94F}" type="parTrans" cxnId="{00C48C7E-41D0-4CA0-9700-560C1DC5B878}">
      <dgm:prSet/>
      <dgm:spPr/>
      <dgm:t>
        <a:bodyPr/>
        <a:lstStyle/>
        <a:p>
          <a:endParaRPr lang="en-US"/>
        </a:p>
      </dgm:t>
    </dgm:pt>
    <dgm:pt modelId="{268FCAF0-BA3A-429B-A637-C3A8E6A04B36}" type="sibTrans" cxnId="{00C48C7E-41D0-4CA0-9700-560C1DC5B878}">
      <dgm:prSet/>
      <dgm:spPr/>
      <dgm:t>
        <a:bodyPr/>
        <a:lstStyle/>
        <a:p>
          <a:endParaRPr lang="en-US"/>
        </a:p>
      </dgm:t>
    </dgm:pt>
    <dgm:pt modelId="{68A18F85-B9F4-4175-BA8E-FC28DE51E1D6}">
      <dgm:prSet/>
      <dgm:spPr/>
      <dgm:t>
        <a:bodyPr/>
        <a:lstStyle/>
        <a:p>
          <a:r>
            <a:rPr lang="en-US" dirty="0"/>
            <a:t>Data is grouped by ICU type (e.g., MICU, SICU, CCU).</a:t>
          </a:r>
        </a:p>
      </dgm:t>
    </dgm:pt>
    <dgm:pt modelId="{FAD084B9-EA09-4E8A-840D-58E66F9B2E74}" type="parTrans" cxnId="{8B3AE8B1-9885-4E02-A61E-4FDA3E9FD844}">
      <dgm:prSet/>
      <dgm:spPr/>
      <dgm:t>
        <a:bodyPr/>
        <a:lstStyle/>
        <a:p>
          <a:endParaRPr lang="en-US"/>
        </a:p>
      </dgm:t>
    </dgm:pt>
    <dgm:pt modelId="{E62902A8-72D2-48C9-8AF4-52D335548B5F}" type="sibTrans" cxnId="{8B3AE8B1-9885-4E02-A61E-4FDA3E9FD844}">
      <dgm:prSet/>
      <dgm:spPr/>
      <dgm:t>
        <a:bodyPr/>
        <a:lstStyle/>
        <a:p>
          <a:endParaRPr lang="en-US"/>
        </a:p>
      </dgm:t>
    </dgm:pt>
    <dgm:pt modelId="{BB7D9B60-D712-417A-918B-F6D3B042B000}">
      <dgm:prSet/>
      <dgm:spPr/>
      <dgm:t>
        <a:bodyPr/>
        <a:lstStyle/>
        <a:p>
          <a:r>
            <a:rPr lang="en-US" dirty="0"/>
            <a:t>Boxplots are used to show ICU stay distributions.</a:t>
          </a:r>
        </a:p>
      </dgm:t>
    </dgm:pt>
    <dgm:pt modelId="{C070CD26-C8E2-4BB3-9931-07A77A9B894D}" type="parTrans" cxnId="{06295CAF-B3CE-465F-8B6D-30DA1FD1F7A3}">
      <dgm:prSet/>
      <dgm:spPr/>
      <dgm:t>
        <a:bodyPr/>
        <a:lstStyle/>
        <a:p>
          <a:endParaRPr lang="en-US"/>
        </a:p>
      </dgm:t>
    </dgm:pt>
    <dgm:pt modelId="{4723A0AA-48BD-42C6-87C5-5A9849AC7480}" type="sibTrans" cxnId="{06295CAF-B3CE-465F-8B6D-30DA1FD1F7A3}">
      <dgm:prSet/>
      <dgm:spPr/>
      <dgm:t>
        <a:bodyPr/>
        <a:lstStyle/>
        <a:p>
          <a:endParaRPr lang="en-US"/>
        </a:p>
      </dgm:t>
    </dgm:pt>
    <dgm:pt modelId="{9AEF45B7-1D05-B843-95C0-2E48D15C4856}" type="pres">
      <dgm:prSet presAssocID="{99327B6C-2DF8-4FCF-8080-FD0B8CAD889A}" presName="linear" presStyleCnt="0">
        <dgm:presLayoutVars>
          <dgm:dir/>
          <dgm:animLvl val="lvl"/>
          <dgm:resizeHandles val="exact"/>
        </dgm:presLayoutVars>
      </dgm:prSet>
      <dgm:spPr/>
    </dgm:pt>
    <dgm:pt modelId="{AC360863-1BED-6B41-8602-627C97E95503}" type="pres">
      <dgm:prSet presAssocID="{DE32F696-47D6-43BF-B064-FE199A6B6DFF}" presName="parentLin" presStyleCnt="0"/>
      <dgm:spPr/>
    </dgm:pt>
    <dgm:pt modelId="{428776DF-7C61-5B42-85F6-A71229B10ECB}" type="pres">
      <dgm:prSet presAssocID="{DE32F696-47D6-43BF-B064-FE199A6B6DFF}" presName="parentLeftMargin" presStyleLbl="node1" presStyleIdx="0" presStyleCnt="2"/>
      <dgm:spPr/>
    </dgm:pt>
    <dgm:pt modelId="{FFA54353-AEB8-8742-9FD2-0BF1D13A9CFB}" type="pres">
      <dgm:prSet presAssocID="{DE32F696-47D6-43BF-B064-FE199A6B6DF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CB1DBC-2129-624B-87A8-6703314D65A3}" type="pres">
      <dgm:prSet presAssocID="{DE32F696-47D6-43BF-B064-FE199A6B6DFF}" presName="negativeSpace" presStyleCnt="0"/>
      <dgm:spPr/>
    </dgm:pt>
    <dgm:pt modelId="{C7E25028-E3FC-D04D-BB4A-DE72A50FF8BC}" type="pres">
      <dgm:prSet presAssocID="{DE32F696-47D6-43BF-B064-FE199A6B6DFF}" presName="childText" presStyleLbl="conFgAcc1" presStyleIdx="0" presStyleCnt="2">
        <dgm:presLayoutVars>
          <dgm:bulletEnabled val="1"/>
        </dgm:presLayoutVars>
      </dgm:prSet>
      <dgm:spPr/>
    </dgm:pt>
    <dgm:pt modelId="{002BD261-98A9-684E-A0F3-21D4E5020A91}" type="pres">
      <dgm:prSet presAssocID="{F60EE35C-19EB-438B-A823-C98BA4E48206}" presName="spaceBetweenRectangles" presStyleCnt="0"/>
      <dgm:spPr/>
    </dgm:pt>
    <dgm:pt modelId="{60B01A9C-E846-A246-8555-91AD5625696E}" type="pres">
      <dgm:prSet presAssocID="{97FAEA82-0130-4A56-B926-F15BD13279A0}" presName="parentLin" presStyleCnt="0"/>
      <dgm:spPr/>
    </dgm:pt>
    <dgm:pt modelId="{61EDA9B9-FEE0-7745-A630-EB71FA1452E3}" type="pres">
      <dgm:prSet presAssocID="{97FAEA82-0130-4A56-B926-F15BD13279A0}" presName="parentLeftMargin" presStyleLbl="node1" presStyleIdx="0" presStyleCnt="2"/>
      <dgm:spPr/>
    </dgm:pt>
    <dgm:pt modelId="{FACD41D5-8B02-7E48-80D4-00157B7C2A09}" type="pres">
      <dgm:prSet presAssocID="{97FAEA82-0130-4A56-B926-F15BD13279A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1102CC6-99F5-4A4A-859C-D1D2280F9BD5}" type="pres">
      <dgm:prSet presAssocID="{97FAEA82-0130-4A56-B926-F15BD13279A0}" presName="negativeSpace" presStyleCnt="0"/>
      <dgm:spPr/>
    </dgm:pt>
    <dgm:pt modelId="{773E713E-BE04-4D4B-9432-D06F65D97511}" type="pres">
      <dgm:prSet presAssocID="{97FAEA82-0130-4A56-B926-F15BD13279A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5FFB53B-5527-784F-BFEC-64A909AFC845}" type="presOf" srcId="{68A18F85-B9F4-4175-BA8E-FC28DE51E1D6}" destId="{773E713E-BE04-4D4B-9432-D06F65D97511}" srcOrd="0" destOrd="1" presId="urn:microsoft.com/office/officeart/2005/8/layout/list1"/>
    <dgm:cxn modelId="{17848046-4602-6D4B-98FB-1781B34705D9}" type="presOf" srcId="{99327B6C-2DF8-4FCF-8080-FD0B8CAD889A}" destId="{9AEF45B7-1D05-B843-95C0-2E48D15C4856}" srcOrd="0" destOrd="0" presId="urn:microsoft.com/office/officeart/2005/8/layout/list1"/>
    <dgm:cxn modelId="{15ADA764-488C-4102-82AD-BF4E45DD90A0}" srcId="{99327B6C-2DF8-4FCF-8080-FD0B8CAD889A}" destId="{DE32F696-47D6-43BF-B064-FE199A6B6DFF}" srcOrd="0" destOrd="0" parTransId="{1264ABD0-99BB-446B-8E4D-CC06B466E953}" sibTransId="{F60EE35C-19EB-438B-A823-C98BA4E48206}"/>
    <dgm:cxn modelId="{3895366B-5B0A-BB43-903B-C80E8146B5EB}" type="presOf" srcId="{97FAEA82-0130-4A56-B926-F15BD13279A0}" destId="{FACD41D5-8B02-7E48-80D4-00157B7C2A09}" srcOrd="1" destOrd="0" presId="urn:microsoft.com/office/officeart/2005/8/layout/list1"/>
    <dgm:cxn modelId="{1EDC2976-9D90-6C42-A8DE-CDBCACBD0BEC}" type="presOf" srcId="{DE32F696-47D6-43BF-B064-FE199A6B6DFF}" destId="{428776DF-7C61-5B42-85F6-A71229B10ECB}" srcOrd="0" destOrd="0" presId="urn:microsoft.com/office/officeart/2005/8/layout/list1"/>
    <dgm:cxn modelId="{00C48C7E-41D0-4CA0-9700-560C1DC5B878}" srcId="{97FAEA82-0130-4A56-B926-F15BD13279A0}" destId="{1C41598C-C5A5-4E4D-B533-977192AD2061}" srcOrd="0" destOrd="0" parTransId="{8CC1C07B-8734-4B25-A142-4A4C99A0D94F}" sibTransId="{268FCAF0-BA3A-429B-A637-C3A8E6A04B36}"/>
    <dgm:cxn modelId="{81493990-D85A-4F35-A6A4-6F35CDE864F9}" srcId="{99327B6C-2DF8-4FCF-8080-FD0B8CAD889A}" destId="{97FAEA82-0130-4A56-B926-F15BD13279A0}" srcOrd="1" destOrd="0" parTransId="{960710EC-77F5-48E8-87E9-D1C329FCA49D}" sibTransId="{D58EBBCF-21D8-4D0C-A83E-CBF2DAC83EAA}"/>
    <dgm:cxn modelId="{64053294-BD3F-C944-BFA7-5328E9F4728D}" type="presOf" srcId="{BB7D9B60-D712-417A-918B-F6D3B042B000}" destId="{773E713E-BE04-4D4B-9432-D06F65D97511}" srcOrd="0" destOrd="2" presId="urn:microsoft.com/office/officeart/2005/8/layout/list1"/>
    <dgm:cxn modelId="{FFCF75AE-BB79-D84D-880C-3A729ED73CF4}" type="presOf" srcId="{97FAEA82-0130-4A56-B926-F15BD13279A0}" destId="{61EDA9B9-FEE0-7745-A630-EB71FA1452E3}" srcOrd="0" destOrd="0" presId="urn:microsoft.com/office/officeart/2005/8/layout/list1"/>
    <dgm:cxn modelId="{06295CAF-B3CE-465F-8B6D-30DA1FD1F7A3}" srcId="{97FAEA82-0130-4A56-B926-F15BD13279A0}" destId="{BB7D9B60-D712-417A-918B-F6D3B042B000}" srcOrd="2" destOrd="0" parTransId="{C070CD26-C8E2-4BB3-9931-07A77A9B894D}" sibTransId="{4723A0AA-48BD-42C6-87C5-5A9849AC7480}"/>
    <dgm:cxn modelId="{8B3AE8B1-9885-4E02-A61E-4FDA3E9FD844}" srcId="{97FAEA82-0130-4A56-B926-F15BD13279A0}" destId="{68A18F85-B9F4-4175-BA8E-FC28DE51E1D6}" srcOrd="1" destOrd="0" parTransId="{FAD084B9-EA09-4E8A-840D-58E66F9B2E74}" sibTransId="{E62902A8-72D2-48C9-8AF4-52D335548B5F}"/>
    <dgm:cxn modelId="{F5E6B5BA-D128-B742-B0B9-CFD59487C261}" type="presOf" srcId="{1C41598C-C5A5-4E4D-B533-977192AD2061}" destId="{773E713E-BE04-4D4B-9432-D06F65D97511}" srcOrd="0" destOrd="0" presId="urn:microsoft.com/office/officeart/2005/8/layout/list1"/>
    <dgm:cxn modelId="{C30D87F9-46CA-CC4C-B86C-B1896EF25041}" type="presOf" srcId="{DE32F696-47D6-43BF-B064-FE199A6B6DFF}" destId="{FFA54353-AEB8-8742-9FD2-0BF1D13A9CFB}" srcOrd="1" destOrd="0" presId="urn:microsoft.com/office/officeart/2005/8/layout/list1"/>
    <dgm:cxn modelId="{2F6E0671-0590-4A47-8D36-77DF3D373B9C}" type="presParOf" srcId="{9AEF45B7-1D05-B843-95C0-2E48D15C4856}" destId="{AC360863-1BED-6B41-8602-627C97E95503}" srcOrd="0" destOrd="0" presId="urn:microsoft.com/office/officeart/2005/8/layout/list1"/>
    <dgm:cxn modelId="{B2DF6624-2775-BB41-AAC9-D6805D69C748}" type="presParOf" srcId="{AC360863-1BED-6B41-8602-627C97E95503}" destId="{428776DF-7C61-5B42-85F6-A71229B10ECB}" srcOrd="0" destOrd="0" presId="urn:microsoft.com/office/officeart/2005/8/layout/list1"/>
    <dgm:cxn modelId="{7A509A62-0E76-2545-A6E5-509704665474}" type="presParOf" srcId="{AC360863-1BED-6B41-8602-627C97E95503}" destId="{FFA54353-AEB8-8742-9FD2-0BF1D13A9CFB}" srcOrd="1" destOrd="0" presId="urn:microsoft.com/office/officeart/2005/8/layout/list1"/>
    <dgm:cxn modelId="{699A63D2-AB87-3044-BB42-65A20A3B33F8}" type="presParOf" srcId="{9AEF45B7-1D05-B843-95C0-2E48D15C4856}" destId="{61CB1DBC-2129-624B-87A8-6703314D65A3}" srcOrd="1" destOrd="0" presId="urn:microsoft.com/office/officeart/2005/8/layout/list1"/>
    <dgm:cxn modelId="{F3568F9C-8BEC-0244-AC19-A4BDF104790F}" type="presParOf" srcId="{9AEF45B7-1D05-B843-95C0-2E48D15C4856}" destId="{C7E25028-E3FC-D04D-BB4A-DE72A50FF8BC}" srcOrd="2" destOrd="0" presId="urn:microsoft.com/office/officeart/2005/8/layout/list1"/>
    <dgm:cxn modelId="{27EACDED-0F6C-3F46-8E98-714BD0BB268B}" type="presParOf" srcId="{9AEF45B7-1D05-B843-95C0-2E48D15C4856}" destId="{002BD261-98A9-684E-A0F3-21D4E5020A91}" srcOrd="3" destOrd="0" presId="urn:microsoft.com/office/officeart/2005/8/layout/list1"/>
    <dgm:cxn modelId="{D8EB7A98-0766-424E-80B8-A3B3C2D54F34}" type="presParOf" srcId="{9AEF45B7-1D05-B843-95C0-2E48D15C4856}" destId="{60B01A9C-E846-A246-8555-91AD5625696E}" srcOrd="4" destOrd="0" presId="urn:microsoft.com/office/officeart/2005/8/layout/list1"/>
    <dgm:cxn modelId="{564E8DF0-3D3F-4446-B313-F63205957029}" type="presParOf" srcId="{60B01A9C-E846-A246-8555-91AD5625696E}" destId="{61EDA9B9-FEE0-7745-A630-EB71FA1452E3}" srcOrd="0" destOrd="0" presId="urn:microsoft.com/office/officeart/2005/8/layout/list1"/>
    <dgm:cxn modelId="{B48C1E5A-8A1F-7D46-9CCC-2549C7C84A0C}" type="presParOf" srcId="{60B01A9C-E846-A246-8555-91AD5625696E}" destId="{FACD41D5-8B02-7E48-80D4-00157B7C2A09}" srcOrd="1" destOrd="0" presId="urn:microsoft.com/office/officeart/2005/8/layout/list1"/>
    <dgm:cxn modelId="{AF0DD771-429B-0841-9255-15C4ABA132F7}" type="presParOf" srcId="{9AEF45B7-1D05-B843-95C0-2E48D15C4856}" destId="{B1102CC6-99F5-4A4A-859C-D1D2280F9BD5}" srcOrd="5" destOrd="0" presId="urn:microsoft.com/office/officeart/2005/8/layout/list1"/>
    <dgm:cxn modelId="{95BC7DFF-2B12-134A-919C-1A2C6A66267B}" type="presParOf" srcId="{9AEF45B7-1D05-B843-95C0-2E48D15C4856}" destId="{773E713E-BE04-4D4B-9432-D06F65D9751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9327B6C-2DF8-4FCF-8080-FD0B8CAD889A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E32F696-47D6-43BF-B064-FE199A6B6DFF}">
      <dgm:prSet/>
      <dgm:spPr/>
      <dgm:t>
        <a:bodyPr/>
        <a:lstStyle/>
        <a:p>
          <a:r>
            <a:rPr lang="en-US" dirty="0"/>
            <a:t>Data used : </a:t>
          </a:r>
          <a:r>
            <a:rPr lang="en-US" b="0" dirty="0" err="1"/>
            <a:t>ICUSTAYS</a:t>
          </a:r>
          <a:r>
            <a:rPr lang="en-US" dirty="0" err="1"/>
            <a:t>.csv</a:t>
          </a:r>
          <a:r>
            <a:rPr lang="en-US" dirty="0"/>
            <a:t> dataset </a:t>
          </a:r>
        </a:p>
      </dgm:t>
    </dgm:pt>
    <dgm:pt modelId="{1264ABD0-99BB-446B-8E4D-CC06B466E953}" type="parTrans" cxnId="{15ADA764-488C-4102-82AD-BF4E45DD90A0}">
      <dgm:prSet/>
      <dgm:spPr/>
      <dgm:t>
        <a:bodyPr/>
        <a:lstStyle/>
        <a:p>
          <a:endParaRPr lang="en-US"/>
        </a:p>
      </dgm:t>
    </dgm:pt>
    <dgm:pt modelId="{F60EE35C-19EB-438B-A823-C98BA4E48206}" type="sibTrans" cxnId="{15ADA764-488C-4102-82AD-BF4E45DD90A0}">
      <dgm:prSet/>
      <dgm:spPr/>
      <dgm:t>
        <a:bodyPr/>
        <a:lstStyle/>
        <a:p>
          <a:endParaRPr lang="en-US"/>
        </a:p>
      </dgm:t>
    </dgm:pt>
    <dgm:pt modelId="{97FAEA82-0130-4A56-B926-F15BD13279A0}">
      <dgm:prSet/>
      <dgm:spPr/>
      <dgm:t>
        <a:bodyPr/>
        <a:lstStyle/>
        <a:p>
          <a:r>
            <a:rPr lang="en-US"/>
            <a:t>Steps </a:t>
          </a:r>
        </a:p>
      </dgm:t>
    </dgm:pt>
    <dgm:pt modelId="{960710EC-77F5-48E8-87E9-D1C329FCA49D}" type="parTrans" cxnId="{81493990-D85A-4F35-A6A4-6F35CDE864F9}">
      <dgm:prSet/>
      <dgm:spPr/>
      <dgm:t>
        <a:bodyPr/>
        <a:lstStyle/>
        <a:p>
          <a:endParaRPr lang="en-US"/>
        </a:p>
      </dgm:t>
    </dgm:pt>
    <dgm:pt modelId="{D58EBBCF-21D8-4D0C-A83E-CBF2DAC83EAA}" type="sibTrans" cxnId="{81493990-D85A-4F35-A6A4-6F35CDE864F9}">
      <dgm:prSet/>
      <dgm:spPr/>
      <dgm:t>
        <a:bodyPr/>
        <a:lstStyle/>
        <a:p>
          <a:endParaRPr lang="en-US"/>
        </a:p>
      </dgm:t>
    </dgm:pt>
    <dgm:pt modelId="{1C41598C-C5A5-4E4D-B533-977192AD2061}">
      <dgm:prSet/>
      <dgm:spPr/>
      <dgm:t>
        <a:bodyPr/>
        <a:lstStyle/>
        <a:p>
          <a:r>
            <a:rPr lang="en-US" dirty="0"/>
            <a:t>Patient age is plotted against ICU Length of stay.</a:t>
          </a:r>
        </a:p>
      </dgm:t>
    </dgm:pt>
    <dgm:pt modelId="{8CC1C07B-8734-4B25-A142-4A4C99A0D94F}" type="parTrans" cxnId="{00C48C7E-41D0-4CA0-9700-560C1DC5B878}">
      <dgm:prSet/>
      <dgm:spPr/>
      <dgm:t>
        <a:bodyPr/>
        <a:lstStyle/>
        <a:p>
          <a:endParaRPr lang="en-US"/>
        </a:p>
      </dgm:t>
    </dgm:pt>
    <dgm:pt modelId="{268FCAF0-BA3A-429B-A637-C3A8E6A04B36}" type="sibTrans" cxnId="{00C48C7E-41D0-4CA0-9700-560C1DC5B878}">
      <dgm:prSet/>
      <dgm:spPr/>
      <dgm:t>
        <a:bodyPr/>
        <a:lstStyle/>
        <a:p>
          <a:endParaRPr lang="en-US"/>
        </a:p>
      </dgm:t>
    </dgm:pt>
    <dgm:pt modelId="{BB7D9B60-D712-417A-918B-F6D3B042B000}">
      <dgm:prSet/>
      <dgm:spPr/>
      <dgm:t>
        <a:bodyPr/>
        <a:lstStyle/>
        <a:p>
          <a:r>
            <a:rPr lang="en-US" dirty="0"/>
            <a:t>Scatter plots or smoothed trend lines are used.</a:t>
          </a:r>
        </a:p>
      </dgm:t>
    </dgm:pt>
    <dgm:pt modelId="{C070CD26-C8E2-4BB3-9931-07A77A9B894D}" type="parTrans" cxnId="{06295CAF-B3CE-465F-8B6D-30DA1FD1F7A3}">
      <dgm:prSet/>
      <dgm:spPr/>
      <dgm:t>
        <a:bodyPr/>
        <a:lstStyle/>
        <a:p>
          <a:endParaRPr lang="en-US"/>
        </a:p>
      </dgm:t>
    </dgm:pt>
    <dgm:pt modelId="{4723A0AA-48BD-42C6-87C5-5A9849AC7480}" type="sibTrans" cxnId="{06295CAF-B3CE-465F-8B6D-30DA1FD1F7A3}">
      <dgm:prSet/>
      <dgm:spPr/>
      <dgm:t>
        <a:bodyPr/>
        <a:lstStyle/>
        <a:p>
          <a:endParaRPr lang="en-US"/>
        </a:p>
      </dgm:t>
    </dgm:pt>
    <dgm:pt modelId="{9AEF45B7-1D05-B843-95C0-2E48D15C4856}" type="pres">
      <dgm:prSet presAssocID="{99327B6C-2DF8-4FCF-8080-FD0B8CAD889A}" presName="linear" presStyleCnt="0">
        <dgm:presLayoutVars>
          <dgm:dir/>
          <dgm:animLvl val="lvl"/>
          <dgm:resizeHandles val="exact"/>
        </dgm:presLayoutVars>
      </dgm:prSet>
      <dgm:spPr/>
    </dgm:pt>
    <dgm:pt modelId="{AC360863-1BED-6B41-8602-627C97E95503}" type="pres">
      <dgm:prSet presAssocID="{DE32F696-47D6-43BF-B064-FE199A6B6DFF}" presName="parentLin" presStyleCnt="0"/>
      <dgm:spPr/>
    </dgm:pt>
    <dgm:pt modelId="{428776DF-7C61-5B42-85F6-A71229B10ECB}" type="pres">
      <dgm:prSet presAssocID="{DE32F696-47D6-43BF-B064-FE199A6B6DFF}" presName="parentLeftMargin" presStyleLbl="node1" presStyleIdx="0" presStyleCnt="2"/>
      <dgm:spPr/>
    </dgm:pt>
    <dgm:pt modelId="{FFA54353-AEB8-8742-9FD2-0BF1D13A9CFB}" type="pres">
      <dgm:prSet presAssocID="{DE32F696-47D6-43BF-B064-FE199A6B6DF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CB1DBC-2129-624B-87A8-6703314D65A3}" type="pres">
      <dgm:prSet presAssocID="{DE32F696-47D6-43BF-B064-FE199A6B6DFF}" presName="negativeSpace" presStyleCnt="0"/>
      <dgm:spPr/>
    </dgm:pt>
    <dgm:pt modelId="{C7E25028-E3FC-D04D-BB4A-DE72A50FF8BC}" type="pres">
      <dgm:prSet presAssocID="{DE32F696-47D6-43BF-B064-FE199A6B6DFF}" presName="childText" presStyleLbl="conFgAcc1" presStyleIdx="0" presStyleCnt="2">
        <dgm:presLayoutVars>
          <dgm:bulletEnabled val="1"/>
        </dgm:presLayoutVars>
      </dgm:prSet>
      <dgm:spPr/>
    </dgm:pt>
    <dgm:pt modelId="{002BD261-98A9-684E-A0F3-21D4E5020A91}" type="pres">
      <dgm:prSet presAssocID="{F60EE35C-19EB-438B-A823-C98BA4E48206}" presName="spaceBetweenRectangles" presStyleCnt="0"/>
      <dgm:spPr/>
    </dgm:pt>
    <dgm:pt modelId="{60B01A9C-E846-A246-8555-91AD5625696E}" type="pres">
      <dgm:prSet presAssocID="{97FAEA82-0130-4A56-B926-F15BD13279A0}" presName="parentLin" presStyleCnt="0"/>
      <dgm:spPr/>
    </dgm:pt>
    <dgm:pt modelId="{61EDA9B9-FEE0-7745-A630-EB71FA1452E3}" type="pres">
      <dgm:prSet presAssocID="{97FAEA82-0130-4A56-B926-F15BD13279A0}" presName="parentLeftMargin" presStyleLbl="node1" presStyleIdx="0" presStyleCnt="2"/>
      <dgm:spPr/>
    </dgm:pt>
    <dgm:pt modelId="{FACD41D5-8B02-7E48-80D4-00157B7C2A09}" type="pres">
      <dgm:prSet presAssocID="{97FAEA82-0130-4A56-B926-F15BD13279A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1102CC6-99F5-4A4A-859C-D1D2280F9BD5}" type="pres">
      <dgm:prSet presAssocID="{97FAEA82-0130-4A56-B926-F15BD13279A0}" presName="negativeSpace" presStyleCnt="0"/>
      <dgm:spPr/>
    </dgm:pt>
    <dgm:pt modelId="{773E713E-BE04-4D4B-9432-D06F65D97511}" type="pres">
      <dgm:prSet presAssocID="{97FAEA82-0130-4A56-B926-F15BD13279A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7848046-4602-6D4B-98FB-1781B34705D9}" type="presOf" srcId="{99327B6C-2DF8-4FCF-8080-FD0B8CAD889A}" destId="{9AEF45B7-1D05-B843-95C0-2E48D15C4856}" srcOrd="0" destOrd="0" presId="urn:microsoft.com/office/officeart/2005/8/layout/list1"/>
    <dgm:cxn modelId="{15ADA764-488C-4102-82AD-BF4E45DD90A0}" srcId="{99327B6C-2DF8-4FCF-8080-FD0B8CAD889A}" destId="{DE32F696-47D6-43BF-B064-FE199A6B6DFF}" srcOrd="0" destOrd="0" parTransId="{1264ABD0-99BB-446B-8E4D-CC06B466E953}" sibTransId="{F60EE35C-19EB-438B-A823-C98BA4E48206}"/>
    <dgm:cxn modelId="{3895366B-5B0A-BB43-903B-C80E8146B5EB}" type="presOf" srcId="{97FAEA82-0130-4A56-B926-F15BD13279A0}" destId="{FACD41D5-8B02-7E48-80D4-00157B7C2A09}" srcOrd="1" destOrd="0" presId="urn:microsoft.com/office/officeart/2005/8/layout/list1"/>
    <dgm:cxn modelId="{1EDC2976-9D90-6C42-A8DE-CDBCACBD0BEC}" type="presOf" srcId="{DE32F696-47D6-43BF-B064-FE199A6B6DFF}" destId="{428776DF-7C61-5B42-85F6-A71229B10ECB}" srcOrd="0" destOrd="0" presId="urn:microsoft.com/office/officeart/2005/8/layout/list1"/>
    <dgm:cxn modelId="{00C48C7E-41D0-4CA0-9700-560C1DC5B878}" srcId="{97FAEA82-0130-4A56-B926-F15BD13279A0}" destId="{1C41598C-C5A5-4E4D-B533-977192AD2061}" srcOrd="0" destOrd="0" parTransId="{8CC1C07B-8734-4B25-A142-4A4C99A0D94F}" sibTransId="{268FCAF0-BA3A-429B-A637-C3A8E6A04B36}"/>
    <dgm:cxn modelId="{81493990-D85A-4F35-A6A4-6F35CDE864F9}" srcId="{99327B6C-2DF8-4FCF-8080-FD0B8CAD889A}" destId="{97FAEA82-0130-4A56-B926-F15BD13279A0}" srcOrd="1" destOrd="0" parTransId="{960710EC-77F5-48E8-87E9-D1C329FCA49D}" sibTransId="{D58EBBCF-21D8-4D0C-A83E-CBF2DAC83EAA}"/>
    <dgm:cxn modelId="{64053294-BD3F-C944-BFA7-5328E9F4728D}" type="presOf" srcId="{BB7D9B60-D712-417A-918B-F6D3B042B000}" destId="{773E713E-BE04-4D4B-9432-D06F65D97511}" srcOrd="0" destOrd="1" presId="urn:microsoft.com/office/officeart/2005/8/layout/list1"/>
    <dgm:cxn modelId="{FFCF75AE-BB79-D84D-880C-3A729ED73CF4}" type="presOf" srcId="{97FAEA82-0130-4A56-B926-F15BD13279A0}" destId="{61EDA9B9-FEE0-7745-A630-EB71FA1452E3}" srcOrd="0" destOrd="0" presId="urn:microsoft.com/office/officeart/2005/8/layout/list1"/>
    <dgm:cxn modelId="{06295CAF-B3CE-465F-8B6D-30DA1FD1F7A3}" srcId="{97FAEA82-0130-4A56-B926-F15BD13279A0}" destId="{BB7D9B60-D712-417A-918B-F6D3B042B000}" srcOrd="1" destOrd="0" parTransId="{C070CD26-C8E2-4BB3-9931-07A77A9B894D}" sibTransId="{4723A0AA-48BD-42C6-87C5-5A9849AC7480}"/>
    <dgm:cxn modelId="{F5E6B5BA-D128-B742-B0B9-CFD59487C261}" type="presOf" srcId="{1C41598C-C5A5-4E4D-B533-977192AD2061}" destId="{773E713E-BE04-4D4B-9432-D06F65D97511}" srcOrd="0" destOrd="0" presId="urn:microsoft.com/office/officeart/2005/8/layout/list1"/>
    <dgm:cxn modelId="{C30D87F9-46CA-CC4C-B86C-B1896EF25041}" type="presOf" srcId="{DE32F696-47D6-43BF-B064-FE199A6B6DFF}" destId="{FFA54353-AEB8-8742-9FD2-0BF1D13A9CFB}" srcOrd="1" destOrd="0" presId="urn:microsoft.com/office/officeart/2005/8/layout/list1"/>
    <dgm:cxn modelId="{2F6E0671-0590-4A47-8D36-77DF3D373B9C}" type="presParOf" srcId="{9AEF45B7-1D05-B843-95C0-2E48D15C4856}" destId="{AC360863-1BED-6B41-8602-627C97E95503}" srcOrd="0" destOrd="0" presId="urn:microsoft.com/office/officeart/2005/8/layout/list1"/>
    <dgm:cxn modelId="{B2DF6624-2775-BB41-AAC9-D6805D69C748}" type="presParOf" srcId="{AC360863-1BED-6B41-8602-627C97E95503}" destId="{428776DF-7C61-5B42-85F6-A71229B10ECB}" srcOrd="0" destOrd="0" presId="urn:microsoft.com/office/officeart/2005/8/layout/list1"/>
    <dgm:cxn modelId="{7A509A62-0E76-2545-A6E5-509704665474}" type="presParOf" srcId="{AC360863-1BED-6B41-8602-627C97E95503}" destId="{FFA54353-AEB8-8742-9FD2-0BF1D13A9CFB}" srcOrd="1" destOrd="0" presId="urn:microsoft.com/office/officeart/2005/8/layout/list1"/>
    <dgm:cxn modelId="{699A63D2-AB87-3044-BB42-65A20A3B33F8}" type="presParOf" srcId="{9AEF45B7-1D05-B843-95C0-2E48D15C4856}" destId="{61CB1DBC-2129-624B-87A8-6703314D65A3}" srcOrd="1" destOrd="0" presId="urn:microsoft.com/office/officeart/2005/8/layout/list1"/>
    <dgm:cxn modelId="{F3568F9C-8BEC-0244-AC19-A4BDF104790F}" type="presParOf" srcId="{9AEF45B7-1D05-B843-95C0-2E48D15C4856}" destId="{C7E25028-E3FC-D04D-BB4A-DE72A50FF8BC}" srcOrd="2" destOrd="0" presId="urn:microsoft.com/office/officeart/2005/8/layout/list1"/>
    <dgm:cxn modelId="{27EACDED-0F6C-3F46-8E98-714BD0BB268B}" type="presParOf" srcId="{9AEF45B7-1D05-B843-95C0-2E48D15C4856}" destId="{002BD261-98A9-684E-A0F3-21D4E5020A91}" srcOrd="3" destOrd="0" presId="urn:microsoft.com/office/officeart/2005/8/layout/list1"/>
    <dgm:cxn modelId="{D8EB7A98-0766-424E-80B8-A3B3C2D54F34}" type="presParOf" srcId="{9AEF45B7-1D05-B843-95C0-2E48D15C4856}" destId="{60B01A9C-E846-A246-8555-91AD5625696E}" srcOrd="4" destOrd="0" presId="urn:microsoft.com/office/officeart/2005/8/layout/list1"/>
    <dgm:cxn modelId="{564E8DF0-3D3F-4446-B313-F63205957029}" type="presParOf" srcId="{60B01A9C-E846-A246-8555-91AD5625696E}" destId="{61EDA9B9-FEE0-7745-A630-EB71FA1452E3}" srcOrd="0" destOrd="0" presId="urn:microsoft.com/office/officeart/2005/8/layout/list1"/>
    <dgm:cxn modelId="{B48C1E5A-8A1F-7D46-9CCC-2549C7C84A0C}" type="presParOf" srcId="{60B01A9C-E846-A246-8555-91AD5625696E}" destId="{FACD41D5-8B02-7E48-80D4-00157B7C2A09}" srcOrd="1" destOrd="0" presId="urn:microsoft.com/office/officeart/2005/8/layout/list1"/>
    <dgm:cxn modelId="{AF0DD771-429B-0841-9255-15C4ABA132F7}" type="presParOf" srcId="{9AEF45B7-1D05-B843-95C0-2E48D15C4856}" destId="{B1102CC6-99F5-4A4A-859C-D1D2280F9BD5}" srcOrd="5" destOrd="0" presId="urn:microsoft.com/office/officeart/2005/8/layout/list1"/>
    <dgm:cxn modelId="{95BC7DFF-2B12-134A-919C-1A2C6A66267B}" type="presParOf" srcId="{9AEF45B7-1D05-B843-95C0-2E48D15C4856}" destId="{773E713E-BE04-4D4B-9432-D06F65D9751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25028-E3FC-D04D-BB4A-DE72A50FF8BC}">
      <dsp:nvSpPr>
        <dsp:cNvPr id="0" name=""/>
        <dsp:cNvSpPr/>
      </dsp:nvSpPr>
      <dsp:spPr>
        <a:xfrm>
          <a:off x="0" y="527585"/>
          <a:ext cx="6666833" cy="579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54353-AEB8-8742-9FD2-0BF1D13A9CFB}">
      <dsp:nvSpPr>
        <dsp:cNvPr id="0" name=""/>
        <dsp:cNvSpPr/>
      </dsp:nvSpPr>
      <dsp:spPr>
        <a:xfrm>
          <a:off x="333341" y="188105"/>
          <a:ext cx="4666783" cy="678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Data used : </a:t>
          </a:r>
          <a:r>
            <a:rPr lang="en-US" sz="2300" kern="1200" dirty="0" err="1"/>
            <a:t>PATIENTS.csv</a:t>
          </a:r>
          <a:r>
            <a:rPr lang="en-US" sz="2300" kern="1200" dirty="0"/>
            <a:t> dataset </a:t>
          </a:r>
        </a:p>
      </dsp:txBody>
      <dsp:txXfrm>
        <a:off x="366485" y="221249"/>
        <a:ext cx="4600495" cy="612672"/>
      </dsp:txXfrm>
    </dsp:sp>
    <dsp:sp modelId="{773E713E-BE04-4D4B-9432-D06F65D97511}">
      <dsp:nvSpPr>
        <dsp:cNvPr id="0" name=""/>
        <dsp:cNvSpPr/>
      </dsp:nvSpPr>
      <dsp:spPr>
        <a:xfrm>
          <a:off x="0" y="1570865"/>
          <a:ext cx="6666833" cy="36949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79044" rIns="517420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Calculate the patients age (filter for patients with age &lt; 120 years)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Ages are grouped into ranges (e.g., 50–54, 55–59, …).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Count the number of Male and Female patients in each age group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 horizontal bar chart is plotted with males on one side (negative values) and females on the other.</a:t>
          </a:r>
        </a:p>
      </dsp:txBody>
      <dsp:txXfrm>
        <a:off x="0" y="1570865"/>
        <a:ext cx="6666833" cy="3694949"/>
      </dsp:txXfrm>
    </dsp:sp>
    <dsp:sp modelId="{FACD41D5-8B02-7E48-80D4-00157B7C2A09}">
      <dsp:nvSpPr>
        <dsp:cNvPr id="0" name=""/>
        <dsp:cNvSpPr/>
      </dsp:nvSpPr>
      <dsp:spPr>
        <a:xfrm>
          <a:off x="333341" y="1231385"/>
          <a:ext cx="4666783" cy="678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Steps </a:t>
          </a:r>
        </a:p>
      </dsp:txBody>
      <dsp:txXfrm>
        <a:off x="366485" y="1264529"/>
        <a:ext cx="4600495" cy="612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25028-E3FC-D04D-BB4A-DE72A50FF8BC}">
      <dsp:nvSpPr>
        <dsp:cNvPr id="0" name=""/>
        <dsp:cNvSpPr/>
      </dsp:nvSpPr>
      <dsp:spPr>
        <a:xfrm>
          <a:off x="0" y="1255459"/>
          <a:ext cx="666683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54353-AEB8-8742-9FD2-0BF1D13A9CFB}">
      <dsp:nvSpPr>
        <dsp:cNvPr id="0" name=""/>
        <dsp:cNvSpPr/>
      </dsp:nvSpPr>
      <dsp:spPr>
        <a:xfrm>
          <a:off x="333341" y="960260"/>
          <a:ext cx="4666783" cy="5903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used : </a:t>
          </a:r>
          <a:r>
            <a:rPr lang="en-US" sz="2000" kern="1200" dirty="0" err="1"/>
            <a:t>ADMISSIONS.csv</a:t>
          </a:r>
          <a:r>
            <a:rPr lang="en-US" sz="2000" kern="1200" dirty="0"/>
            <a:t> dataset </a:t>
          </a:r>
        </a:p>
      </dsp:txBody>
      <dsp:txXfrm>
        <a:off x="362162" y="989081"/>
        <a:ext cx="4609141" cy="532757"/>
      </dsp:txXfrm>
    </dsp:sp>
    <dsp:sp modelId="{773E713E-BE04-4D4B-9432-D06F65D97511}">
      <dsp:nvSpPr>
        <dsp:cNvPr id="0" name=""/>
        <dsp:cNvSpPr/>
      </dsp:nvSpPr>
      <dsp:spPr>
        <a:xfrm>
          <a:off x="0" y="2162659"/>
          <a:ext cx="6666833" cy="233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Admission timestamps are extracted into day of week and hour of day.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Admissions are counted for each (day, hour) combination.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 heatmap is generated using color intensity to represent volume.</a:t>
          </a:r>
        </a:p>
      </dsp:txBody>
      <dsp:txXfrm>
        <a:off x="0" y="2162659"/>
        <a:ext cx="6666833" cy="2331000"/>
      </dsp:txXfrm>
    </dsp:sp>
    <dsp:sp modelId="{FACD41D5-8B02-7E48-80D4-00157B7C2A09}">
      <dsp:nvSpPr>
        <dsp:cNvPr id="0" name=""/>
        <dsp:cNvSpPr/>
      </dsp:nvSpPr>
      <dsp:spPr>
        <a:xfrm>
          <a:off x="333341" y="1867460"/>
          <a:ext cx="4666783" cy="59039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Steps </a:t>
          </a:r>
        </a:p>
      </dsp:txBody>
      <dsp:txXfrm>
        <a:off x="362162" y="1896281"/>
        <a:ext cx="4609141" cy="5327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25028-E3FC-D04D-BB4A-DE72A50FF8BC}">
      <dsp:nvSpPr>
        <dsp:cNvPr id="0" name=""/>
        <dsp:cNvSpPr/>
      </dsp:nvSpPr>
      <dsp:spPr>
        <a:xfrm>
          <a:off x="0" y="1255459"/>
          <a:ext cx="666683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54353-AEB8-8742-9FD2-0BF1D13A9CFB}">
      <dsp:nvSpPr>
        <dsp:cNvPr id="0" name=""/>
        <dsp:cNvSpPr/>
      </dsp:nvSpPr>
      <dsp:spPr>
        <a:xfrm>
          <a:off x="333341" y="960260"/>
          <a:ext cx="4666783" cy="5903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used : </a:t>
          </a:r>
          <a:r>
            <a:rPr lang="en-US" sz="2000" kern="1200" dirty="0" err="1"/>
            <a:t>ADMISSIONS.csv</a:t>
          </a:r>
          <a:r>
            <a:rPr lang="en-US" sz="2000" kern="1200" dirty="0"/>
            <a:t> dataset </a:t>
          </a:r>
        </a:p>
      </dsp:txBody>
      <dsp:txXfrm>
        <a:off x="362162" y="989081"/>
        <a:ext cx="4609141" cy="532757"/>
      </dsp:txXfrm>
    </dsp:sp>
    <dsp:sp modelId="{773E713E-BE04-4D4B-9432-D06F65D97511}">
      <dsp:nvSpPr>
        <dsp:cNvPr id="0" name=""/>
        <dsp:cNvSpPr/>
      </dsp:nvSpPr>
      <dsp:spPr>
        <a:xfrm>
          <a:off x="0" y="2162659"/>
          <a:ext cx="6666833" cy="233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Length of stay is calculated as discharge time minus admission time (in days).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Mortality status is derived from </a:t>
          </a:r>
          <a:r>
            <a:rPr lang="en-US" sz="2000" b="0" kern="1200" dirty="0"/>
            <a:t>HOSPITAL_EXPIRE_FLAG</a:t>
          </a:r>
          <a:r>
            <a:rPr lang="en-US" sz="2000" kern="1200" dirty="0"/>
            <a:t> death indicators.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 density-based visualization plot (KDE Plot) based on mortality status.</a:t>
          </a:r>
        </a:p>
      </dsp:txBody>
      <dsp:txXfrm>
        <a:off x="0" y="2162659"/>
        <a:ext cx="6666833" cy="2331000"/>
      </dsp:txXfrm>
    </dsp:sp>
    <dsp:sp modelId="{FACD41D5-8B02-7E48-80D4-00157B7C2A09}">
      <dsp:nvSpPr>
        <dsp:cNvPr id="0" name=""/>
        <dsp:cNvSpPr/>
      </dsp:nvSpPr>
      <dsp:spPr>
        <a:xfrm>
          <a:off x="333341" y="1867460"/>
          <a:ext cx="4666783" cy="59039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Steps </a:t>
          </a:r>
        </a:p>
      </dsp:txBody>
      <dsp:txXfrm>
        <a:off x="362162" y="1896281"/>
        <a:ext cx="4609141" cy="5327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25028-E3FC-D04D-BB4A-DE72A50FF8BC}">
      <dsp:nvSpPr>
        <dsp:cNvPr id="0" name=""/>
        <dsp:cNvSpPr/>
      </dsp:nvSpPr>
      <dsp:spPr>
        <a:xfrm>
          <a:off x="0" y="814460"/>
          <a:ext cx="666683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54353-AEB8-8742-9FD2-0BF1D13A9CFB}">
      <dsp:nvSpPr>
        <dsp:cNvPr id="0" name=""/>
        <dsp:cNvSpPr/>
      </dsp:nvSpPr>
      <dsp:spPr>
        <a:xfrm>
          <a:off x="333341" y="519260"/>
          <a:ext cx="4666783" cy="5903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used : </a:t>
          </a:r>
          <a:r>
            <a:rPr lang="en-US" sz="2000" kern="1200" dirty="0" err="1"/>
            <a:t>ADMISSIONS.csv</a:t>
          </a:r>
          <a:r>
            <a:rPr lang="en-US" sz="2000" kern="1200" dirty="0"/>
            <a:t> dataset </a:t>
          </a:r>
        </a:p>
      </dsp:txBody>
      <dsp:txXfrm>
        <a:off x="362162" y="548081"/>
        <a:ext cx="4609141" cy="532757"/>
      </dsp:txXfrm>
    </dsp:sp>
    <dsp:sp modelId="{773E713E-BE04-4D4B-9432-D06F65D97511}">
      <dsp:nvSpPr>
        <dsp:cNvPr id="0" name=""/>
        <dsp:cNvSpPr/>
      </dsp:nvSpPr>
      <dsp:spPr>
        <a:xfrm>
          <a:off x="0" y="1721659"/>
          <a:ext cx="6666833" cy="321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Length of stay is calculated as discharge time minus admission time (in days).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Censoring is applied for patients discharged alive.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Write a function to generate survival probability data over time periods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A Kaplan-Meier (K-M) survival curve (a step plot) </a:t>
          </a:r>
          <a:r>
            <a:rPr lang="en-US" sz="2000" kern="1200" dirty="0"/>
            <a:t>is generated to represent survival probability over time.</a:t>
          </a:r>
        </a:p>
      </dsp:txBody>
      <dsp:txXfrm>
        <a:off x="0" y="1721659"/>
        <a:ext cx="6666833" cy="3213000"/>
      </dsp:txXfrm>
    </dsp:sp>
    <dsp:sp modelId="{FACD41D5-8B02-7E48-80D4-00157B7C2A09}">
      <dsp:nvSpPr>
        <dsp:cNvPr id="0" name=""/>
        <dsp:cNvSpPr/>
      </dsp:nvSpPr>
      <dsp:spPr>
        <a:xfrm>
          <a:off x="333341" y="1426460"/>
          <a:ext cx="4666783" cy="59039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Steps </a:t>
          </a:r>
        </a:p>
      </dsp:txBody>
      <dsp:txXfrm>
        <a:off x="362162" y="1455281"/>
        <a:ext cx="4609141" cy="5327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25028-E3FC-D04D-BB4A-DE72A50FF8BC}">
      <dsp:nvSpPr>
        <dsp:cNvPr id="0" name=""/>
        <dsp:cNvSpPr/>
      </dsp:nvSpPr>
      <dsp:spPr>
        <a:xfrm>
          <a:off x="0" y="593285"/>
          <a:ext cx="6666833" cy="730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54353-AEB8-8742-9FD2-0BF1D13A9CFB}">
      <dsp:nvSpPr>
        <dsp:cNvPr id="0" name=""/>
        <dsp:cNvSpPr/>
      </dsp:nvSpPr>
      <dsp:spPr>
        <a:xfrm>
          <a:off x="386389" y="178171"/>
          <a:ext cx="4666783" cy="8560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used : </a:t>
          </a:r>
          <a:r>
            <a:rPr lang="en-US" sz="2400" kern="1200" dirty="0" err="1"/>
            <a:t>ICUSTAYS.csv</a:t>
          </a:r>
          <a:r>
            <a:rPr lang="en-US" sz="2400" kern="1200" dirty="0"/>
            <a:t>,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 err="1"/>
            <a:t>PRESCRIPTIONS</a:t>
          </a:r>
          <a:r>
            <a:rPr lang="en-US" sz="2400" kern="1200" dirty="0" err="1"/>
            <a:t>.csv</a:t>
          </a:r>
          <a:r>
            <a:rPr lang="en-US" sz="2400" kern="1200" dirty="0"/>
            <a:t> dataset</a:t>
          </a:r>
          <a:r>
            <a:rPr lang="en-US" sz="2700" kern="1200" dirty="0"/>
            <a:t> </a:t>
          </a:r>
        </a:p>
      </dsp:txBody>
      <dsp:txXfrm>
        <a:off x="428179" y="219961"/>
        <a:ext cx="4583203" cy="772500"/>
      </dsp:txXfrm>
    </dsp:sp>
    <dsp:sp modelId="{773E713E-BE04-4D4B-9432-D06F65D97511}">
      <dsp:nvSpPr>
        <dsp:cNvPr id="0" name=""/>
        <dsp:cNvSpPr/>
      </dsp:nvSpPr>
      <dsp:spPr>
        <a:xfrm>
          <a:off x="0" y="1908724"/>
          <a:ext cx="6666833" cy="3379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04012" rIns="517420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Medication administration records are filtered to ICU stays..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Medication names are counted by frequency.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A bar chart displays the most commonly administered drugs.</a:t>
          </a:r>
        </a:p>
      </dsp:txBody>
      <dsp:txXfrm>
        <a:off x="0" y="1908724"/>
        <a:ext cx="6666833" cy="3379950"/>
      </dsp:txXfrm>
    </dsp:sp>
    <dsp:sp modelId="{FACD41D5-8B02-7E48-80D4-00157B7C2A09}">
      <dsp:nvSpPr>
        <dsp:cNvPr id="0" name=""/>
        <dsp:cNvSpPr/>
      </dsp:nvSpPr>
      <dsp:spPr>
        <a:xfrm>
          <a:off x="333341" y="1480685"/>
          <a:ext cx="4666783" cy="85608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Steps </a:t>
          </a:r>
        </a:p>
      </dsp:txBody>
      <dsp:txXfrm>
        <a:off x="375131" y="1522475"/>
        <a:ext cx="4583203" cy="7725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25028-E3FC-D04D-BB4A-DE72A50FF8BC}">
      <dsp:nvSpPr>
        <dsp:cNvPr id="0" name=""/>
        <dsp:cNvSpPr/>
      </dsp:nvSpPr>
      <dsp:spPr>
        <a:xfrm>
          <a:off x="0" y="1034734"/>
          <a:ext cx="6666833" cy="579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54353-AEB8-8742-9FD2-0BF1D13A9CFB}">
      <dsp:nvSpPr>
        <dsp:cNvPr id="0" name=""/>
        <dsp:cNvSpPr/>
      </dsp:nvSpPr>
      <dsp:spPr>
        <a:xfrm>
          <a:off x="333341" y="695254"/>
          <a:ext cx="4666783" cy="678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Data used : </a:t>
          </a:r>
          <a:r>
            <a:rPr lang="en-US" sz="2300" b="0" kern="1200" dirty="0" err="1"/>
            <a:t>ICUSTAYS</a:t>
          </a:r>
          <a:r>
            <a:rPr lang="en-US" sz="2300" kern="1200" dirty="0" err="1"/>
            <a:t>.csv</a:t>
          </a:r>
          <a:r>
            <a:rPr lang="en-US" sz="2300" kern="1200" dirty="0"/>
            <a:t> dataset </a:t>
          </a:r>
        </a:p>
      </dsp:txBody>
      <dsp:txXfrm>
        <a:off x="366485" y="728398"/>
        <a:ext cx="4600495" cy="612672"/>
      </dsp:txXfrm>
    </dsp:sp>
    <dsp:sp modelId="{773E713E-BE04-4D4B-9432-D06F65D97511}">
      <dsp:nvSpPr>
        <dsp:cNvPr id="0" name=""/>
        <dsp:cNvSpPr/>
      </dsp:nvSpPr>
      <dsp:spPr>
        <a:xfrm>
          <a:off x="0" y="2078014"/>
          <a:ext cx="6666833" cy="2680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79044" rIns="517420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ICU stay durations are calculated for each ICU admission.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Data is grouped by ICU type (e.g., MICU, SICU, CCU).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Boxplots are used to show ICU stay distributions.</a:t>
          </a:r>
        </a:p>
      </dsp:txBody>
      <dsp:txXfrm>
        <a:off x="0" y="2078014"/>
        <a:ext cx="6666833" cy="2680650"/>
      </dsp:txXfrm>
    </dsp:sp>
    <dsp:sp modelId="{FACD41D5-8B02-7E48-80D4-00157B7C2A09}">
      <dsp:nvSpPr>
        <dsp:cNvPr id="0" name=""/>
        <dsp:cNvSpPr/>
      </dsp:nvSpPr>
      <dsp:spPr>
        <a:xfrm>
          <a:off x="333341" y="1738534"/>
          <a:ext cx="4666783" cy="678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Steps </a:t>
          </a:r>
        </a:p>
      </dsp:txBody>
      <dsp:txXfrm>
        <a:off x="366485" y="1771678"/>
        <a:ext cx="4600495" cy="6126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25028-E3FC-D04D-BB4A-DE72A50FF8BC}">
      <dsp:nvSpPr>
        <dsp:cNvPr id="0" name=""/>
        <dsp:cNvSpPr/>
      </dsp:nvSpPr>
      <dsp:spPr>
        <a:xfrm>
          <a:off x="0" y="1378872"/>
          <a:ext cx="6666833" cy="579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54353-AEB8-8742-9FD2-0BF1D13A9CFB}">
      <dsp:nvSpPr>
        <dsp:cNvPr id="0" name=""/>
        <dsp:cNvSpPr/>
      </dsp:nvSpPr>
      <dsp:spPr>
        <a:xfrm>
          <a:off x="333341" y="1039392"/>
          <a:ext cx="4666783" cy="678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Data used : </a:t>
          </a:r>
          <a:r>
            <a:rPr lang="en-US" sz="2300" b="0" kern="1200" dirty="0" err="1"/>
            <a:t>ICUSTAYS</a:t>
          </a:r>
          <a:r>
            <a:rPr lang="en-US" sz="2300" kern="1200" dirty="0" err="1"/>
            <a:t>.csv</a:t>
          </a:r>
          <a:r>
            <a:rPr lang="en-US" sz="2300" kern="1200" dirty="0"/>
            <a:t> dataset </a:t>
          </a:r>
        </a:p>
      </dsp:txBody>
      <dsp:txXfrm>
        <a:off x="366485" y="1072536"/>
        <a:ext cx="4600495" cy="612672"/>
      </dsp:txXfrm>
    </dsp:sp>
    <dsp:sp modelId="{773E713E-BE04-4D4B-9432-D06F65D97511}">
      <dsp:nvSpPr>
        <dsp:cNvPr id="0" name=""/>
        <dsp:cNvSpPr/>
      </dsp:nvSpPr>
      <dsp:spPr>
        <a:xfrm>
          <a:off x="0" y="2422152"/>
          <a:ext cx="6666833" cy="1992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79044" rIns="517420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Patient age is plotted against ICU Length of stay.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Scatter plots or smoothed trend lines are used.</a:t>
          </a:r>
        </a:p>
      </dsp:txBody>
      <dsp:txXfrm>
        <a:off x="0" y="2422152"/>
        <a:ext cx="6666833" cy="1992375"/>
      </dsp:txXfrm>
    </dsp:sp>
    <dsp:sp modelId="{FACD41D5-8B02-7E48-80D4-00157B7C2A09}">
      <dsp:nvSpPr>
        <dsp:cNvPr id="0" name=""/>
        <dsp:cNvSpPr/>
      </dsp:nvSpPr>
      <dsp:spPr>
        <a:xfrm>
          <a:off x="333341" y="2082672"/>
          <a:ext cx="4666783" cy="678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Steps </a:t>
          </a:r>
        </a:p>
      </dsp:txBody>
      <dsp:txXfrm>
        <a:off x="366485" y="2115816"/>
        <a:ext cx="4600495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F3E1B-5925-BC4F-802A-DD410E9D1AA4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CEE3F-E9BC-9F42-9FEE-5AAD149E4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1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CEE3F-E9BC-9F42-9FEE-5AAD149E4B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58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287B0-9B0E-6A64-FAF4-AA6343C4D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154FB4-D4FD-A7C9-4660-F1E9CA174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57319-8832-C0FF-0E88-BB5CDE20D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A494F-7C84-BE9B-C562-3F1B8E5B4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CEE3F-E9BC-9F42-9FEE-5AAD149E4B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4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CEE3F-E9BC-9F42-9FEE-5AAD149E4B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04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7D453-F84D-438C-9A03-5403DCF14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8BCF3-071F-1B48-1229-9A4B6DAAE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7A192-0900-313F-C904-B88F8E7F1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54E76-C5BD-9769-E3D1-4AFB0586D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CEE3F-E9BC-9F42-9FEE-5AAD149E4BE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57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8AD52-2FB6-3F1A-2623-E25AE8E02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58063-33AA-5552-E3CA-E4BE87523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93A89-7835-41DB-9C4C-F5E51EEBF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0B53-D4D5-6AF8-EADB-032D1E87F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CEE3F-E9BC-9F42-9FEE-5AAD149E4BE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95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9D2AE-A1C9-BBE9-D9C1-A04A10183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1212D-F8A9-E317-51E3-C74879BEC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583F7-B024-1A36-195C-40C4E344E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E992A-C353-B0B6-69E1-E1C4FE692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CEE3F-E9BC-9F42-9FEE-5AAD149E4BE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97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FBE15-A898-DECB-4B6D-60F008AB1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54E28-A486-6386-4EF4-35800D374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5A1DF-F39A-F095-4675-960D8B29F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E283F-4E2F-54B8-1806-FDC2DFF9C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CEE3F-E9BC-9F42-9FEE-5AAD149E4BE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79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7ABA-B5AD-C21F-7E2E-5F2239DD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75AA6-6937-2992-1254-75CD7E18B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A45C7-0BCE-1DBC-15F7-3C6DA0B91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3352C-03E5-618E-65F9-290F4E6A4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CEE3F-E9BC-9F42-9FEE-5AAD149E4BE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28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5E72-43E0-7A25-CAF5-76C1E8552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38C8D-D7BA-9B15-4B2B-0F179E6C1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64882-618E-9052-4C44-1EC62DCA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8306A-D467-BCE2-EEF9-A2222FE2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19327-F407-C5CA-B8DB-447E18F0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73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68AD-B1F9-1B9A-4ED9-4632641E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9EFC9-4FAD-5498-9871-3D83EFAFA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C22D7-F804-F333-4951-80ACEF34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689C6-21F2-4255-3679-E4E1591EF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C0881-33F0-257C-61F4-5EA9455B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04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C30E-C050-6E8A-740F-6E6DF1660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1B4C0-AF24-F9AB-3A7E-7192481CD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560E5-F6A7-3FF1-AB08-65CDA33C3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D9C38-86F6-C501-AC46-6F402E9FD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70D3C-6D2D-70CC-0987-40B28CE6F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59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A3A1-2474-1E68-4F56-956BDC905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22B89-2447-55E5-F090-1FEC3348D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466ED-D345-4624-25E2-4703A5276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9FCCF-FD9B-725B-DC14-19EFBCCA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1CC7C-6422-FCD1-1100-69BA29FA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B50C3-A7BB-E604-BD2D-02E12CA1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20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6891-E726-49F2-D576-C61F75AF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FFB4B-3E4B-6551-61F9-31968558C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8A37C-CF2E-EC21-0911-3B5176967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6D9F1D-E4F4-93D7-518E-5E596B36B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005E13-8544-E8AF-7E70-3D0950686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FDC9D-5A2C-0B76-5D68-27693F901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C28FF-CC40-3B7B-BE22-B5EF80CD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D59EE4-5EC3-F9AC-FB25-B2DE9290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9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98C6-F0B7-C86D-1721-0FC59781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2998E-D2F9-D56A-CAD9-C9BD7555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34034E-2FDE-62D3-F507-AB420C2A0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F1EE3-A8C1-B656-FFB0-934ABFE9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00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0E2A1A-1F4C-7F2C-616F-C13C8C5C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9EECE-2212-1607-3033-771412900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F9442-1EB7-CA66-3EDE-60DE848D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6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9135-FAEC-EF28-8FF6-088927DE8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604E7-3AC3-FD92-4056-157806353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DD9E5-3AFB-DBF3-21AD-3F329D045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BC250-AA18-E4AC-8D61-C1C8AE73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3DF98-1E17-F917-3DC8-2C83584E0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DCE39-1AA0-0593-0434-2F05A388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2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7213-427F-488B-A3E5-D0FD241F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715EBD-7829-A0DE-F71D-50AF64043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BC846-9334-E7F9-80EE-F3309D6C6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DA7C4-8D02-72AE-5D3F-A70DBEE4B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74D1C-EC05-9A0A-103F-099CFE0E7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4777C-52BE-5338-F390-A6EE76C4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3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AC088-E67B-31A8-6D2E-DD937934C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5822BB-5C29-07A9-F3EE-676A52980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9856B-DE69-6617-DCE6-537C1448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06FFE-F441-C2C4-12C9-FBB46CA2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E3314-04E6-0E09-C180-AA5CEB884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5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AB0666-8F9C-EB96-C958-C11DEB745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506DF-4395-4F72-087E-20F9C0D88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6A471-A309-9B62-5F2C-C9ADA720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EA2FC-243F-9703-BC94-7A39462C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1A0A8-08F2-CEC5-8C93-1338798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37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3E8CF-2B70-D402-3E72-59A29FC86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73928-6FCE-02F4-24FF-F00571434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C1201-4FFE-88D2-548C-9181811CA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DA70C-32A2-E540-8569-3129A4615290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2083B-BA58-9D4B-4495-C098B6AD6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771FC-7E6D-E840-504E-DDD835505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3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A7D5B-BB93-00A9-9B8A-970DB87A9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MIMIC III Dataset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886D0-50AE-ABEC-C684-4D0858CFB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620127"/>
            <a:ext cx="10005951" cy="1925052"/>
          </a:xfrm>
        </p:spPr>
        <p:txBody>
          <a:bodyPr anchor="ctr">
            <a:normAutofit/>
          </a:bodyPr>
          <a:lstStyle/>
          <a:p>
            <a:pPr algn="l"/>
            <a:r>
              <a:rPr lang="en-US" sz="1700" dirty="0"/>
              <a:t>By</a:t>
            </a:r>
          </a:p>
          <a:p>
            <a:pPr algn="l"/>
            <a:r>
              <a:rPr lang="en-US" sz="1700" dirty="0"/>
              <a:t>Sritama Paul</a:t>
            </a:r>
          </a:p>
          <a:p>
            <a:pPr algn="l"/>
            <a:r>
              <a:rPr lang="en-US" sz="1700" dirty="0"/>
              <a:t>AI 395T | AI In Healthcare </a:t>
            </a:r>
          </a:p>
          <a:p>
            <a:pPr algn="l"/>
            <a:r>
              <a:rPr lang="en-US" sz="1700" dirty="0"/>
              <a:t>University of Texas at Austin</a:t>
            </a:r>
          </a:p>
          <a:p>
            <a:pPr algn="l"/>
            <a:r>
              <a:rPr lang="en-US" sz="1700" dirty="0"/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1338364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49C819-2F8E-0CA2-24C1-895EF5162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Charts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EA7F76-B9D4-B35D-8B50-05006F083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46004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4539112" y="556776"/>
          <a:ext cx="6877887" cy="5864164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238107">
                  <a:extLst>
                    <a:ext uri="{9D8B030D-6E8A-4147-A177-3AD203B41FA5}">
                      <a16:colId xmlns:a16="http://schemas.microsoft.com/office/drawing/2014/main" val="799075573"/>
                    </a:ext>
                  </a:extLst>
                </a:gridCol>
                <a:gridCol w="5639780">
                  <a:extLst>
                    <a:ext uri="{9D8B030D-6E8A-4147-A177-3AD203B41FA5}">
                      <a16:colId xmlns:a16="http://schemas.microsoft.com/office/drawing/2014/main" val="111629342"/>
                    </a:ext>
                  </a:extLst>
                </a:gridCol>
              </a:tblGrid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Age-Gender Population Pyramid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419680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Admission Heatmap (Day × Hour)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404483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Mortality vs Length of Stay KDE Plot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144648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Survival Chart (Kaplan Meier Style)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302216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Top Medications Administered in ICU Bar Chart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924806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ICU Length of Stay by ICU Type Box Plot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217150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tx1"/>
                          </a:solidFill>
                        </a:rPr>
                        <a:t>07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ICU Length of Stay vs Age Scatter Plot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973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542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677576-8A0E-E6B1-4481-0C3EE085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Initial Set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4FA80-2849-8BF6-2624-351FB26116C2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4810259" y="649480"/>
            <a:ext cx="6555347" cy="554604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600" b="1" dirty="0"/>
              <a:t># Needed when you run the code in Google </a:t>
            </a:r>
            <a:r>
              <a:rPr lang="en-US" sz="1600" b="1" dirty="0" err="1"/>
              <a:t>Colab</a:t>
            </a:r>
            <a:endParaRPr lang="en-US" sz="1600" b="1" dirty="0"/>
          </a:p>
          <a:p>
            <a:pPr marL="0" indent="0">
              <a:spcBef>
                <a:spcPts val="2500"/>
              </a:spcBef>
              <a:buNone/>
            </a:pPr>
            <a:r>
              <a:rPr lang="en-US" sz="1600" b="1" dirty="0"/>
              <a:t>from </a:t>
            </a:r>
            <a:r>
              <a:rPr lang="en-US" sz="1600" b="1" dirty="0" err="1"/>
              <a:t>google.colab</a:t>
            </a:r>
            <a:r>
              <a:rPr lang="en-US" sz="1600" b="1" dirty="0"/>
              <a:t> import files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600" b="1" dirty="0"/>
              <a:t>from datetime import datetime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600" b="1" dirty="0"/>
              <a:t>import pandas as pd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600" b="1" dirty="0"/>
              <a:t>import seaborn as </a:t>
            </a:r>
            <a:r>
              <a:rPr lang="en-US" sz="1600" b="1" dirty="0" err="1"/>
              <a:t>sns</a:t>
            </a:r>
            <a:endParaRPr lang="en-US" sz="1600" b="1" dirty="0"/>
          </a:p>
          <a:p>
            <a:pPr marL="0" indent="0">
              <a:spcBef>
                <a:spcPts val="2500"/>
              </a:spcBef>
              <a:buNone/>
            </a:pPr>
            <a:r>
              <a:rPr lang="en-US" sz="1600" b="1" dirty="0"/>
              <a:t>import </a:t>
            </a:r>
            <a:r>
              <a:rPr lang="en-US" sz="1600" b="1" dirty="0" err="1"/>
              <a:t>matplotlib.pyplot</a:t>
            </a:r>
            <a:r>
              <a:rPr lang="en-US" sz="1600" b="1" dirty="0"/>
              <a:t> as </a:t>
            </a:r>
            <a:r>
              <a:rPr lang="en-US" sz="1600" b="1" dirty="0" err="1"/>
              <a:t>plt</a:t>
            </a:r>
            <a:endParaRPr lang="en-US" sz="1600" b="1" dirty="0"/>
          </a:p>
          <a:p>
            <a:pPr marL="0" indent="0">
              <a:spcBef>
                <a:spcPts val="2500"/>
              </a:spcBef>
              <a:buNone/>
            </a:pPr>
            <a:r>
              <a:rPr lang="en-US" sz="1600" b="1" dirty="0"/>
              <a:t>import </a:t>
            </a:r>
            <a:r>
              <a:rPr lang="en-US" sz="1600" b="1" dirty="0" err="1"/>
              <a:t>plotly.express</a:t>
            </a:r>
            <a:r>
              <a:rPr lang="en-US" sz="1600" b="1" dirty="0"/>
              <a:t> as </a:t>
            </a:r>
            <a:r>
              <a:rPr lang="en-US" sz="1600" b="1" dirty="0" err="1"/>
              <a:t>px</a:t>
            </a:r>
            <a:endParaRPr lang="en-US" sz="1600" b="1" dirty="0"/>
          </a:p>
          <a:p>
            <a:pPr marL="0" indent="0">
              <a:spcBef>
                <a:spcPts val="2500"/>
              </a:spcBef>
              <a:buNone/>
            </a:pPr>
            <a:r>
              <a:rPr lang="en-US" sz="1600" b="1" dirty="0"/>
              <a:t>import </a:t>
            </a:r>
            <a:r>
              <a:rPr lang="en-US" sz="1600" b="1" dirty="0" err="1"/>
              <a:t>numpy</a:t>
            </a:r>
            <a:r>
              <a:rPr lang="en-US" sz="1600" b="1" dirty="0"/>
              <a:t> as np</a:t>
            </a:r>
          </a:p>
        </p:txBody>
      </p:sp>
    </p:spTree>
    <p:extLst>
      <p:ext uri="{BB962C8B-B14F-4D97-AF65-F5344CB8AC3E}">
        <p14:creationId xmlns:p14="http://schemas.microsoft.com/office/powerpoint/2010/main" val="3412823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0C52A3-7F82-DE2D-53A9-4B801535D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01. Age-Gender Population Pyramid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D864F5-4915-1BCC-3108-CB83533D2C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114315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957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of a funnel&#10;&#10;AI-generated content may be incorrect.">
            <a:extLst>
              <a:ext uri="{FF2B5EF4-FFF2-40B4-BE49-F238E27FC236}">
                <a16:creationId xmlns:a16="http://schemas.microsoft.com/office/drawing/2014/main" id="{10EC18F5-F95E-52D6-8DC1-8470B9AF88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" r="653" b="-3"/>
          <a:stretch>
            <a:fillRect/>
          </a:stretch>
        </p:blipFill>
        <p:spPr>
          <a:xfrm>
            <a:off x="279143" y="299509"/>
            <a:ext cx="5221625" cy="6258983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2DA0412-5296-C262-F498-1E29851F6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92583" y="1732548"/>
            <a:ext cx="4434721" cy="46238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What it shows</a:t>
            </a:r>
          </a:p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The distribution of hospital admissions across age groups, separated by gender.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Enables direct visual comparison of male vs female representation at each age.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Helps identify demographic patterns in hospital utilization.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Useful for understanding age- and gender-specific healthcare demand and risk stratification.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75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68B26-6C28-708F-444E-69F89921C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91" y="213454"/>
            <a:ext cx="11094308" cy="640788"/>
          </a:xfrm>
        </p:spPr>
        <p:txBody>
          <a:bodyPr>
            <a:normAutofit fontScale="90000"/>
          </a:bodyPr>
          <a:lstStyle/>
          <a:p>
            <a:r>
              <a:rPr lang="en-US" dirty="0"/>
              <a:t>Code for data 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3391-571F-5D38-8587-9636937D9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491" y="1037969"/>
            <a:ext cx="6141309" cy="47251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# setting up age groups (bins) for analysis and visualization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 err="1"/>
              <a:t>age_bins</a:t>
            </a:r>
            <a:r>
              <a:rPr lang="en-US" sz="1900" dirty="0"/>
              <a:t> = </a:t>
            </a:r>
            <a:r>
              <a:rPr lang="en-US" sz="1900" dirty="0" err="1"/>
              <a:t>np.arange</a:t>
            </a:r>
            <a:r>
              <a:rPr lang="en-US" sz="1900" dirty="0"/>
              <a:t>(0, 120, 5)</a:t>
            </a:r>
          </a:p>
          <a:p>
            <a:pPr marL="0" indent="0">
              <a:buNone/>
            </a:pPr>
            <a:r>
              <a:rPr lang="en-US" sz="1900" dirty="0" err="1"/>
              <a:t>age_labels</a:t>
            </a:r>
            <a:r>
              <a:rPr lang="en-US" sz="1900" dirty="0"/>
              <a:t> = [f"{</a:t>
            </a:r>
            <a:r>
              <a:rPr lang="en-US" sz="1900" dirty="0" err="1"/>
              <a:t>i</a:t>
            </a:r>
            <a:r>
              <a:rPr lang="en-US" sz="1900" dirty="0"/>
              <a:t>}-{i+4}" for </a:t>
            </a:r>
            <a:r>
              <a:rPr lang="en-US" sz="1900" dirty="0" err="1"/>
              <a:t>i</a:t>
            </a:r>
            <a:r>
              <a:rPr lang="en-US" sz="1900" dirty="0"/>
              <a:t> in </a:t>
            </a:r>
            <a:r>
              <a:rPr lang="en-US" sz="1900" dirty="0" err="1"/>
              <a:t>age_bins</a:t>
            </a:r>
            <a:r>
              <a:rPr lang="en-US" sz="1900" dirty="0"/>
              <a:t>[:-1]]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 err="1"/>
              <a:t>patient_age_filtered_df.loc</a:t>
            </a:r>
            <a:r>
              <a:rPr lang="en-US" sz="1900" dirty="0"/>
              <a:t>[:, "AGE_GROUP"] = </a:t>
            </a:r>
            <a:r>
              <a:rPr lang="en-US" sz="1900" dirty="0" err="1"/>
              <a:t>pd.cut</a:t>
            </a:r>
            <a:r>
              <a:rPr lang="en-US" sz="1900" dirty="0"/>
              <a:t>(</a:t>
            </a:r>
          </a:p>
          <a:p>
            <a:pPr marL="0" indent="0">
              <a:buNone/>
            </a:pPr>
            <a:r>
              <a:rPr lang="en-US" sz="1900" dirty="0"/>
              <a:t>    </a:t>
            </a:r>
            <a:r>
              <a:rPr lang="en-US" sz="1900" dirty="0" err="1"/>
              <a:t>patient_age_filtered_df.loc</a:t>
            </a:r>
            <a:r>
              <a:rPr lang="en-US" sz="1900" dirty="0"/>
              <a:t>[:, "PATIENTS_AGE"],</a:t>
            </a:r>
          </a:p>
          <a:p>
            <a:pPr marL="0" indent="0">
              <a:buNone/>
            </a:pPr>
            <a:r>
              <a:rPr lang="en-US" sz="1900" dirty="0"/>
              <a:t>    bins=</a:t>
            </a:r>
            <a:r>
              <a:rPr lang="en-US" sz="1900" dirty="0" err="1"/>
              <a:t>age_bins</a:t>
            </a:r>
            <a:r>
              <a:rPr lang="en-US" sz="1900" dirty="0"/>
              <a:t>,</a:t>
            </a:r>
          </a:p>
          <a:p>
            <a:pPr marL="0" indent="0">
              <a:buNone/>
            </a:pPr>
            <a:r>
              <a:rPr lang="en-US" sz="1900" dirty="0"/>
              <a:t>    labels=</a:t>
            </a:r>
            <a:r>
              <a:rPr lang="en-US" sz="1900" dirty="0" err="1"/>
              <a:t>age_labels</a:t>
            </a:r>
            <a:r>
              <a:rPr lang="en-US" sz="1900" dirty="0"/>
              <a:t>,</a:t>
            </a:r>
          </a:p>
          <a:p>
            <a:pPr marL="0" indent="0">
              <a:buNone/>
            </a:pPr>
            <a:r>
              <a:rPr lang="en-US" sz="1900" dirty="0"/>
              <a:t>    right=False</a:t>
            </a:r>
          </a:p>
          <a:p>
            <a:pPr marL="0" indent="0">
              <a:buNone/>
            </a:pPr>
            <a:r>
              <a:rPr lang="en-US" sz="1900" dirty="0"/>
              <a:t>)</a:t>
            </a:r>
          </a:p>
          <a:p>
            <a:pPr marL="0" indent="0">
              <a:buNone/>
            </a:pPr>
            <a:endParaRPr lang="en-US" sz="3700" dirty="0"/>
          </a:p>
          <a:p>
            <a:pPr marL="0" indent="0">
              <a:buNone/>
            </a:pPr>
            <a:endParaRPr lang="en-US" sz="3700" dirty="0"/>
          </a:p>
          <a:p>
            <a:pPr marL="0" indent="0">
              <a:buNone/>
            </a:pPr>
            <a:endParaRPr lang="en-US" sz="37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37AAE6-1F8D-7ED6-19AF-90B1E0C6AA73}"/>
              </a:ext>
            </a:extLst>
          </p:cNvPr>
          <p:cNvSpPr txBox="1"/>
          <p:nvPr/>
        </p:nvSpPr>
        <p:spPr>
          <a:xfrm>
            <a:off x="6400799" y="1323474"/>
            <a:ext cx="55317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age_gender_counts</a:t>
            </a:r>
            <a:r>
              <a:rPr lang="en-US" dirty="0"/>
              <a:t> = (</a:t>
            </a:r>
          </a:p>
          <a:p>
            <a:r>
              <a:rPr lang="en-US" dirty="0"/>
              <a:t>    </a:t>
            </a:r>
            <a:r>
              <a:rPr lang="en-US" dirty="0" err="1"/>
              <a:t>patient_age_filtered_df</a:t>
            </a:r>
            <a:endParaRPr lang="en-US" dirty="0"/>
          </a:p>
          <a:p>
            <a:r>
              <a:rPr lang="en-US" dirty="0"/>
              <a:t>        .</a:t>
            </a:r>
            <a:r>
              <a:rPr lang="en-US" dirty="0" err="1"/>
              <a:t>groupby</a:t>
            </a:r>
            <a:r>
              <a:rPr lang="en-US" dirty="0"/>
              <a:t>(['AGE_GROUP', 'GENDER'], observed=True)</a:t>
            </a:r>
          </a:p>
          <a:p>
            <a:r>
              <a:rPr lang="en-US" dirty="0"/>
              <a:t>        .size()</a:t>
            </a:r>
          </a:p>
          <a:p>
            <a:r>
              <a:rPr lang="en-US" dirty="0"/>
              <a:t>        .unstack(</a:t>
            </a:r>
            <a:r>
              <a:rPr lang="en-US" dirty="0" err="1"/>
              <a:t>fill_value</a:t>
            </a:r>
            <a:r>
              <a:rPr lang="en-US" dirty="0"/>
              <a:t>=0)</a:t>
            </a:r>
          </a:p>
          <a:p>
            <a:r>
              <a:rPr lang="en-US" dirty="0"/>
              <a:t>        .</a:t>
            </a:r>
            <a:r>
              <a:rPr lang="en-US" dirty="0" err="1"/>
              <a:t>sort_index</a:t>
            </a:r>
            <a:r>
              <a:rPr lang="en-US" dirty="0"/>
              <a:t>()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male_counts</a:t>
            </a:r>
            <a:r>
              <a:rPr lang="en-US" dirty="0"/>
              <a:t> = -</a:t>
            </a:r>
            <a:r>
              <a:rPr lang="en-US" dirty="0" err="1"/>
              <a:t>age_gender_counts</a:t>
            </a:r>
            <a:r>
              <a:rPr lang="en-US" dirty="0"/>
              <a:t>['M']   # negative for left side</a:t>
            </a:r>
          </a:p>
          <a:p>
            <a:r>
              <a:rPr lang="en-US" dirty="0" err="1"/>
              <a:t>female_counts</a:t>
            </a:r>
            <a:r>
              <a:rPr lang="en-US" dirty="0"/>
              <a:t> = </a:t>
            </a:r>
            <a:r>
              <a:rPr lang="en-US" dirty="0" err="1"/>
              <a:t>age_gender_counts</a:t>
            </a:r>
            <a:r>
              <a:rPr lang="en-US" dirty="0"/>
              <a:t>['F']  # positive for right side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368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6641D-8C29-1B7E-D53E-8BE36E20D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C181-05C4-BDB0-7F39-E7B3CFAB8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91" y="213454"/>
            <a:ext cx="11094308" cy="512205"/>
          </a:xfrm>
        </p:spPr>
        <p:txBody>
          <a:bodyPr>
            <a:normAutofit fontScale="90000"/>
          </a:bodyPr>
          <a:lstStyle/>
          <a:p>
            <a:r>
              <a:rPr lang="en-US" dirty="0"/>
              <a:t>Code for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5F8AC-E952-B559-9838-194545895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492" y="1037968"/>
            <a:ext cx="4769708" cy="551924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300" dirty="0"/>
              <a:t>fig, ax = </a:t>
            </a:r>
            <a:r>
              <a:rPr lang="en-US" sz="2300" dirty="0" err="1"/>
              <a:t>plt.subplots</a:t>
            </a:r>
            <a:r>
              <a:rPr lang="en-US" sz="2300" dirty="0"/>
              <a:t>(</a:t>
            </a:r>
            <a:r>
              <a:rPr lang="en-US" sz="2300" dirty="0" err="1"/>
              <a:t>figsize</a:t>
            </a:r>
            <a:r>
              <a:rPr lang="en-US" sz="2300" dirty="0"/>
              <a:t>=(8, 10))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 err="1"/>
              <a:t>ax.barh</a:t>
            </a:r>
            <a:r>
              <a:rPr lang="en-US" sz="2300" dirty="0"/>
              <a:t>(</a:t>
            </a:r>
          </a:p>
          <a:p>
            <a:pPr marL="457200" lvl="1" indent="0">
              <a:buNone/>
            </a:pPr>
            <a:r>
              <a:rPr lang="en-US" sz="2300" dirty="0" err="1"/>
              <a:t>age_gender_counts.index</a:t>
            </a:r>
            <a:r>
              <a:rPr lang="en-US" sz="2300" dirty="0"/>
              <a:t>,</a:t>
            </a:r>
          </a:p>
          <a:p>
            <a:pPr marL="457200" lvl="1" indent="0">
              <a:buNone/>
            </a:pPr>
            <a:r>
              <a:rPr lang="en-US" sz="2300" dirty="0" err="1"/>
              <a:t>male_counts</a:t>
            </a:r>
            <a:r>
              <a:rPr lang="en-US" sz="2300" dirty="0"/>
              <a:t>,</a:t>
            </a:r>
          </a:p>
          <a:p>
            <a:pPr marL="457200" lvl="1" indent="0">
              <a:buNone/>
            </a:pPr>
            <a:r>
              <a:rPr lang="en-US" sz="2300" dirty="0"/>
              <a:t>color='</a:t>
            </a:r>
            <a:r>
              <a:rPr lang="en-US" sz="2300" dirty="0" err="1"/>
              <a:t>steelblue</a:t>
            </a:r>
            <a:r>
              <a:rPr lang="en-US" sz="2300" dirty="0"/>
              <a:t>',</a:t>
            </a:r>
          </a:p>
          <a:p>
            <a:pPr marL="457200" lvl="1" indent="0">
              <a:buNone/>
            </a:pPr>
            <a:r>
              <a:rPr lang="en-US" sz="2300" dirty="0"/>
              <a:t>label='Male'</a:t>
            </a:r>
          </a:p>
          <a:p>
            <a:pPr marL="0" indent="0">
              <a:buNone/>
            </a:pPr>
            <a:r>
              <a:rPr lang="en-US" sz="2300" dirty="0"/>
              <a:t>)</a:t>
            </a:r>
            <a:br>
              <a:rPr lang="en-US" sz="2300" dirty="0"/>
            </a:br>
            <a:endParaRPr lang="en-US" sz="2300" dirty="0"/>
          </a:p>
          <a:p>
            <a:pPr marL="0" indent="0">
              <a:buNone/>
            </a:pPr>
            <a:r>
              <a:rPr lang="en-US" sz="2300" dirty="0" err="1"/>
              <a:t>ax.barh</a:t>
            </a:r>
            <a:r>
              <a:rPr lang="en-US" sz="2300" dirty="0"/>
              <a:t>(</a:t>
            </a:r>
          </a:p>
          <a:p>
            <a:pPr marL="457200" lvl="1" indent="0">
              <a:buNone/>
            </a:pPr>
            <a:r>
              <a:rPr lang="en-US" sz="2300" dirty="0" err="1"/>
              <a:t>age_gender_counts.index</a:t>
            </a:r>
            <a:r>
              <a:rPr lang="en-US" sz="2300" dirty="0"/>
              <a:t>,</a:t>
            </a:r>
          </a:p>
          <a:p>
            <a:pPr marL="457200" lvl="1" indent="0">
              <a:buNone/>
            </a:pPr>
            <a:r>
              <a:rPr lang="en-US" sz="2300" dirty="0" err="1"/>
              <a:t>female_counts</a:t>
            </a:r>
            <a:r>
              <a:rPr lang="en-US" sz="2300" dirty="0"/>
              <a:t>,</a:t>
            </a:r>
          </a:p>
          <a:p>
            <a:pPr marL="457200" lvl="1" indent="0">
              <a:buNone/>
            </a:pPr>
            <a:r>
              <a:rPr lang="en-US" sz="2300" dirty="0"/>
              <a:t>color='salmon',</a:t>
            </a:r>
          </a:p>
          <a:p>
            <a:pPr marL="457200" lvl="1" indent="0">
              <a:buNone/>
            </a:pPr>
            <a:r>
              <a:rPr lang="en-US" sz="2300" dirty="0"/>
              <a:t>label='Female'</a:t>
            </a:r>
          </a:p>
          <a:p>
            <a:pPr marL="0" indent="0">
              <a:buNone/>
            </a:pPr>
            <a:r>
              <a:rPr lang="en-US" sz="2300" dirty="0"/>
              <a:t>)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sz="3700" dirty="0"/>
          </a:p>
          <a:p>
            <a:pPr marL="0" indent="0">
              <a:buNone/>
            </a:pPr>
            <a:endParaRPr lang="en-US" sz="3700" dirty="0"/>
          </a:p>
          <a:p>
            <a:pPr marL="0" indent="0">
              <a:buNone/>
            </a:pPr>
            <a:endParaRPr lang="en-US" sz="3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73254-DB6B-B49C-150D-82772125614B}"/>
              </a:ext>
            </a:extLst>
          </p:cNvPr>
          <p:cNvSpPr txBox="1"/>
          <p:nvPr/>
        </p:nvSpPr>
        <p:spPr>
          <a:xfrm>
            <a:off x="5618748" y="1037968"/>
            <a:ext cx="6029014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ax.set_xlabel</a:t>
            </a:r>
            <a:r>
              <a:rPr lang="en-US" dirty="0"/>
              <a:t>('Number of Admissions')</a:t>
            </a:r>
          </a:p>
          <a:p>
            <a:r>
              <a:rPr lang="en-US" dirty="0" err="1"/>
              <a:t>ax.set_ylabel</a:t>
            </a:r>
            <a:r>
              <a:rPr lang="en-US" dirty="0"/>
              <a:t>('Age Group')</a:t>
            </a:r>
          </a:p>
          <a:p>
            <a:r>
              <a:rPr lang="en-US" dirty="0" err="1"/>
              <a:t>ax.set_title</a:t>
            </a:r>
            <a:r>
              <a:rPr lang="en-US" dirty="0"/>
              <a:t>('Population Pyramid by Age and Gender (MIMIC-III)')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 err="1"/>
              <a:t>ax.legend</a:t>
            </a:r>
            <a:r>
              <a:rPr lang="en-US" dirty="0"/>
              <a:t>(loc='lower right')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# Make x-axis labels positive</a:t>
            </a:r>
          </a:p>
          <a:p>
            <a:r>
              <a:rPr lang="en-US" dirty="0" err="1"/>
              <a:t>ax.set_xticks</a:t>
            </a:r>
            <a:r>
              <a:rPr lang="en-US" dirty="0"/>
              <a:t>(</a:t>
            </a:r>
            <a:r>
              <a:rPr lang="en-US" dirty="0" err="1"/>
              <a:t>ax.get_xticks</a:t>
            </a:r>
            <a:r>
              <a:rPr lang="en-US" dirty="0"/>
              <a:t>())</a:t>
            </a:r>
          </a:p>
          <a:p>
            <a:r>
              <a:rPr lang="en-US" dirty="0" err="1"/>
              <a:t>ax.set_xticklabels</a:t>
            </a:r>
            <a:r>
              <a:rPr lang="en-US" dirty="0"/>
              <a:t>([abs(int(x)) for x in </a:t>
            </a:r>
            <a:r>
              <a:rPr lang="en-US" dirty="0" err="1"/>
              <a:t>ax.get_xticks</a:t>
            </a:r>
            <a:r>
              <a:rPr lang="en-US" dirty="0"/>
              <a:t>()])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 err="1"/>
              <a:t>plt.tight_layout</a:t>
            </a:r>
            <a:r>
              <a:rPr lang="en-US" dirty="0"/>
              <a:t>()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92115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FFA01-2236-0D79-A46F-F030F5BEB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56FA2E-58EF-6995-927D-7C114496F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0B6DF-3688-D1F4-9F5D-D5A623718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D3C72B-76BF-D4B7-F379-50F5D689C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EBAF73-1DDE-5BC9-6E8A-1853AA307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7C1F4FF-0328-B374-C999-50411888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967F95-D3C2-D7AE-E233-661E3F27C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EF6DD-C486-0EFF-1366-046F60ED0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02. Admission Heatmap (Day X Hour)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CF8FA6-B1C0-7B04-74D4-C221AFF1C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709177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2293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8ECF0-4543-A340-00E4-839E580D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575DE6D0-E0D0-3B8F-0833-1A299C243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78" y="135925"/>
            <a:ext cx="8404398" cy="4007522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220F4DA-F62C-67A3-6965-FEB1BF704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4279370"/>
            <a:ext cx="5296790" cy="244270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What it shows</a:t>
            </a:r>
          </a:p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Temporal patterns of hospital admissions across the week and throughout the day.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Highlights peak admission times.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Useful for operational planning and staffing decisions.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Reveals workload surges and off-peak periods in hospital admissions.</a:t>
            </a:r>
          </a:p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21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5401-0760-CFFD-7B36-870207F2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1464"/>
          </a:xfrm>
        </p:spPr>
        <p:txBody>
          <a:bodyPr>
            <a:normAutofit fontScale="90000"/>
          </a:bodyPr>
          <a:lstStyle/>
          <a:p>
            <a:r>
              <a:rPr lang="en-US" dirty="0"/>
              <a:t>Code for data processing and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4C52F-7BBB-0855-E482-B6AAC134FF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27220"/>
            <a:ext cx="8967537" cy="526565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admissions['ADMITTIME'] = </a:t>
            </a:r>
            <a:r>
              <a:rPr lang="en-US" dirty="0" err="1"/>
              <a:t>pd.to_datetime</a:t>
            </a:r>
            <a:r>
              <a:rPr lang="en-US" dirty="0"/>
              <a:t>(admissions['ADMITTIME'])</a:t>
            </a:r>
          </a:p>
          <a:p>
            <a:pPr marL="0" indent="0">
              <a:buNone/>
            </a:pPr>
            <a:r>
              <a:rPr lang="en-US" dirty="0"/>
              <a:t>admissions['HOUR'] = admissions['ADMITTIME'].</a:t>
            </a:r>
            <a:r>
              <a:rPr lang="en-US" dirty="0" err="1"/>
              <a:t>dt.hour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admissions['DAY'] = admissions['ADMITTIME'].</a:t>
            </a:r>
            <a:r>
              <a:rPr lang="en-US" dirty="0" err="1"/>
              <a:t>dt.day_name</a:t>
            </a:r>
            <a:r>
              <a:rPr lang="en-US" dirty="0"/>
              <a:t>()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pivot = </a:t>
            </a:r>
            <a:r>
              <a:rPr lang="en-US" dirty="0" err="1"/>
              <a:t>admissions.pivot_table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index='DAY',</a:t>
            </a:r>
          </a:p>
          <a:p>
            <a:pPr marL="0" indent="0">
              <a:buNone/>
            </a:pPr>
            <a:r>
              <a:rPr lang="en-US" dirty="0"/>
              <a:t>columns='HOUR',</a:t>
            </a:r>
          </a:p>
          <a:p>
            <a:pPr marL="0" indent="0">
              <a:buNone/>
            </a:pPr>
            <a:r>
              <a:rPr lang="en-US" dirty="0"/>
              <a:t>values='HADM_ID',</a:t>
            </a:r>
          </a:p>
          <a:p>
            <a:pPr marL="0" indent="0">
              <a:buNone/>
            </a:pPr>
            <a:r>
              <a:rPr lang="en-US" dirty="0" err="1"/>
              <a:t>aggfunc</a:t>
            </a:r>
            <a:r>
              <a:rPr lang="en-US" dirty="0"/>
              <a:t>='count'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=(12,6))</a:t>
            </a:r>
          </a:p>
          <a:p>
            <a:pPr marL="0" indent="0">
              <a:buNone/>
            </a:pPr>
            <a:r>
              <a:rPr lang="en-US" dirty="0" err="1"/>
              <a:t>sns.heatmap</a:t>
            </a:r>
            <a:r>
              <a:rPr lang="en-US" dirty="0"/>
              <a:t>(pivot, </a:t>
            </a:r>
            <a:r>
              <a:rPr lang="en-US" dirty="0" err="1"/>
              <a:t>cmap</a:t>
            </a:r>
            <a:r>
              <a:rPr lang="en-US" dirty="0"/>
              <a:t>='</a:t>
            </a:r>
            <a:r>
              <a:rPr lang="en-US" dirty="0" err="1"/>
              <a:t>viridis</a:t>
            </a:r>
            <a:r>
              <a:rPr lang="en-US" dirty="0"/>
              <a:t>')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('Admissions by Day and Hour')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05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77D72-2972-7155-4EE2-EF8C835F8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3B29B5-D6E0-58A2-CE9C-CCD5B997B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9912C7-958B-2E51-35DF-8EC7415F4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A2B983-5EDF-1352-80B5-DCA953625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43F277-4259-D8D6-CE16-6F1ACEF7A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0816CF-6747-3151-F9D9-034E3D846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43C2B1-EAD9-6C3D-97F3-6BA5F8D8D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888F88-C5ED-3BA8-826E-F63B4CF10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68" y="1683756"/>
            <a:ext cx="325657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03. Mortality Vs Length of Stay KDE Plot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103780-1837-C404-025F-3D7E37919D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629387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3424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A400CB-2207-F061-5B53-B0DB00F0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8113410D-C6E2-7387-8BC4-53C82D73A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9" y="99211"/>
            <a:ext cx="8593008" cy="3329789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3EF726-D79B-42A9-7E5D-6DDBD2403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46606" y="3843552"/>
            <a:ext cx="4731305" cy="259989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What it shows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Relationship between length of stay and patient outcomes (survival vs death).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Whether mortality is associated with very short or very long hospital stays.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Important for outcome analysis and evaluating care intensity.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422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E3045-6874-6ED7-4DA6-1F187EC8C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812"/>
          </a:xfrm>
        </p:spPr>
        <p:txBody>
          <a:bodyPr/>
          <a:lstStyle/>
          <a:p>
            <a:r>
              <a:rPr lang="en-US" dirty="0"/>
              <a:t>Code for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F3FA5-94EA-32F7-1608-27A3FC822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305" y="1287379"/>
            <a:ext cx="6023811" cy="488958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600" dirty="0"/>
              <a:t># Convert BOTH datetime columns</a:t>
            </a:r>
          </a:p>
          <a:p>
            <a:pPr marL="0" indent="0">
              <a:buNone/>
            </a:pPr>
            <a:r>
              <a:rPr lang="en-US" sz="3600" dirty="0"/>
              <a:t>admissions['ADMITTIME'] = </a:t>
            </a:r>
            <a:r>
              <a:rPr lang="en-US" sz="3600" dirty="0" err="1"/>
              <a:t>pd.to_datetime</a:t>
            </a:r>
            <a:r>
              <a:rPr lang="en-US" sz="3600" dirty="0"/>
              <a:t>(admissions['ADMITTIME'], errors='coerce')</a:t>
            </a:r>
          </a:p>
          <a:p>
            <a:pPr marL="0" indent="0">
              <a:buNone/>
            </a:pPr>
            <a:r>
              <a:rPr lang="en-US" sz="3600" dirty="0"/>
              <a:t>admissions['DISCHTIME'] = </a:t>
            </a:r>
            <a:r>
              <a:rPr lang="en-US" sz="3600" dirty="0" err="1"/>
              <a:t>pd.to_datetime</a:t>
            </a:r>
            <a:r>
              <a:rPr lang="en-US" sz="3600" dirty="0"/>
              <a:t>(admissions['DISCHTIME'], errors='coerce')</a:t>
            </a:r>
          </a:p>
          <a:p>
            <a:pPr marL="0" indent="0">
              <a:buNone/>
            </a:pPr>
            <a:br>
              <a:rPr lang="en-US" sz="3600" dirty="0"/>
            </a:br>
            <a:endParaRPr lang="en-US" sz="3600" dirty="0"/>
          </a:p>
          <a:p>
            <a:pPr marL="0" indent="0">
              <a:buNone/>
            </a:pPr>
            <a:r>
              <a:rPr lang="en-US" sz="3600" dirty="0"/>
              <a:t># Length of stay (days)</a:t>
            </a:r>
          </a:p>
          <a:p>
            <a:pPr marL="0" indent="0">
              <a:buNone/>
            </a:pPr>
            <a:r>
              <a:rPr lang="en-US" sz="3600" dirty="0"/>
              <a:t>admissions['TIME_DAYS'] = (</a:t>
            </a:r>
          </a:p>
          <a:p>
            <a:pPr marL="457200" lvl="1" indent="0">
              <a:buNone/>
            </a:pPr>
            <a:r>
              <a:rPr lang="en-US" sz="3600" dirty="0"/>
              <a:t>(admissions['DISCHTIME'] - admissions['ADMITTIME'])</a:t>
            </a:r>
          </a:p>
          <a:p>
            <a:pPr marL="457200" lvl="1" indent="0">
              <a:buNone/>
            </a:pPr>
            <a:r>
              <a:rPr lang="en-US" sz="3600" dirty="0"/>
              <a:t>.</a:t>
            </a:r>
            <a:r>
              <a:rPr lang="en-US" sz="3600" dirty="0" err="1"/>
              <a:t>dt.total_seconds</a:t>
            </a:r>
            <a:r>
              <a:rPr lang="en-US" sz="3600" dirty="0"/>
              <a:t>() / 86400.0</a:t>
            </a:r>
          </a:p>
          <a:p>
            <a:pPr marL="0" indent="0">
              <a:buNone/>
            </a:pPr>
            <a:r>
              <a:rPr lang="en-US" sz="3600" dirty="0"/>
              <a:t>)</a:t>
            </a:r>
          </a:p>
          <a:p>
            <a:pPr marL="0" indent="0">
              <a:buNone/>
            </a:pPr>
            <a:br>
              <a:rPr lang="en-US" sz="3600" dirty="0"/>
            </a:br>
            <a:endParaRPr lang="en-US" sz="3600" dirty="0"/>
          </a:p>
          <a:p>
            <a:pPr marL="0" indent="0">
              <a:buNone/>
            </a:pPr>
            <a:r>
              <a:rPr lang="en-US" sz="3600" dirty="0"/>
              <a:t># Event indicator: 1 = death, 0 = censored</a:t>
            </a:r>
          </a:p>
          <a:p>
            <a:pPr marL="0" indent="0">
              <a:buNone/>
            </a:pPr>
            <a:r>
              <a:rPr lang="en-US" sz="3600" dirty="0"/>
              <a:t>admissions['EVENT'] = admissions['HOSPITAL_EXPIRE_FLAG']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912266-7FC0-9436-6501-B43D68565BEC}"/>
              </a:ext>
            </a:extLst>
          </p:cNvPr>
          <p:cNvSpPr txBox="1"/>
          <p:nvPr/>
        </p:nvSpPr>
        <p:spPr>
          <a:xfrm>
            <a:off x="7038474" y="1287379"/>
            <a:ext cx="4656221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# Remove invalid rows</a:t>
            </a:r>
          </a:p>
          <a:p>
            <a:r>
              <a:rPr lang="en-US" sz="1700" dirty="0" err="1"/>
              <a:t>admissions_filtered</a:t>
            </a:r>
            <a:r>
              <a:rPr lang="en-US" sz="1700" dirty="0"/>
              <a:t> = </a:t>
            </a:r>
            <a:r>
              <a:rPr lang="en-US" sz="1700" dirty="0" err="1"/>
              <a:t>admissions.loc</a:t>
            </a:r>
            <a:r>
              <a:rPr lang="en-US" sz="1700" dirty="0"/>
              <a:t>[</a:t>
            </a:r>
          </a:p>
          <a:p>
            <a:pPr lvl="1"/>
            <a:r>
              <a:rPr lang="en-US" sz="1700" dirty="0"/>
              <a:t>admissions['TIME_DAYS'].</a:t>
            </a:r>
            <a:r>
              <a:rPr lang="en-US" sz="1700" dirty="0" err="1"/>
              <a:t>notna</a:t>
            </a:r>
            <a:r>
              <a:rPr lang="en-US" sz="1700" dirty="0"/>
              <a:t>() &amp;</a:t>
            </a:r>
          </a:p>
          <a:p>
            <a:pPr lvl="1"/>
            <a:r>
              <a:rPr lang="en-US" sz="1700" dirty="0"/>
              <a:t>(admissions['TIME_DAYS'] &gt; 0) &amp;</a:t>
            </a:r>
          </a:p>
          <a:p>
            <a:pPr lvl="1"/>
            <a:r>
              <a:rPr lang="en-US" sz="1700" dirty="0"/>
              <a:t>admissions['EVENT'].</a:t>
            </a:r>
            <a:r>
              <a:rPr lang="en-US" sz="1700" dirty="0" err="1"/>
              <a:t>notna</a:t>
            </a:r>
            <a:r>
              <a:rPr lang="en-US" sz="1700" dirty="0"/>
              <a:t>()</a:t>
            </a:r>
          </a:p>
          <a:p>
            <a:pPr lvl="1"/>
            <a:r>
              <a:rPr lang="en-US" sz="1700" dirty="0"/>
              <a:t>].copy()</a:t>
            </a:r>
          </a:p>
          <a:p>
            <a:br>
              <a:rPr lang="en-US" sz="1700" dirty="0"/>
            </a:br>
            <a:endParaRPr lang="en-US" sz="1700" dirty="0"/>
          </a:p>
          <a:p>
            <a:r>
              <a:rPr lang="en-US" sz="1700" dirty="0" err="1"/>
              <a:t>admissions_filtered</a:t>
            </a:r>
            <a:r>
              <a:rPr lang="en-US" sz="1700" dirty="0"/>
              <a:t>['MORTALITY'] = </a:t>
            </a:r>
            <a:r>
              <a:rPr lang="en-US" sz="1700" dirty="0" err="1"/>
              <a:t>admissions_filtered</a:t>
            </a:r>
            <a:r>
              <a:rPr lang="en-US" sz="1700" dirty="0"/>
              <a:t>['HOSPITAL_EXPIRE_FLAG'].map(</a:t>
            </a:r>
          </a:p>
          <a:p>
            <a:r>
              <a:rPr lang="en-US" sz="1700" dirty="0"/>
              <a:t>{0: 'Survived', 1: 'Died'}</a:t>
            </a:r>
          </a:p>
        </p:txBody>
      </p:sp>
    </p:spTree>
    <p:extLst>
      <p:ext uri="{BB962C8B-B14F-4D97-AF65-F5344CB8AC3E}">
        <p14:creationId xmlns:p14="http://schemas.microsoft.com/office/powerpoint/2010/main" val="3825734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1080-7E69-14B5-CEB1-81930DB03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7401"/>
          </a:xfrm>
        </p:spPr>
        <p:txBody>
          <a:bodyPr>
            <a:normAutofit fontScale="90000"/>
          </a:bodyPr>
          <a:lstStyle/>
          <a:p>
            <a:r>
              <a:rPr lang="en-US" dirty="0"/>
              <a:t>Code for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3D170-F994-B7EF-B745-39FEC265A9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30968"/>
            <a:ext cx="5181600" cy="536190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 err="1"/>
              <a:t>sns.set</a:t>
            </a:r>
            <a:r>
              <a:rPr lang="en-US" sz="2400" dirty="0"/>
              <a:t>(style='</a:t>
            </a:r>
            <a:r>
              <a:rPr lang="en-US" sz="2400" dirty="0" err="1"/>
              <a:t>whitegrid</a:t>
            </a:r>
            <a:r>
              <a:rPr lang="en-US" sz="2400" dirty="0"/>
              <a:t>')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US" sz="2400" dirty="0"/>
              <a:t>g = </a:t>
            </a:r>
            <a:r>
              <a:rPr lang="en-US" sz="2400" dirty="0" err="1"/>
              <a:t>sns.FacetGrid</a:t>
            </a:r>
            <a:r>
              <a:rPr lang="en-US" sz="2400" dirty="0"/>
              <a:t>(</a:t>
            </a:r>
          </a:p>
          <a:p>
            <a:pPr marL="457200" lvl="1" indent="0">
              <a:buNone/>
            </a:pPr>
            <a:r>
              <a:rPr lang="en-US" dirty="0" err="1"/>
              <a:t>admissions_filtered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col='MORTALITY',</a:t>
            </a:r>
          </a:p>
          <a:p>
            <a:pPr marL="457200" lvl="1" indent="0">
              <a:buNone/>
            </a:pPr>
            <a:r>
              <a:rPr lang="en-US" dirty="0"/>
              <a:t>height=4,</a:t>
            </a:r>
          </a:p>
          <a:p>
            <a:pPr marL="457200" lvl="1" indent="0">
              <a:buNone/>
            </a:pPr>
            <a:r>
              <a:rPr lang="en-US" dirty="0"/>
              <a:t>aspect=1.2,</a:t>
            </a:r>
          </a:p>
          <a:p>
            <a:pPr marL="457200" lvl="1" indent="0">
              <a:buNone/>
            </a:pPr>
            <a:r>
              <a:rPr lang="en-US" dirty="0" err="1"/>
              <a:t>sharex</a:t>
            </a:r>
            <a:r>
              <a:rPr lang="en-US" dirty="0"/>
              <a:t>=True,</a:t>
            </a:r>
          </a:p>
          <a:p>
            <a:pPr marL="457200" lvl="1" indent="0">
              <a:buNone/>
            </a:pPr>
            <a:r>
              <a:rPr lang="en-US" dirty="0" err="1"/>
              <a:t>sharey</a:t>
            </a:r>
            <a:r>
              <a:rPr lang="en-US" dirty="0"/>
              <a:t>=True</a:t>
            </a:r>
          </a:p>
          <a:p>
            <a:pPr marL="0" indent="0">
              <a:buNone/>
            </a:pP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g.map_dataframe</a:t>
            </a:r>
            <a:r>
              <a:rPr lang="en-US" sz="2400" dirty="0"/>
              <a:t>(</a:t>
            </a:r>
          </a:p>
          <a:p>
            <a:pPr marL="457200" lvl="1" indent="0">
              <a:buNone/>
            </a:pPr>
            <a:r>
              <a:rPr lang="en-US" dirty="0" err="1"/>
              <a:t>sns.kdeplot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x='TIME_DAYS',</a:t>
            </a:r>
          </a:p>
          <a:p>
            <a:pPr marL="457200" lvl="1" indent="0">
              <a:buNone/>
            </a:pPr>
            <a:r>
              <a:rPr lang="en-US" dirty="0"/>
              <a:t>fill=True,</a:t>
            </a:r>
          </a:p>
          <a:p>
            <a:pPr marL="457200" lvl="1" indent="0">
              <a:buNone/>
            </a:pPr>
            <a:r>
              <a:rPr lang="en-US" dirty="0"/>
              <a:t>alpha=0.6</a:t>
            </a:r>
          </a:p>
          <a:p>
            <a:pPr marL="0" indent="0">
              <a:buNone/>
            </a:pPr>
            <a:r>
              <a:rPr lang="en-US" sz="2400" dirty="0"/>
              <a:t>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140B1-F73C-B932-550A-FCB764681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7537"/>
            <a:ext cx="5181600" cy="482942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 err="1"/>
              <a:t>g.set_axis_labels</a:t>
            </a:r>
            <a:r>
              <a:rPr lang="en-US" sz="2400" dirty="0"/>
              <a:t>('Length of Stay (days)', 'Density')</a:t>
            </a:r>
          </a:p>
          <a:p>
            <a:pPr marL="0" indent="0">
              <a:buNone/>
            </a:pPr>
            <a:r>
              <a:rPr lang="en-US" sz="2400" dirty="0" err="1"/>
              <a:t>g.set_titles</a:t>
            </a:r>
            <a:r>
              <a:rPr lang="en-US" sz="2400" dirty="0"/>
              <a:t>('{</a:t>
            </a:r>
            <a:r>
              <a:rPr lang="en-US" sz="2400" dirty="0" err="1"/>
              <a:t>col_name</a:t>
            </a:r>
            <a:r>
              <a:rPr lang="en-US" sz="2400" dirty="0"/>
              <a:t>}')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plt.subplots_adjust</a:t>
            </a:r>
            <a:r>
              <a:rPr lang="en-US" sz="2400" dirty="0"/>
              <a:t>(top=0.85)</a:t>
            </a:r>
          </a:p>
          <a:p>
            <a:pPr marL="0" indent="0">
              <a:buNone/>
            </a:pPr>
            <a:r>
              <a:rPr lang="en-US" sz="2400" dirty="0" err="1"/>
              <a:t>g.fig.suptitle</a:t>
            </a:r>
            <a:r>
              <a:rPr lang="en-US" sz="2400" dirty="0"/>
              <a:t>('Length of Stay Distribution by Mortality Outcome')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plt.show</a:t>
            </a:r>
            <a:r>
              <a:rPr lang="en-US" sz="2400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403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FAD155-F1A1-8274-C7BF-3ED0B65B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ED2242-1964-9AF6-BD5D-C1DBB0B48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CE993F-2173-B9AB-F2E4-1DC34BEB6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1692F8-2AA9-011C-4C6A-8F757481D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C9774B-501D-D7BE-B510-AE8629D36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1FEE017-8979-9BA5-3DE8-6A12D951E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6F429B-A368-522C-520B-7D1905836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B71EB-27BD-FF5B-AB65-772E4D98D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68" y="1683756"/>
            <a:ext cx="325657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04. Survival Chart (Kaplan–Meier Style)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9A58E4-6C81-6927-1007-A3F5D52FF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26153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8823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70DDF-4F15-2AA6-238D-1B6C4FBF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8594440-9560-9189-BA4E-18BC0EA85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2FEE90-F422-F1F3-2CE9-4326FA6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5AEF27-B386-C9C6-8A58-9415E5C71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53667" y="1840831"/>
            <a:ext cx="3332495" cy="48696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What it shows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Probability of survival as hospitalization time progresses.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Sharp drops indicate periods of higher mortality risk.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Standard method in clinical research for time-to-event analysis.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C45A22-D6E5-C7E9-9FE2-5B89C7A4E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graph of a blue line&#10;&#10;AI-generated content may be incorrect.">
            <a:extLst>
              <a:ext uri="{FF2B5EF4-FFF2-40B4-BE49-F238E27FC236}">
                <a16:creationId xmlns:a16="http://schemas.microsoft.com/office/drawing/2014/main" id="{2CC6C6EF-EC77-3128-6D9C-CE9B8179E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4407"/>
            <a:ext cx="7892716" cy="453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06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B6084-C386-1E9C-9A29-BAA968EA8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5DAC-AA02-B0BB-1CC6-9C92A3A96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746"/>
            <a:ext cx="10515600" cy="561307"/>
          </a:xfrm>
        </p:spPr>
        <p:txBody>
          <a:bodyPr>
            <a:normAutofit fontScale="90000"/>
          </a:bodyPr>
          <a:lstStyle/>
          <a:p>
            <a:r>
              <a:rPr lang="en-US" dirty="0"/>
              <a:t>Code for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A459E-7036-2483-1C56-E23F574AF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90337"/>
            <a:ext cx="5514474" cy="54864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800" dirty="0"/>
              <a:t>def </a:t>
            </a:r>
            <a:r>
              <a:rPr lang="en-US" sz="3800" dirty="0" err="1"/>
              <a:t>kaplan_meier</a:t>
            </a:r>
            <a:r>
              <a:rPr lang="en-US" sz="3800" dirty="0"/>
              <a:t>(time, event):</a:t>
            </a:r>
          </a:p>
          <a:p>
            <a:pPr marL="457200" lvl="1" indent="0">
              <a:buNone/>
            </a:pPr>
            <a:r>
              <a:rPr lang="en-US" sz="3800" dirty="0" err="1"/>
              <a:t>df</a:t>
            </a:r>
            <a:r>
              <a:rPr lang="en-US" sz="3800" dirty="0"/>
              <a:t> = </a:t>
            </a:r>
            <a:r>
              <a:rPr lang="en-US" sz="3800" dirty="0" err="1"/>
              <a:t>pd.DataFrame</a:t>
            </a:r>
            <a:r>
              <a:rPr lang="en-US" sz="3800" dirty="0"/>
              <a:t>({'time': time, 'event': event})</a:t>
            </a:r>
          </a:p>
          <a:p>
            <a:pPr marL="457200" lvl="1" indent="0">
              <a:buNone/>
            </a:pPr>
            <a:r>
              <a:rPr lang="en-US" sz="3800" dirty="0" err="1"/>
              <a:t>df</a:t>
            </a:r>
            <a:r>
              <a:rPr lang="en-US" sz="3800" dirty="0"/>
              <a:t> = </a:t>
            </a:r>
            <a:r>
              <a:rPr lang="en-US" sz="3800" dirty="0" err="1"/>
              <a:t>df.sort_values</a:t>
            </a:r>
            <a:r>
              <a:rPr lang="en-US" sz="3800" dirty="0"/>
              <a:t>('time')</a:t>
            </a:r>
          </a:p>
          <a:p>
            <a:pPr marL="457200" lvl="1" indent="0">
              <a:buNone/>
            </a:pPr>
            <a:br>
              <a:rPr lang="en-US" sz="3800" dirty="0"/>
            </a:br>
            <a:endParaRPr lang="en-US" sz="3800" dirty="0"/>
          </a:p>
          <a:p>
            <a:pPr marL="457200" lvl="1" indent="0">
              <a:buNone/>
            </a:pPr>
            <a:r>
              <a:rPr lang="en-US" sz="3800" dirty="0" err="1"/>
              <a:t>n_at_risk</a:t>
            </a:r>
            <a:r>
              <a:rPr lang="en-US" sz="3800" dirty="0"/>
              <a:t> = </a:t>
            </a:r>
            <a:r>
              <a:rPr lang="en-US" sz="3800" dirty="0" err="1"/>
              <a:t>len</a:t>
            </a:r>
            <a:r>
              <a:rPr lang="en-US" sz="3800" dirty="0"/>
              <a:t>(</a:t>
            </a:r>
            <a:r>
              <a:rPr lang="en-US" sz="3800" dirty="0" err="1"/>
              <a:t>df</a:t>
            </a:r>
            <a:r>
              <a:rPr lang="en-US" sz="3800" dirty="0"/>
              <a:t>)</a:t>
            </a:r>
          </a:p>
          <a:p>
            <a:pPr marL="457200" lvl="1" indent="0">
              <a:buNone/>
            </a:pPr>
            <a:r>
              <a:rPr lang="en-US" sz="3800" dirty="0" err="1"/>
              <a:t>survival_prob</a:t>
            </a:r>
            <a:r>
              <a:rPr lang="en-US" sz="3800" dirty="0"/>
              <a:t> = 1.0</a:t>
            </a:r>
          </a:p>
          <a:p>
            <a:pPr marL="457200" lvl="1" indent="0">
              <a:buNone/>
            </a:pPr>
            <a:br>
              <a:rPr lang="en-US" sz="3800" dirty="0"/>
            </a:br>
            <a:endParaRPr lang="en-US" sz="3800" dirty="0"/>
          </a:p>
          <a:p>
            <a:pPr marL="457200" lvl="1" indent="0">
              <a:buNone/>
            </a:pPr>
            <a:r>
              <a:rPr lang="en-US" sz="3800" dirty="0"/>
              <a:t>times = [0]</a:t>
            </a:r>
          </a:p>
          <a:p>
            <a:pPr marL="457200" lvl="1" indent="0">
              <a:buNone/>
            </a:pPr>
            <a:r>
              <a:rPr lang="en-US" sz="3800" dirty="0"/>
              <a:t>survival = [1.0]</a:t>
            </a:r>
          </a:p>
          <a:p>
            <a:pPr marL="457200" lvl="1" indent="0">
              <a:buNone/>
            </a:pPr>
            <a:br>
              <a:rPr lang="en-US" sz="3800" dirty="0"/>
            </a:br>
            <a:endParaRPr lang="en-US" sz="3800" dirty="0"/>
          </a:p>
          <a:p>
            <a:pPr marL="457200" lvl="1" indent="0">
              <a:buNone/>
            </a:pPr>
            <a:r>
              <a:rPr lang="en-US" sz="3800" dirty="0"/>
              <a:t>for t in </a:t>
            </a:r>
            <a:r>
              <a:rPr lang="en-US" sz="3800" dirty="0" err="1"/>
              <a:t>np.unique</a:t>
            </a:r>
            <a:r>
              <a:rPr lang="en-US" sz="3800" dirty="0"/>
              <a:t>(</a:t>
            </a:r>
            <a:r>
              <a:rPr lang="en-US" sz="3800" dirty="0" err="1"/>
              <a:t>df</a:t>
            </a:r>
            <a:r>
              <a:rPr lang="en-US" sz="3800" dirty="0"/>
              <a:t>['time']):</a:t>
            </a:r>
          </a:p>
          <a:p>
            <a:pPr marL="457200" lvl="1" indent="0">
              <a:buNone/>
            </a:pPr>
            <a:endParaRPr lang="en-US" sz="3800" dirty="0"/>
          </a:p>
          <a:p>
            <a:pPr marL="914400" lvl="2" indent="0">
              <a:buNone/>
            </a:pPr>
            <a:r>
              <a:rPr lang="en-US" sz="3800" dirty="0"/>
              <a:t>d = </a:t>
            </a:r>
            <a:r>
              <a:rPr lang="en-US" sz="3800" dirty="0" err="1"/>
              <a:t>df</a:t>
            </a:r>
            <a:r>
              <a:rPr lang="en-US" sz="3800" dirty="0"/>
              <a:t>[(</a:t>
            </a:r>
            <a:r>
              <a:rPr lang="en-US" sz="3800" dirty="0" err="1"/>
              <a:t>df</a:t>
            </a:r>
            <a:r>
              <a:rPr lang="en-US" sz="3800" dirty="0"/>
              <a:t>['time'] == t) &amp; (</a:t>
            </a:r>
            <a:r>
              <a:rPr lang="en-US" sz="3800" dirty="0" err="1"/>
              <a:t>df</a:t>
            </a:r>
            <a:r>
              <a:rPr lang="en-US" sz="3800" dirty="0"/>
              <a:t>['event'] == 1)].shape[0]</a:t>
            </a:r>
          </a:p>
          <a:p>
            <a:pPr marL="914400" lvl="2" indent="0">
              <a:buNone/>
            </a:pPr>
            <a:r>
              <a:rPr lang="en-US" sz="3800" dirty="0"/>
              <a:t>c = </a:t>
            </a:r>
            <a:r>
              <a:rPr lang="en-US" sz="3800" dirty="0" err="1"/>
              <a:t>df</a:t>
            </a:r>
            <a:r>
              <a:rPr lang="en-US" sz="3800" dirty="0"/>
              <a:t>[(</a:t>
            </a:r>
            <a:r>
              <a:rPr lang="en-US" sz="3800" dirty="0" err="1"/>
              <a:t>df</a:t>
            </a:r>
            <a:r>
              <a:rPr lang="en-US" sz="3800" dirty="0"/>
              <a:t>['time'] == t) &amp; (</a:t>
            </a:r>
            <a:r>
              <a:rPr lang="en-US" sz="3800" dirty="0" err="1"/>
              <a:t>df</a:t>
            </a:r>
            <a:r>
              <a:rPr lang="en-US" sz="3800" dirty="0"/>
              <a:t>['event'] == 0)].shape[0]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	</a:t>
            </a:r>
            <a:r>
              <a:rPr lang="en-US" sz="3800" dirty="0"/>
              <a:t>if </a:t>
            </a:r>
            <a:r>
              <a:rPr lang="en-US" sz="3800" dirty="0" err="1"/>
              <a:t>n_at_risk</a:t>
            </a:r>
            <a:r>
              <a:rPr lang="en-US" sz="3800" dirty="0"/>
              <a:t> &gt; 0:</a:t>
            </a:r>
          </a:p>
          <a:p>
            <a:pPr marL="0" indent="0">
              <a:buNone/>
            </a:pPr>
            <a:r>
              <a:rPr lang="en-US" sz="3800" dirty="0"/>
              <a:t>	          </a:t>
            </a:r>
            <a:r>
              <a:rPr lang="en-US" sz="3800" dirty="0" err="1"/>
              <a:t>survival_prob</a:t>
            </a:r>
            <a:r>
              <a:rPr lang="en-US" sz="3800" dirty="0"/>
              <a:t> *= (1 - d / </a:t>
            </a:r>
            <a:r>
              <a:rPr lang="en-US" sz="3800" dirty="0" err="1"/>
              <a:t>n_at_risk</a:t>
            </a:r>
            <a:r>
              <a:rPr lang="en-US" sz="3800" dirty="0"/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6702E-9EC5-0222-C0E7-8527FBA43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66284" y="1163888"/>
            <a:ext cx="4387516" cy="4351338"/>
          </a:xfrm>
        </p:spPr>
        <p:txBody>
          <a:bodyPr>
            <a:normAutofit fontScale="47500" lnSpcReduction="20000"/>
          </a:bodyPr>
          <a:lstStyle/>
          <a:p>
            <a:pPr marL="457200" lvl="1" indent="0">
              <a:buNone/>
            </a:pPr>
            <a:br>
              <a:rPr lang="en-US" sz="3800" dirty="0"/>
            </a:br>
            <a:r>
              <a:rPr lang="en-US" sz="3800" dirty="0" err="1"/>
              <a:t>times.append</a:t>
            </a:r>
            <a:r>
              <a:rPr lang="en-US" sz="3800" dirty="0"/>
              <a:t>(t)</a:t>
            </a:r>
          </a:p>
          <a:p>
            <a:pPr marL="457200" lvl="1" indent="0">
              <a:buNone/>
            </a:pPr>
            <a:r>
              <a:rPr lang="en-US" sz="3800" dirty="0" err="1"/>
              <a:t>survival.append</a:t>
            </a:r>
            <a:r>
              <a:rPr lang="en-US" sz="3800" dirty="0"/>
              <a:t>(</a:t>
            </a:r>
            <a:r>
              <a:rPr lang="en-US" sz="3800" dirty="0" err="1"/>
              <a:t>survival_prob</a:t>
            </a:r>
            <a:r>
              <a:rPr lang="en-US" sz="3800" dirty="0"/>
              <a:t>)</a:t>
            </a:r>
          </a:p>
          <a:p>
            <a:pPr marL="457200" lvl="1" indent="0">
              <a:buNone/>
            </a:pPr>
            <a:br>
              <a:rPr lang="en-US" sz="3800" dirty="0"/>
            </a:br>
            <a:endParaRPr lang="en-US" sz="3800" dirty="0"/>
          </a:p>
          <a:p>
            <a:pPr marL="457200" lvl="1" indent="0">
              <a:buNone/>
            </a:pPr>
            <a:r>
              <a:rPr lang="en-US" sz="3800" dirty="0" err="1"/>
              <a:t>n_at_risk</a:t>
            </a:r>
            <a:r>
              <a:rPr lang="en-US" sz="3800" dirty="0"/>
              <a:t> -= (d + c)</a:t>
            </a:r>
          </a:p>
          <a:p>
            <a:pPr marL="0" indent="0">
              <a:buNone/>
            </a:pPr>
            <a:br>
              <a:rPr lang="en-US" sz="3800" dirty="0"/>
            </a:br>
            <a:endParaRPr lang="en-US" sz="3800" dirty="0"/>
          </a:p>
          <a:p>
            <a:pPr marL="0" indent="0">
              <a:buNone/>
            </a:pPr>
            <a:r>
              <a:rPr lang="en-US" sz="3800" dirty="0"/>
              <a:t>return times, survival</a:t>
            </a:r>
          </a:p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r>
              <a:rPr lang="en-US" sz="3800" dirty="0"/>
              <a:t>times, survival = </a:t>
            </a:r>
            <a:r>
              <a:rPr lang="en-US" sz="3800" dirty="0" err="1"/>
              <a:t>kaplan_meier</a:t>
            </a:r>
            <a:r>
              <a:rPr lang="en-US" sz="3800" dirty="0"/>
              <a:t>(</a:t>
            </a:r>
          </a:p>
          <a:p>
            <a:pPr marL="0" indent="0">
              <a:buNone/>
            </a:pPr>
            <a:r>
              <a:rPr lang="en-US" sz="3800" dirty="0" err="1"/>
              <a:t>admissions_filtered</a:t>
            </a:r>
            <a:r>
              <a:rPr lang="en-US" sz="3800" dirty="0"/>
              <a:t>['TIME_DAYS'].values,</a:t>
            </a:r>
          </a:p>
          <a:p>
            <a:pPr marL="0" indent="0">
              <a:buNone/>
            </a:pPr>
            <a:r>
              <a:rPr lang="en-US" sz="3800" dirty="0" err="1"/>
              <a:t>admissions_filtered</a:t>
            </a:r>
            <a:r>
              <a:rPr lang="en-US" sz="3800" dirty="0"/>
              <a:t>['EVENT'].values</a:t>
            </a:r>
          </a:p>
          <a:p>
            <a:pPr marL="0" indent="0">
              <a:buNone/>
            </a:pPr>
            <a:r>
              <a:rPr lang="en-US" sz="3800" dirty="0"/>
              <a:t>)</a:t>
            </a:r>
            <a:br>
              <a:rPr lang="en-US" sz="3800" dirty="0"/>
            </a:br>
            <a:endParaRPr lang="en-US" sz="3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37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FB2E7-9D3A-EC78-06CD-B5E08E55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746"/>
            <a:ext cx="10515600" cy="561307"/>
          </a:xfrm>
        </p:spPr>
        <p:txBody>
          <a:bodyPr>
            <a:normAutofit fontScale="90000"/>
          </a:bodyPr>
          <a:lstStyle/>
          <a:p>
            <a:r>
              <a:rPr lang="en-US" dirty="0"/>
              <a:t>Code for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F3163-4014-26D1-322A-E0DBDA3DA4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673" y="890337"/>
            <a:ext cx="5919537" cy="574691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 err="1"/>
              <a:t>plt.figure</a:t>
            </a:r>
            <a:r>
              <a:rPr lang="en-US" sz="7200" dirty="0"/>
              <a:t>(</a:t>
            </a:r>
            <a:r>
              <a:rPr lang="en-US" sz="7200" dirty="0" err="1"/>
              <a:t>figsize</a:t>
            </a:r>
            <a:r>
              <a:rPr lang="en-US" sz="7200" dirty="0"/>
              <a:t>=(8,5))</a:t>
            </a:r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 err="1"/>
              <a:t>plt.step</a:t>
            </a:r>
            <a:r>
              <a:rPr lang="en-US" sz="7200" dirty="0"/>
              <a:t>(</a:t>
            </a:r>
          </a:p>
          <a:p>
            <a:pPr marL="457200" lvl="1" indent="0">
              <a:buNone/>
            </a:pPr>
            <a:r>
              <a:rPr lang="en-US" sz="7200" dirty="0"/>
              <a:t>times,</a:t>
            </a:r>
          </a:p>
          <a:p>
            <a:pPr marL="457200" lvl="1" indent="0">
              <a:buNone/>
            </a:pPr>
            <a:r>
              <a:rPr lang="en-US" sz="7200" dirty="0"/>
              <a:t>survival,</a:t>
            </a:r>
          </a:p>
          <a:p>
            <a:pPr marL="457200" lvl="1" indent="0">
              <a:buNone/>
            </a:pPr>
            <a:r>
              <a:rPr lang="en-US" sz="7200" dirty="0"/>
              <a:t>where='post',</a:t>
            </a:r>
          </a:p>
          <a:p>
            <a:pPr marL="457200" lvl="1" indent="0">
              <a:buNone/>
            </a:pPr>
            <a:r>
              <a:rPr lang="en-US" sz="7200" dirty="0"/>
              <a:t>linewidth=2</a:t>
            </a:r>
          </a:p>
          <a:p>
            <a:pPr marL="0" indent="0">
              <a:buNone/>
            </a:pPr>
            <a:r>
              <a:rPr lang="en-US" sz="7200" dirty="0"/>
              <a:t>)</a:t>
            </a:r>
            <a:br>
              <a:rPr lang="en-US" sz="7200" dirty="0"/>
            </a:br>
            <a:endParaRPr lang="en-US" sz="7200" dirty="0"/>
          </a:p>
          <a:p>
            <a:pPr marL="0" indent="0">
              <a:buNone/>
            </a:pPr>
            <a:r>
              <a:rPr lang="en-US" sz="7200" dirty="0" err="1"/>
              <a:t>plt.xlabel</a:t>
            </a:r>
            <a:r>
              <a:rPr lang="en-US" sz="7200" dirty="0"/>
              <a:t>('Days Since Hospital Admission')</a:t>
            </a:r>
          </a:p>
          <a:p>
            <a:pPr marL="0" indent="0">
              <a:buNone/>
            </a:pPr>
            <a:r>
              <a:rPr lang="en-US" sz="7200" dirty="0" err="1"/>
              <a:t>plt.ylabel</a:t>
            </a:r>
            <a:r>
              <a:rPr lang="en-US" sz="7200" dirty="0"/>
              <a:t>('Survival Probability')</a:t>
            </a:r>
          </a:p>
          <a:p>
            <a:pPr marL="0" indent="0">
              <a:buNone/>
            </a:pPr>
            <a:r>
              <a:rPr lang="en-US" sz="7200" dirty="0" err="1"/>
              <a:t>plt.title</a:t>
            </a:r>
            <a:r>
              <a:rPr lang="en-US" sz="7200" dirty="0"/>
              <a:t>('Kaplan–Meier Survival Curve (In-Hospital Mortality)')</a:t>
            </a:r>
          </a:p>
          <a:p>
            <a:pPr marL="0" indent="0">
              <a:buNone/>
            </a:pPr>
            <a:br>
              <a:rPr lang="en-US" sz="7200" dirty="0"/>
            </a:br>
            <a:endParaRPr lang="en-US" sz="7200" dirty="0"/>
          </a:p>
          <a:p>
            <a:pPr marL="0" indent="0">
              <a:buNone/>
            </a:pPr>
            <a:r>
              <a:rPr lang="en-US" sz="7200" dirty="0" err="1"/>
              <a:t>plt.ylim</a:t>
            </a:r>
            <a:r>
              <a:rPr lang="en-US" sz="7200" dirty="0"/>
              <a:t>(0, 1.05)</a:t>
            </a:r>
          </a:p>
          <a:p>
            <a:pPr marL="0" indent="0">
              <a:buNone/>
            </a:pPr>
            <a:r>
              <a:rPr lang="en-US" sz="7200" dirty="0" err="1"/>
              <a:t>plt.grid</a:t>
            </a:r>
            <a:r>
              <a:rPr lang="en-US" sz="7200" dirty="0"/>
              <a:t>(True)</a:t>
            </a:r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 err="1"/>
              <a:t>plt.tight_layout</a:t>
            </a:r>
            <a:r>
              <a:rPr lang="en-US" sz="7200" dirty="0"/>
              <a:t>()</a:t>
            </a:r>
          </a:p>
          <a:p>
            <a:pPr marL="0" indent="0">
              <a:buNone/>
            </a:pPr>
            <a:r>
              <a:rPr lang="en-US" sz="7200" dirty="0" err="1"/>
              <a:t>plt.show</a:t>
            </a:r>
            <a:r>
              <a:rPr lang="en-US" sz="7200" dirty="0"/>
              <a:t>()</a:t>
            </a:r>
          </a:p>
          <a:p>
            <a:pPr marL="914400" lvl="2" indent="0">
              <a:buNone/>
            </a:pPr>
            <a:endParaRPr lang="en-US" sz="2300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405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7EE4C-325B-291D-80D9-0904EE6D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F409FA-2B14-F749-CC2C-5C239149F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284910-F4FB-8628-2672-283942A35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B5AB2D-2157-638D-F923-B26346B7B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52EA0D-CADF-A315-6473-8DBE89BD8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791D2E1-0631-0D66-56A5-9DA52DA7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171BEE-ADEE-6F07-BC32-E922B43A1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F5AE4-8E22-54E5-8DE8-12329F36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68" y="1683756"/>
            <a:ext cx="3256575" cy="2396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05. Top Medications Administered in ICU Bar Chart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C76C9D-6F06-9162-228C-9BCA87ADE5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35151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6613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0B3D6-294F-A2DC-AEFF-15B23C7B0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EEBFB44-45A5-078C-C845-B08C6D6B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9D862B-E36E-F6FD-5599-6568B2F6C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1BAEA73-D377-A1DE-91AE-D8C3EA4C7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53667" y="697833"/>
            <a:ext cx="3332495" cy="60126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What it shows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The medications most frequently used in ICU settings.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Reflects common treatment protocols.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Helps understand ICU clinical practices.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Useful for resource planning, pharmacy inventory, and clinical research.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F5F9B40-A9E2-99F4-E221-7243F93C1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hart of medication in different colors&#10;&#10;AI-generated content may be incorrect.">
            <a:extLst>
              <a:ext uri="{FF2B5EF4-FFF2-40B4-BE49-F238E27FC236}">
                <a16:creationId xmlns:a16="http://schemas.microsoft.com/office/drawing/2014/main" id="{9A81059D-863C-A97B-754B-F866BA6BC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4" y="1106417"/>
            <a:ext cx="7772400" cy="428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59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CB8D-E580-BF7E-C779-DD7E8004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0B1F-0DD4-504E-6919-D1C6D111A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Code for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5DE03-46E3-6BE5-BB67-A5F907C52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91126"/>
            <a:ext cx="5181600" cy="498583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500" dirty="0"/>
              <a:t># Merge prescriptions with ICU stays</a:t>
            </a:r>
          </a:p>
          <a:p>
            <a:pPr marL="0" indent="0">
              <a:buNone/>
            </a:pPr>
            <a:r>
              <a:rPr lang="en-US" sz="4500" dirty="0" err="1"/>
              <a:t>icu_rx</a:t>
            </a:r>
            <a:r>
              <a:rPr lang="en-US" sz="4500" dirty="0"/>
              <a:t> = </a:t>
            </a:r>
            <a:r>
              <a:rPr lang="en-US" sz="4500" dirty="0" err="1"/>
              <a:t>prescriptions.merge</a:t>
            </a:r>
            <a:r>
              <a:rPr lang="en-US" sz="4500" dirty="0"/>
              <a:t>(</a:t>
            </a:r>
          </a:p>
          <a:p>
            <a:pPr marL="457200" lvl="1" indent="0">
              <a:buNone/>
            </a:pPr>
            <a:r>
              <a:rPr lang="en-US" sz="4100" dirty="0" err="1"/>
              <a:t>icu_stays</a:t>
            </a:r>
            <a:r>
              <a:rPr lang="en-US" sz="4100" dirty="0"/>
              <a:t>[['SUBJECT_ID', 'HADM_ID']],</a:t>
            </a:r>
          </a:p>
          <a:p>
            <a:pPr marL="457200" lvl="1" indent="0">
              <a:buNone/>
            </a:pPr>
            <a:r>
              <a:rPr lang="en-US" sz="4100" dirty="0"/>
              <a:t>on=['SUBJECT_ID', 'HADM_ID'],</a:t>
            </a:r>
          </a:p>
          <a:p>
            <a:pPr marL="457200" lvl="1" indent="0">
              <a:buNone/>
            </a:pPr>
            <a:r>
              <a:rPr lang="en-US" sz="4100" dirty="0"/>
              <a:t>how='inner’</a:t>
            </a:r>
          </a:p>
          <a:p>
            <a:pPr marL="0" indent="0">
              <a:buNone/>
            </a:pPr>
            <a:r>
              <a:rPr lang="en-US" sz="4500" dirty="0"/>
              <a:t>)</a:t>
            </a:r>
          </a:p>
          <a:p>
            <a:pPr marL="0" indent="0">
              <a:buNone/>
            </a:pPr>
            <a:endParaRPr lang="en-US" sz="4500" dirty="0"/>
          </a:p>
          <a:p>
            <a:pPr marL="0" indent="0">
              <a:buNone/>
            </a:pPr>
            <a:r>
              <a:rPr lang="en-US" sz="4500" dirty="0"/>
              <a:t># Normalize medication names</a:t>
            </a:r>
          </a:p>
          <a:p>
            <a:pPr marL="0" indent="0">
              <a:buNone/>
            </a:pPr>
            <a:endParaRPr lang="en-US" sz="4500" dirty="0"/>
          </a:p>
          <a:p>
            <a:pPr marL="0" indent="0">
              <a:buNone/>
            </a:pPr>
            <a:r>
              <a:rPr lang="en-US" sz="4500" dirty="0" err="1"/>
              <a:t>icu_rx</a:t>
            </a:r>
            <a:r>
              <a:rPr lang="en-US" sz="4500" dirty="0"/>
              <a:t>['DRUG'] = (</a:t>
            </a:r>
          </a:p>
          <a:p>
            <a:pPr marL="0" indent="0">
              <a:buNone/>
            </a:pPr>
            <a:r>
              <a:rPr lang="en-US" sz="4500" dirty="0"/>
              <a:t>    </a:t>
            </a:r>
            <a:r>
              <a:rPr lang="en-US" sz="4500" dirty="0" err="1"/>
              <a:t>icu_rx</a:t>
            </a:r>
            <a:r>
              <a:rPr lang="en-US" sz="4500" dirty="0"/>
              <a:t>['DRUG']</a:t>
            </a:r>
          </a:p>
          <a:p>
            <a:pPr marL="0" indent="0">
              <a:buNone/>
            </a:pPr>
            <a:r>
              <a:rPr lang="en-US" sz="4500" dirty="0"/>
              <a:t>    .</a:t>
            </a:r>
            <a:r>
              <a:rPr lang="en-US" sz="4500" dirty="0" err="1"/>
              <a:t>str.upper</a:t>
            </a:r>
            <a:r>
              <a:rPr lang="en-US" sz="4500" dirty="0"/>
              <a:t>()</a:t>
            </a:r>
          </a:p>
          <a:p>
            <a:pPr marL="0" indent="0">
              <a:buNone/>
            </a:pPr>
            <a:r>
              <a:rPr lang="en-US" sz="4500" dirty="0"/>
              <a:t>    .</a:t>
            </a:r>
            <a:r>
              <a:rPr lang="en-US" sz="4500" dirty="0" err="1"/>
              <a:t>str.strip</a:t>
            </a:r>
            <a:r>
              <a:rPr lang="en-US" sz="4500" dirty="0"/>
              <a:t>()</a:t>
            </a:r>
          </a:p>
          <a:p>
            <a:pPr marL="0" indent="0">
              <a:buNone/>
            </a:pPr>
            <a:r>
              <a:rPr lang="en-US" sz="4500" dirty="0"/>
              <a:t>)</a:t>
            </a:r>
          </a:p>
          <a:p>
            <a:pPr marL="0" indent="0">
              <a:buNone/>
            </a:pPr>
            <a:endParaRPr lang="en-US" sz="4500" dirty="0"/>
          </a:p>
          <a:p>
            <a:pPr marL="0" indent="0">
              <a:buNone/>
            </a:pPr>
            <a:r>
              <a:rPr lang="en-US" sz="4500" dirty="0" err="1"/>
              <a:t>icu_rx</a:t>
            </a:r>
            <a:r>
              <a:rPr lang="en-US" sz="4500" dirty="0"/>
              <a:t> = </a:t>
            </a:r>
            <a:r>
              <a:rPr lang="en-US" sz="4500" dirty="0" err="1"/>
              <a:t>icu_rx</a:t>
            </a:r>
            <a:r>
              <a:rPr lang="en-US" sz="4500" dirty="0"/>
              <a:t>[</a:t>
            </a:r>
            <a:r>
              <a:rPr lang="en-US" sz="4500" dirty="0" err="1"/>
              <a:t>icu_rx</a:t>
            </a:r>
            <a:r>
              <a:rPr lang="en-US" sz="4500" dirty="0"/>
              <a:t>['DRUG'].</a:t>
            </a:r>
            <a:r>
              <a:rPr lang="en-US" sz="4500" dirty="0" err="1"/>
              <a:t>notna</a:t>
            </a:r>
            <a:r>
              <a:rPr lang="en-US" sz="4500" dirty="0"/>
              <a:t>()]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65EBC-07F6-9AF6-1607-5E81CCB5DA7A}"/>
              </a:ext>
            </a:extLst>
          </p:cNvPr>
          <p:cNvSpPr txBox="1"/>
          <p:nvPr/>
        </p:nvSpPr>
        <p:spPr>
          <a:xfrm>
            <a:off x="7206916" y="1816767"/>
            <a:ext cx="38140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Top medications</a:t>
            </a:r>
          </a:p>
          <a:p>
            <a:endParaRPr lang="en-US" dirty="0"/>
          </a:p>
          <a:p>
            <a:r>
              <a:rPr lang="en-US" dirty="0" err="1"/>
              <a:t>top_meds</a:t>
            </a:r>
            <a:r>
              <a:rPr lang="en-US" dirty="0"/>
              <a:t> = (</a:t>
            </a:r>
          </a:p>
          <a:p>
            <a:r>
              <a:rPr lang="en-US" dirty="0"/>
              <a:t>    </a:t>
            </a:r>
            <a:r>
              <a:rPr lang="en-US" dirty="0" err="1"/>
              <a:t>icu_rx</a:t>
            </a:r>
            <a:r>
              <a:rPr lang="en-US" dirty="0"/>
              <a:t>['DRUG']</a:t>
            </a:r>
          </a:p>
          <a:p>
            <a:r>
              <a:rPr lang="en-US" dirty="0"/>
              <a:t>    .</a:t>
            </a:r>
            <a:r>
              <a:rPr lang="en-US" dirty="0" err="1"/>
              <a:t>value_counts</a:t>
            </a:r>
            <a:r>
              <a:rPr lang="en-US" dirty="0"/>
              <a:t>()</a:t>
            </a:r>
          </a:p>
          <a:p>
            <a:r>
              <a:rPr lang="en-US" dirty="0"/>
              <a:t>    .head(10)</a:t>
            </a:r>
          </a:p>
          <a:p>
            <a:r>
              <a:rPr lang="en-US" dirty="0"/>
              <a:t>    .</a:t>
            </a:r>
            <a:r>
              <a:rPr lang="en-US" dirty="0" err="1"/>
              <a:t>reset_index</a:t>
            </a:r>
            <a:r>
              <a:rPr lang="en-US" dirty="0"/>
              <a:t>()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top_meds.columns</a:t>
            </a:r>
            <a:r>
              <a:rPr lang="en-US" dirty="0"/>
              <a:t> = ['Medication', 'Count']</a:t>
            </a:r>
          </a:p>
        </p:txBody>
      </p:sp>
    </p:spTree>
    <p:extLst>
      <p:ext uri="{BB962C8B-B14F-4D97-AF65-F5344CB8AC3E}">
        <p14:creationId xmlns:p14="http://schemas.microsoft.com/office/powerpoint/2010/main" val="2014642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760F-A875-8830-132D-D8979CD3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30C64-0615-343A-A571-4D5F0D506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Code for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A72D-4807-9037-B698-1CCD80208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10653"/>
            <a:ext cx="5181600" cy="565484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 err="1"/>
              <a:t>plt.figure</a:t>
            </a:r>
            <a:r>
              <a:rPr lang="en-US" sz="7200" dirty="0"/>
              <a:t>(</a:t>
            </a:r>
            <a:r>
              <a:rPr lang="en-US" sz="7200" dirty="0" err="1"/>
              <a:t>figsize</a:t>
            </a:r>
            <a:r>
              <a:rPr lang="en-US" sz="7200" dirty="0"/>
              <a:t>=(10,6))</a:t>
            </a:r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 err="1"/>
              <a:t>sns.barplot</a:t>
            </a:r>
            <a:r>
              <a:rPr lang="en-US" sz="7200" dirty="0"/>
              <a:t>(</a:t>
            </a:r>
          </a:p>
          <a:p>
            <a:pPr marL="0" indent="0">
              <a:buNone/>
            </a:pPr>
            <a:r>
              <a:rPr lang="en-US" sz="7200" dirty="0"/>
              <a:t>    data=</a:t>
            </a:r>
            <a:r>
              <a:rPr lang="en-US" sz="7200" dirty="0" err="1"/>
              <a:t>top_meds</a:t>
            </a:r>
            <a:r>
              <a:rPr lang="en-US" sz="7200" dirty="0"/>
              <a:t>,</a:t>
            </a:r>
          </a:p>
          <a:p>
            <a:pPr marL="0" indent="0">
              <a:buNone/>
            </a:pPr>
            <a:r>
              <a:rPr lang="en-US" sz="7200" dirty="0"/>
              <a:t>    y='Medication',</a:t>
            </a:r>
          </a:p>
          <a:p>
            <a:pPr marL="0" indent="0">
              <a:buNone/>
            </a:pPr>
            <a:r>
              <a:rPr lang="en-US" sz="7200" dirty="0"/>
              <a:t>    x='Count',</a:t>
            </a:r>
          </a:p>
          <a:p>
            <a:pPr marL="0" indent="0">
              <a:buNone/>
            </a:pPr>
            <a:r>
              <a:rPr lang="en-US" sz="7200" dirty="0"/>
              <a:t>    palette='</a:t>
            </a:r>
            <a:r>
              <a:rPr lang="en-US" sz="7200" dirty="0" err="1"/>
              <a:t>viridis</a:t>
            </a:r>
            <a:r>
              <a:rPr lang="en-US" sz="7200" dirty="0"/>
              <a:t>',</a:t>
            </a:r>
          </a:p>
          <a:p>
            <a:pPr marL="0" indent="0">
              <a:buNone/>
            </a:pPr>
            <a:r>
              <a:rPr lang="en-US" sz="7200" dirty="0"/>
              <a:t>    hue='Medication',</a:t>
            </a:r>
          </a:p>
          <a:p>
            <a:pPr marL="0" indent="0">
              <a:buNone/>
            </a:pPr>
            <a:r>
              <a:rPr lang="en-US" sz="7200" dirty="0"/>
              <a:t>    legend=False</a:t>
            </a:r>
          </a:p>
          <a:p>
            <a:pPr marL="0" indent="0">
              <a:buNone/>
            </a:pPr>
            <a:r>
              <a:rPr lang="en-US" sz="7200" dirty="0"/>
              <a:t>)</a:t>
            </a:r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 err="1"/>
              <a:t>plt.title</a:t>
            </a:r>
            <a:r>
              <a:rPr lang="en-US" sz="7200" dirty="0"/>
              <a:t>('Top 10 Medications Administered in ICU')</a:t>
            </a:r>
          </a:p>
          <a:p>
            <a:pPr marL="0" indent="0">
              <a:buNone/>
            </a:pPr>
            <a:r>
              <a:rPr lang="en-US" sz="7200" dirty="0" err="1"/>
              <a:t>plt.xlabel</a:t>
            </a:r>
            <a:r>
              <a:rPr lang="en-US" sz="7200" dirty="0"/>
              <a:t>('Number of Administrations')</a:t>
            </a:r>
          </a:p>
          <a:p>
            <a:pPr marL="0" indent="0">
              <a:buNone/>
            </a:pPr>
            <a:r>
              <a:rPr lang="en-US" sz="7200" dirty="0" err="1"/>
              <a:t>plt.ylabel</a:t>
            </a:r>
            <a:r>
              <a:rPr lang="en-US" sz="7200" dirty="0"/>
              <a:t>('Medication')</a:t>
            </a:r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 err="1"/>
              <a:t>plt.tight_layout</a:t>
            </a:r>
            <a:r>
              <a:rPr lang="en-US" sz="7200" dirty="0"/>
              <a:t>()</a:t>
            </a:r>
          </a:p>
          <a:p>
            <a:pPr marL="0" indent="0">
              <a:buNone/>
            </a:pPr>
            <a:r>
              <a:rPr lang="en-US" sz="7200" dirty="0" err="1"/>
              <a:t>plt.show</a:t>
            </a:r>
            <a:r>
              <a:rPr lang="en-US" sz="7200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530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A44D0-7CAD-3487-0027-2EA51D80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97CFC-152F-6B0C-3915-8FCB916F7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66D7A9-D68B-C96D-4CB1-09432A431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0D5C99-5413-A7B9-4EDA-08166E940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8AA870-C6E7-9250-5596-0D69FDBBD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B9D78D-B8F5-3DB2-8FDD-2519A317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C5ACFC-70CE-2F7D-0F56-7760A3DB1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0686D1-2539-3CAB-BEA0-481A4ECC7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68" y="1683756"/>
            <a:ext cx="325657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06. ICU Length of Stay by ICU Type Box Plot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108DD6-E4A9-0C65-D13D-F28B99EB1C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0248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9952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FE1A51-78A7-875C-426F-703ACD1C4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0FFDEF0-03BE-1C83-F346-169FAC15A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2801E0-E46C-14FD-78C7-D95A988D2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F3FDBF-548B-512A-6D3E-709040F97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53667" y="697833"/>
            <a:ext cx="3332495" cy="60126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What it shows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Variation in Length of Stay across different ICU units.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Median stays, variability, and outliers by ICU type.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Highlights differences in case severity and care complexity.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Useful for ICU performance evaluation and capacity planning.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626F108-9DF6-4F1F-7125-C1AB55DCD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2D94CE61-DA87-D19D-AFFF-8D9714C51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4" y="1053413"/>
            <a:ext cx="7772400" cy="450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97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A95-0171-4649-91F7-CBB2C3F6C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812"/>
          </a:xfrm>
        </p:spPr>
        <p:txBody>
          <a:bodyPr/>
          <a:lstStyle/>
          <a:p>
            <a:r>
              <a:rPr lang="en-US" dirty="0"/>
              <a:t>Code for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56437-57E9-FD85-2F45-3F48285C5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87379"/>
            <a:ext cx="9111917" cy="4889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=(10,5))</a:t>
            </a:r>
          </a:p>
          <a:p>
            <a:pPr marL="0" indent="0">
              <a:buNone/>
            </a:pPr>
            <a:r>
              <a:rPr lang="en-US" dirty="0" err="1"/>
              <a:t>sns.boxplot</a:t>
            </a:r>
            <a:r>
              <a:rPr lang="en-US" dirty="0"/>
              <a:t>(</a:t>
            </a:r>
          </a:p>
          <a:p>
            <a:pPr marL="457200" lvl="1" indent="0">
              <a:buNone/>
            </a:pPr>
            <a:r>
              <a:rPr lang="en-US" dirty="0"/>
              <a:t>data=</a:t>
            </a:r>
            <a:r>
              <a:rPr lang="en-US" dirty="0" err="1"/>
              <a:t>icu_stays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x='FIRST_CAREUNIT',</a:t>
            </a:r>
          </a:p>
          <a:p>
            <a:pPr marL="457200" lvl="1" indent="0">
              <a:buNone/>
            </a:pPr>
            <a:r>
              <a:rPr lang="en-US" dirty="0"/>
              <a:t>y='LOS_DAYS'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plt.xticks</a:t>
            </a:r>
            <a:r>
              <a:rPr lang="en-US" dirty="0"/>
              <a:t>(rotation=45)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('ICU Length of Stay by ICU Type')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('Length of Stay (days)')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676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CF2D8-80C0-041E-331D-A44ABEC9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171085B-F953-8CA4-DB1B-874FDC64D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D45FBD-311E-3E1C-B767-FA747C84D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19AF64-45BD-C799-F79E-527EC444A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0011DE-6505-4846-C97A-9044A2530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723777B-4A61-A5B7-07D9-AF855CD6E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F4B80D-0F33-2872-CBDE-E47958B6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E23AF-0B53-DED3-FC48-7A7C2B51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68" y="1683756"/>
            <a:ext cx="325657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07. ICU Length of Stay vs Age Scatter Plot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1CD5F3-EB51-C930-0390-92ABE9747B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55397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5278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41D4AC-5A1D-ED78-68A1-34C1FA23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21555C3-AEF9-9B34-0B9B-3040CE95C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D05824-1583-8111-F4EA-40A1D5E23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E9D3766-22B7-E86A-76F8-49E50B759B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1" y="3818237"/>
            <a:ext cx="5490162" cy="289220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What it shows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Relationship between patient age and ICU stay duration.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Whether older patients tend to have longer or more variable ICU stays.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Helps assess how age impacts resource utilization.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BD2507-D0E7-601E-278A-374600A6D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3334F44A-971D-2F15-801A-46BDC7892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179257" cy="349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37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F586-1973-C8A8-C88C-93B0BC69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Code for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33C-E62D-422D-0089-772803873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51284"/>
            <a:ext cx="10399295" cy="4925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 Merge admissions and patients data on </a:t>
            </a:r>
            <a:r>
              <a:rPr lang="en-US" dirty="0" err="1"/>
              <a:t>subject_id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merged_patients_admission_data</a:t>
            </a:r>
            <a:r>
              <a:rPr lang="en-US" dirty="0"/>
              <a:t> = </a:t>
            </a:r>
            <a:r>
              <a:rPr lang="en-US" dirty="0" err="1"/>
              <a:t>pd.merge</a:t>
            </a:r>
            <a:r>
              <a:rPr lang="en-US" dirty="0"/>
              <a:t>(admissions, </a:t>
            </a:r>
            <a:r>
              <a:rPr lang="en-US" dirty="0" err="1"/>
              <a:t>patient_age_filtered_df</a:t>
            </a:r>
            <a:r>
              <a:rPr lang="en-US" dirty="0"/>
              <a:t>, on="SUBJECT_ID")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#</a:t>
            </a:r>
            <a:r>
              <a:rPr lang="en-US" dirty="0" err="1"/>
              <a:t>merged_patients_admission_data.head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merged_patients_admission_data.info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df_los</a:t>
            </a:r>
            <a:r>
              <a:rPr lang="en-US" dirty="0"/>
              <a:t> = </a:t>
            </a:r>
            <a:r>
              <a:rPr lang="en-US" dirty="0" err="1"/>
              <a:t>merged_patients_admission_data.merge</a:t>
            </a:r>
            <a:r>
              <a:rPr lang="en-US" dirty="0"/>
              <a:t>(</a:t>
            </a:r>
            <a:r>
              <a:rPr lang="en-US" dirty="0" err="1"/>
              <a:t>icu_stays</a:t>
            </a:r>
            <a:r>
              <a:rPr lang="en-US" dirty="0"/>
              <a:t>, on=['SUBJECT_ID', 'HADM_ID'])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828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5044F-87F1-632E-736F-84CA7B39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CC56-0532-1EB0-A09F-91347E497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Code for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DB271-5E35-A7D0-7E9A-0F712E7EB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51284"/>
            <a:ext cx="10399295" cy="4925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fig = </a:t>
            </a:r>
            <a:r>
              <a:rPr lang="en-US" dirty="0" err="1"/>
              <a:t>px.scatter</a:t>
            </a:r>
            <a:r>
              <a:rPr lang="en-US" dirty="0"/>
              <a:t>(</a:t>
            </a:r>
          </a:p>
          <a:p>
            <a:pPr marL="457200" lvl="1" indent="0">
              <a:buNone/>
            </a:pPr>
            <a:r>
              <a:rPr lang="en-US" dirty="0" err="1"/>
              <a:t>df_los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x='PATIENTS_AGE',</a:t>
            </a:r>
          </a:p>
          <a:p>
            <a:pPr marL="457200" lvl="1" indent="0">
              <a:buNone/>
            </a:pPr>
            <a:r>
              <a:rPr lang="en-US" dirty="0"/>
              <a:t>y='LOS',</a:t>
            </a:r>
          </a:p>
          <a:p>
            <a:pPr marL="457200" lvl="1" indent="0">
              <a:buNone/>
            </a:pPr>
            <a:r>
              <a:rPr lang="en-US" dirty="0"/>
              <a:t>color='GENDER',</a:t>
            </a:r>
          </a:p>
          <a:p>
            <a:pPr marL="457200" lvl="1" indent="0">
              <a:buNone/>
            </a:pPr>
            <a:r>
              <a:rPr lang="en-US" dirty="0"/>
              <a:t>title='ICU Length of Stay vs Age'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fig.show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3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2275</Words>
  <Application>Microsoft Macintosh PowerPoint</Application>
  <PresentationFormat>Widescreen</PresentationFormat>
  <Paragraphs>359</Paragraphs>
  <Slides>29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MIMIC III Dataset Visualization</vt:lpstr>
      <vt:lpstr>Charts</vt:lpstr>
      <vt:lpstr>Initial Set Up</vt:lpstr>
      <vt:lpstr>01. Age-Gender Population Pyramid</vt:lpstr>
      <vt:lpstr>PowerPoint Presentation</vt:lpstr>
      <vt:lpstr>Code for data processing </vt:lpstr>
      <vt:lpstr>Code for graph</vt:lpstr>
      <vt:lpstr>02. Admission Heatmap (Day X Hour)</vt:lpstr>
      <vt:lpstr>PowerPoint Presentation</vt:lpstr>
      <vt:lpstr>Code for data processing and graph</vt:lpstr>
      <vt:lpstr>03. Mortality Vs Length of Stay KDE Plot</vt:lpstr>
      <vt:lpstr>PowerPoint Presentation</vt:lpstr>
      <vt:lpstr>Code for data processing</vt:lpstr>
      <vt:lpstr>Code for graph</vt:lpstr>
      <vt:lpstr>04. Survival Chart (Kaplan–Meier Style)</vt:lpstr>
      <vt:lpstr>PowerPoint Presentation</vt:lpstr>
      <vt:lpstr>Code for data processing</vt:lpstr>
      <vt:lpstr>Code for graph</vt:lpstr>
      <vt:lpstr>05. Top Medications Administered in ICU Bar Chart</vt:lpstr>
      <vt:lpstr>PowerPoint Presentation</vt:lpstr>
      <vt:lpstr>Code for data processing</vt:lpstr>
      <vt:lpstr>Code for graph</vt:lpstr>
      <vt:lpstr>06. ICU Length of Stay by ICU Type Box Plot</vt:lpstr>
      <vt:lpstr>PowerPoint Presentation</vt:lpstr>
      <vt:lpstr>Code for graph</vt:lpstr>
      <vt:lpstr>07. ICU Length of Stay vs Age Scatter Plot</vt:lpstr>
      <vt:lpstr>PowerPoint Presentation</vt:lpstr>
      <vt:lpstr>Code for data processing</vt:lpstr>
      <vt:lpstr>Code for 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Sritama Paul</dc:creator>
  <cp:lastModifiedBy>Sritama Paul</cp:lastModifiedBy>
  <cp:revision>8</cp:revision>
  <dcterms:created xsi:type="dcterms:W3CDTF">2026-02-07T20:48:50Z</dcterms:created>
  <dcterms:modified xsi:type="dcterms:W3CDTF">2026-02-08T04:08:43Z</dcterms:modified>
</cp:coreProperties>
</file>